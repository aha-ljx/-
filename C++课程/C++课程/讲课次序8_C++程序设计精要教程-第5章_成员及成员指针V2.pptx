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8"/>
  </p:notesMasterIdLst>
  <p:sldIdLst>
    <p:sldId id="256" r:id="rId2"/>
    <p:sldId id="412" r:id="rId3"/>
    <p:sldId id="371" r:id="rId4"/>
    <p:sldId id="391" r:id="rId5"/>
    <p:sldId id="376" r:id="rId6"/>
    <p:sldId id="393" r:id="rId7"/>
    <p:sldId id="394" r:id="rId8"/>
    <p:sldId id="392" r:id="rId9"/>
    <p:sldId id="395" r:id="rId10"/>
    <p:sldId id="396" r:id="rId11"/>
    <p:sldId id="397" r:id="rId12"/>
    <p:sldId id="399" r:id="rId13"/>
    <p:sldId id="398" r:id="rId14"/>
    <p:sldId id="379" r:id="rId15"/>
    <p:sldId id="400" r:id="rId16"/>
    <p:sldId id="401" r:id="rId17"/>
    <p:sldId id="383" r:id="rId18"/>
    <p:sldId id="403" r:id="rId19"/>
    <p:sldId id="402" r:id="rId20"/>
    <p:sldId id="413" r:id="rId21"/>
    <p:sldId id="259" r:id="rId22"/>
    <p:sldId id="260" r:id="rId23"/>
    <p:sldId id="261" r:id="rId24"/>
    <p:sldId id="414" r:id="rId25"/>
    <p:sldId id="415" r:id="rId26"/>
    <p:sldId id="416" r:id="rId27"/>
    <p:sldId id="417" r:id="rId28"/>
    <p:sldId id="405" r:id="rId29"/>
    <p:sldId id="406" r:id="rId30"/>
    <p:sldId id="407" r:id="rId31"/>
    <p:sldId id="408" r:id="rId32"/>
    <p:sldId id="272" r:id="rId33"/>
    <p:sldId id="409" r:id="rId34"/>
    <p:sldId id="270" r:id="rId35"/>
    <p:sldId id="271" r:id="rId36"/>
    <p:sldId id="410" r:id="rId37"/>
  </p:sldIdLst>
  <p:sldSz cx="12192000" cy="6858000"/>
  <p:notesSz cx="6858000" cy="9144000"/>
  <p:embeddedFontLst>
    <p:embeddedFont>
      <p:font typeface="Tahoma" panose="020B0604030504040204" pitchFamily="34" charset="0"/>
      <p:regular r:id="rId39"/>
      <p:bold r:id="rId40"/>
    </p:embeddedFont>
    <p:embeddedFont>
      <p:font typeface="等线" panose="02010600030101010101" pitchFamily="2" charset="-122"/>
      <p:regular r:id="rId41"/>
      <p:bold r:id="rId42"/>
    </p:embeddedFont>
    <p:embeddedFont>
      <p:font typeface="等线 Light" panose="02010600030101010101" pitchFamily="2" charset="-122"/>
      <p:regular r:id="rId43"/>
    </p:embeddedFont>
    <p:embeddedFont>
      <p:font typeface="华文新魏" panose="02010800040101010101" pitchFamily="2" charset="-122"/>
      <p:regular r:id="rId44"/>
    </p:embeddedFont>
    <p:embeddedFont>
      <p:font typeface="隶书" panose="02010509060101010101" pitchFamily="49" charset="-122"/>
      <p:regular r:id="rId45"/>
    </p:embeddedFont>
    <p:embeddedFont>
      <p:font typeface="微软雅黑" panose="020B0503020204020204" pitchFamily="34" charset="-122"/>
      <p:regular r:id="rId46"/>
      <p:bold r:id="rId47"/>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6216" autoAdjust="0"/>
  </p:normalViewPr>
  <p:slideViewPr>
    <p:cSldViewPr snapToGrid="0">
      <p:cViewPr varScale="1">
        <p:scale>
          <a:sx n="106" d="100"/>
          <a:sy n="106" d="100"/>
        </p:scale>
        <p:origin x="73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ADC6AE-D3E5-4E43-AD6E-9D7CE2145555}" type="datetimeFigureOut">
              <a:rPr lang="zh-CN" altLang="en-US" smtClean="0"/>
              <a:t>2024/11/1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52AD3D-6F22-4647-BF39-553F4AA0174C}" type="slidenum">
              <a:rPr lang="zh-CN" altLang="en-US" smtClean="0"/>
              <a:t>‹#›</a:t>
            </a:fld>
            <a:endParaRPr lang="zh-CN" altLang="en-US"/>
          </a:p>
        </p:txBody>
      </p:sp>
    </p:spTree>
    <p:extLst>
      <p:ext uri="{BB962C8B-B14F-4D97-AF65-F5344CB8AC3E}">
        <p14:creationId xmlns:p14="http://schemas.microsoft.com/office/powerpoint/2010/main" val="2388877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关于</a:t>
            </a:r>
            <a:r>
              <a:rPr lang="en-US" altLang="zh-CN" dirty="0"/>
              <a:t>inline</a:t>
            </a:r>
            <a:r>
              <a:rPr lang="zh-CN" altLang="en-US" dirty="0"/>
              <a:t>修饰符，见</a:t>
            </a:r>
            <a:r>
              <a:rPr lang="en-US" altLang="zh-CN" dirty="0"/>
              <a:t>C++17</a:t>
            </a:r>
            <a:r>
              <a:rPr lang="zh-CN" altLang="en-US" dirty="0"/>
              <a:t>标准</a:t>
            </a:r>
            <a:r>
              <a:rPr lang="en-US" altLang="zh-CN" dirty="0"/>
              <a:t>10.16</a:t>
            </a:r>
            <a:r>
              <a:rPr lang="zh-CN" altLang="en-US" dirty="0"/>
              <a:t>：</a:t>
            </a:r>
            <a:endParaRPr lang="en-US" altLang="zh-CN" dirty="0"/>
          </a:p>
          <a:p>
            <a:r>
              <a:rPr lang="en-US" altLang="zh-CN" dirty="0"/>
              <a:t>The inline specifier can be applied only to the declaration or definition of a variable or function</a:t>
            </a:r>
          </a:p>
          <a:p>
            <a:endParaRPr lang="en-US" altLang="zh-CN" dirty="0"/>
          </a:p>
          <a:p>
            <a:r>
              <a:rPr lang="en-US" altLang="zh-CN" dirty="0"/>
              <a:t>A variable declaration with an inline specifier declares an inline variable.</a:t>
            </a:r>
            <a:endParaRPr lang="zh-CN" altLang="en-US" dirty="0"/>
          </a:p>
        </p:txBody>
      </p:sp>
      <p:sp>
        <p:nvSpPr>
          <p:cNvPr id="4" name="灯片编号占位符 3"/>
          <p:cNvSpPr>
            <a:spLocks noGrp="1"/>
          </p:cNvSpPr>
          <p:nvPr>
            <p:ph type="sldNum" sz="quarter" idx="5"/>
          </p:nvPr>
        </p:nvSpPr>
        <p:spPr/>
        <p:txBody>
          <a:bodyPr/>
          <a:lstStyle/>
          <a:p>
            <a:fld id="{9D52AD3D-6F22-4647-BF39-553F4AA0174C}" type="slidenum">
              <a:rPr lang="zh-CN" altLang="en-US" smtClean="0"/>
              <a:t>20</a:t>
            </a:fld>
            <a:endParaRPr lang="zh-CN" altLang="en-US"/>
          </a:p>
        </p:txBody>
      </p:sp>
    </p:spTree>
    <p:extLst>
      <p:ext uri="{BB962C8B-B14F-4D97-AF65-F5344CB8AC3E}">
        <p14:creationId xmlns:p14="http://schemas.microsoft.com/office/powerpoint/2010/main" val="3135291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20CF0C-C475-4597-B975-761023AE09C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0B7B5FE-657F-4D8B-84E3-E536CCD64D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D5FAACB-5D95-4341-8E03-190B047667B0}"/>
              </a:ext>
            </a:extLst>
          </p:cNvPr>
          <p:cNvSpPr>
            <a:spLocks noGrp="1"/>
          </p:cNvSpPr>
          <p:nvPr>
            <p:ph type="dt" sz="half" idx="10"/>
          </p:nvPr>
        </p:nvSpPr>
        <p:spPr/>
        <p:txBody>
          <a:bodyPr/>
          <a:lstStyle/>
          <a:p>
            <a:fld id="{47732EFA-BE2A-40A7-A0E8-44F720E634FB}" type="datetimeFigureOut">
              <a:rPr lang="zh-CN" altLang="en-US" smtClean="0"/>
              <a:t>2024/11/1</a:t>
            </a:fld>
            <a:endParaRPr lang="zh-CN" altLang="en-US"/>
          </a:p>
        </p:txBody>
      </p:sp>
      <p:sp>
        <p:nvSpPr>
          <p:cNvPr id="5" name="页脚占位符 4">
            <a:extLst>
              <a:ext uri="{FF2B5EF4-FFF2-40B4-BE49-F238E27FC236}">
                <a16:creationId xmlns:a16="http://schemas.microsoft.com/office/drawing/2014/main" id="{104D607A-C6EE-4D13-8E7B-0EDF0431E45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48F028-0370-44F9-A9C1-3B00EA53F0C4}"/>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3199071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BFC112-8DDA-424A-8687-9B08C0F2600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F0B34B4-F529-479F-8D3D-638208EC183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FAF4AA9-D021-46EA-92FF-75A1EE98A414}"/>
              </a:ext>
            </a:extLst>
          </p:cNvPr>
          <p:cNvSpPr>
            <a:spLocks noGrp="1"/>
          </p:cNvSpPr>
          <p:nvPr>
            <p:ph type="dt" sz="half" idx="10"/>
          </p:nvPr>
        </p:nvSpPr>
        <p:spPr/>
        <p:txBody>
          <a:bodyPr/>
          <a:lstStyle/>
          <a:p>
            <a:fld id="{47732EFA-BE2A-40A7-A0E8-44F720E634FB}" type="datetimeFigureOut">
              <a:rPr lang="zh-CN" altLang="en-US" smtClean="0"/>
              <a:t>2024/11/1</a:t>
            </a:fld>
            <a:endParaRPr lang="zh-CN" altLang="en-US"/>
          </a:p>
        </p:txBody>
      </p:sp>
      <p:sp>
        <p:nvSpPr>
          <p:cNvPr id="5" name="页脚占位符 4">
            <a:extLst>
              <a:ext uri="{FF2B5EF4-FFF2-40B4-BE49-F238E27FC236}">
                <a16:creationId xmlns:a16="http://schemas.microsoft.com/office/drawing/2014/main" id="{52A398F7-9E36-4728-B2D9-613DBB61FEF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53505C4-5F65-4F3A-BC56-CDC583E1641D}"/>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878200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3DAFFF-1FD0-49A4-ABC8-C6B3BCCF7D3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9E89BB2-69D8-4AEC-9DA6-59545E60D9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721129-1CE0-4747-9A14-F9136DD56C80}"/>
              </a:ext>
            </a:extLst>
          </p:cNvPr>
          <p:cNvSpPr>
            <a:spLocks noGrp="1"/>
          </p:cNvSpPr>
          <p:nvPr>
            <p:ph type="dt" sz="half" idx="10"/>
          </p:nvPr>
        </p:nvSpPr>
        <p:spPr/>
        <p:txBody>
          <a:bodyPr/>
          <a:lstStyle/>
          <a:p>
            <a:fld id="{47732EFA-BE2A-40A7-A0E8-44F720E634FB}" type="datetimeFigureOut">
              <a:rPr lang="zh-CN" altLang="en-US" smtClean="0"/>
              <a:t>2024/11/1</a:t>
            </a:fld>
            <a:endParaRPr lang="zh-CN" altLang="en-US"/>
          </a:p>
        </p:txBody>
      </p:sp>
      <p:sp>
        <p:nvSpPr>
          <p:cNvPr id="5" name="页脚占位符 4">
            <a:extLst>
              <a:ext uri="{FF2B5EF4-FFF2-40B4-BE49-F238E27FC236}">
                <a16:creationId xmlns:a16="http://schemas.microsoft.com/office/drawing/2014/main" id="{FEFFE072-2FB1-43AE-920C-5C7CFCFBA96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9E1053-7032-4F3B-953F-99BEA376A531}"/>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980768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529E13-2A25-4E8A-8D6A-3D8F0087416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577B380-0545-4A23-A627-821B53F647A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FA65105-301E-4376-9902-AA7FB720EEA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69762A9-08E1-40A9-8209-F190BB324FD4}"/>
              </a:ext>
            </a:extLst>
          </p:cNvPr>
          <p:cNvSpPr>
            <a:spLocks noGrp="1"/>
          </p:cNvSpPr>
          <p:nvPr>
            <p:ph type="dt" sz="half" idx="10"/>
          </p:nvPr>
        </p:nvSpPr>
        <p:spPr/>
        <p:txBody>
          <a:bodyPr/>
          <a:lstStyle/>
          <a:p>
            <a:fld id="{47732EFA-BE2A-40A7-A0E8-44F720E634FB}" type="datetimeFigureOut">
              <a:rPr lang="zh-CN" altLang="en-US" smtClean="0"/>
              <a:t>2024/11/1</a:t>
            </a:fld>
            <a:endParaRPr lang="zh-CN" altLang="en-US"/>
          </a:p>
        </p:txBody>
      </p:sp>
      <p:sp>
        <p:nvSpPr>
          <p:cNvPr id="6" name="页脚占位符 5">
            <a:extLst>
              <a:ext uri="{FF2B5EF4-FFF2-40B4-BE49-F238E27FC236}">
                <a16:creationId xmlns:a16="http://schemas.microsoft.com/office/drawing/2014/main" id="{ADC84DA0-3903-4EED-941D-4CD4068BC89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F455038-3152-49B8-B12B-6C0C256125EB}"/>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587126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F3C9AB-7816-46C9-8626-C82D5599E2F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CB8DD6A-22B3-42BE-86F7-5571FCAF6F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04259E3-A6F7-4163-B36C-A0CD3161995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E05018B-3435-4D69-9FE6-C24A90CA83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A8F1995-AA67-4C7F-953C-F1D51CF793D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4ADC97C-91A9-41E5-BC8F-23F7B4CC2DED}"/>
              </a:ext>
            </a:extLst>
          </p:cNvPr>
          <p:cNvSpPr>
            <a:spLocks noGrp="1"/>
          </p:cNvSpPr>
          <p:nvPr>
            <p:ph type="dt" sz="half" idx="10"/>
          </p:nvPr>
        </p:nvSpPr>
        <p:spPr/>
        <p:txBody>
          <a:bodyPr/>
          <a:lstStyle/>
          <a:p>
            <a:fld id="{47732EFA-BE2A-40A7-A0E8-44F720E634FB}" type="datetimeFigureOut">
              <a:rPr lang="zh-CN" altLang="en-US" smtClean="0"/>
              <a:t>2024/11/1</a:t>
            </a:fld>
            <a:endParaRPr lang="zh-CN" altLang="en-US"/>
          </a:p>
        </p:txBody>
      </p:sp>
      <p:sp>
        <p:nvSpPr>
          <p:cNvPr id="8" name="页脚占位符 7">
            <a:extLst>
              <a:ext uri="{FF2B5EF4-FFF2-40B4-BE49-F238E27FC236}">
                <a16:creationId xmlns:a16="http://schemas.microsoft.com/office/drawing/2014/main" id="{1D59A81E-6710-4AB7-8C28-B9F5FAB188E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945CB70-63F3-44A8-AA4B-0F3D68985791}"/>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1789021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52E9F9-1E38-4E49-80E4-243A184BB99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8ECDB1F-C0A8-481F-BC96-1D0BA310DA72}"/>
              </a:ext>
            </a:extLst>
          </p:cNvPr>
          <p:cNvSpPr>
            <a:spLocks noGrp="1"/>
          </p:cNvSpPr>
          <p:nvPr>
            <p:ph type="dt" sz="half" idx="10"/>
          </p:nvPr>
        </p:nvSpPr>
        <p:spPr/>
        <p:txBody>
          <a:bodyPr/>
          <a:lstStyle/>
          <a:p>
            <a:fld id="{47732EFA-BE2A-40A7-A0E8-44F720E634FB}" type="datetimeFigureOut">
              <a:rPr lang="zh-CN" altLang="en-US" smtClean="0"/>
              <a:t>2024/11/1</a:t>
            </a:fld>
            <a:endParaRPr lang="zh-CN" altLang="en-US"/>
          </a:p>
        </p:txBody>
      </p:sp>
      <p:sp>
        <p:nvSpPr>
          <p:cNvPr id="4" name="页脚占位符 3">
            <a:extLst>
              <a:ext uri="{FF2B5EF4-FFF2-40B4-BE49-F238E27FC236}">
                <a16:creationId xmlns:a16="http://schemas.microsoft.com/office/drawing/2014/main" id="{1D46FF67-8CFB-454F-B47C-BB280741EFE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9E252D3-E73D-48DD-9431-DE99E94CCEE7}"/>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700809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4654011-230D-4A0C-AF29-B14A77EF5B73}"/>
              </a:ext>
            </a:extLst>
          </p:cNvPr>
          <p:cNvSpPr>
            <a:spLocks noGrp="1"/>
          </p:cNvSpPr>
          <p:nvPr>
            <p:ph type="dt" sz="half" idx="10"/>
          </p:nvPr>
        </p:nvSpPr>
        <p:spPr/>
        <p:txBody>
          <a:bodyPr/>
          <a:lstStyle/>
          <a:p>
            <a:fld id="{47732EFA-BE2A-40A7-A0E8-44F720E634FB}" type="datetimeFigureOut">
              <a:rPr lang="zh-CN" altLang="en-US" smtClean="0"/>
              <a:t>2024/11/1</a:t>
            </a:fld>
            <a:endParaRPr lang="zh-CN" altLang="en-US"/>
          </a:p>
        </p:txBody>
      </p:sp>
      <p:sp>
        <p:nvSpPr>
          <p:cNvPr id="3" name="页脚占位符 2">
            <a:extLst>
              <a:ext uri="{FF2B5EF4-FFF2-40B4-BE49-F238E27FC236}">
                <a16:creationId xmlns:a16="http://schemas.microsoft.com/office/drawing/2014/main" id="{D198A4FE-5206-4BB1-AB85-473ED288972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F50D088-C531-48B5-AE41-2B221EC78565}"/>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324612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6C78DB-51CF-4FA9-B53E-FE1F9320ECC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69B8352-0694-4CBC-83D4-FAB432891F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99AA069-C76B-484B-AE2F-2B81413B13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EE3AAC2-59E6-47B2-A4C9-A7653A731587}"/>
              </a:ext>
            </a:extLst>
          </p:cNvPr>
          <p:cNvSpPr>
            <a:spLocks noGrp="1"/>
          </p:cNvSpPr>
          <p:nvPr>
            <p:ph type="dt" sz="half" idx="10"/>
          </p:nvPr>
        </p:nvSpPr>
        <p:spPr/>
        <p:txBody>
          <a:bodyPr/>
          <a:lstStyle/>
          <a:p>
            <a:fld id="{47732EFA-BE2A-40A7-A0E8-44F720E634FB}" type="datetimeFigureOut">
              <a:rPr lang="zh-CN" altLang="en-US" smtClean="0"/>
              <a:t>2024/11/1</a:t>
            </a:fld>
            <a:endParaRPr lang="zh-CN" altLang="en-US"/>
          </a:p>
        </p:txBody>
      </p:sp>
      <p:sp>
        <p:nvSpPr>
          <p:cNvPr id="6" name="页脚占位符 5">
            <a:extLst>
              <a:ext uri="{FF2B5EF4-FFF2-40B4-BE49-F238E27FC236}">
                <a16:creationId xmlns:a16="http://schemas.microsoft.com/office/drawing/2014/main" id="{4DA25DDE-C59F-48F4-B077-0BB817E3D2D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3D0200E-8EA2-45D8-959D-94A1125601A5}"/>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287827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B60032-65D6-4CF1-BE29-B7AAF208214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64ADBB6-84E9-4DFE-AF51-FD1D931C3C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7DDEF10-CA04-4BD5-9028-E996983930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5871394-226A-4C6E-8662-5A59A2EC3328}"/>
              </a:ext>
            </a:extLst>
          </p:cNvPr>
          <p:cNvSpPr>
            <a:spLocks noGrp="1"/>
          </p:cNvSpPr>
          <p:nvPr>
            <p:ph type="dt" sz="half" idx="10"/>
          </p:nvPr>
        </p:nvSpPr>
        <p:spPr/>
        <p:txBody>
          <a:bodyPr/>
          <a:lstStyle/>
          <a:p>
            <a:fld id="{47732EFA-BE2A-40A7-A0E8-44F720E634FB}" type="datetimeFigureOut">
              <a:rPr lang="zh-CN" altLang="en-US" smtClean="0"/>
              <a:t>2024/11/1</a:t>
            </a:fld>
            <a:endParaRPr lang="zh-CN" altLang="en-US"/>
          </a:p>
        </p:txBody>
      </p:sp>
      <p:sp>
        <p:nvSpPr>
          <p:cNvPr id="6" name="页脚占位符 5">
            <a:extLst>
              <a:ext uri="{FF2B5EF4-FFF2-40B4-BE49-F238E27FC236}">
                <a16:creationId xmlns:a16="http://schemas.microsoft.com/office/drawing/2014/main" id="{2880503B-4B4C-4709-BEA5-E0D3B3E509F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756B1C9-2E73-40D7-84DE-8722119B604F}"/>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2050131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0B3D22-F3CA-4388-B307-CD410D37F41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A48CEA9-13AA-475A-A86D-2F07E97FD52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477C104-755C-4E0D-9F81-A888604EC034}"/>
              </a:ext>
            </a:extLst>
          </p:cNvPr>
          <p:cNvSpPr>
            <a:spLocks noGrp="1"/>
          </p:cNvSpPr>
          <p:nvPr>
            <p:ph type="dt" sz="half" idx="10"/>
          </p:nvPr>
        </p:nvSpPr>
        <p:spPr/>
        <p:txBody>
          <a:bodyPr/>
          <a:lstStyle/>
          <a:p>
            <a:fld id="{47732EFA-BE2A-40A7-A0E8-44F720E634FB}" type="datetimeFigureOut">
              <a:rPr lang="zh-CN" altLang="en-US" smtClean="0"/>
              <a:t>2024/11/1</a:t>
            </a:fld>
            <a:endParaRPr lang="zh-CN" altLang="en-US"/>
          </a:p>
        </p:txBody>
      </p:sp>
      <p:sp>
        <p:nvSpPr>
          <p:cNvPr id="5" name="页脚占位符 4">
            <a:extLst>
              <a:ext uri="{FF2B5EF4-FFF2-40B4-BE49-F238E27FC236}">
                <a16:creationId xmlns:a16="http://schemas.microsoft.com/office/drawing/2014/main" id="{5900B4F1-94C5-4B38-8BBC-AB306924C9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0226C39-16EC-4296-BF5E-FEB96E718253}"/>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1760721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380373B-42B1-4F77-9762-3C13FFB1428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57513F6-E5B9-47AB-AE23-22C67255AF2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4E5392D-DCDE-4D68-B1E9-730B2BE2AFDD}"/>
              </a:ext>
            </a:extLst>
          </p:cNvPr>
          <p:cNvSpPr>
            <a:spLocks noGrp="1"/>
          </p:cNvSpPr>
          <p:nvPr>
            <p:ph type="dt" sz="half" idx="10"/>
          </p:nvPr>
        </p:nvSpPr>
        <p:spPr/>
        <p:txBody>
          <a:bodyPr/>
          <a:lstStyle/>
          <a:p>
            <a:fld id="{47732EFA-BE2A-40A7-A0E8-44F720E634FB}" type="datetimeFigureOut">
              <a:rPr lang="zh-CN" altLang="en-US" smtClean="0"/>
              <a:t>2024/11/1</a:t>
            </a:fld>
            <a:endParaRPr lang="zh-CN" altLang="en-US"/>
          </a:p>
        </p:txBody>
      </p:sp>
      <p:sp>
        <p:nvSpPr>
          <p:cNvPr id="5" name="页脚占位符 4">
            <a:extLst>
              <a:ext uri="{FF2B5EF4-FFF2-40B4-BE49-F238E27FC236}">
                <a16:creationId xmlns:a16="http://schemas.microsoft.com/office/drawing/2014/main" id="{6EE3CDE0-0D96-4F89-9406-346235743C1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B79C6AB-9F40-41ED-A2EF-05E4175879FF}"/>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276182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862292C-D63E-43C6-BEE6-7859A6158E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4D22FE6-45C3-4A8F-957E-C710D2A1B4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D21465-63E9-43E4-AFA8-64101752FA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732EFA-BE2A-40A7-A0E8-44F720E634FB}" type="datetimeFigureOut">
              <a:rPr lang="zh-CN" altLang="en-US" smtClean="0"/>
              <a:t>2024/11/1</a:t>
            </a:fld>
            <a:endParaRPr lang="zh-CN" altLang="en-US"/>
          </a:p>
        </p:txBody>
      </p:sp>
      <p:sp>
        <p:nvSpPr>
          <p:cNvPr id="5" name="页脚占位符 4">
            <a:extLst>
              <a:ext uri="{FF2B5EF4-FFF2-40B4-BE49-F238E27FC236}">
                <a16:creationId xmlns:a16="http://schemas.microsoft.com/office/drawing/2014/main" id="{A12B7F57-5C28-44F9-BD9D-A46592A845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1E604EA-7B0E-4EE1-90EB-A235A0EEC2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10254201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D53150-BEC9-4ECB-B4DD-8BAF2D565848}"/>
              </a:ext>
            </a:extLst>
          </p:cNvPr>
          <p:cNvSpPr>
            <a:spLocks noGrp="1"/>
          </p:cNvSpPr>
          <p:nvPr>
            <p:ph type="ctrTitle"/>
          </p:nvPr>
        </p:nvSpPr>
        <p:spPr/>
        <p:txBody>
          <a:bodyPr/>
          <a:lstStyle/>
          <a:p>
            <a:endParaRPr lang="zh-CN" altLang="en-US"/>
          </a:p>
        </p:txBody>
      </p:sp>
      <p:sp>
        <p:nvSpPr>
          <p:cNvPr id="3" name="副标题 2">
            <a:extLst>
              <a:ext uri="{FF2B5EF4-FFF2-40B4-BE49-F238E27FC236}">
                <a16:creationId xmlns:a16="http://schemas.microsoft.com/office/drawing/2014/main" id="{9B6D3A65-6862-43F3-B0B7-10205FFD71B9}"/>
              </a:ext>
            </a:extLst>
          </p:cNvPr>
          <p:cNvSpPr>
            <a:spLocks noGrp="1"/>
          </p:cNvSpPr>
          <p:nvPr>
            <p:ph type="subTitle" idx="1"/>
          </p:nvPr>
        </p:nvSpPr>
        <p:spPr/>
        <p:txBody>
          <a:bodyPr/>
          <a:lstStyle/>
          <a:p>
            <a:endParaRPr lang="zh-CN" altLang="en-US"/>
          </a:p>
        </p:txBody>
      </p:sp>
      <p:pic>
        <p:nvPicPr>
          <p:cNvPr id="6" name="图片 5">
            <a:extLst>
              <a:ext uri="{FF2B5EF4-FFF2-40B4-BE49-F238E27FC236}">
                <a16:creationId xmlns:a16="http://schemas.microsoft.com/office/drawing/2014/main" id="{470254CA-192B-4969-915C-E83C3C3AB8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矩形 6">
            <a:extLst>
              <a:ext uri="{FF2B5EF4-FFF2-40B4-BE49-F238E27FC236}">
                <a16:creationId xmlns:a16="http://schemas.microsoft.com/office/drawing/2014/main" id="{F8C9F472-CBA2-4177-8CA7-DD302FC90870}"/>
              </a:ext>
            </a:extLst>
          </p:cNvPr>
          <p:cNvSpPr/>
          <p:nvPr/>
        </p:nvSpPr>
        <p:spPr>
          <a:xfrm>
            <a:off x="3573710" y="1359673"/>
            <a:ext cx="8380602" cy="1015663"/>
          </a:xfrm>
          <a:prstGeom prst="rect">
            <a:avLst/>
          </a:prstGeom>
          <a:noFill/>
        </p:spPr>
        <p:txBody>
          <a:bodyPr wrap="square" lIns="91440" tIns="45720" rIns="91440" bIns="45720">
            <a:spAutoFit/>
          </a:bodyPr>
          <a:lstStyle/>
          <a:p>
            <a:pPr algn="ctr"/>
            <a:r>
              <a:rPr lang="en-US" altLang="zh-CN" sz="6000" b="1" cap="none" spc="0" dirty="0">
                <a:ln w="12700">
                  <a:solidFill>
                    <a:schemeClr val="accent5"/>
                  </a:solidFill>
                  <a:prstDash val="solid"/>
                </a:ln>
                <a:pattFill prst="ltDnDiag">
                  <a:fgClr>
                    <a:schemeClr val="accent5">
                      <a:lumMod val="60000"/>
                      <a:lumOff val="40000"/>
                    </a:schemeClr>
                  </a:fgClr>
                  <a:bgClr>
                    <a:schemeClr val="bg1"/>
                  </a:bgClr>
                </a:pattFill>
                <a:effectLst/>
              </a:rPr>
              <a:t>C++</a:t>
            </a:r>
            <a:r>
              <a:rPr lang="zh-CN" altLang="en-US" sz="6000" b="1" cap="none" spc="0" dirty="0">
                <a:ln w="12700">
                  <a:solidFill>
                    <a:schemeClr val="accent5"/>
                  </a:solidFill>
                  <a:prstDash val="solid"/>
                </a:ln>
                <a:pattFill prst="ltDnDiag">
                  <a:fgClr>
                    <a:schemeClr val="accent5">
                      <a:lumMod val="60000"/>
                      <a:lumOff val="40000"/>
                    </a:schemeClr>
                  </a:fgClr>
                  <a:bgClr>
                    <a:schemeClr val="bg1"/>
                  </a:bgClr>
                </a:pattFill>
                <a:effectLst/>
              </a:rPr>
              <a:t>程序设计精要教程</a:t>
            </a:r>
          </a:p>
        </p:txBody>
      </p:sp>
      <p:sp>
        <p:nvSpPr>
          <p:cNvPr id="8" name="矩形 7">
            <a:extLst>
              <a:ext uri="{FF2B5EF4-FFF2-40B4-BE49-F238E27FC236}">
                <a16:creationId xmlns:a16="http://schemas.microsoft.com/office/drawing/2014/main" id="{06F85761-B2E6-4E27-8353-63D7D448F057}"/>
              </a:ext>
            </a:extLst>
          </p:cNvPr>
          <p:cNvSpPr/>
          <p:nvPr/>
        </p:nvSpPr>
        <p:spPr>
          <a:xfrm>
            <a:off x="6600253" y="4703544"/>
            <a:ext cx="2954655" cy="646331"/>
          </a:xfrm>
          <a:prstGeom prst="rect">
            <a:avLst/>
          </a:prstGeom>
          <a:noFill/>
        </p:spPr>
        <p:txBody>
          <a:bodyPr wrap="none" lIns="91440" tIns="45720" rIns="91440" bIns="45720">
            <a:spAutoFit/>
          </a:bodyPr>
          <a:lstStyle/>
          <a:p>
            <a:pPr algn="ctr"/>
            <a:r>
              <a:rPr lang="zh-CN" altLang="en-US" sz="3600" b="1" cap="none" spc="0" dirty="0">
                <a:ln w="12700">
                  <a:solidFill>
                    <a:schemeClr val="accent5"/>
                  </a:solidFill>
                  <a:prstDash val="solid"/>
                </a:ln>
                <a:pattFill prst="ltDnDiag">
                  <a:fgClr>
                    <a:schemeClr val="accent5">
                      <a:lumMod val="60000"/>
                      <a:lumOff val="40000"/>
                    </a:schemeClr>
                  </a:fgClr>
                  <a:bgClr>
                    <a:schemeClr val="bg1"/>
                  </a:bgClr>
                </a:pattFill>
                <a:effectLst/>
              </a:rPr>
              <a:t>华中科技大学</a:t>
            </a:r>
          </a:p>
        </p:txBody>
      </p:sp>
    </p:spTree>
    <p:extLst>
      <p:ext uri="{BB962C8B-B14F-4D97-AF65-F5344CB8AC3E}">
        <p14:creationId xmlns:p14="http://schemas.microsoft.com/office/powerpoint/2010/main" val="1713993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5</a:t>
            </a:r>
            <a:r>
              <a:rPr lang="zh-CN" altLang="en-US" b="1" dirty="0">
                <a:latin typeface="隶书" panose="02010509060101010101" pitchFamily="49" charset="-122"/>
                <a:ea typeface="隶书" panose="02010509060101010101" pitchFamily="49" charset="-122"/>
              </a:rPr>
              <a:t>章 </a:t>
            </a:r>
            <a:r>
              <a:rPr lang="zh-CN" altLang="zh-CN" b="1" dirty="0">
                <a:latin typeface="隶书" panose="02010509060101010101" pitchFamily="49" charset="-122"/>
                <a:ea typeface="隶书" panose="02010509060101010101" pitchFamily="49" charset="-122"/>
              </a:rPr>
              <a:t>成员及成员指针</a:t>
            </a:r>
            <a:endParaRPr lang="zh-CN" altLang="en-US" b="1" dirty="0">
              <a:latin typeface="隶书" panose="02010509060101010101" pitchFamily="49" charset="-122"/>
              <a:ea typeface="隶书" panose="02010509060101010101" pitchFamily="49" charset="-122"/>
            </a:endParaRP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576463" y="1435007"/>
            <a:ext cx="10515600" cy="4351338"/>
          </a:xfrm>
        </p:spPr>
        <p:txBody>
          <a:bodyPr/>
          <a:lstStyle/>
          <a:p>
            <a:pPr>
              <a:buFont typeface="Wingdings" panose="05000000000000000000" pitchFamily="2" charset="2"/>
              <a:buChar char="u"/>
            </a:pPr>
            <a:r>
              <a:rPr lang="en-US" altLang="zh-CN" dirty="0"/>
              <a:t>5.1  </a:t>
            </a:r>
            <a:r>
              <a:rPr lang="zh-CN" altLang="en-US" dirty="0"/>
              <a:t>实例成员指针</a:t>
            </a:r>
          </a:p>
        </p:txBody>
      </p:sp>
      <p:sp>
        <p:nvSpPr>
          <p:cNvPr id="6" name="文本框 5">
            <a:extLst>
              <a:ext uri="{FF2B5EF4-FFF2-40B4-BE49-F238E27FC236}">
                <a16:creationId xmlns:a16="http://schemas.microsoft.com/office/drawing/2014/main" id="{2845B5B1-E0D9-48D9-A8B5-77F96D442EE8}"/>
              </a:ext>
            </a:extLst>
          </p:cNvPr>
          <p:cNvSpPr txBox="1"/>
          <p:nvPr/>
        </p:nvSpPr>
        <p:spPr>
          <a:xfrm>
            <a:off x="164929" y="1907716"/>
            <a:ext cx="11615739" cy="4817729"/>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成员指针：指向类的成员（普通和静态成员）的指针，分为</a:t>
            </a:r>
            <a:r>
              <a:rPr lang="zh-CN" altLang="en-US" sz="2400" b="1" dirty="0">
                <a:solidFill>
                  <a:srgbClr val="FF0000"/>
                </a:solidFill>
                <a:latin typeface="华文新魏" panose="02010800040101010101" pitchFamily="2" charset="-122"/>
                <a:ea typeface="华文新魏" panose="02010800040101010101" pitchFamily="2" charset="-122"/>
              </a:rPr>
              <a:t>实例成员指针</a:t>
            </a:r>
            <a:r>
              <a:rPr lang="zh-CN" altLang="en-US" sz="2400" b="1" dirty="0">
                <a:latin typeface="华文新魏" panose="02010800040101010101" pitchFamily="2" charset="-122"/>
                <a:ea typeface="华文新魏" panose="02010800040101010101" pitchFamily="2" charset="-122"/>
              </a:rPr>
              <a:t>和</a:t>
            </a:r>
            <a:r>
              <a:rPr lang="zh-CN" altLang="en-US" sz="2400" b="1" dirty="0">
                <a:solidFill>
                  <a:srgbClr val="FF0000"/>
                </a:solidFill>
                <a:latin typeface="华文新魏" panose="02010800040101010101" pitchFamily="2" charset="-122"/>
                <a:ea typeface="华文新魏" panose="02010800040101010101" pitchFamily="2" charset="-122"/>
              </a:rPr>
              <a:t>静态成员指针</a:t>
            </a:r>
            <a:r>
              <a:rPr lang="zh-CN" altLang="en-US" sz="2400" b="1" dirty="0">
                <a:latin typeface="华文新魏" panose="02010800040101010101" pitchFamily="2" charset="-122"/>
                <a:ea typeface="华文新魏" panose="02010800040101010101" pitchFamily="2" charset="-122"/>
              </a:rPr>
              <a:t>。变量、数据成员、函数参数和返回类型都可定义为成员指针类型</a:t>
            </a: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即普通指针能用的地方成员指针都能用</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000" b="1" dirty="0">
                <a:solidFill>
                  <a:srgbClr val="FF0000"/>
                </a:solidFill>
                <a:latin typeface="华文新魏" panose="02010800040101010101" pitchFamily="2" charset="-122"/>
                <a:ea typeface="华文新魏" panose="02010800040101010101" pitchFamily="2" charset="-122"/>
              </a:rPr>
              <a:t>实例成员指针声明：</a:t>
            </a:r>
            <a:endParaRPr lang="en-US" altLang="zh-CN" sz="2000" b="1" dirty="0">
              <a:solidFill>
                <a:srgbClr val="FF0000"/>
              </a:solidFill>
              <a:latin typeface="华文新魏" panose="02010800040101010101" pitchFamily="2" charset="-122"/>
              <a:ea typeface="华文新魏" panose="02010800040101010101" pitchFamily="2" charset="-122"/>
            </a:endParaRPr>
          </a:p>
          <a:p>
            <a:pPr lvl="1">
              <a:lnSpc>
                <a:spcPct val="90000"/>
              </a:lnSpc>
              <a:spcBef>
                <a:spcPts val="500"/>
              </a:spcBef>
              <a:defRPr/>
            </a:pPr>
            <a:r>
              <a:rPr lang="en-US" altLang="zh-CN" sz="2000" b="1" dirty="0">
                <a:solidFill>
                  <a:srgbClr val="FF0000"/>
                </a:solidFill>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 int  </a:t>
            </a:r>
            <a:r>
              <a:rPr lang="en-US" altLang="zh-CN" sz="2000" b="1" dirty="0">
                <a:solidFill>
                  <a:srgbClr val="FF0000"/>
                </a:solidFill>
                <a:latin typeface="华文新魏" panose="02010800040101010101" pitchFamily="2" charset="-122"/>
                <a:ea typeface="华文新魏" panose="02010800040101010101" pitchFamily="2" charset="-122"/>
              </a:rPr>
              <a:t>A::</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p</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//A</a:t>
            </a:r>
            <a:r>
              <a:rPr lang="zh-CN" altLang="en-US" sz="2000" b="1" dirty="0">
                <a:latin typeface="华文新魏" panose="02010800040101010101" pitchFamily="2" charset="-122"/>
                <a:ea typeface="华文新魏" panose="02010800040101010101" pitchFamily="2" charset="-122"/>
              </a:rPr>
              <a:t>类的成员指针，指向</a:t>
            </a:r>
            <a:r>
              <a:rPr lang="en-US" altLang="zh-CN" sz="2000" b="1" dirty="0">
                <a:latin typeface="华文新魏" panose="02010800040101010101" pitchFamily="2" charset="-122"/>
                <a:ea typeface="华文新魏" panose="02010800040101010101" pitchFamily="2" charset="-122"/>
              </a:rPr>
              <a:t>A</a:t>
            </a:r>
            <a:r>
              <a:rPr lang="zh-CN" altLang="en-US" sz="2000" b="1" dirty="0">
                <a:latin typeface="华文新魏" panose="02010800040101010101" pitchFamily="2" charset="-122"/>
                <a:ea typeface="华文新魏" panose="02010800040101010101" pitchFamily="2" charset="-122"/>
              </a:rPr>
              <a:t>类的</a:t>
            </a:r>
            <a:r>
              <a:rPr lang="en-US" altLang="zh-CN" sz="2000" b="1" dirty="0">
                <a:latin typeface="华文新魏" panose="02010800040101010101" pitchFamily="2" charset="-122"/>
                <a:ea typeface="华文新魏" panose="02010800040101010101" pitchFamily="2" charset="-122"/>
              </a:rPr>
              <a:t>int</a:t>
            </a:r>
            <a:r>
              <a:rPr lang="zh-CN" altLang="en-US" sz="2000" b="1" dirty="0">
                <a:latin typeface="华文新魏" panose="02010800040101010101" pitchFamily="2" charset="-122"/>
                <a:ea typeface="华文新魏" panose="02010800040101010101" pitchFamily="2" charset="-122"/>
              </a:rPr>
              <a:t>类型</a:t>
            </a:r>
            <a:r>
              <a:rPr lang="zh-CN" altLang="en-US" sz="2000" b="1" dirty="0">
                <a:solidFill>
                  <a:srgbClr val="FF0000"/>
                </a:solidFill>
                <a:latin typeface="华文新魏" panose="02010800040101010101" pitchFamily="2" charset="-122"/>
                <a:ea typeface="华文新魏" panose="02010800040101010101" pitchFamily="2" charset="-122"/>
              </a:rPr>
              <a:t>实例</a:t>
            </a:r>
            <a:r>
              <a:rPr lang="zh-CN" altLang="en-US" sz="2000" b="1" dirty="0">
                <a:latin typeface="华文新魏" panose="02010800040101010101" pitchFamily="2" charset="-122"/>
                <a:ea typeface="华文新魏" panose="02010800040101010101" pitchFamily="2" charset="-122"/>
              </a:rPr>
              <a:t>数据成员</a:t>
            </a:r>
            <a:endParaRPr lang="en-US" altLang="zh-CN" sz="2000" b="1" dirty="0">
              <a:solidFill>
                <a:srgbClr val="FF0000"/>
              </a:solidFill>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实例成员指针使用：</a:t>
            </a:r>
            <a:endParaRPr lang="en-US" altLang="zh-CN" sz="2000" b="1" dirty="0">
              <a:latin typeface="华文新魏" panose="02010800040101010101" pitchFamily="2" charset="-122"/>
              <a:ea typeface="华文新魏" panose="02010800040101010101" pitchFamily="2" charset="-122"/>
            </a:endParaRPr>
          </a:p>
          <a:p>
            <a:pPr>
              <a:spcBef>
                <a:spcPct val="50000"/>
              </a:spcBef>
            </a:pPr>
            <a:r>
              <a:rPr lang="en-US" altLang="zh-CN" sz="2000" b="1" dirty="0">
                <a:solidFill>
                  <a:srgbClr val="FF0000"/>
                </a:solidFill>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struct A{  </a:t>
            </a:r>
          </a:p>
          <a:p>
            <a:pPr>
              <a:spcBef>
                <a:spcPct val="50000"/>
              </a:spcBef>
            </a:pPr>
            <a:r>
              <a:rPr lang="en-US" altLang="zh-CN" sz="2000" b="1" dirty="0">
                <a:latin typeface="华文新魏" panose="02010800040101010101" pitchFamily="2" charset="-122"/>
                <a:ea typeface="华文新魏" panose="02010800040101010101" pitchFamily="2" charset="-122"/>
              </a:rPr>
              <a:t>    		int   m,  n; </a:t>
            </a:r>
          </a:p>
          <a:p>
            <a:pPr>
              <a:spcBef>
                <a:spcPct val="50000"/>
              </a:spcBef>
            </a:pPr>
            <a:r>
              <a:rPr lang="en-US" altLang="zh-CN" sz="2000" b="1" dirty="0">
                <a:latin typeface="华文新魏" panose="02010800040101010101" pitchFamily="2" charset="-122"/>
                <a:ea typeface="华文新魏" panose="02010800040101010101" pitchFamily="2" charset="-122"/>
              </a:rPr>
              <a:t>	}a={1, 2},  b={3, 4}; </a:t>
            </a:r>
          </a:p>
          <a:p>
            <a:pPr>
              <a:spcBef>
                <a:spcPct val="50000"/>
              </a:spcBef>
            </a:pPr>
            <a:r>
              <a:rPr lang="en-US" altLang="zh-CN" sz="2000" b="1" dirty="0">
                <a:latin typeface="华文新魏" panose="02010800040101010101" pitchFamily="2" charset="-122"/>
                <a:ea typeface="华文新魏" panose="02010800040101010101" pitchFamily="2" charset="-122"/>
              </a:rPr>
              <a:t> 	p =  &amp;A::m; //</a:t>
            </a:r>
            <a:r>
              <a:rPr lang="zh-CN" altLang="en-US" sz="2000" b="1" dirty="0">
                <a:latin typeface="华文新魏" panose="02010800040101010101" pitchFamily="2" charset="-122"/>
                <a:ea typeface="华文新魏" panose="02010800040101010101" pitchFamily="2" charset="-122"/>
              </a:rPr>
              <a:t>实例成员指针</a:t>
            </a:r>
            <a:r>
              <a:rPr lang="en-US" altLang="zh-CN" sz="2000" b="1" dirty="0">
                <a:latin typeface="华文新魏" panose="02010800040101010101" pitchFamily="2" charset="-122"/>
                <a:ea typeface="华文新魏" panose="02010800040101010101" pitchFamily="2" charset="-122"/>
              </a:rPr>
              <a:t>p</a:t>
            </a:r>
            <a:r>
              <a:rPr lang="zh-CN" altLang="en-US" sz="2000" b="1" dirty="0">
                <a:latin typeface="华文新魏" panose="02010800040101010101" pitchFamily="2" charset="-122"/>
                <a:ea typeface="华文新魏" panose="02010800040101010101" pitchFamily="2" charset="-122"/>
              </a:rPr>
              <a:t>指向</a:t>
            </a:r>
            <a:r>
              <a:rPr lang="en-US" altLang="zh-CN" sz="2000" b="1" dirty="0">
                <a:latin typeface="华文新魏" panose="02010800040101010101" pitchFamily="2" charset="-122"/>
                <a:ea typeface="华文新魏" panose="02010800040101010101" pitchFamily="2" charset="-122"/>
              </a:rPr>
              <a:t>A</a:t>
            </a:r>
            <a:r>
              <a:rPr lang="zh-CN" altLang="en-US" sz="2000" b="1" dirty="0">
                <a:latin typeface="华文新魏" panose="02010800040101010101" pitchFamily="2" charset="-122"/>
                <a:ea typeface="华文新魏" panose="02010800040101010101" pitchFamily="2" charset="-122"/>
              </a:rPr>
              <a:t>类的</a:t>
            </a:r>
            <a:r>
              <a:rPr lang="zh-CN" altLang="en-US" sz="2000" b="1" dirty="0">
                <a:solidFill>
                  <a:srgbClr val="FF0000"/>
                </a:solidFill>
                <a:latin typeface="华文新魏" panose="02010800040101010101" pitchFamily="2" charset="-122"/>
                <a:ea typeface="华文新魏" panose="02010800040101010101" pitchFamily="2" charset="-122"/>
              </a:rPr>
              <a:t>实例</a:t>
            </a:r>
            <a:r>
              <a:rPr lang="zh-CN" altLang="en-US" sz="2000" b="1" dirty="0">
                <a:latin typeface="华文新魏" panose="02010800040101010101" pitchFamily="2" charset="-122"/>
                <a:ea typeface="华文新魏" panose="02010800040101010101" pitchFamily="2" charset="-122"/>
              </a:rPr>
              <a:t>数据成员</a:t>
            </a:r>
            <a:r>
              <a:rPr lang="en-US" altLang="zh-CN" sz="2000" b="1" dirty="0">
                <a:latin typeface="华文新魏" panose="02010800040101010101" pitchFamily="2" charset="-122"/>
                <a:ea typeface="华文新魏" panose="02010800040101010101" pitchFamily="2" charset="-122"/>
              </a:rPr>
              <a:t>m</a:t>
            </a:r>
          </a:p>
          <a:p>
            <a:pPr>
              <a:spcBef>
                <a:spcPct val="50000"/>
              </a:spcBef>
            </a:pPr>
            <a:r>
              <a:rPr lang="en-US" altLang="zh-CN" sz="2000" b="1" dirty="0">
                <a:latin typeface="华文新魏" panose="02010800040101010101" pitchFamily="2" charset="-122"/>
                <a:ea typeface="华文新魏" panose="02010800040101010101" pitchFamily="2" charset="-122"/>
              </a:rPr>
              <a:t>	int x = a.*p  	//x = </a:t>
            </a:r>
            <a:r>
              <a:rPr lang="en-US" altLang="zh-CN" sz="2000" b="1" dirty="0" err="1">
                <a:latin typeface="华文新魏" panose="02010800040101010101" pitchFamily="2" charset="-122"/>
                <a:ea typeface="华文新魏" panose="02010800040101010101" pitchFamily="2" charset="-122"/>
              </a:rPr>
              <a:t>a.m</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利用实例成员指针访问成员  </a:t>
            </a:r>
            <a:r>
              <a:rPr lang="zh-CN" altLang="en-US" sz="2000" b="1" dirty="0">
                <a:solidFill>
                  <a:srgbClr val="FF0000"/>
                </a:solidFill>
                <a:latin typeface="华文新魏" panose="02010800040101010101" pitchFamily="2" charset="-122"/>
                <a:ea typeface="华文新魏" panose="02010800040101010101" pitchFamily="2" charset="-122"/>
              </a:rPr>
              <a:t>对象名</a:t>
            </a:r>
            <a:r>
              <a:rPr lang="en-US" altLang="zh-CN" sz="2000" b="1" dirty="0">
                <a:solidFill>
                  <a:srgbClr val="FF0000"/>
                </a:solidFill>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指针名或对象指针</a:t>
            </a:r>
            <a:r>
              <a:rPr lang="en-US" altLang="zh-CN" sz="2000" b="1" dirty="0">
                <a:solidFill>
                  <a:srgbClr val="FF0000"/>
                </a:solidFill>
                <a:latin typeface="华文新魏" panose="02010800040101010101" pitchFamily="2" charset="-122"/>
                <a:ea typeface="华文新魏" panose="02010800040101010101" pitchFamily="2" charset="-122"/>
              </a:rPr>
              <a:t>-&gt;*</a:t>
            </a:r>
            <a:r>
              <a:rPr lang="zh-CN" altLang="en-US" sz="2000" b="1" dirty="0">
                <a:solidFill>
                  <a:srgbClr val="FF0000"/>
                </a:solidFill>
                <a:latin typeface="华文新魏" panose="02010800040101010101" pitchFamily="2" charset="-122"/>
                <a:ea typeface="华文新魏" panose="02010800040101010101" pitchFamily="2" charset="-122"/>
              </a:rPr>
              <a:t>指针名</a:t>
            </a:r>
            <a:endParaRPr lang="en-US" altLang="zh-CN" sz="2000" b="1" dirty="0">
              <a:solidFill>
                <a:srgbClr val="FF0000"/>
              </a:solidFill>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endParaRPr lang="en-US" altLang="zh-CN" sz="2400" b="1" dirty="0">
              <a:latin typeface="Times New Roman" panose="02020603050405020304" pitchFamily="18" charset="0"/>
            </a:endParaRPr>
          </a:p>
        </p:txBody>
      </p:sp>
    </p:spTree>
    <p:extLst>
      <p:ext uri="{BB962C8B-B14F-4D97-AF65-F5344CB8AC3E}">
        <p14:creationId xmlns:p14="http://schemas.microsoft.com/office/powerpoint/2010/main" val="1016620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5</a:t>
            </a:r>
            <a:r>
              <a:rPr lang="zh-CN" altLang="en-US" b="1" dirty="0">
                <a:latin typeface="隶书" panose="02010509060101010101" pitchFamily="49" charset="-122"/>
                <a:ea typeface="隶书" panose="02010509060101010101" pitchFamily="49" charset="-122"/>
              </a:rPr>
              <a:t>章 </a:t>
            </a:r>
            <a:r>
              <a:rPr lang="zh-CN" altLang="zh-CN" b="1" dirty="0">
                <a:latin typeface="隶书" panose="02010509060101010101" pitchFamily="49" charset="-122"/>
                <a:ea typeface="隶书" panose="02010509060101010101" pitchFamily="49" charset="-122"/>
              </a:rPr>
              <a:t>成员及成员指针</a:t>
            </a:r>
            <a:endParaRPr lang="zh-CN" altLang="en-US" b="1" dirty="0">
              <a:latin typeface="隶书" panose="02010509060101010101" pitchFamily="49" charset="-122"/>
              <a:ea typeface="隶书" panose="02010509060101010101" pitchFamily="49" charset="-122"/>
            </a:endParaRP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838200" y="1763481"/>
            <a:ext cx="10515600" cy="4351338"/>
          </a:xfrm>
        </p:spPr>
        <p:txBody>
          <a:bodyPr/>
          <a:lstStyle/>
          <a:p>
            <a:pPr>
              <a:buFont typeface="Wingdings" panose="05000000000000000000" pitchFamily="2" charset="2"/>
              <a:buChar char="u"/>
            </a:pPr>
            <a:r>
              <a:rPr lang="en-US" altLang="zh-CN" dirty="0"/>
              <a:t>5.1  </a:t>
            </a:r>
            <a:r>
              <a:rPr lang="zh-CN" altLang="en-US" dirty="0"/>
              <a:t>实例成员指针</a:t>
            </a: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0930295" cy="4658198"/>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运算符</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和</a:t>
            </a:r>
            <a:r>
              <a:rPr lang="en-US" altLang="zh-CN" sz="2400" b="1" dirty="0">
                <a:latin typeface="华文新魏" panose="02010800040101010101" pitchFamily="2" charset="-122"/>
                <a:ea typeface="华文新魏" panose="02010800040101010101" pitchFamily="2" charset="-122"/>
              </a:rPr>
              <a:t>-&gt;*</a:t>
            </a:r>
            <a:r>
              <a:rPr lang="zh-CN" altLang="en-US" sz="2400" b="1" dirty="0">
                <a:latin typeface="华文新魏" panose="02010800040101010101" pitchFamily="2" charset="-122"/>
                <a:ea typeface="华文新魏" panose="02010800040101010101" pitchFamily="2" charset="-122"/>
              </a:rPr>
              <a:t>均为双目运算符，优先级均为第</a:t>
            </a:r>
            <a:r>
              <a:rPr lang="en-US" altLang="zh-CN" sz="2400" b="1" dirty="0">
                <a:latin typeface="华文新魏" panose="02010800040101010101" pitchFamily="2" charset="-122"/>
                <a:ea typeface="华文新魏" panose="02010800040101010101" pitchFamily="2" charset="-122"/>
              </a:rPr>
              <a:t>14</a:t>
            </a:r>
            <a:r>
              <a:rPr lang="zh-CN" altLang="en-US" sz="2400" b="1" dirty="0">
                <a:latin typeface="华文新魏" panose="02010800040101010101" pitchFamily="2" charset="-122"/>
                <a:ea typeface="华文新魏" panose="02010800040101010101" pitchFamily="2" charset="-122"/>
              </a:rPr>
              <a:t>级，结合性自左向右</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的左操作数为类的实例</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对象</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，右操作数为指向实例成员的指针</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en-US" altLang="zh-CN" sz="2400" b="1" dirty="0">
                <a:latin typeface="华文新魏" panose="02010800040101010101" pitchFamily="2" charset="-122"/>
                <a:ea typeface="华文新魏" panose="02010800040101010101" pitchFamily="2" charset="-122"/>
              </a:rPr>
              <a:t>-&gt;*</a:t>
            </a:r>
            <a:r>
              <a:rPr lang="zh-CN" altLang="en-US" sz="2400" b="1" dirty="0">
                <a:latin typeface="华文新魏" panose="02010800040101010101" pitchFamily="2" charset="-122"/>
                <a:ea typeface="华文新魏" panose="02010800040101010101" pitchFamily="2" charset="-122"/>
              </a:rPr>
              <a:t>的左操作数为对象指针，右操作数为指向该对象实例成员的指针。</a:t>
            </a:r>
          </a:p>
          <a:p>
            <a:pPr marL="685800" lvl="1"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sym typeface="Wingdings" panose="05000000000000000000" pitchFamily="2" charset="2"/>
              </a:rPr>
              <a:t>实例成员指针是指向实例成员的指针</a:t>
            </a:r>
            <a:r>
              <a:rPr lang="zh-CN" altLang="en-US" sz="2400" b="1" dirty="0">
                <a:latin typeface="华文新魏" panose="02010800040101010101" pitchFamily="2" charset="-122"/>
                <a:ea typeface="华文新魏" panose="02010800040101010101" pitchFamily="2" charset="-122"/>
                <a:sym typeface="Wingdings" panose="05000000000000000000" pitchFamily="2" charset="2"/>
              </a:rPr>
              <a:t>，可分为</a:t>
            </a:r>
            <a:r>
              <a:rPr lang="zh-CN" altLang="en-US" sz="2400" b="1" dirty="0">
                <a:solidFill>
                  <a:srgbClr val="FF0000"/>
                </a:solidFill>
                <a:latin typeface="华文新魏" panose="02010800040101010101" pitchFamily="2" charset="-122"/>
                <a:ea typeface="华文新魏" panose="02010800040101010101" pitchFamily="2" charset="-122"/>
                <a:sym typeface="Wingdings" panose="05000000000000000000" pitchFamily="2" charset="2"/>
              </a:rPr>
              <a:t>实例数据成员指针和实例函数成员指针</a:t>
            </a:r>
            <a:r>
              <a:rPr lang="zh-CN" altLang="en-US" sz="2400" b="1" dirty="0">
                <a:latin typeface="华文新魏" panose="02010800040101010101" pitchFamily="2" charset="-122"/>
                <a:ea typeface="华文新魏" panose="02010800040101010101" pitchFamily="2" charset="-122"/>
                <a:sym typeface="Wingdings" panose="05000000000000000000" pitchFamily="2" charset="2"/>
              </a:rPr>
              <a:t>。</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sym typeface="Wingdings" panose="05000000000000000000" pitchFamily="2" charset="2"/>
              </a:rPr>
              <a:t>实例成员指针必须直接或间接同</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或</a:t>
            </a:r>
            <a:r>
              <a:rPr lang="en-US" altLang="zh-CN" sz="2400" b="1" dirty="0">
                <a:latin typeface="华文新魏" panose="02010800040101010101" pitchFamily="2" charset="-122"/>
                <a:ea typeface="华文新魏" panose="02010800040101010101" pitchFamily="2" charset="-122"/>
              </a:rPr>
              <a:t>-&gt;</a:t>
            </a:r>
            <a:r>
              <a:rPr lang="zh-CN" altLang="en-US" sz="2400" b="1" dirty="0">
                <a:latin typeface="华文新魏" panose="02010800040101010101" pitchFamily="2" charset="-122"/>
                <a:ea typeface="华文新魏" panose="02010800040101010101" pitchFamily="2" charset="-122"/>
              </a:rPr>
              <a:t>*左边的实例</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对象</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结合，以便访问该对象的实例数据成员或函数成员</a:t>
            </a:r>
            <a:r>
              <a:rPr lang="zh-CN" altLang="en-US" sz="2400" b="1" dirty="0">
                <a:latin typeface="华文新魏" panose="02010800040101010101" pitchFamily="2" charset="-122"/>
                <a:ea typeface="华文新魏" panose="02010800040101010101" pitchFamily="2" charset="-122"/>
                <a:sym typeface="Wingdings" panose="05000000000000000000" pitchFamily="2" charset="2"/>
              </a:rPr>
              <a:t>。</a:t>
            </a:r>
            <a:endParaRPr lang="en-US" altLang="zh-CN" sz="2400" b="1" dirty="0">
              <a:latin typeface="华文新魏" panose="02010800040101010101" pitchFamily="2" charset="-122"/>
              <a:ea typeface="华文新魏" panose="02010800040101010101" pitchFamily="2" charset="-122"/>
              <a:sym typeface="Wingdings" panose="05000000000000000000" pitchFamily="2" charset="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构造函数不能被显式调用，故不能有指向构造函数的实例成员指针。</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声明语法 </a:t>
            </a:r>
            <a:endParaRPr lang="en-US" altLang="zh-CN" sz="2400" b="1" dirty="0">
              <a:latin typeface="华文新魏" panose="02010800040101010101" pitchFamily="2" charset="-122"/>
              <a:ea typeface="华文新魏" panose="02010800040101010101" pitchFamily="2" charset="-122"/>
            </a:endParaRPr>
          </a:p>
          <a:p>
            <a:pPr lvl="1">
              <a:lnSpc>
                <a:spcPct val="90000"/>
              </a:lnSpc>
              <a:spcBef>
                <a:spcPts val="500"/>
              </a:spcBef>
              <a:defRPr/>
            </a:pP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数据类型  类名</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指针名 </a:t>
            </a:r>
            <a:r>
              <a:rPr lang="en-US" altLang="zh-CN" sz="2400" b="1" dirty="0">
                <a:latin typeface="华文新魏" panose="02010800040101010101" pitchFamily="2" charset="-122"/>
                <a:ea typeface="华文新魏" panose="02010800040101010101" pitchFamily="2" charset="-122"/>
              </a:rPr>
              <a:t>= &amp;</a:t>
            </a:r>
            <a:r>
              <a:rPr lang="zh-CN" altLang="en-US" sz="2400" b="1" dirty="0">
                <a:solidFill>
                  <a:srgbClr val="FF0000"/>
                </a:solidFill>
                <a:latin typeface="华文新魏" panose="02010800040101010101" pitchFamily="2" charset="-122"/>
                <a:ea typeface="华文新魏" panose="02010800040101010101" pitchFamily="2" charset="-122"/>
              </a:rPr>
              <a:t>类名</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实例成员名</a:t>
            </a:r>
            <a:endParaRPr lang="en-US" altLang="zh-CN" sz="2400" b="1" dirty="0">
              <a:solidFill>
                <a:srgbClr val="FF0000"/>
              </a:solidFill>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endParaRPr lang="en-US" altLang="zh-CN" sz="2400" b="1" dirty="0">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endParaRPr lang="en-US" altLang="zh-CN" sz="2400" b="1" dirty="0">
              <a:latin typeface="Times New Roman" panose="02020603050405020304" pitchFamily="18" charset="0"/>
            </a:endParaRPr>
          </a:p>
        </p:txBody>
      </p:sp>
    </p:spTree>
    <p:extLst>
      <p:ext uri="{BB962C8B-B14F-4D97-AF65-F5344CB8AC3E}">
        <p14:creationId xmlns:p14="http://schemas.microsoft.com/office/powerpoint/2010/main" val="1769782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5</a:t>
            </a:r>
            <a:r>
              <a:rPr lang="zh-CN" altLang="en-US" b="1" dirty="0">
                <a:latin typeface="隶书" panose="02010509060101010101" pitchFamily="49" charset="-122"/>
                <a:ea typeface="隶书" panose="02010509060101010101" pitchFamily="49" charset="-122"/>
              </a:rPr>
              <a:t>章 </a:t>
            </a:r>
            <a:r>
              <a:rPr lang="zh-CN" altLang="zh-CN" b="1" dirty="0">
                <a:latin typeface="隶书" panose="02010509060101010101" pitchFamily="49" charset="-122"/>
                <a:ea typeface="隶书" panose="02010509060101010101" pitchFamily="49" charset="-122"/>
              </a:rPr>
              <a:t>成员及成员指针</a:t>
            </a:r>
            <a:endParaRPr lang="zh-CN" altLang="en-US" b="1" dirty="0">
              <a:latin typeface="隶书" panose="02010509060101010101" pitchFamily="49" charset="-122"/>
              <a:ea typeface="隶书" panose="02010509060101010101" pitchFamily="49" charset="-122"/>
            </a:endParaRP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t>5.1  </a:t>
            </a:r>
            <a:r>
              <a:rPr lang="zh-CN" altLang="en-US" dirty="0"/>
              <a:t>实例数据成员指针</a:t>
            </a: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1553595" cy="3579441"/>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实例数据成员指针是数据成员相对于对象首地址的偏移，不是真正的代表地址的指针。</a:t>
            </a:r>
            <a:endParaRPr lang="en-US" altLang="zh-CN" sz="2400" b="1" dirty="0">
              <a:solidFill>
                <a:srgbClr val="FF0000"/>
              </a:solidFill>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实例数据成员指针不能移动：</a:t>
            </a:r>
          </a:p>
          <a:p>
            <a:pPr marL="1143000" lvl="2"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数据成员的大小及类型不一定相同，移动后指向的内存可能是某个成员的一部分，或者跨越两个</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或以上</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成员的内存；</a:t>
            </a:r>
          </a:p>
          <a:p>
            <a:pPr marL="1143000" lvl="2"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即使移动前后指向的成员的类型正好相同，这两个成员的访问权限也有可能不同，移动后可能出现越权访问问题。</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实例成员指针不能转换类型：</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否则便可以通过类型转换，间接实现实例成员指针移动</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endParaRPr lang="en-US" altLang="zh-CN" sz="2400" b="1" dirty="0">
              <a:latin typeface="Times New Roman" panose="02020603050405020304" pitchFamily="18" charset="0"/>
            </a:endParaRPr>
          </a:p>
        </p:txBody>
      </p:sp>
    </p:spTree>
    <p:extLst>
      <p:ext uri="{BB962C8B-B14F-4D97-AF65-F5344CB8AC3E}">
        <p14:creationId xmlns:p14="http://schemas.microsoft.com/office/powerpoint/2010/main" val="604635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实例数据成员指针 </a:t>
            </a:r>
          </a:p>
        </p:txBody>
      </p:sp>
      <p:sp>
        <p:nvSpPr>
          <p:cNvPr id="8196" name="Rectangle 7"/>
          <p:cNvSpPr>
            <a:spLocks noChangeArrowheads="1"/>
          </p:cNvSpPr>
          <p:nvPr/>
        </p:nvSpPr>
        <p:spPr bwMode="auto">
          <a:xfrm>
            <a:off x="1758751" y="980728"/>
            <a:ext cx="9302825" cy="5400600"/>
          </a:xfrm>
          <a:prstGeom prst="rect">
            <a:avLst/>
          </a:prstGeom>
          <a:noFill/>
          <a:ln w="9525">
            <a:noFill/>
            <a:miter lim="800000"/>
            <a:headEnd/>
            <a:tailEnd/>
          </a:ln>
        </p:spPr>
        <p:txBody>
          <a:bodyPr>
            <a:noAutofit/>
          </a:bodyPr>
          <a:lstStyle/>
          <a:p>
            <a:pPr>
              <a:lnSpc>
                <a:spcPct val="120000"/>
              </a:lnSpc>
              <a:spcBef>
                <a:spcPct val="10000"/>
              </a:spcBef>
            </a:pPr>
            <a:r>
              <a:rPr lang="en-US" altLang="zh-CN" sz="2000" b="1" dirty="0">
                <a:latin typeface="华文新魏" panose="02010800040101010101" pitchFamily="2" charset="-122"/>
                <a:ea typeface="华文新魏" panose="02010800040101010101" pitchFamily="2" charset="-122"/>
              </a:rPr>
              <a:t>struct A{   //</a:t>
            </a:r>
            <a:r>
              <a:rPr lang="zh-CN" altLang="en-US" sz="2000" b="1" dirty="0">
                <a:solidFill>
                  <a:srgbClr val="FF0000"/>
                </a:solidFill>
                <a:latin typeface="华文新魏" panose="02010800040101010101" pitchFamily="2" charset="-122"/>
                <a:ea typeface="华文新魏" panose="02010800040101010101" pitchFamily="2" charset="-122"/>
              </a:rPr>
              <a:t>实例数据成员指针是偏移量</a:t>
            </a:r>
          </a:p>
          <a:p>
            <a:pPr>
              <a:lnSpc>
                <a:spcPct val="120000"/>
              </a:lnSpc>
              <a:spcBef>
                <a:spcPct val="10000"/>
              </a:spcBef>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int   m,  n; </a:t>
            </a:r>
          </a:p>
          <a:p>
            <a:pPr>
              <a:lnSpc>
                <a:spcPct val="120000"/>
              </a:lnSpc>
              <a:spcBef>
                <a:spcPct val="10000"/>
              </a:spcBef>
            </a:pPr>
            <a:r>
              <a:rPr lang="en-US" altLang="zh-CN" sz="2000" b="1" dirty="0">
                <a:latin typeface="华文新魏" panose="02010800040101010101" pitchFamily="2" charset="-122"/>
                <a:ea typeface="华文新魏" panose="02010800040101010101" pitchFamily="2" charset="-122"/>
              </a:rPr>
              <a:t>}a={1, 2},  b={3, 4};   //</a:t>
            </a:r>
            <a:r>
              <a:rPr lang="zh-CN" altLang="en-US" sz="2000" b="1" dirty="0">
                <a:latin typeface="华文新魏" panose="02010800040101010101" pitchFamily="2" charset="-122"/>
                <a:ea typeface="华文新魏" panose="02010800040101010101" pitchFamily="2" charset="-122"/>
              </a:rPr>
              <a:t>假设</a:t>
            </a:r>
            <a:r>
              <a:rPr lang="en-US" altLang="zh-CN" sz="2000" b="1" dirty="0">
                <a:latin typeface="华文新魏" panose="02010800040101010101" pitchFamily="2" charset="-122"/>
                <a:ea typeface="华文新魏" panose="02010800040101010101" pitchFamily="2" charset="-122"/>
              </a:rPr>
              <a:t>int</a:t>
            </a:r>
            <a:r>
              <a:rPr lang="zh-CN" altLang="en-US" sz="2000" b="1" dirty="0">
                <a:latin typeface="华文新魏" panose="02010800040101010101" pitchFamily="2" charset="-122"/>
                <a:ea typeface="华文新魏" panose="02010800040101010101" pitchFamily="2" charset="-122"/>
              </a:rPr>
              <a:t>类型</a:t>
            </a:r>
            <a:r>
              <a:rPr lang="en-US" altLang="zh-CN" sz="2000" b="1" dirty="0">
                <a:latin typeface="华文新魏" panose="02010800040101010101" pitchFamily="2" charset="-122"/>
                <a:ea typeface="华文新魏" panose="02010800040101010101" pitchFamily="2" charset="-122"/>
              </a:rPr>
              <a:t>2</a:t>
            </a:r>
            <a:r>
              <a:rPr lang="zh-CN" altLang="en-US" sz="2000" b="1" dirty="0">
                <a:latin typeface="华文新魏" panose="02010800040101010101" pitchFamily="2" charset="-122"/>
                <a:ea typeface="华文新魏" panose="02010800040101010101" pitchFamily="2" charset="-122"/>
              </a:rPr>
              <a:t>个字节</a:t>
            </a:r>
            <a:endParaRPr lang="en-US" altLang="zh-CN" sz="2000" b="1" dirty="0">
              <a:latin typeface="华文新魏" panose="02010800040101010101" pitchFamily="2" charset="-122"/>
              <a:ea typeface="华文新魏" panose="02010800040101010101" pitchFamily="2" charset="-122"/>
            </a:endParaRPr>
          </a:p>
          <a:p>
            <a:pPr>
              <a:lnSpc>
                <a:spcPct val="120000"/>
              </a:lnSpc>
              <a:spcBef>
                <a:spcPct val="10000"/>
              </a:spcBef>
            </a:pPr>
            <a:r>
              <a:rPr lang="en-US" altLang="zh-CN" sz="2000" b="1" dirty="0">
                <a:latin typeface="华文新魏" panose="02010800040101010101" pitchFamily="2" charset="-122"/>
                <a:ea typeface="华文新魏" panose="02010800040101010101" pitchFamily="2" charset="-122"/>
              </a:rPr>
              <a:t>void main (void)   {//</a:t>
            </a:r>
            <a:r>
              <a:rPr lang="zh-CN" altLang="en-US" sz="2000" b="1" dirty="0">
                <a:latin typeface="华文新魏" panose="02010800040101010101" pitchFamily="2" charset="-122"/>
                <a:ea typeface="华文新魏" panose="02010800040101010101" pitchFamily="2" charset="-122"/>
              </a:rPr>
              <a:t>以下</a:t>
            </a:r>
            <a:r>
              <a:rPr lang="en-US" altLang="zh-CN" sz="2000" b="1" dirty="0">
                <a:latin typeface="华文新魏" panose="02010800040101010101" pitchFamily="2" charset="-122"/>
                <a:ea typeface="华文新魏" panose="02010800040101010101" pitchFamily="2" charset="-122"/>
              </a:rPr>
              <a:t>p=0</a:t>
            </a:r>
            <a:r>
              <a:rPr lang="zh-CN" altLang="en-US" sz="2000" b="1" dirty="0">
                <a:latin typeface="华文新魏" panose="02010800040101010101" pitchFamily="2" charset="-122"/>
                <a:ea typeface="华文新魏" panose="02010800040101010101" pitchFamily="2" charset="-122"/>
              </a:rPr>
              <a:t>表示偏移</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实现时实际</a:t>
            </a:r>
            <a:r>
              <a:rPr lang="en-US" altLang="zh-CN" sz="2000" b="1" dirty="0">
                <a:latin typeface="华文新魏" panose="02010800040101010101" pitchFamily="2" charset="-122"/>
                <a:ea typeface="华文新魏" panose="02010800040101010101" pitchFamily="2" charset="-122"/>
              </a:rPr>
              <a:t>&lt;&gt;0</a:t>
            </a:r>
          </a:p>
          <a:p>
            <a:pPr>
              <a:lnSpc>
                <a:spcPct val="120000"/>
              </a:lnSpc>
              <a:spcBef>
                <a:spcPct val="10000"/>
              </a:spcBef>
            </a:pPr>
            <a:r>
              <a:rPr lang="en-US" altLang="zh-CN" sz="2000" b="1" dirty="0">
                <a:latin typeface="华文新魏" panose="02010800040101010101" pitchFamily="2" charset="-122"/>
                <a:ea typeface="华文新魏" panose="02010800040101010101" pitchFamily="2" charset="-122"/>
              </a:rPr>
              <a:t>    int x</a:t>
            </a:r>
            <a:r>
              <a:rPr lang="zh-CN" altLang="en-US" sz="2000" b="1" dirty="0">
                <a:latin typeface="华文新魏" panose="02010800040101010101" pitchFamily="2" charset="-122"/>
                <a:ea typeface="华文新魏" panose="02010800040101010101" pitchFamily="2" charset="-122"/>
              </a:rPr>
              <a:t>；</a:t>
            </a:r>
          </a:p>
          <a:p>
            <a:pPr>
              <a:lnSpc>
                <a:spcPct val="120000"/>
              </a:lnSpc>
              <a:spcBef>
                <a:spcPct val="10000"/>
              </a:spcBef>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int  A::*p=&amp;</a:t>
            </a:r>
            <a:r>
              <a:rPr lang="en-US" altLang="zh-CN" sz="2000" b="1" dirty="0">
                <a:solidFill>
                  <a:srgbClr val="FF0000"/>
                </a:solidFill>
                <a:latin typeface="华文新魏" panose="02010800040101010101" pitchFamily="2" charset="-122"/>
                <a:ea typeface="华文新魏" panose="02010800040101010101" pitchFamily="2" charset="-122"/>
              </a:rPr>
              <a:t>A</a:t>
            </a:r>
            <a:r>
              <a:rPr lang="en-US" altLang="zh-CN" sz="2000" b="1" dirty="0">
                <a:latin typeface="华文新魏" panose="02010800040101010101" pitchFamily="2" charset="-122"/>
                <a:ea typeface="华文新魏" panose="02010800040101010101" pitchFamily="2" charset="-122"/>
              </a:rPr>
              <a:t>::m;  //p</a:t>
            </a:r>
            <a:r>
              <a:rPr lang="zh-CN" altLang="en-US" sz="2000" b="1" dirty="0">
                <a:latin typeface="华文新魏" panose="02010800040101010101" pitchFamily="2" charset="-122"/>
                <a:ea typeface="华文新魏" panose="02010800040101010101" pitchFamily="2" charset="-122"/>
              </a:rPr>
              <a:t>是</a:t>
            </a:r>
            <a:r>
              <a:rPr lang="en-US" altLang="zh-CN" sz="2000" b="1" dirty="0">
                <a:latin typeface="华文新魏" panose="02010800040101010101" pitchFamily="2" charset="-122"/>
                <a:ea typeface="华文新魏" panose="02010800040101010101" pitchFamily="2" charset="-122"/>
              </a:rPr>
              <a:t>A</a:t>
            </a:r>
            <a:r>
              <a:rPr lang="zh-CN" altLang="en-US" sz="2000" b="1" dirty="0">
                <a:latin typeface="华文新魏" panose="02010800040101010101" pitchFamily="2" charset="-122"/>
                <a:ea typeface="华文新魏" panose="02010800040101010101" pitchFamily="2" charset="-122"/>
              </a:rPr>
              <a:t>的实例数据成员指针，指向整型成员</a:t>
            </a:r>
            <a:r>
              <a:rPr lang="en-US" altLang="zh-CN" sz="2000" b="1" dirty="0">
                <a:latin typeface="华文新魏" panose="02010800040101010101" pitchFamily="2" charset="-122"/>
                <a:ea typeface="华文新魏" panose="02010800040101010101" pitchFamily="2" charset="-122"/>
              </a:rPr>
              <a:t>m</a:t>
            </a:r>
          </a:p>
          <a:p>
            <a:pPr>
              <a:lnSpc>
                <a:spcPct val="120000"/>
              </a:lnSpc>
              <a:spcBef>
                <a:spcPct val="10000"/>
              </a:spcBef>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设</a:t>
            </a:r>
            <a:r>
              <a:rPr lang="en-US" altLang="zh-CN" sz="2000" b="1" dirty="0">
                <a:latin typeface="华文新魏" panose="02010800040101010101" pitchFamily="2" charset="-122"/>
                <a:ea typeface="华文新魏" panose="02010800040101010101" pitchFamily="2" charset="-122"/>
              </a:rPr>
              <a:t>p=0</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m</a:t>
            </a:r>
            <a:r>
              <a:rPr lang="zh-CN" altLang="en-US" sz="2000" b="1" dirty="0">
                <a:latin typeface="华文新魏" panose="02010800040101010101" pitchFamily="2" charset="-122"/>
                <a:ea typeface="华文新魏" panose="02010800040101010101" pitchFamily="2" charset="-122"/>
              </a:rPr>
              <a:t>相对结构体首址的偏移。编译后，偏移实际</a:t>
            </a:r>
            <a:r>
              <a:rPr lang="en-US" altLang="zh-CN" sz="2000" b="1" dirty="0">
                <a:latin typeface="华文新魏" panose="02010800040101010101" pitchFamily="2" charset="-122"/>
                <a:ea typeface="华文新魏" panose="02010800040101010101" pitchFamily="2" charset="-122"/>
              </a:rPr>
              <a:t>&lt;&gt;0</a:t>
            </a:r>
          </a:p>
          <a:p>
            <a:pPr>
              <a:lnSpc>
                <a:spcPct val="120000"/>
              </a:lnSpc>
              <a:spcBef>
                <a:spcPct val="10000"/>
              </a:spcBef>
            </a:pPr>
            <a:r>
              <a:rPr lang="en-US" altLang="zh-CN" sz="2000" b="1" dirty="0">
                <a:latin typeface="华文新魏" panose="02010800040101010101" pitchFamily="2" charset="-122"/>
                <a:ea typeface="华文新魏" panose="02010800040101010101" pitchFamily="2" charset="-122"/>
              </a:rPr>
              <a:t>    x=a.*p;  		  //x=* (a</a:t>
            </a:r>
            <a:r>
              <a:rPr lang="zh-CN" altLang="en-US" sz="2000" b="1" dirty="0">
                <a:latin typeface="华文新魏" panose="02010800040101010101" pitchFamily="2" charset="-122"/>
                <a:ea typeface="华文新魏" panose="02010800040101010101" pitchFamily="2" charset="-122"/>
              </a:rPr>
              <a:t>的地址</a:t>
            </a:r>
            <a:r>
              <a:rPr lang="en-US" altLang="zh-CN" sz="2000" b="1" dirty="0">
                <a:latin typeface="华文新魏" panose="02010800040101010101" pitchFamily="2" charset="-122"/>
                <a:ea typeface="华文新魏" panose="02010800040101010101" pitchFamily="2" charset="-122"/>
              </a:rPr>
              <a:t>+p) =* (2000+0) =1 = m</a:t>
            </a:r>
          </a:p>
          <a:p>
            <a:pPr>
              <a:lnSpc>
                <a:spcPct val="120000"/>
              </a:lnSpc>
              <a:spcBef>
                <a:spcPct val="10000"/>
              </a:spcBef>
            </a:pPr>
            <a:r>
              <a:rPr lang="en-US" altLang="zh-CN" sz="2000" b="1" dirty="0">
                <a:latin typeface="华文新魏" panose="02010800040101010101" pitchFamily="2" charset="-122"/>
                <a:ea typeface="华文新魏" panose="02010800040101010101" pitchFamily="2" charset="-122"/>
              </a:rPr>
              <a:t>   			//a.*p</a:t>
            </a:r>
            <a:r>
              <a:rPr lang="zh-CN" altLang="en-US" sz="2000" b="1" dirty="0">
                <a:latin typeface="华文新魏" panose="02010800040101010101" pitchFamily="2" charset="-122"/>
                <a:ea typeface="华文新魏" panose="02010800040101010101" pitchFamily="2" charset="-122"/>
              </a:rPr>
              <a:t>指向相对</a:t>
            </a:r>
            <a:r>
              <a:rPr lang="zh-CN" altLang="en-US" sz="2000" b="1" dirty="0">
                <a:solidFill>
                  <a:srgbClr val="FF0000"/>
                </a:solidFill>
                <a:latin typeface="华文新魏" panose="02010800040101010101" pitchFamily="2" charset="-122"/>
                <a:ea typeface="华文新魏" panose="02010800040101010101" pitchFamily="2" charset="-122"/>
              </a:rPr>
              <a:t>对象</a:t>
            </a:r>
            <a:r>
              <a:rPr lang="en-US" altLang="zh-CN" sz="2000" b="1" dirty="0">
                <a:solidFill>
                  <a:srgbClr val="FF0000"/>
                </a:solidFill>
                <a:latin typeface="华文新魏" panose="02010800040101010101" pitchFamily="2" charset="-122"/>
                <a:ea typeface="华文新魏" panose="02010800040101010101" pitchFamily="2" charset="-122"/>
              </a:rPr>
              <a:t>a</a:t>
            </a:r>
            <a:r>
              <a:rPr lang="zh-CN" altLang="en-US" sz="2000" b="1" dirty="0">
                <a:solidFill>
                  <a:srgbClr val="FF0000"/>
                </a:solidFill>
                <a:latin typeface="华文新魏" panose="02010800040101010101" pitchFamily="2" charset="-122"/>
                <a:ea typeface="华文新魏" panose="02010800040101010101" pitchFamily="2" charset="-122"/>
              </a:rPr>
              <a:t>首地址</a:t>
            </a:r>
            <a:r>
              <a:rPr lang="zh-CN" altLang="en-US" sz="2000" b="1" dirty="0">
                <a:latin typeface="华文新魏" panose="02010800040101010101" pitchFamily="2" charset="-122"/>
                <a:ea typeface="华文新魏" panose="02010800040101010101" pitchFamily="2" charset="-122"/>
              </a:rPr>
              <a:t>偏移为</a:t>
            </a:r>
            <a:r>
              <a:rPr lang="en-US" altLang="zh-CN" sz="2000" b="1" dirty="0">
                <a:latin typeface="华文新魏" panose="02010800040101010101" pitchFamily="2" charset="-122"/>
                <a:ea typeface="华文新魏" panose="02010800040101010101" pitchFamily="2" charset="-122"/>
              </a:rPr>
              <a:t>p</a:t>
            </a:r>
            <a:r>
              <a:rPr lang="zh-CN" altLang="en-US" sz="2000" b="1" dirty="0">
                <a:latin typeface="华文新魏" panose="02010800040101010101" pitchFamily="2" charset="-122"/>
                <a:ea typeface="华文新魏" panose="02010800040101010101" pitchFamily="2" charset="-122"/>
              </a:rPr>
              <a:t>的成员，即</a:t>
            </a:r>
            <a:r>
              <a:rPr lang="en-US" altLang="zh-CN" sz="2000" b="1" dirty="0">
                <a:latin typeface="华文新魏" panose="02010800040101010101" pitchFamily="2" charset="-122"/>
                <a:ea typeface="华文新魏" panose="02010800040101010101" pitchFamily="2" charset="-122"/>
              </a:rPr>
              <a:t>m</a:t>
            </a:r>
          </a:p>
          <a:p>
            <a:pPr>
              <a:lnSpc>
                <a:spcPct val="120000"/>
              </a:lnSpc>
              <a:spcBef>
                <a:spcPct val="10000"/>
              </a:spcBef>
            </a:pPr>
            <a:r>
              <a:rPr lang="en-US" altLang="zh-CN" sz="2000" b="1" dirty="0">
                <a:latin typeface="华文新魏" panose="02010800040101010101" pitchFamily="2" charset="-122"/>
                <a:ea typeface="华文新魏" panose="02010800040101010101" pitchFamily="2" charset="-122"/>
              </a:rPr>
              <a:t>    x=b.*p;   		  //x=* (b</a:t>
            </a:r>
            <a:r>
              <a:rPr lang="zh-CN" altLang="en-US" sz="2000" b="1" dirty="0">
                <a:latin typeface="华文新魏" panose="02010800040101010101" pitchFamily="2" charset="-122"/>
                <a:ea typeface="华文新魏" panose="02010800040101010101" pitchFamily="2" charset="-122"/>
              </a:rPr>
              <a:t>的地址</a:t>
            </a:r>
            <a:r>
              <a:rPr lang="en-US" altLang="zh-CN" sz="2000" b="1" dirty="0">
                <a:latin typeface="华文新魏" panose="02010800040101010101" pitchFamily="2" charset="-122"/>
                <a:ea typeface="华文新魏" panose="02010800040101010101" pitchFamily="2" charset="-122"/>
              </a:rPr>
              <a:t>+p) =* (2004+0) =3</a:t>
            </a:r>
          </a:p>
          <a:p>
            <a:pPr>
              <a:lnSpc>
                <a:spcPct val="120000"/>
              </a:lnSpc>
              <a:spcBef>
                <a:spcPct val="10000"/>
              </a:spcBef>
            </a:pPr>
            <a:r>
              <a:rPr lang="en-US" altLang="zh-CN" sz="2000" b="1" dirty="0">
                <a:latin typeface="华文新魏" panose="02010800040101010101" pitchFamily="2" charset="-122"/>
                <a:ea typeface="华文新魏" panose="02010800040101010101" pitchFamily="2" charset="-122"/>
              </a:rPr>
              <a:t>    </a:t>
            </a:r>
            <a:r>
              <a:rPr lang="en-US" altLang="zh-CN" sz="2000" b="1" dirty="0">
                <a:solidFill>
                  <a:srgbClr val="FF0000"/>
                </a:solidFill>
                <a:latin typeface="华文新魏" panose="02010800040101010101" pitchFamily="2" charset="-122"/>
                <a:ea typeface="华文新魏" panose="02010800040101010101" pitchFamily="2" charset="-122"/>
              </a:rPr>
              <a:t>p=&amp;A::n; </a:t>
            </a:r>
            <a:r>
              <a:rPr lang="en-US" altLang="zh-CN" sz="2000" b="1" dirty="0">
                <a:latin typeface="华文新魏" panose="02010800040101010101" pitchFamily="2" charset="-122"/>
                <a:ea typeface="华文新魏" panose="02010800040101010101" pitchFamily="2" charset="-122"/>
              </a:rPr>
              <a:t>	              //p=2</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n</a:t>
            </a:r>
            <a:r>
              <a:rPr lang="zh-CN" altLang="en-US" sz="2000" b="1" dirty="0">
                <a:latin typeface="华文新魏" panose="02010800040101010101" pitchFamily="2" charset="-122"/>
                <a:ea typeface="华文新魏" panose="02010800040101010101" pitchFamily="2" charset="-122"/>
              </a:rPr>
              <a:t>相对结构体首址偏移</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实际</a:t>
            </a:r>
            <a:r>
              <a:rPr lang="en-US" altLang="zh-CN" sz="2000" b="1" dirty="0">
                <a:latin typeface="华文新魏" panose="02010800040101010101" pitchFamily="2" charset="-122"/>
                <a:ea typeface="华文新魏" panose="02010800040101010101" pitchFamily="2" charset="-122"/>
              </a:rPr>
              <a:t>&lt;&gt;2</a:t>
            </a:r>
          </a:p>
          <a:p>
            <a:pPr>
              <a:lnSpc>
                <a:spcPct val="120000"/>
              </a:lnSpc>
              <a:spcBef>
                <a:spcPct val="10000"/>
              </a:spcBef>
            </a:pPr>
            <a:r>
              <a:rPr lang="en-US" altLang="zh-CN" sz="2000" b="1" dirty="0">
                <a:latin typeface="华文新魏" panose="02010800040101010101" pitchFamily="2" charset="-122"/>
                <a:ea typeface="华文新魏" panose="02010800040101010101" pitchFamily="2" charset="-122"/>
              </a:rPr>
              <a:t>    x=a.*p;   		  //x=* (a</a:t>
            </a:r>
            <a:r>
              <a:rPr lang="zh-CN" altLang="en-US" sz="2000" b="1" dirty="0">
                <a:latin typeface="华文新魏" panose="02010800040101010101" pitchFamily="2" charset="-122"/>
                <a:ea typeface="华文新魏" panose="02010800040101010101" pitchFamily="2" charset="-122"/>
              </a:rPr>
              <a:t>的地址</a:t>
            </a:r>
            <a:r>
              <a:rPr lang="en-US" altLang="zh-CN" sz="2000" b="1" dirty="0">
                <a:latin typeface="华文新魏" panose="02010800040101010101" pitchFamily="2" charset="-122"/>
                <a:ea typeface="华文新魏" panose="02010800040101010101" pitchFamily="2" charset="-122"/>
              </a:rPr>
              <a:t>+p) =* (2000+2) =2</a:t>
            </a:r>
          </a:p>
          <a:p>
            <a:pPr>
              <a:lnSpc>
                <a:spcPct val="120000"/>
              </a:lnSpc>
              <a:spcBef>
                <a:spcPct val="10000"/>
              </a:spcBef>
            </a:pPr>
            <a:r>
              <a:rPr lang="en-US" altLang="zh-CN" sz="2000" b="1" dirty="0">
                <a:latin typeface="华文新魏" panose="02010800040101010101" pitchFamily="2" charset="-122"/>
                <a:ea typeface="华文新魏" panose="02010800040101010101" pitchFamily="2" charset="-122"/>
              </a:rPr>
              <a:t>    x=b.*p;   		  //x=* (b</a:t>
            </a:r>
            <a:r>
              <a:rPr lang="zh-CN" altLang="en-US" sz="2000" b="1" dirty="0">
                <a:latin typeface="华文新魏" panose="02010800040101010101" pitchFamily="2" charset="-122"/>
                <a:ea typeface="华文新魏" panose="02010800040101010101" pitchFamily="2" charset="-122"/>
              </a:rPr>
              <a:t>的地址</a:t>
            </a:r>
            <a:r>
              <a:rPr lang="en-US" altLang="zh-CN" sz="2000" b="1" dirty="0">
                <a:latin typeface="华文新魏" panose="02010800040101010101" pitchFamily="2" charset="-122"/>
                <a:ea typeface="华文新魏" panose="02010800040101010101" pitchFamily="2" charset="-122"/>
              </a:rPr>
              <a:t>+p) =* (2004+2) =4</a:t>
            </a:r>
          </a:p>
          <a:p>
            <a:pPr>
              <a:lnSpc>
                <a:spcPct val="120000"/>
              </a:lnSpc>
              <a:spcBef>
                <a:spcPct val="10000"/>
              </a:spcBef>
            </a:pPr>
            <a:r>
              <a:rPr lang="en-US" altLang="zh-CN" sz="2000" b="1" dirty="0">
                <a:latin typeface="华文新魏" panose="02010800040101010101" pitchFamily="2" charset="-122"/>
                <a:ea typeface="华文新魏" panose="02010800040101010101" pitchFamily="2" charset="-122"/>
              </a:rPr>
              <a:t>}</a:t>
            </a:r>
          </a:p>
          <a:p>
            <a:pPr lvl="1">
              <a:lnSpc>
                <a:spcPct val="135000"/>
              </a:lnSpc>
              <a:spcBef>
                <a:spcPct val="50000"/>
              </a:spcBef>
              <a:buClr>
                <a:schemeClr val="tx1"/>
              </a:buClr>
            </a:pPr>
            <a:endParaRPr lang="en-US" altLang="zh-CN" sz="2000" b="1" dirty="0">
              <a:solidFill>
                <a:srgbClr val="FF0000"/>
              </a:solidFill>
              <a:latin typeface="华文新魏" panose="02010800040101010101" pitchFamily="2" charset="-122"/>
              <a:ea typeface="华文新魏" panose="02010800040101010101" pitchFamily="2" charset="-122"/>
            </a:endParaRPr>
          </a:p>
        </p:txBody>
      </p:sp>
      <p:grpSp>
        <p:nvGrpSpPr>
          <p:cNvPr id="4" name="Group 4">
            <a:extLst>
              <a:ext uri="{FF2B5EF4-FFF2-40B4-BE49-F238E27FC236}">
                <a16:creationId xmlns:a16="http://schemas.microsoft.com/office/drawing/2014/main" id="{54651BF3-B118-459D-B61B-B1D519348B3D}"/>
              </a:ext>
            </a:extLst>
          </p:cNvPr>
          <p:cNvGrpSpPr>
            <a:grpSpLocks/>
          </p:cNvGrpSpPr>
          <p:nvPr/>
        </p:nvGrpSpPr>
        <p:grpSpPr bwMode="auto">
          <a:xfrm>
            <a:off x="7705818" y="333379"/>
            <a:ext cx="2009050" cy="1343025"/>
            <a:chOff x="3963" y="1584"/>
            <a:chExt cx="1130" cy="846"/>
          </a:xfrm>
        </p:grpSpPr>
        <p:grpSp>
          <p:nvGrpSpPr>
            <p:cNvPr id="5" name="Group 5">
              <a:extLst>
                <a:ext uri="{FF2B5EF4-FFF2-40B4-BE49-F238E27FC236}">
                  <a16:creationId xmlns:a16="http://schemas.microsoft.com/office/drawing/2014/main" id="{B8DBDD09-13CA-44F6-842A-8C67DFA07A19}"/>
                </a:ext>
              </a:extLst>
            </p:cNvPr>
            <p:cNvGrpSpPr>
              <a:grpSpLocks/>
            </p:cNvGrpSpPr>
            <p:nvPr/>
          </p:nvGrpSpPr>
          <p:grpSpPr bwMode="auto">
            <a:xfrm>
              <a:off x="4482" y="1584"/>
              <a:ext cx="611" cy="846"/>
              <a:chOff x="4482" y="1584"/>
              <a:chExt cx="611" cy="846"/>
            </a:xfrm>
          </p:grpSpPr>
          <p:sp>
            <p:nvSpPr>
              <p:cNvPr id="13" name="Rectangle 6">
                <a:extLst>
                  <a:ext uri="{FF2B5EF4-FFF2-40B4-BE49-F238E27FC236}">
                    <a16:creationId xmlns:a16="http://schemas.microsoft.com/office/drawing/2014/main" id="{B4F764E8-5F2D-4937-99C0-EFF598A71B57}"/>
                  </a:ext>
                </a:extLst>
              </p:cNvPr>
              <p:cNvSpPr>
                <a:spLocks noChangeArrowheads="1"/>
              </p:cNvSpPr>
              <p:nvPr/>
            </p:nvSpPr>
            <p:spPr bwMode="auto">
              <a:xfrm>
                <a:off x="4483" y="1584"/>
                <a:ext cx="610" cy="846"/>
              </a:xfrm>
              <a:prstGeom prst="rect">
                <a:avLst/>
              </a:prstGeom>
              <a:solidFill>
                <a:srgbClr val="FFFFFF"/>
              </a:solidFill>
              <a:ln w="15875">
                <a:solidFill>
                  <a:srgbClr val="000000"/>
                </a:solidFill>
                <a:miter lim="800000"/>
                <a:headEnd/>
                <a:tailEnd/>
              </a:ln>
            </p:spPr>
            <p:txBody>
              <a:bodyPr/>
              <a:lstStyle/>
              <a:p>
                <a:endParaRPr lang="zh-CN" altLang="en-US"/>
              </a:p>
            </p:txBody>
          </p:sp>
          <p:sp>
            <p:nvSpPr>
              <p:cNvPr id="14" name="Rectangle 7">
                <a:extLst>
                  <a:ext uri="{FF2B5EF4-FFF2-40B4-BE49-F238E27FC236}">
                    <a16:creationId xmlns:a16="http://schemas.microsoft.com/office/drawing/2014/main" id="{C16E1A3B-78E7-4E88-90FD-D7016BD58EB8}"/>
                  </a:ext>
                </a:extLst>
              </p:cNvPr>
              <p:cNvSpPr>
                <a:spLocks noChangeArrowheads="1"/>
              </p:cNvSpPr>
              <p:nvPr/>
            </p:nvSpPr>
            <p:spPr bwMode="auto">
              <a:xfrm>
                <a:off x="4482" y="2006"/>
                <a:ext cx="610" cy="424"/>
              </a:xfrm>
              <a:prstGeom prst="rect">
                <a:avLst/>
              </a:prstGeom>
              <a:solidFill>
                <a:srgbClr val="FFFFFF"/>
              </a:solidFill>
              <a:ln w="15875">
                <a:solidFill>
                  <a:srgbClr val="000000"/>
                </a:solidFill>
                <a:miter lim="800000"/>
                <a:headEnd/>
                <a:tailEnd/>
              </a:ln>
            </p:spPr>
            <p:txBody>
              <a:bodyPr/>
              <a:lstStyle/>
              <a:p>
                <a:endParaRPr lang="zh-CN" altLang="en-US"/>
              </a:p>
            </p:txBody>
          </p:sp>
        </p:grpSp>
        <p:grpSp>
          <p:nvGrpSpPr>
            <p:cNvPr id="6" name="Group 8">
              <a:extLst>
                <a:ext uri="{FF2B5EF4-FFF2-40B4-BE49-F238E27FC236}">
                  <a16:creationId xmlns:a16="http://schemas.microsoft.com/office/drawing/2014/main" id="{825CAD01-9E01-4E8C-887D-57B9A054B132}"/>
                </a:ext>
              </a:extLst>
            </p:cNvPr>
            <p:cNvGrpSpPr>
              <a:grpSpLocks/>
            </p:cNvGrpSpPr>
            <p:nvPr/>
          </p:nvGrpSpPr>
          <p:grpSpPr bwMode="auto">
            <a:xfrm>
              <a:off x="3963" y="1612"/>
              <a:ext cx="1098" cy="813"/>
              <a:chOff x="3963" y="1612"/>
              <a:chExt cx="1098" cy="813"/>
            </a:xfrm>
          </p:grpSpPr>
          <p:grpSp>
            <p:nvGrpSpPr>
              <p:cNvPr id="7" name="Group 9">
                <a:extLst>
                  <a:ext uri="{FF2B5EF4-FFF2-40B4-BE49-F238E27FC236}">
                    <a16:creationId xmlns:a16="http://schemas.microsoft.com/office/drawing/2014/main" id="{F0B0B43E-71E6-4E61-87D5-34B35FE94BF2}"/>
                  </a:ext>
                </a:extLst>
              </p:cNvPr>
              <p:cNvGrpSpPr>
                <a:grpSpLocks/>
              </p:cNvGrpSpPr>
              <p:nvPr/>
            </p:nvGrpSpPr>
            <p:grpSpPr bwMode="auto">
              <a:xfrm>
                <a:off x="3963" y="1612"/>
                <a:ext cx="1098" cy="390"/>
                <a:chOff x="3963" y="1612"/>
                <a:chExt cx="1098" cy="390"/>
              </a:xfrm>
            </p:grpSpPr>
            <p:sp>
              <p:nvSpPr>
                <p:cNvPr id="11" name="Rectangle 10">
                  <a:extLst>
                    <a:ext uri="{FF2B5EF4-FFF2-40B4-BE49-F238E27FC236}">
                      <a16:creationId xmlns:a16="http://schemas.microsoft.com/office/drawing/2014/main" id="{C2A27451-17E5-446E-8BCD-B041B517580C}"/>
                    </a:ext>
                  </a:extLst>
                </p:cNvPr>
                <p:cNvSpPr>
                  <a:spLocks noChangeArrowheads="1"/>
                </p:cNvSpPr>
                <p:nvPr/>
              </p:nvSpPr>
              <p:spPr bwMode="auto">
                <a:xfrm>
                  <a:off x="3963" y="1612"/>
                  <a:ext cx="1098" cy="174"/>
                </a:xfrm>
                <a:prstGeom prst="rect">
                  <a:avLst/>
                </a:prstGeom>
                <a:noFill/>
                <a:ln w="9525">
                  <a:noFill/>
                  <a:miter lim="800000"/>
                  <a:headEnd/>
                  <a:tailEnd/>
                </a:ln>
              </p:spPr>
              <p:txBody>
                <a:bodyPr wrap="none" lIns="0" tIns="0" rIns="0" bIns="0">
                  <a:spAutoFit/>
                </a:bodyPr>
                <a:lstStyle/>
                <a:p>
                  <a:pPr algn="l"/>
                  <a:r>
                    <a:rPr lang="en-US" altLang="zh-CN" b="1" dirty="0">
                      <a:solidFill>
                        <a:srgbClr val="000000"/>
                      </a:solidFill>
                    </a:rPr>
                    <a:t>a</a:t>
                  </a:r>
                  <a:r>
                    <a:rPr lang="zh-CN" altLang="en-US" b="1" dirty="0">
                      <a:solidFill>
                        <a:srgbClr val="000000"/>
                      </a:solidFill>
                    </a:rPr>
                    <a:t>：</a:t>
                  </a:r>
                  <a:r>
                    <a:rPr lang="en-US" altLang="zh-CN" b="1" dirty="0">
                      <a:solidFill>
                        <a:srgbClr val="000000"/>
                      </a:solidFill>
                    </a:rPr>
                    <a:t>2000      m=1</a:t>
                  </a:r>
                  <a:endParaRPr lang="en-US" altLang="zh-CN" b="1" dirty="0">
                    <a:latin typeface="Tahoma" pitchFamily="34" charset="0"/>
                  </a:endParaRPr>
                </a:p>
              </p:txBody>
            </p:sp>
            <p:sp>
              <p:nvSpPr>
                <p:cNvPr id="12" name="Rectangle 11">
                  <a:extLst>
                    <a:ext uri="{FF2B5EF4-FFF2-40B4-BE49-F238E27FC236}">
                      <a16:creationId xmlns:a16="http://schemas.microsoft.com/office/drawing/2014/main" id="{D62E2A8D-9B98-401F-A6B5-90F0C18EEA64}"/>
                    </a:ext>
                  </a:extLst>
                </p:cNvPr>
                <p:cNvSpPr>
                  <a:spLocks noChangeArrowheads="1"/>
                </p:cNvSpPr>
                <p:nvPr/>
              </p:nvSpPr>
              <p:spPr bwMode="auto">
                <a:xfrm>
                  <a:off x="4668" y="1828"/>
                  <a:ext cx="238" cy="174"/>
                </a:xfrm>
                <a:prstGeom prst="rect">
                  <a:avLst/>
                </a:prstGeom>
                <a:noFill/>
                <a:ln w="9525">
                  <a:noFill/>
                  <a:miter lim="800000"/>
                  <a:headEnd/>
                  <a:tailEnd/>
                </a:ln>
              </p:spPr>
              <p:txBody>
                <a:bodyPr wrap="none" lIns="0" tIns="0" rIns="0" bIns="0">
                  <a:spAutoFit/>
                </a:bodyPr>
                <a:lstStyle/>
                <a:p>
                  <a:pPr algn="l"/>
                  <a:r>
                    <a:rPr lang="en-US" altLang="zh-CN" b="1" dirty="0">
                      <a:solidFill>
                        <a:srgbClr val="000000"/>
                      </a:solidFill>
                    </a:rPr>
                    <a:t>n=2</a:t>
                  </a:r>
                  <a:endParaRPr lang="en-US" altLang="zh-CN" b="1" dirty="0">
                    <a:latin typeface="Tahoma" pitchFamily="34" charset="0"/>
                  </a:endParaRPr>
                </a:p>
              </p:txBody>
            </p:sp>
          </p:grpSp>
          <p:grpSp>
            <p:nvGrpSpPr>
              <p:cNvPr id="8" name="Group 12">
                <a:extLst>
                  <a:ext uri="{FF2B5EF4-FFF2-40B4-BE49-F238E27FC236}">
                    <a16:creationId xmlns:a16="http://schemas.microsoft.com/office/drawing/2014/main" id="{01A612D0-3DBD-4768-AD90-3F5E78348286}"/>
                  </a:ext>
                </a:extLst>
              </p:cNvPr>
              <p:cNvGrpSpPr>
                <a:grpSpLocks/>
              </p:cNvGrpSpPr>
              <p:nvPr/>
            </p:nvGrpSpPr>
            <p:grpSpPr bwMode="auto">
              <a:xfrm>
                <a:off x="3963" y="2034"/>
                <a:ext cx="997" cy="391"/>
                <a:chOff x="3888" y="2034"/>
                <a:chExt cx="997" cy="391"/>
              </a:xfrm>
            </p:grpSpPr>
            <p:sp>
              <p:nvSpPr>
                <p:cNvPr id="9" name="Rectangle 13">
                  <a:extLst>
                    <a:ext uri="{FF2B5EF4-FFF2-40B4-BE49-F238E27FC236}">
                      <a16:creationId xmlns:a16="http://schemas.microsoft.com/office/drawing/2014/main" id="{EFEABA23-1970-4B24-8A4E-9FBA9105C7F2}"/>
                    </a:ext>
                  </a:extLst>
                </p:cNvPr>
                <p:cNvSpPr>
                  <a:spLocks noChangeArrowheads="1"/>
                </p:cNvSpPr>
                <p:nvPr/>
              </p:nvSpPr>
              <p:spPr bwMode="auto">
                <a:xfrm>
                  <a:off x="3888" y="2034"/>
                  <a:ext cx="991" cy="174"/>
                </a:xfrm>
                <a:prstGeom prst="rect">
                  <a:avLst/>
                </a:prstGeom>
                <a:noFill/>
                <a:ln w="9525">
                  <a:noFill/>
                  <a:miter lim="800000"/>
                  <a:headEnd/>
                  <a:tailEnd/>
                </a:ln>
              </p:spPr>
              <p:txBody>
                <a:bodyPr wrap="none" lIns="0" tIns="0" rIns="0" bIns="0">
                  <a:spAutoFit/>
                </a:bodyPr>
                <a:lstStyle/>
                <a:p>
                  <a:pPr algn="l"/>
                  <a:r>
                    <a:rPr lang="en-US" altLang="zh-CN" b="1" dirty="0">
                      <a:solidFill>
                        <a:srgbClr val="000000"/>
                      </a:solidFill>
                    </a:rPr>
                    <a:t>b</a:t>
                  </a:r>
                  <a:r>
                    <a:rPr lang="zh-CN" altLang="en-US" b="1" dirty="0">
                      <a:solidFill>
                        <a:srgbClr val="000000"/>
                      </a:solidFill>
                    </a:rPr>
                    <a:t>：</a:t>
                  </a:r>
                  <a:r>
                    <a:rPr lang="en-US" altLang="zh-CN" b="1" dirty="0">
                      <a:solidFill>
                        <a:srgbClr val="000000"/>
                      </a:solidFill>
                    </a:rPr>
                    <a:t>2004      m=3</a:t>
                  </a:r>
                  <a:endParaRPr lang="en-US" altLang="zh-CN" b="1" dirty="0">
                    <a:latin typeface="Tahoma" pitchFamily="34" charset="0"/>
                  </a:endParaRPr>
                </a:p>
              </p:txBody>
            </p:sp>
            <p:sp>
              <p:nvSpPr>
                <p:cNvPr id="10" name="Rectangle 14">
                  <a:extLst>
                    <a:ext uri="{FF2B5EF4-FFF2-40B4-BE49-F238E27FC236}">
                      <a16:creationId xmlns:a16="http://schemas.microsoft.com/office/drawing/2014/main" id="{F8C5393D-4A6B-4E86-86FF-3684DF1FEB17}"/>
                    </a:ext>
                  </a:extLst>
                </p:cNvPr>
                <p:cNvSpPr>
                  <a:spLocks noChangeArrowheads="1"/>
                </p:cNvSpPr>
                <p:nvPr/>
              </p:nvSpPr>
              <p:spPr bwMode="auto">
                <a:xfrm>
                  <a:off x="4538" y="2251"/>
                  <a:ext cx="347" cy="174"/>
                </a:xfrm>
                <a:prstGeom prst="rect">
                  <a:avLst/>
                </a:prstGeom>
                <a:noFill/>
                <a:ln w="9525">
                  <a:noFill/>
                  <a:miter lim="800000"/>
                  <a:headEnd/>
                  <a:tailEnd/>
                </a:ln>
              </p:spPr>
              <p:txBody>
                <a:bodyPr wrap="none" lIns="0" tIns="0" rIns="0" bIns="0">
                  <a:spAutoFit/>
                </a:bodyPr>
                <a:lstStyle/>
                <a:p>
                  <a:pPr algn="l"/>
                  <a:r>
                    <a:rPr lang="en-US" altLang="zh-CN" b="1" dirty="0">
                      <a:solidFill>
                        <a:srgbClr val="000000"/>
                      </a:solidFill>
                    </a:rPr>
                    <a:t>  n=4</a:t>
                  </a:r>
                  <a:endParaRPr lang="en-US" altLang="zh-CN" b="1" dirty="0">
                    <a:latin typeface="Tahoma" pitchFamily="34" charset="0"/>
                  </a:endParaRPr>
                </a:p>
              </p:txBody>
            </p:sp>
          </p:grpSp>
        </p:grpSp>
      </p:grpSp>
    </p:spTree>
    <p:extLst>
      <p:ext uri="{BB962C8B-B14F-4D97-AF65-F5344CB8AC3E}">
        <p14:creationId xmlns:p14="http://schemas.microsoft.com/office/powerpoint/2010/main" val="3008390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5</a:t>
            </a:r>
            <a:r>
              <a:rPr lang="zh-CN" altLang="en-US" b="1" dirty="0">
                <a:latin typeface="隶书" panose="02010509060101010101" pitchFamily="49" charset="-122"/>
                <a:ea typeface="隶书" panose="02010509060101010101" pitchFamily="49" charset="-122"/>
              </a:rPr>
              <a:t>章 </a:t>
            </a:r>
            <a:r>
              <a:rPr lang="zh-CN" altLang="zh-CN" b="1" dirty="0">
                <a:latin typeface="隶书" panose="02010509060101010101" pitchFamily="49" charset="-122"/>
                <a:ea typeface="隶书" panose="02010509060101010101" pitchFamily="49" charset="-122"/>
              </a:rPr>
              <a:t>成员及成员指针</a:t>
            </a:r>
            <a:endParaRPr lang="zh-CN" altLang="en-US" b="1" dirty="0">
              <a:latin typeface="隶书" panose="02010509060101010101" pitchFamily="49" charset="-122"/>
              <a:ea typeface="隶书" panose="02010509060101010101" pitchFamily="49" charset="-122"/>
            </a:endParaRPr>
          </a:p>
        </p:txBody>
      </p:sp>
      <p:sp>
        <p:nvSpPr>
          <p:cNvPr id="7" name="Rectangle 3">
            <a:extLst>
              <a:ext uri="{FF2B5EF4-FFF2-40B4-BE49-F238E27FC236}">
                <a16:creationId xmlns:a16="http://schemas.microsoft.com/office/drawing/2014/main" id="{D708A847-76FB-4FEA-980C-9CDEF8A2D982}"/>
              </a:ext>
            </a:extLst>
          </p:cNvPr>
          <p:cNvSpPr txBox="1">
            <a:spLocks noChangeArrowheads="1"/>
          </p:cNvSpPr>
          <p:nvPr/>
        </p:nvSpPr>
        <p:spPr>
          <a:xfrm>
            <a:off x="672516" y="1804537"/>
            <a:ext cx="8974403" cy="434340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sz="2400" b="1" dirty="0">
                <a:latin typeface="华文新魏" panose="02010800040101010101" pitchFamily="2" charset="-122"/>
                <a:ea typeface="华文新魏" panose="02010800040101010101" pitchFamily="2" charset="-122"/>
              </a:rPr>
              <a:t>【例</a:t>
            </a:r>
            <a:r>
              <a:rPr lang="en-US" altLang="zh-CN" sz="2400" b="1" dirty="0">
                <a:latin typeface="华文新魏" panose="02010800040101010101" pitchFamily="2" charset="-122"/>
                <a:ea typeface="华文新魏" panose="02010800040101010101" pitchFamily="2" charset="-122"/>
              </a:rPr>
              <a:t>5</a:t>
            </a:r>
            <a:r>
              <a:rPr lang="zh-CN" altLang="en-US" sz="2400" b="1" dirty="0">
                <a:latin typeface="华文新魏" panose="02010800040101010101" pitchFamily="2" charset="-122"/>
                <a:ea typeface="华文新魏" panose="02010800040101010101" pitchFamily="2" charset="-122"/>
              </a:rPr>
              <a:t>.2】本例说明实例成员指针不能移动。</a:t>
            </a:r>
          </a:p>
          <a:p>
            <a:pPr>
              <a:buFont typeface="Wingdings" panose="05000000000000000000" pitchFamily="2" charset="2"/>
              <a:buNone/>
            </a:pPr>
            <a:r>
              <a:rPr lang="zh-CN" altLang="en-US" sz="24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include &lt;</a:t>
            </a:r>
            <a:r>
              <a:rPr lang="en-US" altLang="zh-CN" sz="2000" b="1" dirty="0" err="1">
                <a:latin typeface="华文新魏" panose="02010800040101010101" pitchFamily="2" charset="-122"/>
                <a:ea typeface="华文新魏" panose="02010800040101010101" pitchFamily="2" charset="-122"/>
              </a:rPr>
              <a:t>iostream.h</a:t>
            </a:r>
            <a:r>
              <a:rPr lang="en-US" altLang="zh-CN" sz="2000" b="1" dirty="0">
                <a:latin typeface="华文新魏" panose="02010800040101010101" pitchFamily="2" charset="-122"/>
                <a:ea typeface="华文新魏" panose="02010800040101010101" pitchFamily="2" charset="-122"/>
              </a:rPr>
              <a:t>&gt;</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struct A{ </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int </a:t>
            </a:r>
            <a:r>
              <a:rPr lang="en-US" altLang="zh-CN" sz="2000" b="1" dirty="0" err="1">
                <a:latin typeface="华文新魏" panose="02010800040101010101" pitchFamily="2" charset="-122"/>
                <a:ea typeface="华文新魏" panose="02010800040101010101" pitchFamily="2" charset="-122"/>
              </a:rPr>
              <a:t>i</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公有的成员</a:t>
            </a:r>
            <a:r>
              <a:rPr lang="en-US" altLang="zh-CN" sz="2000" b="1" dirty="0" err="1">
                <a:latin typeface="华文新魏" panose="02010800040101010101" pitchFamily="2" charset="-122"/>
                <a:ea typeface="华文新魏" panose="02010800040101010101" pitchFamily="2" charset="-122"/>
              </a:rPr>
              <a:t>i</a:t>
            </a:r>
            <a:endParaRPr lang="en-US" altLang="zh-CN" sz="2000" b="1" dirty="0">
              <a:latin typeface="华文新魏" panose="02010800040101010101" pitchFamily="2" charset="-122"/>
              <a:ea typeface="华文新魏" panose="02010800040101010101" pitchFamily="2" charset="-122"/>
            </a:endParaRP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private:</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long j;</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public:</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int f( ){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&lt;&lt;"F\n";   return 1;  }</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private:  </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void  g( ){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&lt;&lt;"Function g\n";  }</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a:t>
            </a:r>
            <a:endParaRPr lang="zh-CN" altLang="en-US" sz="20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1507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5</a:t>
            </a:r>
            <a:r>
              <a:rPr lang="zh-CN" altLang="en-US" b="1" dirty="0">
                <a:latin typeface="隶书" panose="02010509060101010101" pitchFamily="49" charset="-122"/>
                <a:ea typeface="隶书" panose="02010509060101010101" pitchFamily="49" charset="-122"/>
              </a:rPr>
              <a:t>章 </a:t>
            </a:r>
            <a:r>
              <a:rPr lang="zh-CN" altLang="zh-CN" b="1" dirty="0">
                <a:latin typeface="隶书" panose="02010509060101010101" pitchFamily="49" charset="-122"/>
                <a:ea typeface="隶书" panose="02010509060101010101" pitchFamily="49" charset="-122"/>
              </a:rPr>
              <a:t>成员及成员指针</a:t>
            </a:r>
            <a:endParaRPr lang="zh-CN" altLang="en-US" b="1" dirty="0">
              <a:latin typeface="隶书" panose="02010509060101010101" pitchFamily="49" charset="-122"/>
              <a:ea typeface="隶书" panose="02010509060101010101" pitchFamily="49" charset="-122"/>
            </a:endParaRPr>
          </a:p>
        </p:txBody>
      </p:sp>
      <p:sp>
        <p:nvSpPr>
          <p:cNvPr id="5" name="Rectangle 3">
            <a:extLst>
              <a:ext uri="{FF2B5EF4-FFF2-40B4-BE49-F238E27FC236}">
                <a16:creationId xmlns:a16="http://schemas.microsoft.com/office/drawing/2014/main" id="{DF4E2B1E-186F-4496-9C18-61A669661514}"/>
              </a:ext>
            </a:extLst>
          </p:cNvPr>
          <p:cNvSpPr txBox="1">
            <a:spLocks noChangeArrowheads="1"/>
          </p:cNvSpPr>
          <p:nvPr/>
        </p:nvSpPr>
        <p:spPr>
          <a:xfrm>
            <a:off x="400812" y="1359072"/>
            <a:ext cx="9005316" cy="449580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void main(void){</a:t>
            </a:r>
          </a:p>
          <a:p>
            <a:pPr>
              <a:lnSpc>
                <a:spcPct val="10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int  A::*pi=&amp;A::i;     	//</a:t>
            </a:r>
            <a:r>
              <a:rPr lang="zh-CN" altLang="en-US" sz="2000" b="1" dirty="0">
                <a:latin typeface="华文新魏" panose="02010800040101010101" pitchFamily="2" charset="-122"/>
                <a:ea typeface="华文新魏" panose="02010800040101010101" pitchFamily="2" charset="-122"/>
              </a:rPr>
              <a:t>实例数据成员指针</a:t>
            </a:r>
            <a:r>
              <a:rPr lang="en-US" altLang="zh-CN" sz="2000" b="1" dirty="0">
                <a:latin typeface="华文新魏" panose="02010800040101010101" pitchFamily="2" charset="-122"/>
                <a:ea typeface="华文新魏" panose="02010800040101010101" pitchFamily="2" charset="-122"/>
              </a:rPr>
              <a:t>pi</a:t>
            </a:r>
            <a:r>
              <a:rPr lang="zh-CN" altLang="en-US" sz="2000" b="1" dirty="0">
                <a:latin typeface="华文新魏" panose="02010800040101010101" pitchFamily="2" charset="-122"/>
                <a:ea typeface="华文新魏" panose="02010800040101010101" pitchFamily="2" charset="-122"/>
              </a:rPr>
              <a:t>指向</a:t>
            </a:r>
            <a:r>
              <a:rPr lang="en-US" altLang="zh-CN" sz="2000" b="1" dirty="0">
                <a:latin typeface="华文新魏" panose="02010800040101010101" pitchFamily="2" charset="-122"/>
                <a:ea typeface="华文新魏" panose="02010800040101010101" pitchFamily="2" charset="-122"/>
              </a:rPr>
              <a:t>public</a:t>
            </a:r>
            <a:r>
              <a:rPr lang="zh-CN" altLang="en-US" sz="2000" b="1" dirty="0">
                <a:latin typeface="华文新魏" panose="02010800040101010101" pitchFamily="2" charset="-122"/>
                <a:ea typeface="华文新魏" panose="02010800040101010101" pitchFamily="2" charset="-122"/>
              </a:rPr>
              <a:t>成员</a:t>
            </a:r>
            <a:r>
              <a:rPr lang="en-US" altLang="zh-CN" sz="2000" b="1" dirty="0">
                <a:latin typeface="华文新魏" panose="02010800040101010101" pitchFamily="2" charset="-122"/>
                <a:ea typeface="华文新魏" panose="02010800040101010101" pitchFamily="2" charset="-122"/>
              </a:rPr>
              <a:t>A::i</a:t>
            </a:r>
          </a:p>
          <a:p>
            <a:pPr>
              <a:lnSpc>
                <a:spcPct val="10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int (A::*pf)( )=&amp;A::f;	//</a:t>
            </a:r>
            <a:r>
              <a:rPr lang="zh-CN" altLang="en-US" sz="2000" b="1" dirty="0">
                <a:latin typeface="华文新魏" panose="02010800040101010101" pitchFamily="2" charset="-122"/>
                <a:ea typeface="华文新魏" panose="02010800040101010101" pitchFamily="2" charset="-122"/>
              </a:rPr>
              <a:t>实例函数成员指针</a:t>
            </a:r>
            <a:r>
              <a:rPr lang="en-US" altLang="zh-CN" sz="2000" b="1" dirty="0">
                <a:latin typeface="华文新魏" panose="02010800040101010101" pitchFamily="2" charset="-122"/>
                <a:ea typeface="华文新魏" panose="02010800040101010101" pitchFamily="2" charset="-122"/>
              </a:rPr>
              <a:t>pf</a:t>
            </a:r>
            <a:r>
              <a:rPr lang="zh-CN" altLang="en-US" sz="2000" b="1" dirty="0">
                <a:latin typeface="华文新魏" panose="02010800040101010101" pitchFamily="2" charset="-122"/>
                <a:ea typeface="华文新魏" panose="02010800040101010101" pitchFamily="2" charset="-122"/>
              </a:rPr>
              <a:t>指向函数成员</a:t>
            </a:r>
            <a:r>
              <a:rPr lang="en-US" altLang="zh-CN" sz="2000" b="1" dirty="0">
                <a:latin typeface="华文新魏" panose="02010800040101010101" pitchFamily="2" charset="-122"/>
                <a:ea typeface="华文新魏" panose="02010800040101010101" pitchFamily="2" charset="-122"/>
              </a:rPr>
              <a:t>A::f</a:t>
            </a:r>
          </a:p>
          <a:p>
            <a:pPr>
              <a:lnSpc>
                <a:spcPct val="10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long  x=a.*pi;	      	//</a:t>
            </a:r>
            <a:r>
              <a:rPr lang="zh-CN" altLang="en-US" sz="2000" b="1" dirty="0">
                <a:latin typeface="华文新魏" panose="02010800040101010101" pitchFamily="2" charset="-122"/>
                <a:ea typeface="华文新魏" panose="02010800040101010101" pitchFamily="2" charset="-122"/>
              </a:rPr>
              <a:t>等价于</a:t>
            </a:r>
            <a:r>
              <a:rPr lang="en-US" altLang="zh-CN" sz="2000" b="1" dirty="0">
                <a:latin typeface="华文新魏" panose="02010800040101010101" pitchFamily="2" charset="-122"/>
                <a:ea typeface="华文新魏" panose="02010800040101010101" pitchFamily="2" charset="-122"/>
              </a:rPr>
              <a:t>x=a.*(&amp;A::</a:t>
            </a:r>
            <a:r>
              <a:rPr lang="en-US" altLang="zh-CN" sz="2000" b="1" dirty="0" err="1">
                <a:latin typeface="华文新魏" panose="02010800040101010101" pitchFamily="2" charset="-122"/>
                <a:ea typeface="华文新魏" panose="02010800040101010101" pitchFamily="2" charset="-122"/>
              </a:rPr>
              <a:t>i</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a.A</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i</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a.i</a:t>
            </a:r>
            <a:endParaRPr lang="en-US" altLang="zh-CN" sz="2000" b="1" dirty="0">
              <a:latin typeface="华文新魏" panose="02010800040101010101" pitchFamily="2" charset="-122"/>
              <a:ea typeface="华文新魏" panose="02010800040101010101" pitchFamily="2" charset="-122"/>
            </a:endParaRPr>
          </a:p>
          <a:p>
            <a:pPr>
              <a:lnSpc>
                <a:spcPct val="10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x=(a.*pf)( );	       	//.*</a:t>
            </a:r>
            <a:r>
              <a:rPr lang="zh-CN" altLang="en-US" sz="2000" b="1" dirty="0">
                <a:latin typeface="华文新魏" panose="02010800040101010101" pitchFamily="2" charset="-122"/>
                <a:ea typeface="华文新魏" panose="02010800040101010101" pitchFamily="2" charset="-122"/>
              </a:rPr>
              <a:t>的优先级低，故用(</a:t>
            </a:r>
            <a:r>
              <a:rPr lang="en-US" altLang="zh-CN" sz="2000" b="1" dirty="0">
                <a:latin typeface="华文新魏" panose="02010800040101010101" pitchFamily="2" charset="-122"/>
                <a:ea typeface="华文新魏" panose="02010800040101010101" pitchFamily="2" charset="-122"/>
              </a:rPr>
              <a:t>a.*pf)</a:t>
            </a:r>
          </a:p>
          <a:p>
            <a:pPr>
              <a:lnSpc>
                <a:spcPct val="10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pi++;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错误， </a:t>
            </a:r>
            <a:r>
              <a:rPr lang="en-US" altLang="zh-CN" sz="2000" b="1" dirty="0">
                <a:solidFill>
                  <a:schemeClr val="hlink"/>
                </a:solidFill>
                <a:latin typeface="华文新魏" panose="02010800040101010101" pitchFamily="2" charset="-122"/>
                <a:ea typeface="华文新魏" panose="02010800040101010101" pitchFamily="2" charset="-122"/>
              </a:rPr>
              <a:t>pi</a:t>
            </a:r>
            <a:r>
              <a:rPr lang="zh-CN" altLang="en-US" sz="2000" b="1" dirty="0">
                <a:solidFill>
                  <a:schemeClr val="hlink"/>
                </a:solidFill>
                <a:latin typeface="华文新魏" panose="02010800040101010101" pitchFamily="2" charset="-122"/>
                <a:ea typeface="华文新魏" panose="02010800040101010101" pitchFamily="2" charset="-122"/>
              </a:rPr>
              <a:t>不能移动，否则指向私有成员</a:t>
            </a:r>
            <a:r>
              <a:rPr lang="en-US" altLang="zh-CN" sz="2000" b="1" dirty="0">
                <a:solidFill>
                  <a:schemeClr val="hlink"/>
                </a:solidFill>
                <a:latin typeface="华文新魏" panose="02010800040101010101" pitchFamily="2" charset="-122"/>
                <a:ea typeface="华文新魏" panose="02010800040101010101" pitchFamily="2" charset="-122"/>
              </a:rPr>
              <a:t>j</a:t>
            </a:r>
          </a:p>
          <a:p>
            <a:pPr>
              <a:lnSpc>
                <a:spcPct val="105000"/>
              </a:lnSpc>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pf+=1;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错误， </a:t>
            </a:r>
            <a:r>
              <a:rPr lang="en-US" altLang="zh-CN" sz="2000" b="1" dirty="0">
                <a:solidFill>
                  <a:schemeClr val="hlink"/>
                </a:solidFill>
                <a:latin typeface="华文新魏" panose="02010800040101010101" pitchFamily="2" charset="-122"/>
                <a:ea typeface="华文新魏" panose="02010800040101010101" pitchFamily="2" charset="-122"/>
              </a:rPr>
              <a:t>pf</a:t>
            </a:r>
            <a:r>
              <a:rPr lang="zh-CN" altLang="en-US" sz="2000" b="1" dirty="0">
                <a:solidFill>
                  <a:schemeClr val="hlink"/>
                </a:solidFill>
                <a:latin typeface="华文新魏" panose="02010800040101010101" pitchFamily="2" charset="-122"/>
                <a:ea typeface="华文新魏" panose="02010800040101010101" pitchFamily="2" charset="-122"/>
              </a:rPr>
              <a:t>不能移动</a:t>
            </a:r>
          </a:p>
          <a:p>
            <a:pPr>
              <a:lnSpc>
                <a:spcPct val="10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x=(long) pi;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错误，</a:t>
            </a:r>
            <a:r>
              <a:rPr lang="en-US" altLang="zh-CN" sz="2000" b="1" dirty="0">
                <a:solidFill>
                  <a:schemeClr val="hlink"/>
                </a:solidFill>
                <a:latin typeface="华文新魏" panose="02010800040101010101" pitchFamily="2" charset="-122"/>
                <a:ea typeface="华文新魏" panose="02010800040101010101" pitchFamily="2" charset="-122"/>
              </a:rPr>
              <a:t>pi</a:t>
            </a:r>
            <a:r>
              <a:rPr lang="zh-CN" altLang="en-US" sz="2000" b="1" dirty="0">
                <a:solidFill>
                  <a:schemeClr val="hlink"/>
                </a:solidFill>
                <a:latin typeface="华文新魏" panose="02010800040101010101" pitchFamily="2" charset="-122"/>
                <a:ea typeface="华文新魏" panose="02010800040101010101" pitchFamily="2" charset="-122"/>
              </a:rPr>
              <a:t>不能转换为长整型</a:t>
            </a:r>
          </a:p>
          <a:p>
            <a:pPr>
              <a:lnSpc>
                <a:spcPct val="105000"/>
              </a:lnSpc>
              <a:buFont typeface="Wingdings" panose="05000000000000000000" pitchFamily="2" charset="2"/>
              <a:buNone/>
            </a:pPr>
            <a:r>
              <a:rPr lang="zh-CN" altLang="en-US" sz="2000" b="1" dirty="0">
                <a:solidFill>
                  <a:schemeClr val="hlink"/>
                </a:solidFill>
                <a:latin typeface="华文新魏" panose="02010800040101010101" pitchFamily="2" charset="-122"/>
                <a:ea typeface="华文新魏" panose="02010800040101010101" pitchFamily="2" charset="-122"/>
              </a:rPr>
              <a:t>    </a:t>
            </a:r>
            <a:r>
              <a:rPr lang="en-US" altLang="zh-CN" sz="2000" b="1" dirty="0">
                <a:solidFill>
                  <a:schemeClr val="hlink"/>
                </a:solidFill>
                <a:latin typeface="华文新魏" panose="02010800040101010101" pitchFamily="2" charset="-122"/>
                <a:ea typeface="华文新魏" panose="02010800040101010101" pitchFamily="2" charset="-122"/>
              </a:rPr>
              <a:t>x=x+ </a:t>
            </a:r>
            <a:r>
              <a:rPr lang="en-US" altLang="zh-CN" sz="2000" b="1" dirty="0" err="1">
                <a:solidFill>
                  <a:schemeClr val="hlink"/>
                </a:solidFill>
                <a:latin typeface="华文新魏" panose="02010800040101010101" pitchFamily="2" charset="-122"/>
                <a:ea typeface="华文新魏" panose="02010800040101010101" pitchFamily="2" charset="-122"/>
              </a:rPr>
              <a:t>sizeof</a:t>
            </a:r>
            <a:r>
              <a:rPr lang="en-US" altLang="zh-CN" sz="2000" b="1" dirty="0">
                <a:solidFill>
                  <a:schemeClr val="hlink"/>
                </a:solidFill>
                <a:latin typeface="华文新魏" panose="02010800040101010101" pitchFamily="2" charset="-122"/>
                <a:ea typeface="华文新魏" panose="02010800040101010101" pitchFamily="2" charset="-122"/>
              </a:rPr>
              <a:t>(int)             	//</a:t>
            </a:r>
            <a:r>
              <a:rPr lang="zh-CN" altLang="en-US" sz="2000" b="1" dirty="0">
                <a:solidFill>
                  <a:schemeClr val="hlink"/>
                </a:solidFill>
                <a:latin typeface="华文新魏" panose="02010800040101010101" pitchFamily="2" charset="-122"/>
                <a:ea typeface="华文新魏" panose="02010800040101010101" pitchFamily="2" charset="-122"/>
              </a:rPr>
              <a:t>间接移动指针</a:t>
            </a:r>
          </a:p>
          <a:p>
            <a:pPr>
              <a:lnSpc>
                <a:spcPct val="10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pi=(int A::*)x;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错误，</a:t>
            </a:r>
            <a:r>
              <a:rPr lang="en-US" altLang="zh-CN" sz="2000" b="1" dirty="0">
                <a:solidFill>
                  <a:schemeClr val="hlink"/>
                </a:solidFill>
                <a:latin typeface="华文新魏" panose="02010800040101010101" pitchFamily="2" charset="-122"/>
                <a:ea typeface="华文新魏" panose="02010800040101010101" pitchFamily="2" charset="-122"/>
              </a:rPr>
              <a:t>x</a:t>
            </a:r>
            <a:r>
              <a:rPr lang="zh-CN" altLang="en-US" sz="2000" b="1" dirty="0">
                <a:solidFill>
                  <a:schemeClr val="hlink"/>
                </a:solidFill>
                <a:latin typeface="华文新魏" panose="02010800040101010101" pitchFamily="2" charset="-122"/>
                <a:ea typeface="华文新魏" panose="02010800040101010101" pitchFamily="2" charset="-122"/>
              </a:rPr>
              <a:t>不能转换为成员指针</a:t>
            </a:r>
          </a:p>
          <a:p>
            <a:pPr>
              <a:lnSpc>
                <a:spcPct val="105000"/>
              </a:lnSpc>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a:t>
            </a:r>
          </a:p>
        </p:txBody>
      </p:sp>
      <p:sp>
        <p:nvSpPr>
          <p:cNvPr id="3" name="矩形 2">
            <a:extLst>
              <a:ext uri="{FF2B5EF4-FFF2-40B4-BE49-F238E27FC236}">
                <a16:creationId xmlns:a16="http://schemas.microsoft.com/office/drawing/2014/main" id="{0731A951-F119-458D-840B-0278C09FE6D1}"/>
              </a:ext>
            </a:extLst>
          </p:cNvPr>
          <p:cNvSpPr/>
          <p:nvPr/>
        </p:nvSpPr>
        <p:spPr>
          <a:xfrm>
            <a:off x="2785872" y="5382097"/>
            <a:ext cx="8891016" cy="1341457"/>
          </a:xfrm>
          <a:prstGeom prst="rect">
            <a:avLst/>
          </a:prstGeom>
        </p:spPr>
        <p:txBody>
          <a:bodyPr wrap="square">
            <a:spAutoFit/>
          </a:bodyPr>
          <a:lstStyle/>
          <a:p>
            <a:pPr algn="just">
              <a:lnSpc>
                <a:spcPct val="180000"/>
              </a:lnSpc>
            </a:pPr>
            <a:r>
              <a:rPr lang="zh-CN" altLang="en-US" sz="2400" b="1" dirty="0">
                <a:solidFill>
                  <a:srgbClr val="FF0000"/>
                </a:solidFill>
                <a:latin typeface="华文新魏" panose="02010800040101010101" pitchFamily="2" charset="-122"/>
                <a:ea typeface="华文新魏" panose="02010800040101010101" pitchFamily="2" charset="-122"/>
              </a:rPr>
              <a:t>实例成员指针不能和其它类型互相转换</a:t>
            </a:r>
            <a:r>
              <a:rPr lang="zh-CN" altLang="en-US" sz="2400" b="1" dirty="0">
                <a:latin typeface="华文新魏" panose="02010800040101010101" pitchFamily="2" charset="-122"/>
                <a:ea typeface="华文新魏" panose="02010800040101010101" pitchFamily="2" charset="-122"/>
              </a:rPr>
              <a:t>：否则便可以通过类型转换间接实现指针移动。</a:t>
            </a:r>
          </a:p>
        </p:txBody>
      </p:sp>
    </p:spTree>
    <p:extLst>
      <p:ext uri="{BB962C8B-B14F-4D97-AF65-F5344CB8AC3E}">
        <p14:creationId xmlns:p14="http://schemas.microsoft.com/office/powerpoint/2010/main" val="771703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5</a:t>
            </a:r>
            <a:r>
              <a:rPr lang="zh-CN" altLang="en-US" b="1" dirty="0">
                <a:latin typeface="隶书" panose="02010509060101010101" pitchFamily="49" charset="-122"/>
                <a:ea typeface="隶书" panose="02010509060101010101" pitchFamily="49" charset="-122"/>
              </a:rPr>
              <a:t>章 </a:t>
            </a:r>
            <a:r>
              <a:rPr lang="zh-CN" altLang="zh-CN" b="1" dirty="0">
                <a:latin typeface="隶书" panose="02010509060101010101" pitchFamily="49" charset="-122"/>
                <a:ea typeface="隶书" panose="02010509060101010101" pitchFamily="49" charset="-122"/>
              </a:rPr>
              <a:t>成员及成员指针</a:t>
            </a:r>
            <a:endParaRPr lang="zh-CN" altLang="en-US" b="1" dirty="0">
              <a:latin typeface="隶书" panose="02010509060101010101" pitchFamily="49" charset="-122"/>
              <a:ea typeface="隶书" panose="02010509060101010101" pitchFamily="49" charset="-122"/>
            </a:endParaRP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5.2  const</a:t>
            </a:r>
            <a:r>
              <a:rPr lang="zh-CN" altLang="en-US" dirty="0">
                <a:latin typeface="华文新魏" panose="02010800040101010101" pitchFamily="2" charset="-122"/>
                <a:ea typeface="华文新魏" panose="02010800040101010101" pitchFamily="2" charset="-122"/>
              </a:rPr>
              <a:t>、</a:t>
            </a:r>
            <a:r>
              <a:rPr lang="en-US" altLang="zh-CN" dirty="0">
                <a:latin typeface="华文新魏" panose="02010800040101010101" pitchFamily="2" charset="-122"/>
                <a:ea typeface="华文新魏" panose="02010800040101010101" pitchFamily="2" charset="-122"/>
              </a:rPr>
              <a:t>volatile</a:t>
            </a:r>
            <a:r>
              <a:rPr lang="zh-CN" altLang="en-US" dirty="0">
                <a:latin typeface="华文新魏" panose="02010800040101010101" pitchFamily="2" charset="-122"/>
                <a:ea typeface="华文新魏" panose="02010800040101010101" pitchFamily="2" charset="-122"/>
              </a:rPr>
              <a:t>和</a:t>
            </a:r>
            <a:r>
              <a:rPr lang="en-US" altLang="zh-CN" dirty="0">
                <a:latin typeface="华文新魏" panose="02010800040101010101" pitchFamily="2" charset="-122"/>
                <a:ea typeface="华文新魏" panose="02010800040101010101" pitchFamily="2" charset="-122"/>
              </a:rPr>
              <a:t>mutable</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2845B5B1-E0D9-48D9-A8B5-77F96D442EE8}"/>
              </a:ext>
            </a:extLst>
          </p:cNvPr>
          <p:cNvSpPr txBox="1"/>
          <p:nvPr/>
        </p:nvSpPr>
        <p:spPr>
          <a:xfrm>
            <a:off x="320040" y="2413744"/>
            <a:ext cx="11548872" cy="2675604"/>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en-US" altLang="zh-CN" sz="2400" b="1" dirty="0">
                <a:latin typeface="华文新魏" panose="02010800040101010101" pitchFamily="2" charset="-122"/>
                <a:ea typeface="华文新魏" panose="02010800040101010101" pitchFamily="2" charset="-122"/>
              </a:rPr>
              <a:t>const</a:t>
            </a:r>
            <a:r>
              <a:rPr lang="zh-CN" altLang="en-US" sz="2400" b="1" dirty="0">
                <a:latin typeface="华文新魏" panose="02010800040101010101" pitchFamily="2" charset="-122"/>
                <a:ea typeface="华文新魏" panose="02010800040101010101" pitchFamily="2" charset="-122"/>
              </a:rPr>
              <a:t>只读，</a:t>
            </a:r>
            <a:r>
              <a:rPr lang="en-US" altLang="zh-CN" sz="2400" b="1" dirty="0">
                <a:latin typeface="华文新魏" panose="02010800040101010101" pitchFamily="2" charset="-122"/>
                <a:ea typeface="华文新魏" panose="02010800040101010101" pitchFamily="2" charset="-122"/>
              </a:rPr>
              <a:t>volatile</a:t>
            </a:r>
            <a:r>
              <a:rPr lang="zh-CN" altLang="en-US" sz="2400" b="1" dirty="0">
                <a:latin typeface="华文新魏" panose="02010800040101010101" pitchFamily="2" charset="-122"/>
                <a:ea typeface="华文新魏" panose="02010800040101010101" pitchFamily="2" charset="-122"/>
              </a:rPr>
              <a:t>易变，</a:t>
            </a:r>
            <a:r>
              <a:rPr lang="en-US" altLang="zh-CN" sz="2400" b="1" dirty="0">
                <a:latin typeface="华文新魏" panose="02010800040101010101" pitchFamily="2" charset="-122"/>
                <a:ea typeface="华文新魏" panose="02010800040101010101" pitchFamily="2" charset="-122"/>
              </a:rPr>
              <a:t>mutable</a:t>
            </a:r>
            <a:r>
              <a:rPr lang="zh-CN" altLang="en-US" sz="2400" b="1" dirty="0">
                <a:latin typeface="华文新魏" panose="02010800040101010101" pitchFamily="2" charset="-122"/>
                <a:ea typeface="华文新魏" panose="02010800040101010101" pitchFamily="2" charset="-122"/>
              </a:rPr>
              <a:t>机动：</a:t>
            </a:r>
          </a:p>
          <a:p>
            <a:pPr marL="685800" lvl="1" indent="-228600">
              <a:lnSpc>
                <a:spcPct val="90000"/>
              </a:lnSpc>
              <a:spcBef>
                <a:spcPts val="500"/>
              </a:spcBef>
              <a:buFont typeface="Wingdings" panose="05000000000000000000" pitchFamily="2" charset="2"/>
              <a:buChar char="l"/>
              <a:defRPr/>
            </a:pPr>
            <a:r>
              <a:rPr lang="en-US" altLang="zh-CN" sz="2400" b="1" dirty="0">
                <a:latin typeface="华文新魏" panose="02010800040101010101" pitchFamily="2" charset="-122"/>
                <a:ea typeface="华文新魏" panose="02010800040101010101" pitchFamily="2" charset="-122"/>
              </a:rPr>
              <a:t>const</a:t>
            </a:r>
            <a:r>
              <a:rPr lang="zh-CN" altLang="en-US" sz="2400" b="1" dirty="0">
                <a:latin typeface="华文新魏" panose="02010800040101010101" pitchFamily="2" charset="-122"/>
                <a:ea typeface="华文新魏" panose="02010800040101010101" pitchFamily="2" charset="-122"/>
              </a:rPr>
              <a:t>和</a:t>
            </a:r>
            <a:r>
              <a:rPr lang="en-US" altLang="zh-CN" sz="2400" b="1" dirty="0">
                <a:latin typeface="华文新魏" panose="02010800040101010101" pitchFamily="2" charset="-122"/>
                <a:ea typeface="华文新魏" panose="02010800040101010101" pitchFamily="2" charset="-122"/>
              </a:rPr>
              <a:t>volatile</a:t>
            </a:r>
            <a:r>
              <a:rPr lang="zh-CN" altLang="en-US" sz="2400" b="1" dirty="0">
                <a:latin typeface="华文新魏" panose="02010800040101010101" pitchFamily="2" charset="-122"/>
                <a:ea typeface="华文新魏" panose="02010800040101010101" pitchFamily="2" charset="-122"/>
              </a:rPr>
              <a:t>可以定义变量、类的数据成员、函数成员及普通函数的参数和返回类型。</a:t>
            </a:r>
          </a:p>
          <a:p>
            <a:pPr marL="685800" lvl="1" indent="-228600">
              <a:lnSpc>
                <a:spcPct val="90000"/>
              </a:lnSpc>
              <a:spcBef>
                <a:spcPts val="500"/>
              </a:spcBef>
              <a:buFont typeface="Wingdings" panose="05000000000000000000" pitchFamily="2" charset="2"/>
              <a:buChar char="l"/>
              <a:defRPr/>
            </a:pPr>
            <a:r>
              <a:rPr lang="en-US" altLang="zh-CN" sz="2400" b="1" dirty="0">
                <a:latin typeface="华文新魏" panose="02010800040101010101" pitchFamily="2" charset="-122"/>
                <a:ea typeface="华文新魏" panose="02010800040101010101" pitchFamily="2" charset="-122"/>
              </a:rPr>
              <a:t>mutable</a:t>
            </a:r>
            <a:r>
              <a:rPr lang="zh-CN" altLang="en-US" sz="2400" b="1" dirty="0">
                <a:latin typeface="华文新魏" panose="02010800040101010101" pitchFamily="2" charset="-122"/>
                <a:ea typeface="华文新魏" panose="02010800040101010101" pitchFamily="2" charset="-122"/>
              </a:rPr>
              <a:t>只能用来定义类的数据成员。</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含</a:t>
            </a:r>
            <a:r>
              <a:rPr lang="en-US" altLang="zh-CN" sz="2400" b="1" dirty="0">
                <a:latin typeface="华文新魏" panose="02010800040101010101" pitchFamily="2" charset="-122"/>
                <a:ea typeface="华文新魏" panose="02010800040101010101" pitchFamily="2" charset="-122"/>
              </a:rPr>
              <a:t>const</a:t>
            </a:r>
            <a:r>
              <a:rPr lang="zh-CN" altLang="en-US" sz="2400" b="1" dirty="0">
                <a:latin typeface="华文新魏" panose="02010800040101010101" pitchFamily="2" charset="-122"/>
                <a:ea typeface="华文新魏" panose="02010800040101010101" pitchFamily="2" charset="-122"/>
              </a:rPr>
              <a:t>数据成员的类必须定义构造函数（如果没有类内就地初始），且数据成员必须在构造函数参数表之后，函数体之前初始化。</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含</a:t>
            </a:r>
            <a:r>
              <a:rPr lang="en-US" altLang="zh-CN" sz="2400" b="1" dirty="0">
                <a:latin typeface="华文新魏" panose="02010800040101010101" pitchFamily="2" charset="-122"/>
                <a:ea typeface="华文新魏" panose="02010800040101010101" pitchFamily="2" charset="-122"/>
              </a:rPr>
              <a:t>volatile</a:t>
            </a:r>
            <a:r>
              <a:rPr lang="zh-CN" altLang="en-US" sz="2400" b="1" dirty="0">
                <a:latin typeface="华文新魏" panose="02010800040101010101" pitchFamily="2" charset="-122"/>
                <a:ea typeface="华文新魏" panose="02010800040101010101" pitchFamily="2" charset="-122"/>
              </a:rPr>
              <a:t>、</a:t>
            </a:r>
            <a:r>
              <a:rPr lang="en-US" altLang="zh-CN" sz="2400" b="1" dirty="0">
                <a:latin typeface="华文新魏" panose="02010800040101010101" pitchFamily="2" charset="-122"/>
                <a:ea typeface="华文新魏" panose="02010800040101010101" pitchFamily="2" charset="-122"/>
              </a:rPr>
              <a:t>mutable</a:t>
            </a:r>
            <a:r>
              <a:rPr lang="zh-CN" altLang="en-US" sz="2400" b="1" dirty="0">
                <a:latin typeface="华文新魏" panose="02010800040101010101" pitchFamily="2" charset="-122"/>
                <a:ea typeface="华文新魏" panose="02010800040101010101" pitchFamily="2" charset="-122"/>
              </a:rPr>
              <a:t>数据成员的类则不一定需要定义构造函数。</a:t>
            </a:r>
          </a:p>
        </p:txBody>
      </p:sp>
    </p:spTree>
    <p:extLst>
      <p:ext uri="{BB962C8B-B14F-4D97-AF65-F5344CB8AC3E}">
        <p14:creationId xmlns:p14="http://schemas.microsoft.com/office/powerpoint/2010/main" val="1672925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5</a:t>
            </a:r>
            <a:r>
              <a:rPr lang="zh-CN" altLang="en-US" b="1" dirty="0">
                <a:latin typeface="隶书" panose="02010509060101010101" pitchFamily="49" charset="-122"/>
                <a:ea typeface="隶书" panose="02010509060101010101" pitchFamily="49" charset="-122"/>
              </a:rPr>
              <a:t>章 </a:t>
            </a:r>
            <a:r>
              <a:rPr lang="zh-CN" altLang="zh-CN" b="1" dirty="0">
                <a:latin typeface="隶书" panose="02010509060101010101" pitchFamily="49" charset="-122"/>
                <a:ea typeface="隶书" panose="02010509060101010101" pitchFamily="49" charset="-122"/>
              </a:rPr>
              <a:t>成员及成员指针</a:t>
            </a:r>
            <a:endParaRPr lang="zh-CN" altLang="en-US" b="1" dirty="0">
              <a:latin typeface="隶书" panose="02010509060101010101" pitchFamily="49" charset="-122"/>
              <a:ea typeface="隶书" panose="02010509060101010101" pitchFamily="49" charset="-122"/>
            </a:endParaRPr>
          </a:p>
        </p:txBody>
      </p:sp>
      <p:sp>
        <p:nvSpPr>
          <p:cNvPr id="5" name="Rectangle 3">
            <a:extLst>
              <a:ext uri="{FF2B5EF4-FFF2-40B4-BE49-F238E27FC236}">
                <a16:creationId xmlns:a16="http://schemas.microsoft.com/office/drawing/2014/main" id="{9FF01CA2-A0BB-4705-AFBE-5678ADAED567}"/>
              </a:ext>
            </a:extLst>
          </p:cNvPr>
          <p:cNvSpPr txBox="1">
            <a:spLocks noChangeArrowheads="1"/>
          </p:cNvSpPr>
          <p:nvPr/>
        </p:nvSpPr>
        <p:spPr>
          <a:xfrm>
            <a:off x="609600" y="1524000"/>
            <a:ext cx="9457678" cy="457200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sz="2400" b="1" dirty="0">
                <a:latin typeface="华文新魏" panose="02010800040101010101" pitchFamily="2" charset="-122"/>
                <a:ea typeface="华文新魏" panose="02010800040101010101" pitchFamily="2" charset="-122"/>
              </a:rPr>
              <a:t>【例</a:t>
            </a:r>
            <a:r>
              <a:rPr lang="en-US" altLang="zh-CN" sz="2400" b="1" dirty="0">
                <a:latin typeface="华文新魏" panose="02010800040101010101" pitchFamily="2" charset="-122"/>
                <a:ea typeface="华文新魏" panose="02010800040101010101" pitchFamily="2" charset="-122"/>
              </a:rPr>
              <a:t>5</a:t>
            </a:r>
            <a:r>
              <a:rPr lang="zh-CN" altLang="en-US" sz="2400" b="1" dirty="0">
                <a:latin typeface="华文新魏" panose="02010800040101010101" pitchFamily="2" charset="-122"/>
                <a:ea typeface="华文新魏" panose="02010800040101010101" pitchFamily="2" charset="-122"/>
              </a:rPr>
              <a:t>. 3】定义导师类，允许改名但不允许改性别。</a:t>
            </a:r>
          </a:p>
          <a:p>
            <a:pPr>
              <a:buFont typeface="Wingdings" panose="05000000000000000000" pitchFamily="2" charset="2"/>
              <a:buNone/>
            </a:pPr>
            <a:r>
              <a:rPr lang="zh-CN" altLang="en-US" sz="24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include &lt;</a:t>
            </a:r>
            <a:r>
              <a:rPr lang="en-US" altLang="zh-CN" sz="2000" b="1" dirty="0" err="1">
                <a:latin typeface="华文新魏" panose="02010800040101010101" pitchFamily="2" charset="-122"/>
                <a:ea typeface="华文新魏" panose="02010800040101010101" pitchFamily="2" charset="-122"/>
              </a:rPr>
              <a:t>string.h</a:t>
            </a:r>
            <a:r>
              <a:rPr lang="en-US" altLang="zh-CN" sz="2000" b="1" dirty="0">
                <a:latin typeface="华文新魏" panose="02010800040101010101" pitchFamily="2" charset="-122"/>
                <a:ea typeface="华文新魏" panose="02010800040101010101" pitchFamily="2" charset="-122"/>
              </a:rPr>
              <a:t>&gt;</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#include &lt;</a:t>
            </a:r>
            <a:r>
              <a:rPr lang="en-US" altLang="zh-CN" sz="2000" b="1" dirty="0" err="1">
                <a:latin typeface="华文新魏" panose="02010800040101010101" pitchFamily="2" charset="-122"/>
                <a:ea typeface="华文新魏" panose="02010800040101010101" pitchFamily="2" charset="-122"/>
              </a:rPr>
              <a:t>iostream.h</a:t>
            </a:r>
            <a:r>
              <a:rPr lang="en-US" altLang="zh-CN" sz="2000" b="1" dirty="0">
                <a:latin typeface="华文新魏" panose="02010800040101010101" pitchFamily="2" charset="-122"/>
                <a:ea typeface="华文新魏" panose="02010800040101010101" pitchFamily="2" charset="-122"/>
              </a:rPr>
              <a:t>&gt;</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class TUTOR{</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char  	name[20];</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t>
            </a:r>
            <a:r>
              <a:rPr lang="en-US" altLang="zh-CN" sz="2000" b="1" dirty="0">
                <a:solidFill>
                  <a:schemeClr val="hlink"/>
                </a:solidFill>
                <a:latin typeface="华文新魏" panose="02010800040101010101" pitchFamily="2" charset="-122"/>
                <a:ea typeface="华文新魏" panose="02010800040101010101" pitchFamily="2" charset="-122"/>
              </a:rPr>
              <a:t>const</a:t>
            </a:r>
            <a:r>
              <a:rPr lang="en-US" altLang="zh-CN" sz="2000" b="1" dirty="0">
                <a:latin typeface="华文新魏" panose="02010800040101010101" pitchFamily="2" charset="-122"/>
                <a:ea typeface="华文新魏" panose="02010800040101010101" pitchFamily="2" charset="-122"/>
              </a:rPr>
              <a:t> 	char  sex;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性别为只读成员</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int  	salary;</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public:</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TUTOR(</a:t>
            </a:r>
            <a:r>
              <a:rPr lang="en-US" altLang="zh-CN" sz="2000" b="1" dirty="0">
                <a:solidFill>
                  <a:schemeClr val="hlink"/>
                </a:solidFill>
                <a:latin typeface="华文新魏" panose="02010800040101010101" pitchFamily="2" charset="-122"/>
                <a:ea typeface="华文新魏" panose="02010800040101010101" pitchFamily="2" charset="-122"/>
              </a:rPr>
              <a:t>const</a:t>
            </a:r>
            <a:r>
              <a:rPr lang="en-US" altLang="zh-CN" sz="2000" b="1" dirty="0">
                <a:latin typeface="华文新魏" panose="02010800040101010101" pitchFamily="2" charset="-122"/>
                <a:ea typeface="华文新魏" panose="02010800040101010101" pitchFamily="2" charset="-122"/>
              </a:rPr>
              <a:t> char *name, </a:t>
            </a:r>
            <a:r>
              <a:rPr lang="en-US" altLang="zh-CN" sz="2000" b="1" dirty="0">
                <a:solidFill>
                  <a:schemeClr val="hlink"/>
                </a:solidFill>
                <a:latin typeface="华文新魏" panose="02010800040101010101" pitchFamily="2" charset="-122"/>
                <a:ea typeface="华文新魏" panose="02010800040101010101" pitchFamily="2" charset="-122"/>
              </a:rPr>
              <a:t>const</a:t>
            </a:r>
            <a:r>
              <a:rPr lang="en-US" altLang="zh-CN" sz="2000" b="1" dirty="0">
                <a:latin typeface="华文新魏" panose="02010800040101010101" pitchFamily="2" charset="-122"/>
                <a:ea typeface="华文新魏" panose="02010800040101010101" pitchFamily="2" charset="-122"/>
              </a:rPr>
              <a:t> TUTOR *t);</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TUTOR(</a:t>
            </a:r>
            <a:r>
              <a:rPr lang="en-US" altLang="zh-CN" sz="2000" b="1" dirty="0">
                <a:solidFill>
                  <a:schemeClr val="hlink"/>
                </a:solidFill>
                <a:latin typeface="华文新魏" panose="02010800040101010101" pitchFamily="2" charset="-122"/>
                <a:ea typeface="华文新魏" panose="02010800040101010101" pitchFamily="2" charset="-122"/>
              </a:rPr>
              <a:t>const</a:t>
            </a:r>
            <a:r>
              <a:rPr lang="en-US" altLang="zh-CN" sz="2000" b="1" dirty="0">
                <a:latin typeface="华文新魏" panose="02010800040101010101" pitchFamily="2" charset="-122"/>
                <a:ea typeface="华文新魏" panose="02010800040101010101" pitchFamily="2" charset="-122"/>
              </a:rPr>
              <a:t> char *name, char gender, int salary);</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t>
            </a:r>
            <a:r>
              <a:rPr lang="en-US" altLang="zh-CN" sz="2000" b="1" dirty="0">
                <a:solidFill>
                  <a:schemeClr val="hlink"/>
                </a:solidFill>
                <a:latin typeface="华文新魏" panose="02010800040101010101" pitchFamily="2" charset="-122"/>
                <a:ea typeface="华文新魏" panose="02010800040101010101" pitchFamily="2" charset="-122"/>
              </a:rPr>
              <a:t>const</a:t>
            </a:r>
            <a:r>
              <a:rPr lang="en-US" altLang="zh-CN" sz="2000" b="1" dirty="0">
                <a:latin typeface="华文新魏" panose="02010800040101010101" pitchFamily="2" charset="-122"/>
                <a:ea typeface="华文新魏" panose="02010800040101010101" pitchFamily="2" charset="-122"/>
              </a:rPr>
              <a:t> char *</a:t>
            </a:r>
            <a:r>
              <a:rPr lang="en-US" altLang="zh-CN" sz="2000" b="1" dirty="0" err="1">
                <a:latin typeface="华文新魏" panose="02010800040101010101" pitchFamily="2" charset="-122"/>
                <a:ea typeface="华文新魏" panose="02010800040101010101" pitchFamily="2" charset="-122"/>
              </a:rPr>
              <a:t>getname</a:t>
            </a:r>
            <a:r>
              <a:rPr lang="en-US" altLang="zh-CN" sz="2000" b="1" dirty="0">
                <a:latin typeface="华文新魏" panose="02010800040101010101" pitchFamily="2" charset="-122"/>
                <a:ea typeface="华文新魏" panose="02010800040101010101" pitchFamily="2" charset="-122"/>
              </a:rPr>
              <a:t>( ) { return name; }</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char *</a:t>
            </a:r>
            <a:r>
              <a:rPr lang="en-US" altLang="zh-CN" sz="2000" b="1" dirty="0" err="1">
                <a:latin typeface="华文新魏" panose="02010800040101010101" pitchFamily="2" charset="-122"/>
                <a:ea typeface="华文新魏" panose="02010800040101010101" pitchFamily="2" charset="-122"/>
              </a:rPr>
              <a:t>setname</a:t>
            </a:r>
            <a:r>
              <a:rPr lang="en-US" altLang="zh-CN" sz="2000" b="1" dirty="0">
                <a:latin typeface="华文新魏" panose="02010800040101010101" pitchFamily="2" charset="-122"/>
                <a:ea typeface="华文新魏" panose="02010800040101010101" pitchFamily="2" charset="-122"/>
              </a:rPr>
              <a:t>(</a:t>
            </a:r>
            <a:r>
              <a:rPr lang="en-US" altLang="zh-CN" sz="2000" b="1" dirty="0">
                <a:solidFill>
                  <a:schemeClr val="hlink"/>
                </a:solidFill>
                <a:latin typeface="华文新魏" panose="02010800040101010101" pitchFamily="2" charset="-122"/>
                <a:ea typeface="华文新魏" panose="02010800040101010101" pitchFamily="2" charset="-122"/>
              </a:rPr>
              <a:t>const</a:t>
            </a:r>
            <a:r>
              <a:rPr lang="en-US" altLang="zh-CN" sz="2000" b="1" dirty="0">
                <a:latin typeface="华文新魏" panose="02010800040101010101" pitchFamily="2" charset="-122"/>
                <a:ea typeface="华文新魏" panose="02010800040101010101" pitchFamily="2" charset="-122"/>
              </a:rPr>
              <a:t> char *name);</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t>
            </a:r>
            <a:endParaRPr lang="zh-CN" altLang="en-US" sz="20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608030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5</a:t>
            </a:r>
            <a:r>
              <a:rPr lang="zh-CN" altLang="en-US" b="1" dirty="0">
                <a:latin typeface="隶书" panose="02010509060101010101" pitchFamily="49" charset="-122"/>
                <a:ea typeface="隶书" panose="02010509060101010101" pitchFamily="49" charset="-122"/>
              </a:rPr>
              <a:t>章 </a:t>
            </a:r>
            <a:r>
              <a:rPr lang="zh-CN" altLang="zh-CN" b="1" dirty="0">
                <a:latin typeface="隶书" panose="02010509060101010101" pitchFamily="49" charset="-122"/>
                <a:ea typeface="隶书" panose="02010509060101010101" pitchFamily="49" charset="-122"/>
              </a:rPr>
              <a:t>成员及成员指针</a:t>
            </a:r>
            <a:endParaRPr lang="zh-CN" altLang="en-US" b="1" dirty="0">
              <a:latin typeface="隶书" panose="02010509060101010101" pitchFamily="49" charset="-122"/>
              <a:ea typeface="隶书" panose="02010509060101010101" pitchFamily="49" charset="-122"/>
            </a:endParaRPr>
          </a:p>
        </p:txBody>
      </p:sp>
      <p:sp>
        <p:nvSpPr>
          <p:cNvPr id="6" name="Rectangle 3">
            <a:extLst>
              <a:ext uri="{FF2B5EF4-FFF2-40B4-BE49-F238E27FC236}">
                <a16:creationId xmlns:a16="http://schemas.microsoft.com/office/drawing/2014/main" id="{A20745A8-6965-4F70-AF68-B6020135D8CD}"/>
              </a:ext>
            </a:extLst>
          </p:cNvPr>
          <p:cNvSpPr txBox="1">
            <a:spLocks noChangeArrowheads="1"/>
          </p:cNvSpPr>
          <p:nvPr/>
        </p:nvSpPr>
        <p:spPr>
          <a:xfrm>
            <a:off x="838200" y="1639349"/>
            <a:ext cx="10515600" cy="487680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TUTOR::TUTOR(const char *n, const TUTOR *t): </a:t>
            </a:r>
            <a:r>
              <a:rPr lang="en-US" altLang="zh-CN" sz="2000" b="1" dirty="0">
                <a:solidFill>
                  <a:schemeClr val="hlink"/>
                </a:solidFill>
                <a:latin typeface="华文新魏" panose="02010800040101010101" pitchFamily="2" charset="-122"/>
                <a:ea typeface="华文新魏" panose="02010800040101010101" pitchFamily="2" charset="-122"/>
              </a:rPr>
              <a:t>sex(t-&gt;sex)</a:t>
            </a:r>
            <a:r>
              <a:rPr lang="en-US" altLang="zh-CN" sz="2000" b="1" dirty="0">
                <a:latin typeface="华文新魏" panose="02010800040101010101" pitchFamily="2" charset="-122"/>
                <a:ea typeface="华文新魏" panose="02010800040101010101" pitchFamily="2" charset="-122"/>
              </a:rPr>
              <a:t>{</a:t>
            </a:r>
          </a:p>
          <a:p>
            <a:pPr>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strcpy</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name,n</a:t>
            </a:r>
            <a:r>
              <a:rPr lang="en-US" altLang="zh-CN" sz="2000" b="1" dirty="0">
                <a:latin typeface="华文新魏" panose="02010800040101010101" pitchFamily="2" charset="-122"/>
                <a:ea typeface="华文新魏" panose="02010800040101010101" pitchFamily="2" charset="-122"/>
              </a:rPr>
              <a:t>);    salary=t-&gt;salary;</a:t>
            </a:r>
          </a:p>
          <a:p>
            <a:pPr>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只读成员</a:t>
            </a:r>
            <a:r>
              <a:rPr lang="en-US" altLang="zh-CN" sz="2000" b="1" dirty="0">
                <a:latin typeface="华文新魏" panose="02010800040101010101" pitchFamily="2" charset="-122"/>
                <a:ea typeface="华文新魏" panose="02010800040101010101" pitchFamily="2" charset="-122"/>
              </a:rPr>
              <a:t>sex</a:t>
            </a:r>
            <a:r>
              <a:rPr lang="zh-CN" altLang="en-US" sz="2000" b="1" dirty="0">
                <a:latin typeface="华文新魏" panose="02010800040101010101" pitchFamily="2" charset="-122"/>
                <a:ea typeface="华文新魏" panose="02010800040101010101" pitchFamily="2" charset="-122"/>
              </a:rPr>
              <a:t>必须在构造函数体之前初始化</a:t>
            </a:r>
          </a:p>
          <a:p>
            <a:pPr>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TUTOR::TUTOR(const char *n, char g, int s): </a:t>
            </a:r>
            <a:r>
              <a:rPr lang="en-US" altLang="zh-CN" sz="2000" b="1" dirty="0">
                <a:solidFill>
                  <a:schemeClr val="hlink"/>
                </a:solidFill>
                <a:latin typeface="华文新魏" panose="02010800040101010101" pitchFamily="2" charset="-122"/>
                <a:ea typeface="华文新魏" panose="02010800040101010101" pitchFamily="2" charset="-122"/>
              </a:rPr>
              <a:t>sex(g)</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sarlary</a:t>
            </a:r>
            <a:r>
              <a:rPr lang="en-US" altLang="zh-CN" sz="2000" b="1" dirty="0">
                <a:latin typeface="华文新魏" panose="02010800040101010101" pitchFamily="2" charset="-122"/>
                <a:ea typeface="华文新魏" panose="02010800040101010101" pitchFamily="2" charset="-122"/>
              </a:rPr>
              <a:t>(s){</a:t>
            </a:r>
          </a:p>
          <a:p>
            <a:pPr>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strcpy</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name,n</a:t>
            </a:r>
            <a:r>
              <a:rPr lang="en-US" altLang="zh-CN" sz="2000" b="1" dirty="0">
                <a:latin typeface="华文新魏" panose="02010800040101010101" pitchFamily="2" charset="-122"/>
                <a:ea typeface="华文新魏" panose="02010800040101010101" pitchFamily="2" charset="-122"/>
              </a:rPr>
              <a:t>);</a:t>
            </a:r>
          </a:p>
          <a:p>
            <a:pPr>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非只读成员</a:t>
            </a:r>
            <a:r>
              <a:rPr lang="en-US" altLang="zh-CN" sz="2000" b="1" dirty="0" err="1">
                <a:latin typeface="华文新魏" panose="02010800040101010101" pitchFamily="2" charset="-122"/>
                <a:ea typeface="华文新魏" panose="02010800040101010101" pitchFamily="2" charset="-122"/>
              </a:rPr>
              <a:t>sarlary</a:t>
            </a:r>
            <a:r>
              <a:rPr lang="zh-CN" altLang="en-US" sz="2000" b="1" dirty="0">
                <a:latin typeface="华文新魏" panose="02010800040101010101" pitchFamily="2" charset="-122"/>
                <a:ea typeface="华文新魏" panose="02010800040101010101" pitchFamily="2" charset="-122"/>
              </a:rPr>
              <a:t>可在函数体前初始化，也可在构造函数体内再次赋值</a:t>
            </a:r>
          </a:p>
          <a:p>
            <a:pPr>
              <a:lnSpc>
                <a:spcPct val="85000"/>
              </a:lnSpc>
              <a:buFont typeface="Wingdings" panose="05000000000000000000" pitchFamily="2" charset="2"/>
              <a:buNone/>
            </a:pPr>
            <a:r>
              <a:rPr lang="en-US" altLang="zh-CN" sz="2000" b="1" dirty="0">
                <a:solidFill>
                  <a:schemeClr val="hlink"/>
                </a:solidFill>
                <a:latin typeface="华文新魏" panose="02010800040101010101" pitchFamily="2" charset="-122"/>
                <a:ea typeface="华文新魏" panose="02010800040101010101" pitchFamily="2" charset="-122"/>
              </a:rPr>
              <a:t>char *</a:t>
            </a:r>
            <a:r>
              <a:rPr lang="en-US" altLang="zh-CN" sz="2000" b="1" dirty="0">
                <a:latin typeface="华文新魏" panose="02010800040101010101" pitchFamily="2" charset="-122"/>
                <a:ea typeface="华文新魏" panose="02010800040101010101" pitchFamily="2" charset="-122"/>
              </a:rPr>
              <a:t>TUTOR::</a:t>
            </a:r>
            <a:r>
              <a:rPr lang="en-US" altLang="zh-CN" sz="2000" b="1" dirty="0" err="1">
                <a:latin typeface="华文新魏" panose="02010800040101010101" pitchFamily="2" charset="-122"/>
                <a:ea typeface="华文新魏" panose="02010800040101010101" pitchFamily="2" charset="-122"/>
              </a:rPr>
              <a:t>setname</a:t>
            </a:r>
            <a:r>
              <a:rPr lang="en-US" altLang="zh-CN" sz="2000" b="1" dirty="0">
                <a:latin typeface="华文新魏" panose="02010800040101010101" pitchFamily="2" charset="-122"/>
                <a:ea typeface="华文新魏" panose="02010800040101010101" pitchFamily="2" charset="-122"/>
              </a:rPr>
              <a:t>(const char*n){</a:t>
            </a:r>
          </a:p>
          <a:p>
            <a:pPr>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return </a:t>
            </a:r>
            <a:r>
              <a:rPr lang="en-US" altLang="zh-CN" sz="2000" b="1" dirty="0" err="1">
                <a:latin typeface="华文新魏" panose="02010800040101010101" pitchFamily="2" charset="-122"/>
                <a:ea typeface="华文新魏" panose="02010800040101010101" pitchFamily="2" charset="-122"/>
              </a:rPr>
              <a:t>strcpy</a:t>
            </a:r>
            <a:r>
              <a:rPr lang="en-US" altLang="zh-CN" sz="2000" b="1" dirty="0">
                <a:latin typeface="华文新魏" panose="02010800040101010101" pitchFamily="2" charset="-122"/>
                <a:ea typeface="华文新魏" panose="02010800040101010101" pitchFamily="2" charset="-122"/>
              </a:rPr>
              <a:t>(</a:t>
            </a:r>
            <a:r>
              <a:rPr lang="en-US" altLang="zh-CN" sz="2000" b="1" dirty="0">
                <a:solidFill>
                  <a:schemeClr val="hlink"/>
                </a:solidFill>
                <a:latin typeface="华文新魏" panose="02010800040101010101" pitchFamily="2" charset="-122"/>
                <a:ea typeface="华文新魏" panose="02010800040101010101" pitchFamily="2" charset="-122"/>
              </a:rPr>
              <a:t>name</a:t>
            </a:r>
            <a:r>
              <a:rPr lang="en-US" altLang="zh-CN" sz="2000" b="1" dirty="0">
                <a:latin typeface="华文新魏" panose="02010800040101010101" pitchFamily="2" charset="-122"/>
                <a:ea typeface="华文新魏" panose="02010800040101010101" pitchFamily="2" charset="-122"/>
              </a:rPr>
              <a:t>, n); //</a:t>
            </a:r>
            <a:r>
              <a:rPr lang="zh-CN" altLang="en-US" sz="2000" b="1" dirty="0">
                <a:latin typeface="华文新魏" panose="02010800040101010101" pitchFamily="2" charset="-122"/>
                <a:ea typeface="华文新魏" panose="02010800040101010101" pitchFamily="2" charset="-122"/>
              </a:rPr>
              <a:t>注意：</a:t>
            </a:r>
            <a:r>
              <a:rPr lang="en-US" altLang="zh-CN" sz="2000" b="1" dirty="0" err="1">
                <a:latin typeface="华文新魏" panose="02010800040101010101" pitchFamily="2" charset="-122"/>
                <a:ea typeface="华文新魏" panose="02010800040101010101" pitchFamily="2" charset="-122"/>
              </a:rPr>
              <a:t>strcpy</a:t>
            </a:r>
            <a:r>
              <a:rPr lang="zh-CN" altLang="en-US" sz="2000" b="1" dirty="0">
                <a:latin typeface="华文新魏" panose="02010800040101010101" pitchFamily="2" charset="-122"/>
                <a:ea typeface="华文新魏" panose="02010800040101010101" pitchFamily="2" charset="-122"/>
              </a:rPr>
              <a:t>的返回值为</a:t>
            </a:r>
            <a:r>
              <a:rPr lang="en-US" altLang="zh-CN" sz="2000" b="1" dirty="0">
                <a:latin typeface="华文新魏" panose="02010800040101010101" pitchFamily="2" charset="-122"/>
                <a:ea typeface="华文新魏" panose="02010800040101010101" pitchFamily="2" charset="-122"/>
              </a:rPr>
              <a:t>name</a:t>
            </a:r>
          </a:p>
          <a:p>
            <a:pPr>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a:t>
            </a:r>
          </a:p>
          <a:p>
            <a:pPr>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void main(void){</a:t>
            </a:r>
          </a:p>
          <a:p>
            <a:pPr>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TUTOR  wang("wang", 'F', 2000);   </a:t>
            </a:r>
          </a:p>
          <a:p>
            <a:pPr>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TUTOR  yang("yang", &amp;wang);</a:t>
            </a:r>
          </a:p>
          <a:p>
            <a:pPr>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wang.getname</a:t>
            </a:r>
            <a:r>
              <a:rPr lang="en-US" altLang="zh-CN" sz="2000" b="1" dirty="0">
                <a:latin typeface="华文新魏" panose="02010800040101010101" pitchFamily="2" charset="-122"/>
                <a:ea typeface="华文新魏" panose="02010800040101010101" pitchFamily="2" charset="-122"/>
              </a:rPr>
              <a:t>( )=‘W’;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错误:不能改</a:t>
            </a:r>
            <a:r>
              <a:rPr lang="en-US" altLang="zh-CN" sz="2000" b="1" dirty="0" err="1">
                <a:solidFill>
                  <a:schemeClr val="hlink"/>
                </a:solidFill>
                <a:latin typeface="华文新魏" panose="02010800040101010101" pitchFamily="2" charset="-122"/>
                <a:ea typeface="华文新魏" panose="02010800040101010101" pitchFamily="2" charset="-122"/>
              </a:rPr>
              <a:t>wang.getname</a:t>
            </a:r>
            <a:r>
              <a:rPr lang="en-US" altLang="zh-CN" sz="2000" b="1" dirty="0">
                <a:solidFill>
                  <a:schemeClr val="hlink"/>
                </a:solidFill>
                <a:latin typeface="华文新魏" panose="02010800040101010101" pitchFamily="2" charset="-122"/>
                <a:ea typeface="华文新魏" panose="02010800040101010101" pitchFamily="2" charset="-122"/>
              </a:rPr>
              <a:t>( )</a:t>
            </a:r>
            <a:r>
              <a:rPr lang="zh-CN" altLang="en-US" sz="2000" b="1" dirty="0">
                <a:solidFill>
                  <a:schemeClr val="hlink"/>
                </a:solidFill>
                <a:latin typeface="华文新魏" panose="02010800040101010101" pitchFamily="2" charset="-122"/>
                <a:ea typeface="华文新魏" panose="02010800040101010101" pitchFamily="2" charset="-122"/>
              </a:rPr>
              <a:t>返回的指针指向的字符</a:t>
            </a:r>
            <a:r>
              <a:rPr lang="en-US" altLang="zh-CN" sz="2000" b="1" dirty="0">
                <a:solidFill>
                  <a:schemeClr val="hlink"/>
                </a:solidFill>
                <a:latin typeface="华文新魏" panose="02010800040101010101" pitchFamily="2" charset="-122"/>
                <a:ea typeface="华文新魏" panose="02010800040101010101" pitchFamily="2" charset="-122"/>
              </a:rPr>
              <a:t>(const char *)</a:t>
            </a:r>
            <a:endParaRPr lang="zh-CN" altLang="en-US" sz="2000" b="1" dirty="0">
              <a:solidFill>
                <a:schemeClr val="hlink"/>
              </a:solidFill>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zh-CN" altLang="en-US"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yang.setname</a:t>
            </a:r>
            <a:r>
              <a:rPr lang="en-US" altLang="zh-CN" sz="2000" b="1" dirty="0">
                <a:latin typeface="华文新魏" panose="02010800040101010101" pitchFamily="2" charset="-122"/>
                <a:ea typeface="华文新魏" panose="02010800040101010101" pitchFamily="2" charset="-122"/>
              </a:rPr>
              <a:t>(“Zang”)=‘Y’;//</a:t>
            </a:r>
            <a:r>
              <a:rPr lang="en-US" altLang="zh-CN" sz="2000" b="1" dirty="0">
                <a:solidFill>
                  <a:schemeClr val="hlink"/>
                </a:solidFill>
                <a:latin typeface="华文新魏" panose="02010800040101010101" pitchFamily="2" charset="-122"/>
                <a:ea typeface="华文新魏" panose="02010800040101010101" pitchFamily="2" charset="-122"/>
              </a:rPr>
              <a:t> </a:t>
            </a:r>
            <a:r>
              <a:rPr lang="zh-CN" altLang="en-US" sz="2000" b="1" dirty="0">
                <a:solidFill>
                  <a:schemeClr val="hlink"/>
                </a:solidFill>
                <a:latin typeface="华文新魏" panose="02010800040101010101" pitchFamily="2" charset="-122"/>
                <a:ea typeface="华文新魏" panose="02010800040101010101" pitchFamily="2" charset="-122"/>
              </a:rPr>
              <a:t>可改</a:t>
            </a:r>
            <a:r>
              <a:rPr lang="en-US" altLang="zh-CN" sz="2000" b="1" dirty="0" err="1">
                <a:solidFill>
                  <a:schemeClr val="hlink"/>
                </a:solidFill>
                <a:latin typeface="华文新魏" panose="02010800040101010101" pitchFamily="2" charset="-122"/>
                <a:ea typeface="华文新魏" panose="02010800040101010101" pitchFamily="2" charset="-122"/>
              </a:rPr>
              <a:t>wang.setname</a:t>
            </a:r>
            <a:r>
              <a:rPr lang="en-US" altLang="zh-CN" sz="2000" b="1" dirty="0">
                <a:solidFill>
                  <a:schemeClr val="hlink"/>
                </a:solidFill>
                <a:latin typeface="华文新魏" panose="02010800040101010101" pitchFamily="2" charset="-122"/>
                <a:ea typeface="华文新魏" panose="02010800040101010101" pitchFamily="2" charset="-122"/>
              </a:rPr>
              <a:t>( )</a:t>
            </a:r>
            <a:r>
              <a:rPr lang="zh-CN" altLang="en-US" sz="2000" b="1" dirty="0">
                <a:solidFill>
                  <a:schemeClr val="hlink"/>
                </a:solidFill>
                <a:latin typeface="华文新魏" panose="02010800040101010101" pitchFamily="2" charset="-122"/>
                <a:ea typeface="华文新魏" panose="02010800040101010101" pitchFamily="2" charset="-122"/>
              </a:rPr>
              <a:t>返回的指针指向的字符</a:t>
            </a:r>
            <a:r>
              <a:rPr lang="en-US" altLang="zh-CN" sz="2000" b="1" dirty="0">
                <a:solidFill>
                  <a:schemeClr val="hlink"/>
                </a:solidFill>
                <a:latin typeface="华文新魏" panose="02010800040101010101" pitchFamily="2" charset="-122"/>
                <a:ea typeface="华文新魏" panose="02010800040101010101" pitchFamily="2" charset="-122"/>
              </a:rPr>
              <a:t>(char *)</a:t>
            </a:r>
            <a:endParaRPr lang="en-US" altLang="zh-CN" sz="2000" b="1" dirty="0">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a:t>
            </a:r>
            <a:endParaRPr lang="zh-CN" altLang="en-US" sz="20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012338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5</a:t>
            </a:r>
            <a:r>
              <a:rPr lang="zh-CN" altLang="en-US" b="1" dirty="0">
                <a:latin typeface="隶书" panose="02010509060101010101" pitchFamily="49" charset="-122"/>
                <a:ea typeface="隶书" panose="02010509060101010101" pitchFamily="49" charset="-122"/>
              </a:rPr>
              <a:t>章 </a:t>
            </a:r>
            <a:r>
              <a:rPr lang="zh-CN" altLang="zh-CN" b="1" dirty="0">
                <a:latin typeface="隶书" panose="02010509060101010101" pitchFamily="49" charset="-122"/>
                <a:ea typeface="隶书" panose="02010509060101010101" pitchFamily="49" charset="-122"/>
              </a:rPr>
              <a:t>成员及成员指针</a:t>
            </a:r>
            <a:endParaRPr lang="zh-CN" altLang="en-US" b="1" dirty="0">
              <a:latin typeface="隶书" panose="02010509060101010101" pitchFamily="49" charset="-122"/>
              <a:ea typeface="隶书" panose="02010509060101010101" pitchFamily="49" charset="-122"/>
            </a:endParaRP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5.2  const</a:t>
            </a:r>
            <a:r>
              <a:rPr lang="zh-CN" altLang="en-US" dirty="0">
                <a:latin typeface="华文新魏" panose="02010800040101010101" pitchFamily="2" charset="-122"/>
                <a:ea typeface="华文新魏" panose="02010800040101010101" pitchFamily="2" charset="-122"/>
              </a:rPr>
              <a:t>、</a:t>
            </a:r>
            <a:r>
              <a:rPr lang="en-US" altLang="zh-CN" dirty="0">
                <a:latin typeface="华文新魏" panose="02010800040101010101" pitchFamily="2" charset="-122"/>
                <a:ea typeface="华文新魏" panose="02010800040101010101" pitchFamily="2" charset="-122"/>
              </a:rPr>
              <a:t>volatile</a:t>
            </a:r>
            <a:r>
              <a:rPr lang="zh-CN" altLang="en-US" dirty="0">
                <a:latin typeface="华文新魏" panose="02010800040101010101" pitchFamily="2" charset="-122"/>
                <a:ea typeface="华文新魏" panose="02010800040101010101" pitchFamily="2" charset="-122"/>
              </a:rPr>
              <a:t>和</a:t>
            </a:r>
            <a:r>
              <a:rPr lang="en-US" altLang="zh-CN" dirty="0">
                <a:latin typeface="华文新魏" panose="02010800040101010101" pitchFamily="2" charset="-122"/>
                <a:ea typeface="华文新魏" panose="02010800040101010101" pitchFamily="2" charset="-122"/>
              </a:rPr>
              <a:t>mutable</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0930295" cy="3340402"/>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普通函数成员参数表后出现</a:t>
            </a:r>
            <a:r>
              <a:rPr lang="en-US" altLang="zh-CN" sz="2400" b="1" dirty="0">
                <a:latin typeface="华文新魏" panose="02010800040101010101" pitchFamily="2" charset="-122"/>
                <a:ea typeface="华文新魏" panose="02010800040101010101" pitchFamily="2" charset="-122"/>
              </a:rPr>
              <a:t>const</a:t>
            </a:r>
            <a:r>
              <a:rPr lang="zh-CN" altLang="en-US" sz="2400" b="1" dirty="0">
                <a:latin typeface="华文新魏" panose="02010800040101010101" pitchFamily="2" charset="-122"/>
                <a:ea typeface="华文新魏" panose="02010800040101010101" pitchFamily="2" charset="-122"/>
              </a:rPr>
              <a:t>或</a:t>
            </a:r>
            <a:r>
              <a:rPr lang="en-US" altLang="zh-CN" sz="2400" b="1" dirty="0">
                <a:latin typeface="华文新魏" panose="02010800040101010101" pitchFamily="2" charset="-122"/>
                <a:ea typeface="华文新魏" panose="02010800040101010101" pitchFamily="2" charset="-122"/>
              </a:rPr>
              <a:t>volatile</a:t>
            </a:r>
            <a:r>
              <a:rPr lang="zh-CN" altLang="en-US" sz="2400" b="1" dirty="0">
                <a:latin typeface="华文新魏" panose="02010800040101010101" pitchFamily="2" charset="-122"/>
                <a:ea typeface="华文新魏" panose="02010800040101010101" pitchFamily="2" charset="-122"/>
              </a:rPr>
              <a:t>，修饰隐含参数</a:t>
            </a:r>
            <a:r>
              <a:rPr lang="en-US" altLang="zh-CN" sz="2400" b="1" dirty="0">
                <a:latin typeface="华文新魏" panose="02010800040101010101" pitchFamily="2" charset="-122"/>
                <a:ea typeface="华文新魏" panose="02010800040101010101" pitchFamily="2" charset="-122"/>
              </a:rPr>
              <a:t>this</a:t>
            </a:r>
            <a:r>
              <a:rPr lang="zh-CN" altLang="en-US" sz="2400" b="1" dirty="0">
                <a:latin typeface="华文新魏" panose="02010800040101010101" pitchFamily="2" charset="-122"/>
                <a:ea typeface="华文新魏" panose="02010800040101010101" pitchFamily="2" charset="-122"/>
              </a:rPr>
              <a:t>指向的对象。出现</a:t>
            </a:r>
            <a:r>
              <a:rPr lang="en-US" altLang="zh-CN" sz="2400" b="1" dirty="0">
                <a:latin typeface="华文新魏" panose="02010800040101010101" pitchFamily="2" charset="-122"/>
                <a:ea typeface="华文新魏" panose="02010800040101010101" pitchFamily="2" charset="-122"/>
              </a:rPr>
              <a:t>const</a:t>
            </a:r>
            <a:r>
              <a:rPr lang="zh-CN" altLang="en-US" sz="2400" b="1" dirty="0">
                <a:latin typeface="华文新魏" panose="02010800040101010101" pitchFamily="2" charset="-122"/>
                <a:ea typeface="华文新魏" panose="02010800040101010101" pitchFamily="2" charset="-122"/>
              </a:rPr>
              <a:t>表示</a:t>
            </a:r>
            <a:r>
              <a:rPr lang="en-US" altLang="zh-CN" sz="2400" b="1" dirty="0">
                <a:latin typeface="华文新魏" panose="02010800040101010101" pitchFamily="2" charset="-122"/>
                <a:ea typeface="华文新魏" panose="02010800040101010101" pitchFamily="2" charset="-122"/>
              </a:rPr>
              <a:t>this</a:t>
            </a:r>
            <a:r>
              <a:rPr lang="zh-CN" altLang="en-US" sz="2400" b="1" dirty="0">
                <a:latin typeface="华文新魏" panose="02010800040101010101" pitchFamily="2" charset="-122"/>
                <a:ea typeface="华文新魏" panose="02010800040101010101" pitchFamily="2" charset="-122"/>
              </a:rPr>
              <a:t>指向的对象</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其非静态数据成员</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不能被函数修改，但可以修改</a:t>
            </a:r>
            <a:r>
              <a:rPr lang="en-US" altLang="zh-CN" sz="2400" b="1" dirty="0">
                <a:latin typeface="华文新魏" panose="02010800040101010101" pitchFamily="2" charset="-122"/>
                <a:ea typeface="华文新魏" panose="02010800040101010101" pitchFamily="2" charset="-122"/>
              </a:rPr>
              <a:t>this</a:t>
            </a:r>
            <a:r>
              <a:rPr lang="zh-CN" altLang="en-US" sz="2400" b="1" dirty="0">
                <a:latin typeface="华文新魏" panose="02010800040101010101" pitchFamily="2" charset="-122"/>
                <a:ea typeface="华文新魏" panose="02010800040101010101" pitchFamily="2" charset="-122"/>
              </a:rPr>
              <a:t>指向对象的非只读类型的静态数据成员。</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构造或析构函数的</a:t>
            </a:r>
            <a:r>
              <a:rPr lang="en-US" altLang="zh-CN" sz="2400" b="1" dirty="0">
                <a:latin typeface="华文新魏" panose="02010800040101010101" pitchFamily="2" charset="-122"/>
                <a:ea typeface="华文新魏" panose="02010800040101010101" pitchFamily="2" charset="-122"/>
              </a:rPr>
              <a:t>this</a:t>
            </a:r>
            <a:r>
              <a:rPr lang="zh-CN" altLang="en-US" sz="2400" b="1" dirty="0">
                <a:latin typeface="华文新魏" panose="02010800040101010101" pitchFamily="2" charset="-122"/>
                <a:ea typeface="华文新魏" panose="02010800040101010101" pitchFamily="2" charset="-122"/>
              </a:rPr>
              <a:t>不能被说明为</a:t>
            </a:r>
            <a:r>
              <a:rPr lang="en-US" altLang="zh-CN" sz="2400" b="1" dirty="0">
                <a:latin typeface="华文新魏" panose="02010800040101010101" pitchFamily="2" charset="-122"/>
                <a:ea typeface="华文新魏" panose="02010800040101010101" pitchFamily="2" charset="-122"/>
              </a:rPr>
              <a:t>const</a:t>
            </a:r>
            <a:r>
              <a:rPr lang="zh-CN" altLang="en-US" sz="2400" b="1" dirty="0">
                <a:latin typeface="华文新魏" panose="02010800040101010101" pitchFamily="2" charset="-122"/>
                <a:ea typeface="华文新魏" panose="02010800040101010101" pitchFamily="2" charset="-122"/>
              </a:rPr>
              <a:t>或</a:t>
            </a:r>
            <a:r>
              <a:rPr lang="en-US" altLang="zh-CN" sz="2400" b="1" dirty="0">
                <a:latin typeface="华文新魏" panose="02010800040101010101" pitchFamily="2" charset="-122"/>
                <a:ea typeface="华文新魏" panose="02010800040101010101" pitchFamily="2" charset="-122"/>
              </a:rPr>
              <a:t>volatile</a:t>
            </a:r>
            <a:r>
              <a:rPr lang="zh-CN" altLang="en-US" sz="2400" b="1" dirty="0">
                <a:latin typeface="华文新魏" panose="02010800040101010101" pitchFamily="2" charset="-122"/>
                <a:ea typeface="华文新魏" panose="02010800040101010101" pitchFamily="2" charset="-122"/>
              </a:rPr>
              <a:t>的</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即要构造或析构的对象应该能被修改，且状态要稳定不易变</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a:t>
            </a:r>
          </a:p>
          <a:p>
            <a:pPr marL="685800" lvl="1"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对隐含参数的修饰还会会影响函数成员的重载：</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普通对象应调用参数表后不带</a:t>
            </a:r>
            <a:r>
              <a:rPr lang="en-US" altLang="zh-CN" sz="2400" b="1" dirty="0">
                <a:latin typeface="华文新魏" panose="02010800040101010101" pitchFamily="2" charset="-122"/>
                <a:ea typeface="华文新魏" panose="02010800040101010101" pitchFamily="2" charset="-122"/>
              </a:rPr>
              <a:t>const</a:t>
            </a:r>
            <a:r>
              <a:rPr lang="zh-CN" altLang="en-US" sz="2400" b="1" dirty="0">
                <a:latin typeface="华文新魏" panose="02010800040101010101" pitchFamily="2" charset="-122"/>
                <a:ea typeface="华文新魏" panose="02010800040101010101" pitchFamily="2" charset="-122"/>
              </a:rPr>
              <a:t>和</a:t>
            </a:r>
            <a:r>
              <a:rPr lang="en-US" altLang="zh-CN" sz="2400" b="1" dirty="0">
                <a:latin typeface="华文新魏" panose="02010800040101010101" pitchFamily="2" charset="-122"/>
                <a:ea typeface="华文新魏" panose="02010800040101010101" pitchFamily="2" charset="-122"/>
              </a:rPr>
              <a:t>volatile</a:t>
            </a:r>
            <a:r>
              <a:rPr lang="zh-CN" altLang="en-US" sz="2400" b="1" dirty="0">
                <a:latin typeface="华文新魏" panose="02010800040101010101" pitchFamily="2" charset="-122"/>
                <a:ea typeface="华文新魏" panose="02010800040101010101" pitchFamily="2" charset="-122"/>
              </a:rPr>
              <a:t>的函数成员；</a:t>
            </a:r>
          </a:p>
          <a:p>
            <a:pPr marL="685800" lvl="1" indent="-228600">
              <a:lnSpc>
                <a:spcPct val="90000"/>
              </a:lnSpc>
              <a:spcBef>
                <a:spcPts val="500"/>
              </a:spcBef>
              <a:buFont typeface="Wingdings" panose="05000000000000000000" pitchFamily="2" charset="2"/>
              <a:buChar char="l"/>
              <a:defRPr/>
            </a:pPr>
            <a:r>
              <a:rPr lang="en-US" altLang="zh-CN" sz="2400" b="1" dirty="0">
                <a:latin typeface="华文新魏" panose="02010800040101010101" pitchFamily="2" charset="-122"/>
                <a:ea typeface="华文新魏" panose="02010800040101010101" pitchFamily="2" charset="-122"/>
              </a:rPr>
              <a:t>const</a:t>
            </a:r>
            <a:r>
              <a:rPr lang="zh-CN" altLang="en-US" sz="2400" b="1" dirty="0">
                <a:latin typeface="华文新魏" panose="02010800040101010101" pitchFamily="2" charset="-122"/>
                <a:ea typeface="华文新魏" panose="02010800040101010101" pitchFamily="2" charset="-122"/>
              </a:rPr>
              <a:t>和</a:t>
            </a:r>
            <a:r>
              <a:rPr lang="en-US" altLang="zh-CN" sz="2400" b="1" dirty="0">
                <a:latin typeface="华文新魏" panose="02010800040101010101" pitchFamily="2" charset="-122"/>
                <a:ea typeface="华文新魏" panose="02010800040101010101" pitchFamily="2" charset="-122"/>
              </a:rPr>
              <a:t>volatile</a:t>
            </a:r>
            <a:r>
              <a:rPr lang="zh-CN" altLang="en-US" sz="2400" b="1" dirty="0">
                <a:latin typeface="华文新魏" panose="02010800040101010101" pitchFamily="2" charset="-122"/>
                <a:ea typeface="华文新魏" panose="02010800040101010101" pitchFamily="2" charset="-122"/>
              </a:rPr>
              <a:t>对象应分别调用参数表后出现</a:t>
            </a:r>
            <a:r>
              <a:rPr lang="en-US" altLang="zh-CN" sz="2400" b="1" dirty="0">
                <a:latin typeface="华文新魏" panose="02010800040101010101" pitchFamily="2" charset="-122"/>
                <a:ea typeface="华文新魏" panose="02010800040101010101" pitchFamily="2" charset="-122"/>
              </a:rPr>
              <a:t>const</a:t>
            </a:r>
            <a:r>
              <a:rPr lang="zh-CN" altLang="en-US" sz="2400" b="1" dirty="0">
                <a:latin typeface="华文新魏" panose="02010800040101010101" pitchFamily="2" charset="-122"/>
                <a:ea typeface="华文新魏" panose="02010800040101010101" pitchFamily="2" charset="-122"/>
              </a:rPr>
              <a:t>和</a:t>
            </a:r>
            <a:r>
              <a:rPr lang="en-US" altLang="zh-CN" sz="2400" b="1" dirty="0">
                <a:latin typeface="华文新魏" panose="02010800040101010101" pitchFamily="2" charset="-122"/>
                <a:ea typeface="华文新魏" panose="02010800040101010101" pitchFamily="2" charset="-122"/>
              </a:rPr>
              <a:t>volatile</a:t>
            </a:r>
            <a:r>
              <a:rPr lang="zh-CN" altLang="en-US" sz="2400" b="1" dirty="0">
                <a:latin typeface="华文新魏" panose="02010800040101010101" pitchFamily="2" charset="-122"/>
                <a:ea typeface="华文新魏" panose="02010800040101010101" pitchFamily="2" charset="-122"/>
              </a:rPr>
              <a:t>的函数成员，否则编译程序会对函数调用发出警告。</a:t>
            </a:r>
          </a:p>
        </p:txBody>
      </p:sp>
    </p:spTree>
    <p:extLst>
      <p:ext uri="{BB962C8B-B14F-4D97-AF65-F5344CB8AC3E}">
        <p14:creationId xmlns:p14="http://schemas.microsoft.com/office/powerpoint/2010/main" val="3627868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5</a:t>
            </a:r>
            <a:r>
              <a:rPr lang="zh-CN" altLang="en-US" b="1" dirty="0">
                <a:latin typeface="隶书" panose="02010509060101010101" pitchFamily="49" charset="-122"/>
                <a:ea typeface="隶书" panose="02010509060101010101" pitchFamily="49" charset="-122"/>
              </a:rPr>
              <a:t>章 </a:t>
            </a:r>
            <a:r>
              <a:rPr lang="zh-CN" altLang="zh-CN" b="1" dirty="0">
                <a:latin typeface="隶书" panose="02010509060101010101" pitchFamily="49" charset="-122"/>
                <a:ea typeface="隶书" panose="02010509060101010101" pitchFamily="49" charset="-122"/>
              </a:rPr>
              <a:t>成员及成员指针</a:t>
            </a:r>
            <a:endParaRPr lang="zh-CN" altLang="en-US" b="1" dirty="0">
              <a:latin typeface="隶书" panose="02010509060101010101" pitchFamily="49" charset="-122"/>
              <a:ea typeface="隶书" panose="02010509060101010101" pitchFamily="49" charset="-122"/>
            </a:endParaRPr>
          </a:p>
        </p:txBody>
      </p:sp>
      <p:sp>
        <p:nvSpPr>
          <p:cNvPr id="5" name="Rectangle 3">
            <a:extLst>
              <a:ext uri="{FF2B5EF4-FFF2-40B4-BE49-F238E27FC236}">
                <a16:creationId xmlns:a16="http://schemas.microsoft.com/office/drawing/2014/main" id="{7B224A4C-27BE-4037-B780-AEB6BB7A6DC2}"/>
              </a:ext>
            </a:extLst>
          </p:cNvPr>
          <p:cNvSpPr txBox="1">
            <a:spLocks noChangeArrowheads="1"/>
          </p:cNvSpPr>
          <p:nvPr/>
        </p:nvSpPr>
        <p:spPr>
          <a:xfrm>
            <a:off x="838200" y="1555669"/>
            <a:ext cx="10774680" cy="457200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5000"/>
              </a:lnSpc>
              <a:buFont typeface="Wingdings" panose="05000000000000000000" pitchFamily="2" charset="2"/>
              <a:buNone/>
            </a:pPr>
            <a:r>
              <a:rPr lang="zh-CN" altLang="en-US" sz="2400" b="1" dirty="0">
                <a:latin typeface="Times New Roman" panose="02020603050405020304" pitchFamily="18" charset="0"/>
              </a:rPr>
              <a:t>【</a:t>
            </a:r>
            <a:r>
              <a:rPr lang="zh-CN" altLang="en-US" sz="2400" b="1" dirty="0">
                <a:latin typeface="华文新魏" panose="02010800040101010101" pitchFamily="2" charset="-122"/>
                <a:ea typeface="华文新魏" panose="02010800040101010101" pitchFamily="2" charset="-122"/>
              </a:rPr>
              <a:t>例</a:t>
            </a:r>
            <a:r>
              <a:rPr lang="en-US" altLang="zh-CN" sz="2400" b="1" dirty="0">
                <a:latin typeface="华文新魏" panose="02010800040101010101" pitchFamily="2" charset="-122"/>
                <a:ea typeface="华文新魏" panose="02010800040101010101" pitchFamily="2" charset="-122"/>
              </a:rPr>
              <a:t>5</a:t>
            </a:r>
            <a:r>
              <a:rPr lang="zh-CN" altLang="en-US" sz="2400" b="1" dirty="0">
                <a:latin typeface="华文新魏" panose="02010800040101010101" pitchFamily="2" charset="-122"/>
                <a:ea typeface="华文新魏" panose="02010800040101010101" pitchFamily="2" charset="-122"/>
              </a:rPr>
              <a:t>.4】参数表后出现</a:t>
            </a:r>
            <a:r>
              <a:rPr lang="en-US" altLang="zh-CN" sz="2400" b="1" dirty="0">
                <a:latin typeface="华文新魏" panose="02010800040101010101" pitchFamily="2" charset="-122"/>
                <a:ea typeface="华文新魏" panose="02010800040101010101" pitchFamily="2" charset="-122"/>
              </a:rPr>
              <a:t>const</a:t>
            </a:r>
            <a:r>
              <a:rPr lang="zh-CN" altLang="en-US" sz="2400" b="1" dirty="0">
                <a:latin typeface="华文新魏" panose="02010800040101010101" pitchFamily="2" charset="-122"/>
                <a:ea typeface="华文新魏" panose="02010800040101010101" pitchFamily="2" charset="-122"/>
              </a:rPr>
              <a:t>和</a:t>
            </a:r>
            <a:r>
              <a:rPr lang="en-US" altLang="zh-CN" sz="2400" b="1" dirty="0">
                <a:latin typeface="华文新魏" panose="02010800040101010101" pitchFamily="2" charset="-122"/>
                <a:ea typeface="华文新魏" panose="02010800040101010101" pitchFamily="2" charset="-122"/>
              </a:rPr>
              <a:t>volatile</a:t>
            </a:r>
            <a:r>
              <a:rPr lang="zh-CN" altLang="en-US" sz="2400" b="1" dirty="0">
                <a:latin typeface="华文新魏" panose="02010800040101010101" pitchFamily="2" charset="-122"/>
                <a:ea typeface="华文新魏" panose="02010800040101010101" pitchFamily="2" charset="-122"/>
              </a:rPr>
              <a:t>。</a:t>
            </a:r>
          </a:p>
          <a:p>
            <a:pPr>
              <a:lnSpc>
                <a:spcPct val="85000"/>
              </a:lnSpc>
              <a:buFont typeface="Wingdings" panose="05000000000000000000" pitchFamily="2" charset="2"/>
              <a:buNone/>
            </a:pPr>
            <a:r>
              <a:rPr lang="zh-CN" altLang="en-US" sz="1800" b="1" dirty="0">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include &lt;</a:t>
            </a:r>
            <a:r>
              <a:rPr lang="en-US" altLang="zh-CN" sz="1800" b="1" dirty="0" err="1">
                <a:latin typeface="华文新魏" panose="02010800040101010101" pitchFamily="2" charset="-122"/>
                <a:ea typeface="华文新魏" panose="02010800040101010101" pitchFamily="2" charset="-122"/>
              </a:rPr>
              <a:t>iostream.h</a:t>
            </a:r>
            <a:r>
              <a:rPr lang="en-US" altLang="zh-CN" sz="1800" b="1" dirty="0">
                <a:latin typeface="华文新魏" panose="02010800040101010101" pitchFamily="2" charset="-122"/>
                <a:ea typeface="华文新魏" panose="02010800040101010101" pitchFamily="2" charset="-122"/>
              </a:rPr>
              <a:t>&gt;</a:t>
            </a:r>
          </a:p>
          <a:p>
            <a:pPr>
              <a:lnSpc>
                <a:spcPct val="85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class </a:t>
            </a:r>
            <a:r>
              <a:rPr lang="en-US" altLang="zh-CN" sz="1800" b="1" dirty="0">
                <a:solidFill>
                  <a:schemeClr val="hlink"/>
                </a:solidFill>
                <a:latin typeface="华文新魏" panose="02010800040101010101" pitchFamily="2" charset="-122"/>
                <a:ea typeface="华文新魏" panose="02010800040101010101" pitchFamily="2" charset="-122"/>
              </a:rPr>
              <a:t>A</a:t>
            </a:r>
            <a:r>
              <a:rPr lang="en-US" altLang="zh-CN" sz="1800" b="1" dirty="0">
                <a:latin typeface="华文新魏" panose="02010800040101010101" pitchFamily="2" charset="-122"/>
                <a:ea typeface="华文新魏" panose="02010800040101010101" pitchFamily="2" charset="-122"/>
              </a:rPr>
              <a:t>{</a:t>
            </a:r>
          </a:p>
          <a:p>
            <a:pPr>
              <a:lnSpc>
                <a:spcPct val="85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int a;  const  int  b; //b</a:t>
            </a:r>
            <a:r>
              <a:rPr lang="zh-CN" altLang="en-US" sz="1800" b="1" dirty="0">
                <a:latin typeface="华文新魏" panose="02010800040101010101" pitchFamily="2" charset="-122"/>
                <a:ea typeface="华文新魏" panose="02010800040101010101" pitchFamily="2" charset="-122"/>
              </a:rPr>
              <a:t>为</a:t>
            </a:r>
            <a:r>
              <a:rPr lang="en-US" altLang="zh-CN" sz="1800" b="1" dirty="0">
                <a:latin typeface="华文新魏" panose="02010800040101010101" pitchFamily="2" charset="-122"/>
                <a:ea typeface="华文新魏" panose="02010800040101010101" pitchFamily="2" charset="-122"/>
              </a:rPr>
              <a:t>const</a:t>
            </a:r>
            <a:r>
              <a:rPr lang="zh-CN" altLang="en-US" sz="1800" b="1" dirty="0">
                <a:latin typeface="华文新魏" panose="02010800040101010101" pitchFamily="2" charset="-122"/>
                <a:ea typeface="华文新魏" panose="02010800040101010101" pitchFamily="2" charset="-122"/>
              </a:rPr>
              <a:t>成员或</a:t>
            </a:r>
            <a:r>
              <a:rPr lang="en-US" altLang="zh-CN" sz="1800" b="1" dirty="0">
                <a:latin typeface="华文新魏" panose="02010800040101010101" pitchFamily="2" charset="-122"/>
                <a:ea typeface="华文新魏" panose="02010800040101010101" pitchFamily="2" charset="-122"/>
              </a:rPr>
              <a:t>y</a:t>
            </a:r>
            <a:r>
              <a:rPr lang="zh-CN" altLang="en-US" sz="1800" b="1" dirty="0">
                <a:latin typeface="华文新魏" panose="02010800040101010101" pitchFamily="2" charset="-122"/>
                <a:ea typeface="华文新魏" panose="02010800040101010101" pitchFamily="2" charset="-122"/>
              </a:rPr>
              <a:t>引用时，只能在构造函数后的成员初始化列表初始化</a:t>
            </a:r>
          </a:p>
          <a:p>
            <a:pPr>
              <a:lnSpc>
                <a:spcPct val="85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public:</a:t>
            </a:r>
          </a:p>
          <a:p>
            <a:pPr>
              <a:lnSpc>
                <a:spcPct val="85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int f( ){a++; </a:t>
            </a:r>
            <a:r>
              <a:rPr lang="en-US" altLang="zh-CN" sz="1800" b="1" dirty="0">
                <a:solidFill>
                  <a:srgbClr val="FF0000"/>
                </a:solidFill>
                <a:latin typeface="华文新魏" panose="02010800040101010101" pitchFamily="2" charset="-122"/>
                <a:ea typeface="华文新魏" panose="02010800040101010101" pitchFamily="2" charset="-122"/>
              </a:rPr>
              <a:t>//this</a:t>
            </a:r>
            <a:r>
              <a:rPr lang="zh-CN" altLang="en-US" sz="1800" b="1" dirty="0">
                <a:solidFill>
                  <a:srgbClr val="FF0000"/>
                </a:solidFill>
                <a:latin typeface="华文新魏" panose="02010800040101010101" pitchFamily="2" charset="-122"/>
                <a:ea typeface="华文新魏" panose="02010800040101010101" pitchFamily="2" charset="-122"/>
              </a:rPr>
              <a:t>类型为</a:t>
            </a:r>
            <a:r>
              <a:rPr lang="en-US" altLang="zh-CN" sz="1800" b="1" dirty="0">
                <a:solidFill>
                  <a:srgbClr val="FF0000"/>
                </a:solidFill>
                <a:latin typeface="华文新魏" panose="02010800040101010101" pitchFamily="2" charset="-122"/>
                <a:ea typeface="华文新魏" panose="02010800040101010101" pitchFamily="2" charset="-122"/>
              </a:rPr>
              <a:t>A * const  this, </a:t>
            </a:r>
            <a:r>
              <a:rPr lang="zh-CN" altLang="en-US" sz="1800" b="1" dirty="0">
                <a:solidFill>
                  <a:srgbClr val="FF0000"/>
                </a:solidFill>
                <a:latin typeface="华文新魏" panose="02010800040101010101" pitchFamily="2" charset="-122"/>
                <a:ea typeface="华文新魏" panose="02010800040101010101" pitchFamily="2" charset="-122"/>
              </a:rPr>
              <a:t>指向的</a:t>
            </a:r>
          </a:p>
          <a:p>
            <a:pPr>
              <a:lnSpc>
                <a:spcPct val="85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return a; </a:t>
            </a:r>
            <a:r>
              <a:rPr lang="en-US" altLang="zh-CN" sz="1800" b="1" dirty="0">
                <a:solidFill>
                  <a:srgbClr val="FF0000"/>
                </a:solidFill>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对象可修改(故其普通成员</a:t>
            </a:r>
            <a:r>
              <a:rPr lang="en-US" altLang="zh-CN" sz="1800" b="1" dirty="0">
                <a:solidFill>
                  <a:srgbClr val="FF0000"/>
                </a:solidFill>
                <a:latin typeface="华文新魏" panose="02010800040101010101" pitchFamily="2" charset="-122"/>
                <a:ea typeface="华文新魏" panose="02010800040101010101" pitchFamily="2" charset="-122"/>
              </a:rPr>
              <a:t>a</a:t>
            </a:r>
            <a:r>
              <a:rPr lang="zh-CN" altLang="en-US" sz="1800" b="1" dirty="0">
                <a:solidFill>
                  <a:srgbClr val="FF0000"/>
                </a:solidFill>
                <a:latin typeface="华文新魏" panose="02010800040101010101" pitchFamily="2" charset="-122"/>
                <a:ea typeface="华文新魏" panose="02010800040101010101" pitchFamily="2" charset="-122"/>
              </a:rPr>
              <a:t>可修改)，只读成员</a:t>
            </a:r>
            <a:r>
              <a:rPr lang="en-US" altLang="zh-CN" sz="1800" b="1" dirty="0">
                <a:solidFill>
                  <a:srgbClr val="FF0000"/>
                </a:solidFill>
                <a:latin typeface="华文新魏" panose="02010800040101010101" pitchFamily="2" charset="-122"/>
                <a:ea typeface="华文新魏" panose="02010800040101010101" pitchFamily="2" charset="-122"/>
              </a:rPr>
              <a:t>b</a:t>
            </a:r>
            <a:r>
              <a:rPr lang="zh-CN" altLang="en-US" sz="1800" b="1" dirty="0">
                <a:solidFill>
                  <a:srgbClr val="FF0000"/>
                </a:solidFill>
                <a:latin typeface="华文新魏" panose="02010800040101010101" pitchFamily="2" charset="-122"/>
                <a:ea typeface="华文新魏" panose="02010800040101010101" pitchFamily="2" charset="-122"/>
              </a:rPr>
              <a:t>不可改</a:t>
            </a:r>
            <a:endParaRPr lang="en-US" altLang="zh-CN" sz="1800" b="1" dirty="0">
              <a:solidFill>
                <a:srgbClr val="FF0000"/>
              </a:solidFill>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a:t>
            </a:r>
          </a:p>
          <a:p>
            <a:pPr>
              <a:lnSpc>
                <a:spcPct val="85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int f( )</a:t>
            </a:r>
            <a:r>
              <a:rPr lang="en-US" altLang="zh-CN" sz="1800" b="1" dirty="0">
                <a:solidFill>
                  <a:schemeClr val="hlink"/>
                </a:solidFill>
                <a:latin typeface="华文新魏" panose="02010800040101010101" pitchFamily="2" charset="-122"/>
                <a:ea typeface="华文新魏" panose="02010800040101010101" pitchFamily="2" charset="-122"/>
              </a:rPr>
              <a:t>const</a:t>
            </a:r>
            <a:r>
              <a:rPr lang="en-US" altLang="zh-CN" sz="1800" b="1" dirty="0">
                <a:latin typeface="华文新魏" panose="02010800040101010101" pitchFamily="2" charset="-122"/>
                <a:ea typeface="华文新魏" panose="02010800040101010101" pitchFamily="2" charset="-122"/>
              </a:rPr>
              <a:t>{//a++; 	 </a:t>
            </a:r>
            <a:r>
              <a:rPr lang="en-US" altLang="zh-CN" sz="1800" b="1" dirty="0">
                <a:solidFill>
                  <a:srgbClr val="FF0000"/>
                </a:solidFill>
                <a:latin typeface="华文新魏" panose="02010800040101010101" pitchFamily="2" charset="-122"/>
                <a:ea typeface="华文新魏" panose="02010800040101010101" pitchFamily="2" charset="-122"/>
              </a:rPr>
              <a:t>//this</a:t>
            </a:r>
            <a:r>
              <a:rPr lang="zh-CN" altLang="en-US" sz="1800" b="1" dirty="0">
                <a:solidFill>
                  <a:srgbClr val="FF0000"/>
                </a:solidFill>
                <a:latin typeface="华文新魏" panose="02010800040101010101" pitchFamily="2" charset="-122"/>
                <a:ea typeface="华文新魏" panose="02010800040101010101" pitchFamily="2" charset="-122"/>
              </a:rPr>
              <a:t>类型为</a:t>
            </a:r>
            <a:r>
              <a:rPr lang="en-US" altLang="zh-CN" sz="1800" b="1" dirty="0">
                <a:solidFill>
                  <a:srgbClr val="FF0000"/>
                </a:solidFill>
                <a:latin typeface="华文新魏" panose="02010800040101010101" pitchFamily="2" charset="-122"/>
                <a:ea typeface="华文新魏" panose="02010800040101010101" pitchFamily="2" charset="-122"/>
              </a:rPr>
              <a:t>const A * const  this，</a:t>
            </a:r>
            <a:r>
              <a:rPr lang="zh-CN" altLang="en-US" sz="1800" b="1" dirty="0">
                <a:solidFill>
                  <a:srgbClr val="FF0000"/>
                </a:solidFill>
                <a:latin typeface="华文新魏" panose="02010800040101010101" pitchFamily="2" charset="-122"/>
                <a:ea typeface="华文新魏" panose="02010800040101010101" pitchFamily="2" charset="-122"/>
              </a:rPr>
              <a:t>指向的对象</a:t>
            </a:r>
            <a:endParaRPr lang="en-US" altLang="zh-CN" sz="1800" b="1" dirty="0">
              <a:solidFill>
                <a:srgbClr val="FF0000"/>
              </a:solidFill>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return a;  </a:t>
            </a:r>
            <a:r>
              <a:rPr lang="en-US" altLang="zh-CN" sz="1800" b="1" dirty="0">
                <a:solidFill>
                  <a:srgbClr val="FF0000"/>
                </a:solidFill>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不可改</a:t>
            </a:r>
            <a:r>
              <a:rPr lang="en-US" altLang="zh-CN" sz="1800" b="1" dirty="0">
                <a:solidFill>
                  <a:srgbClr val="FF0000"/>
                </a:solidFill>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其普通成员</a:t>
            </a:r>
            <a:r>
              <a:rPr lang="en-US" altLang="zh-CN" sz="1800" b="1" dirty="0">
                <a:solidFill>
                  <a:srgbClr val="FF0000"/>
                </a:solidFill>
                <a:latin typeface="华文新魏" panose="02010800040101010101" pitchFamily="2" charset="-122"/>
                <a:ea typeface="华文新魏" panose="02010800040101010101" pitchFamily="2" charset="-122"/>
              </a:rPr>
              <a:t>a</a:t>
            </a:r>
            <a:r>
              <a:rPr lang="zh-CN" altLang="en-US" sz="1800" b="1" dirty="0">
                <a:solidFill>
                  <a:srgbClr val="FF0000"/>
                </a:solidFill>
                <a:latin typeface="华文新魏" panose="02010800040101010101" pitchFamily="2" charset="-122"/>
                <a:ea typeface="华文新魏" panose="02010800040101010101" pitchFamily="2" charset="-122"/>
              </a:rPr>
              <a:t>不可改。同上, </a:t>
            </a:r>
            <a:r>
              <a:rPr lang="en-US" altLang="zh-CN" sz="1800" b="1" dirty="0">
                <a:solidFill>
                  <a:srgbClr val="FF0000"/>
                </a:solidFill>
                <a:latin typeface="华文新魏" panose="02010800040101010101" pitchFamily="2" charset="-122"/>
                <a:ea typeface="华文新魏" panose="02010800040101010101" pitchFamily="2" charset="-122"/>
              </a:rPr>
              <a:t>b</a:t>
            </a:r>
            <a:r>
              <a:rPr lang="zh-CN" altLang="en-US" sz="1800" b="1" dirty="0">
                <a:solidFill>
                  <a:srgbClr val="FF0000"/>
                </a:solidFill>
                <a:latin typeface="华文新魏" panose="02010800040101010101" pitchFamily="2" charset="-122"/>
                <a:ea typeface="华文新魏" panose="02010800040101010101" pitchFamily="2" charset="-122"/>
              </a:rPr>
              <a:t>不可改</a:t>
            </a:r>
            <a:endParaRPr lang="en-US" altLang="zh-CN" sz="1800" b="1" dirty="0">
              <a:solidFill>
                <a:srgbClr val="FF0000"/>
              </a:solidFill>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a:t>
            </a:r>
          </a:p>
          <a:p>
            <a:pPr>
              <a:lnSpc>
                <a:spcPct val="85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int f( )</a:t>
            </a:r>
            <a:r>
              <a:rPr lang="en-US" altLang="zh-CN" sz="1800" b="1" dirty="0">
                <a:solidFill>
                  <a:schemeClr val="hlink"/>
                </a:solidFill>
                <a:latin typeface="华文新魏" panose="02010800040101010101" pitchFamily="2" charset="-122"/>
                <a:ea typeface="华文新魏" panose="02010800040101010101" pitchFamily="2" charset="-122"/>
              </a:rPr>
              <a:t>volatile </a:t>
            </a:r>
            <a:r>
              <a:rPr lang="en-US" altLang="zh-CN" sz="1800" b="1" dirty="0">
                <a:latin typeface="华文新魏" panose="02010800040101010101" pitchFamily="2" charset="-122"/>
                <a:ea typeface="华文新魏" panose="02010800040101010101" pitchFamily="2" charset="-122"/>
              </a:rPr>
              <a:t>{ </a:t>
            </a:r>
            <a:r>
              <a:rPr lang="en-US" altLang="zh-CN" sz="1800" b="1" dirty="0">
                <a:solidFill>
                  <a:srgbClr val="FF0000"/>
                </a:solidFill>
                <a:latin typeface="华文新魏" panose="02010800040101010101" pitchFamily="2" charset="-122"/>
                <a:ea typeface="华文新魏" panose="02010800040101010101" pitchFamily="2" charset="-122"/>
              </a:rPr>
              <a:t>//this</a:t>
            </a:r>
            <a:r>
              <a:rPr lang="zh-CN" altLang="en-US" sz="1800" b="1" dirty="0">
                <a:solidFill>
                  <a:srgbClr val="FF0000"/>
                </a:solidFill>
                <a:latin typeface="华文新魏" panose="02010800040101010101" pitchFamily="2" charset="-122"/>
                <a:ea typeface="华文新魏" panose="02010800040101010101" pitchFamily="2" charset="-122"/>
              </a:rPr>
              <a:t>类型为</a:t>
            </a:r>
            <a:r>
              <a:rPr lang="en-US" altLang="zh-CN" sz="1800" b="1" dirty="0">
                <a:solidFill>
                  <a:srgbClr val="FF0000"/>
                </a:solidFill>
                <a:latin typeface="华文新魏" panose="02010800040101010101" pitchFamily="2" charset="-122"/>
                <a:ea typeface="华文新魏" panose="02010800040101010101" pitchFamily="2" charset="-122"/>
              </a:rPr>
              <a:t>volatile A * const this，</a:t>
            </a:r>
            <a:r>
              <a:rPr lang="zh-CN" altLang="en-US" sz="1800" b="1" dirty="0">
                <a:solidFill>
                  <a:srgbClr val="FF0000"/>
                </a:solidFill>
                <a:latin typeface="华文新魏" panose="02010800040101010101" pitchFamily="2" charset="-122"/>
                <a:ea typeface="华文新魏" panose="02010800040101010101" pitchFamily="2" charset="-122"/>
              </a:rPr>
              <a:t>指向的对象可修</a:t>
            </a:r>
            <a:endParaRPr lang="en-US" altLang="zh-CN" sz="1800" b="1" dirty="0">
              <a:solidFill>
                <a:srgbClr val="FF0000"/>
              </a:solidFill>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a++;          </a:t>
            </a:r>
            <a:r>
              <a:rPr lang="en-US" altLang="zh-CN" sz="1800" b="1" dirty="0">
                <a:solidFill>
                  <a:srgbClr val="FF0000"/>
                </a:solidFill>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改，其普通成员</a:t>
            </a:r>
            <a:r>
              <a:rPr lang="en-US" altLang="zh-CN" sz="1800" b="1" dirty="0">
                <a:solidFill>
                  <a:srgbClr val="FF0000"/>
                </a:solidFill>
                <a:latin typeface="华文新魏" panose="02010800040101010101" pitchFamily="2" charset="-122"/>
                <a:ea typeface="华文新魏" panose="02010800040101010101" pitchFamily="2" charset="-122"/>
              </a:rPr>
              <a:t>a</a:t>
            </a:r>
            <a:r>
              <a:rPr lang="zh-CN" altLang="en-US" sz="1800" b="1" dirty="0">
                <a:solidFill>
                  <a:srgbClr val="FF0000"/>
                </a:solidFill>
                <a:latin typeface="华文新魏" panose="02010800040101010101" pitchFamily="2" charset="-122"/>
                <a:ea typeface="华文新魏" panose="02010800040101010101" pitchFamily="2" charset="-122"/>
              </a:rPr>
              <a:t>可修改。同上，只读成员</a:t>
            </a:r>
            <a:r>
              <a:rPr lang="en-US" altLang="zh-CN" sz="1800" b="1" dirty="0">
                <a:solidFill>
                  <a:srgbClr val="FF0000"/>
                </a:solidFill>
                <a:latin typeface="华文新魏" panose="02010800040101010101" pitchFamily="2" charset="-122"/>
                <a:ea typeface="华文新魏" panose="02010800040101010101" pitchFamily="2" charset="-122"/>
              </a:rPr>
              <a:t>b</a:t>
            </a:r>
            <a:r>
              <a:rPr lang="zh-CN" altLang="en-US" sz="1800" b="1" dirty="0">
                <a:solidFill>
                  <a:srgbClr val="FF0000"/>
                </a:solidFill>
                <a:latin typeface="华文新魏" panose="02010800040101010101" pitchFamily="2" charset="-122"/>
                <a:ea typeface="华文新魏" panose="02010800040101010101" pitchFamily="2" charset="-122"/>
              </a:rPr>
              <a:t>不可改     </a:t>
            </a:r>
            <a:r>
              <a:rPr lang="zh-CN" altLang="en-US" sz="1800" b="1" dirty="0">
                <a:latin typeface="华文新魏" panose="02010800040101010101" pitchFamily="2" charset="-122"/>
                <a:ea typeface="华文新魏" panose="02010800040101010101" pitchFamily="2" charset="-122"/>
              </a:rPr>
              <a:t>	</a:t>
            </a:r>
            <a:endParaRPr lang="en-US" altLang="zh-CN" sz="1800" b="1" dirty="0">
              <a:latin typeface="华文新魏" panose="02010800040101010101" pitchFamily="2" charset="-122"/>
              <a:ea typeface="华文新魏" panose="02010800040101010101" pitchFamily="2" charset="-122"/>
            </a:endParaRPr>
          </a:p>
          <a:p>
            <a:pPr>
              <a:lnSpc>
                <a:spcPct val="85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return a;</a:t>
            </a:r>
          </a:p>
          <a:p>
            <a:pPr>
              <a:lnSpc>
                <a:spcPct val="85000"/>
              </a:lnSpc>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a:t>
            </a:r>
            <a:endParaRPr lang="zh-CN" altLang="en-US" sz="18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408276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5</a:t>
            </a:r>
            <a:r>
              <a:rPr lang="zh-CN" altLang="en-US" b="1" dirty="0">
                <a:latin typeface="隶书" panose="02010509060101010101" pitchFamily="49" charset="-122"/>
                <a:ea typeface="隶书" panose="02010509060101010101" pitchFamily="49" charset="-122"/>
              </a:rPr>
              <a:t>章 </a:t>
            </a:r>
            <a:r>
              <a:rPr lang="zh-CN" altLang="zh-CN" b="1" dirty="0">
                <a:latin typeface="隶书" panose="02010509060101010101" pitchFamily="49" charset="-122"/>
                <a:ea typeface="隶书" panose="02010509060101010101" pitchFamily="49" charset="-122"/>
              </a:rPr>
              <a:t>成员及成员指针</a:t>
            </a:r>
            <a:endParaRPr lang="zh-CN" altLang="en-US" b="1" dirty="0">
              <a:latin typeface="隶书" panose="02010509060101010101" pitchFamily="49" charset="-122"/>
              <a:ea typeface="隶书" panose="02010509060101010101" pitchFamily="49" charset="-122"/>
            </a:endParaRPr>
          </a:p>
        </p:txBody>
      </p:sp>
      <p:sp>
        <p:nvSpPr>
          <p:cNvPr id="6" name="Rectangle 3">
            <a:extLst>
              <a:ext uri="{FF2B5EF4-FFF2-40B4-BE49-F238E27FC236}">
                <a16:creationId xmlns:a16="http://schemas.microsoft.com/office/drawing/2014/main" id="{E73E9BE1-85FC-4AC7-B3EF-AA0FCE1EB35C}"/>
              </a:ext>
            </a:extLst>
          </p:cNvPr>
          <p:cNvSpPr txBox="1">
            <a:spLocks noChangeArrowheads="1"/>
          </p:cNvSpPr>
          <p:nvPr/>
        </p:nvSpPr>
        <p:spPr>
          <a:xfrm>
            <a:off x="685800" y="1676400"/>
            <a:ext cx="9061882" cy="4495800"/>
          </a:xfrm>
          <a:prstGeom prst="rect">
            <a:avLst/>
          </a:prstGeom>
          <a:ln>
            <a:solidFill>
              <a:schemeClr val="hlink"/>
            </a:solidFill>
            <a:miter lim="800000"/>
            <a:headEnd/>
            <a:tailEnd/>
          </a:ln>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int f( )const volatile{	</a:t>
            </a:r>
            <a:r>
              <a:rPr lang="en-US" altLang="zh-CN" sz="2000" b="1" dirty="0">
                <a:solidFill>
                  <a:srgbClr val="FF0000"/>
                </a:solidFill>
                <a:latin typeface="华文新魏" panose="02010800040101010101" pitchFamily="2" charset="-122"/>
                <a:ea typeface="华文新魏" panose="02010800040101010101" pitchFamily="2" charset="-122"/>
              </a:rPr>
              <a:t>//this</a:t>
            </a:r>
            <a:r>
              <a:rPr lang="zh-CN" altLang="en-US" sz="2000" b="1" dirty="0">
                <a:solidFill>
                  <a:srgbClr val="FF0000"/>
                </a:solidFill>
                <a:latin typeface="华文新魏" panose="02010800040101010101" pitchFamily="2" charset="-122"/>
                <a:ea typeface="华文新魏" panose="02010800040101010101" pitchFamily="2" charset="-122"/>
              </a:rPr>
              <a:t>类型为</a:t>
            </a:r>
            <a:r>
              <a:rPr lang="en-US" altLang="zh-CN" sz="2000" b="1" dirty="0">
                <a:solidFill>
                  <a:srgbClr val="FF0000"/>
                </a:solidFill>
                <a:latin typeface="华文新魏" panose="02010800040101010101" pitchFamily="2" charset="-122"/>
                <a:ea typeface="华文新魏" panose="02010800040101010101" pitchFamily="2" charset="-122"/>
              </a:rPr>
              <a:t>const volatile A* const this，</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       	</a:t>
            </a:r>
            <a:r>
              <a:rPr lang="en-US" altLang="zh-CN" sz="2000" b="1" dirty="0">
                <a:solidFill>
                  <a:srgbClr val="FF0000"/>
                </a:solidFill>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不能修改普通成员</a:t>
            </a:r>
            <a:r>
              <a:rPr lang="en-US" altLang="zh-CN" sz="2000" b="1" dirty="0">
                <a:solidFill>
                  <a:srgbClr val="FF0000"/>
                </a:solidFill>
                <a:latin typeface="华文新魏" panose="02010800040101010101" pitchFamily="2" charset="-122"/>
                <a:ea typeface="华文新魏" panose="02010800040101010101" pitchFamily="2" charset="-122"/>
              </a:rPr>
              <a:t>a。</a:t>
            </a:r>
            <a:r>
              <a:rPr lang="zh-CN" altLang="en-US" sz="2000" b="1" dirty="0">
                <a:solidFill>
                  <a:srgbClr val="FF0000"/>
                </a:solidFill>
                <a:latin typeface="华文新魏" panose="02010800040101010101" pitchFamily="2" charset="-122"/>
                <a:ea typeface="华文新魏" panose="02010800040101010101" pitchFamily="2" charset="-122"/>
              </a:rPr>
              <a:t>同上，只读成员</a:t>
            </a:r>
            <a:r>
              <a:rPr lang="en-US" altLang="zh-CN" sz="2000" b="1" dirty="0">
                <a:solidFill>
                  <a:srgbClr val="FF0000"/>
                </a:solidFill>
                <a:latin typeface="华文新魏" panose="02010800040101010101" pitchFamily="2" charset="-122"/>
                <a:ea typeface="华文新魏" panose="02010800040101010101" pitchFamily="2" charset="-122"/>
              </a:rPr>
              <a:t>b</a:t>
            </a:r>
            <a:r>
              <a:rPr lang="zh-CN" altLang="en-US" sz="2000" b="1" dirty="0">
                <a:solidFill>
                  <a:srgbClr val="FF0000"/>
                </a:solidFill>
                <a:latin typeface="华文新魏" panose="02010800040101010101" pitchFamily="2" charset="-122"/>
                <a:ea typeface="华文新魏" panose="02010800040101010101" pitchFamily="2" charset="-122"/>
              </a:rPr>
              <a:t>不可改</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return a;</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A(int x) ：b(x) { a=x; }</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x(3);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等价于</a:t>
            </a:r>
            <a:r>
              <a:rPr lang="en-US" altLang="zh-CN" sz="2000" b="1" dirty="0">
                <a:solidFill>
                  <a:schemeClr val="hlink"/>
                </a:solidFill>
                <a:latin typeface="华文新魏" panose="02010800040101010101" pitchFamily="2" charset="-122"/>
                <a:ea typeface="华文新魏" panose="02010800040101010101" pitchFamily="2" charset="-122"/>
              </a:rPr>
              <a:t>A  x(3), x</a:t>
            </a:r>
            <a:r>
              <a:rPr lang="zh-CN" altLang="en-US" sz="2000" b="1" dirty="0">
                <a:solidFill>
                  <a:schemeClr val="hlink"/>
                </a:solidFill>
                <a:latin typeface="华文新魏" panose="02010800040101010101" pitchFamily="2" charset="-122"/>
                <a:ea typeface="华文新魏" panose="02010800040101010101" pitchFamily="2" charset="-122"/>
              </a:rPr>
              <a:t>可修改, </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const A y(6);		</a:t>
            </a:r>
            <a:r>
              <a:rPr lang="en-US" altLang="zh-CN" sz="2000" b="1" dirty="0">
                <a:solidFill>
                  <a:schemeClr val="hlink"/>
                </a:solidFill>
                <a:latin typeface="华文新魏" panose="02010800040101010101" pitchFamily="2" charset="-122"/>
                <a:ea typeface="华文新魏" panose="02010800040101010101" pitchFamily="2" charset="-122"/>
              </a:rPr>
              <a:t>// </a:t>
            </a:r>
            <a:r>
              <a:rPr lang="en-US" altLang="zh-CN" sz="2000" b="1" dirty="0" err="1">
                <a:solidFill>
                  <a:schemeClr val="hlink"/>
                </a:solidFill>
                <a:latin typeface="华文新魏" panose="02010800040101010101" pitchFamily="2" charset="-122"/>
                <a:ea typeface="华文新魏" panose="02010800040101010101" pitchFamily="2" charset="-122"/>
              </a:rPr>
              <a:t>y、z</a:t>
            </a:r>
            <a:r>
              <a:rPr lang="zh-CN" altLang="en-US" sz="2000" b="1" dirty="0">
                <a:solidFill>
                  <a:schemeClr val="hlink"/>
                </a:solidFill>
                <a:latin typeface="华文新魏" panose="02010800040101010101" pitchFamily="2" charset="-122"/>
                <a:ea typeface="华文新魏" panose="02010800040101010101" pitchFamily="2" charset="-122"/>
              </a:rPr>
              <a:t>不可改</a:t>
            </a:r>
            <a:endParaRPr lang="en-US" altLang="zh-CN" sz="2000" b="1" dirty="0">
              <a:latin typeface="华文新魏" panose="02010800040101010101" pitchFamily="2" charset="-122"/>
              <a:ea typeface="华文新魏" panose="02010800040101010101" pitchFamily="2" charset="-122"/>
            </a:endParaRP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const volatile A z(8);	</a:t>
            </a:r>
            <a:r>
              <a:rPr lang="en-US" altLang="zh-CN" sz="2000" b="1" dirty="0">
                <a:solidFill>
                  <a:schemeClr val="hlink"/>
                </a:solidFill>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 </a:t>
            </a:r>
            <a:r>
              <a:rPr lang="en-US" altLang="zh-CN" sz="2000" b="1" dirty="0" err="1">
                <a:solidFill>
                  <a:schemeClr val="hlink"/>
                </a:solidFill>
                <a:latin typeface="华文新魏" panose="02010800040101010101" pitchFamily="2" charset="-122"/>
                <a:ea typeface="华文新魏" panose="02010800040101010101" pitchFamily="2" charset="-122"/>
              </a:rPr>
              <a:t>x、y、z</a:t>
            </a:r>
            <a:r>
              <a:rPr lang="zh-CN" altLang="en-US" sz="2000" b="1" dirty="0">
                <a:solidFill>
                  <a:schemeClr val="hlink"/>
                </a:solidFill>
                <a:latin typeface="华文新魏" panose="02010800040101010101" pitchFamily="2" charset="-122"/>
                <a:ea typeface="华文新魏" panose="02010800040101010101" pitchFamily="2" charset="-122"/>
              </a:rPr>
              <a:t>由开工函数构造、收工函数析构</a:t>
            </a:r>
            <a:endParaRPr lang="en-US" altLang="zh-CN" sz="2000" b="1" dirty="0">
              <a:latin typeface="华文新魏" panose="02010800040101010101" pitchFamily="2" charset="-122"/>
              <a:ea typeface="华文新魏" panose="02010800040101010101" pitchFamily="2" charset="-122"/>
            </a:endParaRP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void main(void) {</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x.f</a:t>
            </a:r>
            <a:r>
              <a:rPr lang="en-US" altLang="zh-CN" sz="2000" b="1" dirty="0">
                <a:latin typeface="华文新魏" panose="02010800040101010101" pitchFamily="2" charset="-122"/>
                <a:ea typeface="华文新魏" panose="02010800040101010101" pitchFamily="2" charset="-122"/>
              </a:rPr>
              <a:t>( );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普通对象</a:t>
            </a:r>
            <a:r>
              <a:rPr lang="en-US" altLang="zh-CN" sz="2000" b="1" dirty="0">
                <a:solidFill>
                  <a:schemeClr val="hlink"/>
                </a:solidFill>
                <a:latin typeface="华文新魏" panose="02010800040101010101" pitchFamily="2" charset="-122"/>
                <a:ea typeface="华文新魏" panose="02010800040101010101" pitchFamily="2" charset="-122"/>
              </a:rPr>
              <a:t>x</a:t>
            </a:r>
            <a:r>
              <a:rPr lang="zh-CN" altLang="en-US" sz="2000" b="1" dirty="0">
                <a:solidFill>
                  <a:schemeClr val="hlink"/>
                </a:solidFill>
                <a:latin typeface="华文新魏" panose="02010800040101010101" pitchFamily="2" charset="-122"/>
                <a:ea typeface="华文新魏" panose="02010800040101010101" pitchFamily="2" charset="-122"/>
              </a:rPr>
              <a:t>调用</a:t>
            </a:r>
            <a:r>
              <a:rPr lang="en-US" altLang="zh-CN" sz="2000" b="1" dirty="0">
                <a:solidFill>
                  <a:schemeClr val="hlink"/>
                </a:solidFill>
                <a:latin typeface="华文新魏" panose="02010800040101010101" pitchFamily="2" charset="-122"/>
                <a:ea typeface="华文新魏" panose="02010800040101010101" pitchFamily="2" charset="-122"/>
              </a:rPr>
              <a:t>int f( ): </a:t>
            </a:r>
            <a:r>
              <a:rPr lang="zh-CN" altLang="en-US" sz="2000" b="1" dirty="0">
                <a:solidFill>
                  <a:schemeClr val="hlink"/>
                </a:solidFill>
                <a:latin typeface="华文新魏" panose="02010800040101010101" pitchFamily="2" charset="-122"/>
                <a:ea typeface="华文新魏" panose="02010800040101010101" pitchFamily="2" charset="-122"/>
              </a:rPr>
              <a:t>指向的对象可修改</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y.f</a:t>
            </a:r>
            <a:r>
              <a:rPr lang="en-US" altLang="zh-CN" sz="2000" b="1" dirty="0">
                <a:latin typeface="华文新魏" panose="02010800040101010101" pitchFamily="2" charset="-122"/>
                <a:ea typeface="华文新魏" panose="02010800040101010101" pitchFamily="2" charset="-122"/>
              </a:rPr>
              <a:t>( );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只读对象</a:t>
            </a:r>
            <a:r>
              <a:rPr lang="en-US" altLang="zh-CN" sz="2000" b="1" dirty="0">
                <a:solidFill>
                  <a:schemeClr val="hlink"/>
                </a:solidFill>
                <a:latin typeface="华文新魏" panose="02010800040101010101" pitchFamily="2" charset="-122"/>
                <a:ea typeface="华文新魏" panose="02010800040101010101" pitchFamily="2" charset="-122"/>
              </a:rPr>
              <a:t>y</a:t>
            </a:r>
            <a:r>
              <a:rPr lang="zh-CN" altLang="en-US" sz="2000" b="1" dirty="0">
                <a:solidFill>
                  <a:schemeClr val="hlink"/>
                </a:solidFill>
                <a:latin typeface="华文新魏" panose="02010800040101010101" pitchFamily="2" charset="-122"/>
                <a:ea typeface="华文新魏" panose="02010800040101010101" pitchFamily="2" charset="-122"/>
              </a:rPr>
              <a:t>调用</a:t>
            </a:r>
            <a:r>
              <a:rPr lang="en-US" altLang="zh-CN" sz="2000" b="1" dirty="0">
                <a:solidFill>
                  <a:schemeClr val="hlink"/>
                </a:solidFill>
                <a:latin typeface="华文新魏" panose="02010800040101010101" pitchFamily="2" charset="-122"/>
                <a:ea typeface="华文新魏" panose="02010800040101010101" pitchFamily="2" charset="-122"/>
              </a:rPr>
              <a:t>int f( )const:</a:t>
            </a:r>
            <a:r>
              <a:rPr lang="zh-CN" altLang="en-US" sz="2000" b="1" dirty="0">
                <a:solidFill>
                  <a:schemeClr val="hlink"/>
                </a:solidFill>
                <a:latin typeface="华文新魏" panose="02010800040101010101" pitchFamily="2" charset="-122"/>
                <a:ea typeface="华文新魏" panose="02010800040101010101" pitchFamily="2" charset="-122"/>
              </a:rPr>
              <a:t>指向的对象不可修改</a:t>
            </a:r>
            <a:endParaRPr lang="en-US" altLang="zh-CN" sz="2000" b="1" dirty="0">
              <a:solidFill>
                <a:schemeClr val="hlink"/>
              </a:solidFill>
              <a:latin typeface="华文新魏" panose="02010800040101010101" pitchFamily="2" charset="-122"/>
              <a:ea typeface="华文新魏" panose="02010800040101010101" pitchFamily="2" charset="-122"/>
            </a:endParaRP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z.f</a:t>
            </a:r>
            <a:r>
              <a:rPr lang="en-US" altLang="zh-CN" sz="2000" b="1" dirty="0">
                <a:latin typeface="华文新魏" panose="02010800040101010101" pitchFamily="2" charset="-122"/>
                <a:ea typeface="华文新魏" panose="02010800040101010101" pitchFamily="2" charset="-122"/>
              </a:rPr>
              <a:t>( );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只读易变对象</a:t>
            </a:r>
            <a:r>
              <a:rPr lang="en-US" altLang="zh-CN" sz="2000" b="1" dirty="0">
                <a:solidFill>
                  <a:schemeClr val="hlink"/>
                </a:solidFill>
                <a:latin typeface="华文新魏" panose="02010800040101010101" pitchFamily="2" charset="-122"/>
                <a:ea typeface="华文新魏" panose="02010800040101010101" pitchFamily="2" charset="-122"/>
              </a:rPr>
              <a:t>z</a:t>
            </a:r>
            <a:r>
              <a:rPr lang="zh-CN" altLang="en-US" sz="2000" b="1" dirty="0">
                <a:solidFill>
                  <a:schemeClr val="hlink"/>
                </a:solidFill>
                <a:latin typeface="华文新魏" panose="02010800040101010101" pitchFamily="2" charset="-122"/>
                <a:ea typeface="华文新魏" panose="02010800040101010101" pitchFamily="2" charset="-122"/>
              </a:rPr>
              <a:t>调用</a:t>
            </a:r>
            <a:r>
              <a:rPr lang="en-US" altLang="zh-CN" sz="2000" b="1" dirty="0">
                <a:solidFill>
                  <a:schemeClr val="hlink"/>
                </a:solidFill>
                <a:latin typeface="华文新魏" panose="02010800040101010101" pitchFamily="2" charset="-122"/>
                <a:ea typeface="华文新魏" panose="02010800040101010101" pitchFamily="2" charset="-122"/>
              </a:rPr>
              <a:t>int f( )const volatile</a:t>
            </a:r>
          </a:p>
          <a:p>
            <a:pP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a:t>
            </a:r>
            <a:endParaRPr lang="zh-CN" altLang="en-US" sz="20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3256630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en-US" altLang="zh-CN" sz="3600" b="1" dirty="0">
                <a:solidFill>
                  <a:srgbClr val="FF0000"/>
                </a:solidFill>
                <a:latin typeface="微软雅黑" pitchFamily="34" charset="-122"/>
                <a:ea typeface="微软雅黑" pitchFamily="34" charset="-122"/>
              </a:rPr>
              <a:t>const</a:t>
            </a:r>
            <a:r>
              <a:rPr lang="zh-CN" altLang="en-US" sz="3600" b="1" dirty="0">
                <a:solidFill>
                  <a:srgbClr val="FF0000"/>
                </a:solidFill>
                <a:latin typeface="微软雅黑" pitchFamily="34" charset="-122"/>
                <a:ea typeface="微软雅黑" pitchFamily="34" charset="-122"/>
              </a:rPr>
              <a:t>、</a:t>
            </a:r>
            <a:r>
              <a:rPr lang="en-US" altLang="zh-CN" sz="3600" b="1" dirty="0">
                <a:solidFill>
                  <a:srgbClr val="FF0000"/>
                </a:solidFill>
                <a:latin typeface="微软雅黑" pitchFamily="34" charset="-122"/>
                <a:ea typeface="微软雅黑" pitchFamily="34" charset="-122"/>
              </a:rPr>
              <a:t>volatile</a:t>
            </a:r>
            <a:r>
              <a:rPr lang="zh-CN" altLang="en-US" sz="3600" b="1" dirty="0">
                <a:solidFill>
                  <a:srgbClr val="FF0000"/>
                </a:solidFill>
                <a:latin typeface="微软雅黑" pitchFamily="34" charset="-122"/>
                <a:ea typeface="微软雅黑" pitchFamily="34" charset="-122"/>
              </a:rPr>
              <a:t>和</a:t>
            </a:r>
            <a:r>
              <a:rPr lang="en-US" altLang="zh-CN" sz="3600" b="1" dirty="0">
                <a:solidFill>
                  <a:srgbClr val="FF0000"/>
                </a:solidFill>
                <a:latin typeface="微软雅黑" pitchFamily="34" charset="-122"/>
                <a:ea typeface="微软雅黑" pitchFamily="34" charset="-122"/>
              </a:rPr>
              <a:t>mutable</a:t>
            </a:r>
            <a:r>
              <a:rPr lang="zh-CN" altLang="en-US" sz="3600" b="1" dirty="0">
                <a:solidFill>
                  <a:srgbClr val="FF0000"/>
                </a:solidFill>
                <a:latin typeface="微软雅黑" pitchFamily="34" charset="-122"/>
                <a:ea typeface="微软雅黑" pitchFamily="34" charset="-122"/>
              </a:rPr>
              <a:t> </a:t>
            </a:r>
          </a:p>
        </p:txBody>
      </p:sp>
      <p:sp>
        <p:nvSpPr>
          <p:cNvPr id="4" name="TextBox 5">
            <a:extLst>
              <a:ext uri="{FF2B5EF4-FFF2-40B4-BE49-F238E27FC236}">
                <a16:creationId xmlns:a16="http://schemas.microsoft.com/office/drawing/2014/main" id="{6A2017E9-11A2-478D-B8F8-130FB85A1795}"/>
              </a:ext>
            </a:extLst>
          </p:cNvPr>
          <p:cNvSpPr txBox="1">
            <a:spLocks noChangeArrowheads="1"/>
          </p:cNvSpPr>
          <p:nvPr/>
        </p:nvSpPr>
        <p:spPr bwMode="auto">
          <a:xfrm>
            <a:off x="1847528" y="1052736"/>
            <a:ext cx="8712968" cy="5616624"/>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1600" b="1" dirty="0">
                <a:latin typeface="华文新魏" panose="02010800040101010101" pitchFamily="2" charset="-122"/>
                <a:ea typeface="华文新魏" panose="02010800040101010101" pitchFamily="2" charset="-122"/>
              </a:rPr>
              <a:t>#include &lt;</a:t>
            </a:r>
            <a:r>
              <a:rPr lang="en-US" altLang="zh-CN" sz="1600" b="1" dirty="0" err="1">
                <a:latin typeface="华文新魏" panose="02010800040101010101" pitchFamily="2" charset="-122"/>
                <a:ea typeface="华文新魏" panose="02010800040101010101" pitchFamily="2" charset="-122"/>
              </a:rPr>
              <a:t>string.h</a:t>
            </a:r>
            <a:r>
              <a:rPr lang="en-US" altLang="zh-CN" sz="1600" b="1" dirty="0">
                <a:latin typeface="华文新魏" panose="02010800040101010101" pitchFamily="2" charset="-122"/>
                <a:ea typeface="华文新魏" panose="02010800040101010101" pitchFamily="2" charset="-122"/>
              </a:rPr>
              <a:t>&gt;</a:t>
            </a:r>
          </a:p>
          <a:p>
            <a:r>
              <a:rPr lang="en-US" altLang="zh-CN" sz="1600" b="1" dirty="0">
                <a:latin typeface="华文新魏" panose="02010800040101010101" pitchFamily="2" charset="-122"/>
                <a:ea typeface="华文新魏" panose="02010800040101010101" pitchFamily="2" charset="-122"/>
              </a:rPr>
              <a:t>class TUTOR{</a:t>
            </a:r>
          </a:p>
          <a:p>
            <a:r>
              <a:rPr lang="en-US" altLang="zh-CN" sz="1600" b="1" dirty="0">
                <a:latin typeface="华文新魏" panose="02010800040101010101" pitchFamily="2" charset="-122"/>
                <a:ea typeface="华文新魏" panose="02010800040101010101" pitchFamily="2" charset="-122"/>
              </a:rPr>
              <a:t>    char  	name[20]; </a:t>
            </a:r>
          </a:p>
          <a:p>
            <a:r>
              <a:rPr lang="en-US" altLang="zh-CN" sz="1600" b="1" dirty="0">
                <a:latin typeface="华文新魏" panose="02010800040101010101" pitchFamily="2" charset="-122"/>
                <a:ea typeface="华文新魏" panose="02010800040101010101" pitchFamily="2" charset="-122"/>
              </a:rPr>
              <a:t>    const 	char  gender; 	//</a:t>
            </a:r>
            <a:r>
              <a:rPr lang="zh-CN" altLang="en-US" sz="1600" b="1" dirty="0">
                <a:latin typeface="华文新魏" panose="02010800040101010101" pitchFamily="2" charset="-122"/>
                <a:ea typeface="华文新魏" panose="02010800040101010101" pitchFamily="2" charset="-122"/>
              </a:rPr>
              <a:t>性别为只读成员</a:t>
            </a:r>
          </a:p>
          <a:p>
            <a:r>
              <a:rPr lang="zh-CN" altLang="en-US" sz="1600" b="1" dirty="0">
                <a:latin typeface="华文新魏" panose="02010800040101010101" pitchFamily="2" charset="-122"/>
                <a:ea typeface="华文新魏" panose="02010800040101010101" pitchFamily="2" charset="-122"/>
              </a:rPr>
              <a:t>    </a:t>
            </a:r>
            <a:r>
              <a:rPr lang="en-US" altLang="zh-CN" sz="1600" b="1" dirty="0">
                <a:latin typeface="华文新魏" panose="02010800040101010101" pitchFamily="2" charset="-122"/>
                <a:ea typeface="华文新魏" panose="02010800040101010101" pitchFamily="2" charset="-122"/>
              </a:rPr>
              <a:t>int  	            wage; </a:t>
            </a:r>
          </a:p>
          <a:p>
            <a:r>
              <a:rPr lang="en-US" altLang="zh-CN" sz="1600" b="1" dirty="0">
                <a:latin typeface="华文新魏" panose="02010800040101010101" pitchFamily="2" charset="-122"/>
                <a:ea typeface="华文新魏" panose="02010800040101010101" pitchFamily="2" charset="-122"/>
              </a:rPr>
              <a:t>    mutable int </a:t>
            </a:r>
            <a:r>
              <a:rPr lang="en-US" altLang="zh-CN" sz="1600" b="1" dirty="0" err="1">
                <a:solidFill>
                  <a:srgbClr val="FF0000"/>
                </a:solidFill>
                <a:latin typeface="华文新魏" panose="02010800040101010101" pitchFamily="2" charset="-122"/>
                <a:ea typeface="华文新魏" panose="02010800040101010101" pitchFamily="2" charset="-122"/>
              </a:rPr>
              <a:t>querytimes</a:t>
            </a:r>
            <a:r>
              <a:rPr lang="en-US" altLang="zh-CN" sz="1600" b="1" dirty="0">
                <a:latin typeface="华文新魏" panose="02010800040101010101" pitchFamily="2" charset="-122"/>
                <a:ea typeface="华文新魏" panose="02010800040101010101" pitchFamily="2" charset="-122"/>
              </a:rPr>
              <a:t>; </a:t>
            </a:r>
          </a:p>
          <a:p>
            <a:r>
              <a:rPr lang="en-US" altLang="zh-CN" sz="1600" b="1" dirty="0">
                <a:latin typeface="华文新魏" panose="02010800040101010101" pitchFamily="2" charset="-122"/>
                <a:ea typeface="华文新魏" panose="02010800040101010101" pitchFamily="2" charset="-122"/>
              </a:rPr>
              <a:t>public</a:t>
            </a:r>
            <a:r>
              <a:rPr lang="zh-CN" altLang="en-US" sz="1600" b="1" dirty="0">
                <a:latin typeface="华文新魏" panose="02010800040101010101" pitchFamily="2" charset="-122"/>
                <a:ea typeface="华文新魏" panose="02010800040101010101" pitchFamily="2" charset="-122"/>
              </a:rPr>
              <a:t>：</a:t>
            </a:r>
          </a:p>
          <a:p>
            <a:r>
              <a:rPr lang="zh-CN" altLang="en-US" sz="1600" b="1" dirty="0">
                <a:latin typeface="华文新魏" panose="02010800040101010101" pitchFamily="2" charset="-122"/>
                <a:ea typeface="华文新魏" panose="02010800040101010101" pitchFamily="2" charset="-122"/>
              </a:rPr>
              <a:t>    </a:t>
            </a:r>
            <a:r>
              <a:rPr lang="en-US" altLang="zh-CN" sz="1600" b="1" dirty="0">
                <a:latin typeface="华文新魏" panose="02010800040101010101" pitchFamily="2" charset="-122"/>
                <a:ea typeface="华文新魏" panose="02010800040101010101" pitchFamily="2" charset="-122"/>
              </a:rPr>
              <a:t>TUTOR (const char *n,  char g,  int w) </a:t>
            </a:r>
            <a:r>
              <a:rPr lang="zh-CN" altLang="en-US" sz="1600" b="1" dirty="0">
                <a:latin typeface="华文新魏" panose="02010800040101010101" pitchFamily="2" charset="-122"/>
                <a:ea typeface="华文新魏" panose="02010800040101010101" pitchFamily="2" charset="-122"/>
              </a:rPr>
              <a:t>： </a:t>
            </a:r>
            <a:r>
              <a:rPr lang="en-US" altLang="zh-CN" sz="1600" b="1" dirty="0">
                <a:solidFill>
                  <a:srgbClr val="FF0000"/>
                </a:solidFill>
                <a:latin typeface="华文新魏" panose="02010800040101010101" pitchFamily="2" charset="-122"/>
                <a:ea typeface="华文新魏" panose="02010800040101010101" pitchFamily="2" charset="-122"/>
              </a:rPr>
              <a:t>gender (g)</a:t>
            </a:r>
            <a:r>
              <a:rPr lang="en-US" altLang="zh-CN" sz="1600" b="1" dirty="0">
                <a:latin typeface="华文新魏" panose="02010800040101010101" pitchFamily="2" charset="-122"/>
                <a:ea typeface="华文新魏" panose="02010800040101010101" pitchFamily="2" charset="-122"/>
              </a:rPr>
              <a:t>,  wage (w) { </a:t>
            </a:r>
            <a:r>
              <a:rPr lang="en-US" altLang="zh-CN" sz="1600" b="1" dirty="0" err="1">
                <a:latin typeface="华文新魏" panose="02010800040101010101" pitchFamily="2" charset="-122"/>
                <a:ea typeface="华文新魏" panose="02010800040101010101" pitchFamily="2" charset="-122"/>
              </a:rPr>
              <a:t>strcpy</a:t>
            </a:r>
            <a:r>
              <a:rPr lang="en-US" altLang="zh-CN" sz="1600" b="1" dirty="0">
                <a:latin typeface="华文新魏" panose="02010800040101010101" pitchFamily="2" charset="-122"/>
                <a:ea typeface="华文新魏" panose="02010800040101010101" pitchFamily="2" charset="-122"/>
              </a:rPr>
              <a:t> (name,  n);  }</a:t>
            </a:r>
          </a:p>
          <a:p>
            <a:endParaRPr lang="en-US" altLang="zh-CN" sz="1600" b="1" dirty="0">
              <a:latin typeface="华文新魏" panose="02010800040101010101" pitchFamily="2" charset="-122"/>
              <a:ea typeface="华文新魏" panose="02010800040101010101" pitchFamily="2" charset="-122"/>
            </a:endParaRPr>
          </a:p>
          <a:p>
            <a:r>
              <a:rPr lang="en-US" altLang="zh-CN" sz="1600" b="1" dirty="0">
                <a:latin typeface="华文新魏" panose="02010800040101010101" pitchFamily="2" charset="-122"/>
                <a:ea typeface="华文新魏" panose="02010800040101010101" pitchFamily="2" charset="-122"/>
              </a:rPr>
              <a:t>    //</a:t>
            </a:r>
            <a:r>
              <a:rPr lang="zh-CN" altLang="en-US" sz="1600" b="1" dirty="0">
                <a:latin typeface="华文新魏" panose="02010800040101010101" pitchFamily="2" charset="-122"/>
                <a:ea typeface="华文新魏" panose="02010800040101010101" pitchFamily="2" charset="-122"/>
              </a:rPr>
              <a:t>函数体不能修改当前对象，</a:t>
            </a:r>
            <a:r>
              <a:rPr lang="en-US" altLang="zh-CN" sz="1600" b="1" dirty="0">
                <a:latin typeface="华文新魏" panose="02010800040101010101" pitchFamily="2" charset="-122"/>
                <a:ea typeface="华文新魏" panose="02010800040101010101" pitchFamily="2" charset="-122"/>
              </a:rPr>
              <a:t>this</a:t>
            </a:r>
            <a:r>
              <a:rPr lang="zh-CN" altLang="en-US" sz="1600" b="1" dirty="0">
                <a:latin typeface="华文新魏" panose="02010800040101010101" pitchFamily="2" charset="-122"/>
                <a:ea typeface="华文新魏" panose="02010800040101010101" pitchFamily="2" charset="-122"/>
              </a:rPr>
              <a:t>指针类型变成</a:t>
            </a:r>
            <a:r>
              <a:rPr lang="en-US" altLang="zh-CN" sz="1600" b="1" dirty="0">
                <a:solidFill>
                  <a:srgbClr val="FF0000"/>
                </a:solidFill>
                <a:latin typeface="华文新魏" panose="02010800040101010101" pitchFamily="2" charset="-122"/>
                <a:ea typeface="华文新魏" panose="02010800040101010101" pitchFamily="2" charset="-122"/>
              </a:rPr>
              <a:t>const</a:t>
            </a:r>
            <a:r>
              <a:rPr lang="en-US" altLang="zh-CN" sz="1600" b="1" dirty="0">
                <a:latin typeface="华文新魏" panose="02010800040101010101" pitchFamily="2" charset="-122"/>
                <a:ea typeface="华文新魏" panose="02010800040101010101" pitchFamily="2" charset="-122"/>
              </a:rPr>
              <a:t>  TUTOR </a:t>
            </a:r>
            <a:r>
              <a:rPr lang="zh-CN" altLang="en-US" sz="1600" b="1" dirty="0">
                <a:latin typeface="华文新魏" panose="02010800040101010101" pitchFamily="2" charset="-122"/>
                <a:ea typeface="华文新魏" panose="02010800040101010101" pitchFamily="2" charset="-122"/>
              </a:rPr>
              <a:t>* </a:t>
            </a:r>
            <a:r>
              <a:rPr lang="en-US" altLang="zh-CN" sz="1600" b="1" dirty="0">
                <a:latin typeface="华文新魏" panose="02010800040101010101" pitchFamily="2" charset="-122"/>
                <a:ea typeface="华文新魏" panose="02010800040101010101" pitchFamily="2" charset="-122"/>
              </a:rPr>
              <a:t>const this</a:t>
            </a:r>
            <a:r>
              <a:rPr lang="zh-CN" altLang="en-US" sz="1600" b="1" dirty="0">
                <a:latin typeface="华文新魏" panose="02010800040101010101" pitchFamily="2" charset="-122"/>
                <a:ea typeface="华文新魏" panose="02010800040101010101" pitchFamily="2" charset="-122"/>
              </a:rPr>
              <a:t>；</a:t>
            </a:r>
            <a:endParaRPr lang="en-US" altLang="zh-CN" sz="1600" b="1" dirty="0">
              <a:latin typeface="华文新魏" panose="02010800040101010101" pitchFamily="2" charset="-122"/>
              <a:ea typeface="华文新魏" panose="02010800040101010101" pitchFamily="2" charset="-122"/>
            </a:endParaRPr>
          </a:p>
          <a:p>
            <a:r>
              <a:rPr lang="en-US" altLang="zh-CN" sz="1600" b="1" dirty="0">
                <a:latin typeface="华文新魏" panose="02010800040101010101" pitchFamily="2" charset="-122"/>
                <a:ea typeface="华文新魏" panose="02010800040101010101" pitchFamily="2" charset="-122"/>
              </a:rPr>
              <a:t>    const char *</a:t>
            </a:r>
            <a:r>
              <a:rPr lang="en-US" altLang="zh-CN" sz="1600" b="1" dirty="0" err="1">
                <a:latin typeface="华文新魏" panose="02010800040101010101" pitchFamily="2" charset="-122"/>
                <a:ea typeface="华文新魏" panose="02010800040101010101" pitchFamily="2" charset="-122"/>
              </a:rPr>
              <a:t>getname</a:t>
            </a:r>
            <a:r>
              <a:rPr lang="en-US" altLang="zh-CN" sz="1600" b="1" dirty="0">
                <a:latin typeface="华文新魏" panose="02010800040101010101" pitchFamily="2" charset="-122"/>
                <a:ea typeface="华文新魏" panose="02010800040101010101" pitchFamily="2" charset="-122"/>
              </a:rPr>
              <a:t> (  ) </a:t>
            </a:r>
            <a:r>
              <a:rPr lang="en-US" altLang="zh-CN" sz="1600" b="1" dirty="0">
                <a:solidFill>
                  <a:srgbClr val="FF0000"/>
                </a:solidFill>
                <a:latin typeface="华文新魏" panose="02010800040101010101" pitchFamily="2" charset="-122"/>
                <a:ea typeface="华文新魏" panose="02010800040101010101" pitchFamily="2" charset="-122"/>
              </a:rPr>
              <a:t>const </a:t>
            </a:r>
            <a:r>
              <a:rPr lang="en-US" altLang="zh-CN" sz="1600" b="1" dirty="0">
                <a:latin typeface="华文新魏" panose="02010800040101010101" pitchFamily="2" charset="-122"/>
                <a:ea typeface="华文新魏" panose="02010800040101010101" pitchFamily="2" charset="-122"/>
              </a:rPr>
              <a:t>{ return name;  }</a:t>
            </a:r>
          </a:p>
          <a:p>
            <a:pPr>
              <a:buNone/>
            </a:pPr>
            <a:r>
              <a:rPr lang="en-US" altLang="zh-CN" sz="1600" b="1" dirty="0">
                <a:latin typeface="华文新魏" panose="02010800040101010101" pitchFamily="2" charset="-122"/>
                <a:ea typeface="华文新魏" panose="02010800040101010101" pitchFamily="2" charset="-122"/>
              </a:rPr>
              <a:t>    </a:t>
            </a:r>
          </a:p>
          <a:p>
            <a:pPr>
              <a:buNone/>
            </a:pPr>
            <a:r>
              <a:rPr lang="en-US" altLang="zh-CN" sz="1600" b="1" dirty="0">
                <a:latin typeface="华文新魏" panose="02010800040101010101" pitchFamily="2" charset="-122"/>
                <a:ea typeface="华文新魏" panose="02010800040101010101" pitchFamily="2" charset="-122"/>
              </a:rPr>
              <a:t>    char *</a:t>
            </a:r>
            <a:r>
              <a:rPr lang="en-US" altLang="zh-CN" sz="1600" b="1" dirty="0" err="1">
                <a:latin typeface="华文新魏" panose="02010800040101010101" pitchFamily="2" charset="-122"/>
                <a:ea typeface="华文新魏" panose="02010800040101010101" pitchFamily="2" charset="-122"/>
              </a:rPr>
              <a:t>setname</a:t>
            </a:r>
            <a:r>
              <a:rPr lang="en-US" altLang="zh-CN" sz="1600" b="1" dirty="0">
                <a:latin typeface="华文新魏" panose="02010800040101010101" pitchFamily="2" charset="-122"/>
                <a:ea typeface="华文新魏" panose="02010800040101010101" pitchFamily="2" charset="-122"/>
              </a:rPr>
              <a:t> (const char *n)   </a:t>
            </a:r>
            <a:r>
              <a:rPr lang="en-US" altLang="zh-CN" sz="1600" b="1" dirty="0">
                <a:solidFill>
                  <a:srgbClr val="FF0000"/>
                </a:solidFill>
                <a:latin typeface="华文新魏" panose="02010800040101010101" pitchFamily="2" charset="-122"/>
                <a:ea typeface="华文新魏" panose="02010800040101010101" pitchFamily="2" charset="-122"/>
              </a:rPr>
              <a:t>volatile</a:t>
            </a:r>
            <a:r>
              <a:rPr lang="en-US" altLang="zh-CN" sz="1600" b="1" dirty="0">
                <a:latin typeface="华文新魏" panose="02010800040101010101" pitchFamily="2" charset="-122"/>
                <a:ea typeface="华文新魏" panose="02010800040101010101" pitchFamily="2" charset="-122"/>
              </a:rPr>
              <a:t> //</a:t>
            </a:r>
            <a:r>
              <a:rPr lang="en-US" altLang="zh-CN" sz="1600" b="1" dirty="0">
                <a:solidFill>
                  <a:srgbClr val="FF0000"/>
                </a:solidFill>
                <a:latin typeface="华文新魏" panose="02010800040101010101" pitchFamily="2" charset="-122"/>
                <a:ea typeface="华文新魏" panose="02010800040101010101" pitchFamily="2" charset="-122"/>
              </a:rPr>
              <a:t> </a:t>
            </a:r>
            <a:r>
              <a:rPr lang="en-US" altLang="zh-CN" sz="1600" b="1" dirty="0">
                <a:latin typeface="华文新魏" panose="02010800040101010101" pitchFamily="2" charset="-122"/>
                <a:ea typeface="华文新魏" panose="02010800040101010101" pitchFamily="2" charset="-122"/>
              </a:rPr>
              <a:t>this</a:t>
            </a:r>
            <a:r>
              <a:rPr lang="zh-CN" altLang="en-US" sz="1600" b="1" dirty="0">
                <a:latin typeface="华文新魏" panose="02010800040101010101" pitchFamily="2" charset="-122"/>
                <a:ea typeface="华文新魏" panose="02010800040101010101" pitchFamily="2" charset="-122"/>
              </a:rPr>
              <a:t>指针类型变成</a:t>
            </a:r>
            <a:r>
              <a:rPr lang="en-US" altLang="zh-CN" sz="1600" b="1" dirty="0">
                <a:solidFill>
                  <a:srgbClr val="FF0000"/>
                </a:solidFill>
                <a:latin typeface="华文新魏" panose="02010800040101010101" pitchFamily="2" charset="-122"/>
                <a:ea typeface="华文新魏" panose="02010800040101010101" pitchFamily="2" charset="-122"/>
              </a:rPr>
              <a:t>volatile</a:t>
            </a:r>
            <a:r>
              <a:rPr lang="en-US" altLang="zh-CN" sz="1600" b="1" dirty="0">
                <a:latin typeface="华文新魏" panose="02010800040101010101" pitchFamily="2" charset="-122"/>
                <a:ea typeface="华文新魏" panose="02010800040101010101" pitchFamily="2" charset="-122"/>
              </a:rPr>
              <a:t> TUTOR </a:t>
            </a:r>
            <a:r>
              <a:rPr lang="zh-CN" altLang="en-US" sz="1600" b="1" dirty="0">
                <a:latin typeface="华文新魏" panose="02010800040101010101" pitchFamily="2" charset="-122"/>
                <a:ea typeface="华文新魏" panose="02010800040101010101" pitchFamily="2" charset="-122"/>
              </a:rPr>
              <a:t>* </a:t>
            </a:r>
            <a:r>
              <a:rPr lang="en-US" altLang="zh-CN" sz="1600" b="1" dirty="0">
                <a:latin typeface="华文新魏" panose="02010800040101010101" pitchFamily="2" charset="-122"/>
                <a:ea typeface="华文新魏" panose="02010800040101010101" pitchFamily="2" charset="-122"/>
              </a:rPr>
              <a:t>const this</a:t>
            </a:r>
            <a:r>
              <a:rPr lang="zh-CN" altLang="en-US" sz="1600" b="1" dirty="0">
                <a:latin typeface="华文新魏" panose="02010800040101010101" pitchFamily="2" charset="-122"/>
                <a:ea typeface="华文新魏" panose="02010800040101010101" pitchFamily="2" charset="-122"/>
              </a:rPr>
              <a:t>；</a:t>
            </a:r>
            <a:endParaRPr lang="en-US" altLang="zh-CN" sz="1600" b="1" dirty="0">
              <a:latin typeface="华文新魏" panose="02010800040101010101" pitchFamily="2" charset="-122"/>
              <a:ea typeface="华文新魏" panose="02010800040101010101" pitchFamily="2" charset="-122"/>
            </a:endParaRPr>
          </a:p>
          <a:p>
            <a:r>
              <a:rPr lang="en-US" altLang="zh-CN" sz="1600" b="1" dirty="0">
                <a:latin typeface="华文新魏" panose="02010800040101010101" pitchFamily="2" charset="-122"/>
                <a:ea typeface="华文新魏" panose="02010800040101010101" pitchFamily="2" charset="-122"/>
              </a:rPr>
              <a:t>	</a:t>
            </a:r>
            <a:r>
              <a:rPr lang="en-US" altLang="zh-CN" sz="1600" b="1" dirty="0">
                <a:solidFill>
                  <a:srgbClr val="FF0000"/>
                </a:solidFill>
                <a:latin typeface="华文新魏" panose="02010800040101010101" pitchFamily="2" charset="-122"/>
                <a:ea typeface="华文新魏" panose="02010800040101010101" pitchFamily="2" charset="-122"/>
              </a:rPr>
              <a:t>//</a:t>
            </a:r>
            <a:r>
              <a:rPr lang="zh-CN" altLang="en-US" sz="1600" b="1" dirty="0">
                <a:solidFill>
                  <a:srgbClr val="FF0000"/>
                </a:solidFill>
                <a:latin typeface="华文新魏" panose="02010800040101010101" pitchFamily="2" charset="-122"/>
                <a:ea typeface="华文新魏" panose="02010800040101010101" pitchFamily="2" charset="-122"/>
              </a:rPr>
              <a:t>由于</a:t>
            </a:r>
            <a:r>
              <a:rPr lang="en-US" altLang="zh-CN" sz="1600" b="1" dirty="0">
                <a:solidFill>
                  <a:srgbClr val="FF0000"/>
                </a:solidFill>
                <a:latin typeface="华文新魏" panose="02010800040101010101" pitchFamily="2" charset="-122"/>
                <a:ea typeface="华文新魏" panose="02010800040101010101" pitchFamily="2" charset="-122"/>
              </a:rPr>
              <a:t>this</a:t>
            </a:r>
            <a:r>
              <a:rPr lang="zh-CN" altLang="en-US" sz="1600" b="1" dirty="0">
                <a:solidFill>
                  <a:srgbClr val="FF0000"/>
                </a:solidFill>
                <a:latin typeface="华文新魏" panose="02010800040101010101" pitchFamily="2" charset="-122"/>
                <a:ea typeface="华文新魏" panose="02010800040101010101" pitchFamily="2" charset="-122"/>
              </a:rPr>
              <a:t>指针被</a:t>
            </a:r>
            <a:r>
              <a:rPr lang="en-US" altLang="zh-CN" sz="1600" b="1" dirty="0">
                <a:solidFill>
                  <a:srgbClr val="FF0000"/>
                </a:solidFill>
                <a:latin typeface="华文新魏" panose="02010800040101010101" pitchFamily="2" charset="-122"/>
                <a:ea typeface="华文新魏" panose="02010800040101010101" pitchFamily="2" charset="-122"/>
              </a:rPr>
              <a:t>volatile</a:t>
            </a:r>
            <a:r>
              <a:rPr lang="zh-CN" altLang="en-US" sz="1600" b="1" dirty="0">
                <a:solidFill>
                  <a:srgbClr val="FF0000"/>
                </a:solidFill>
                <a:latin typeface="华文新魏" panose="02010800040101010101" pitchFamily="2" charset="-122"/>
                <a:ea typeface="华文新魏" panose="02010800040101010101" pitchFamily="2" charset="-122"/>
              </a:rPr>
              <a:t>修饰，导致</a:t>
            </a:r>
            <a:r>
              <a:rPr lang="en-US" altLang="zh-CN" sz="1600" b="1" dirty="0">
                <a:solidFill>
                  <a:srgbClr val="FF0000"/>
                </a:solidFill>
                <a:latin typeface="华文新魏" panose="02010800040101010101" pitchFamily="2" charset="-122"/>
                <a:ea typeface="华文新魏" panose="02010800040101010101" pitchFamily="2" charset="-122"/>
              </a:rPr>
              <a:t>name</a:t>
            </a:r>
            <a:r>
              <a:rPr lang="zh-CN" altLang="en-US" sz="1600" b="1" dirty="0">
                <a:solidFill>
                  <a:srgbClr val="FF0000"/>
                </a:solidFill>
                <a:latin typeface="华文新魏" panose="02010800040101010101" pitchFamily="2" charset="-122"/>
                <a:ea typeface="华文新魏" panose="02010800040101010101" pitchFamily="2" charset="-122"/>
              </a:rPr>
              <a:t>类型为 </a:t>
            </a:r>
            <a:r>
              <a:rPr lang="en-US" altLang="zh-CN" sz="1600" b="1" dirty="0" err="1">
                <a:solidFill>
                  <a:srgbClr val="FF0000"/>
                </a:solidFill>
                <a:latin typeface="华文新魏" panose="02010800040101010101" pitchFamily="2" charset="-122"/>
                <a:ea typeface="华文新魏" panose="02010800040101010101" pitchFamily="2" charset="-122"/>
              </a:rPr>
              <a:t>voliatile</a:t>
            </a:r>
            <a:r>
              <a:rPr lang="en-US" altLang="zh-CN" sz="1600" b="1" dirty="0">
                <a:solidFill>
                  <a:srgbClr val="FF0000"/>
                </a:solidFill>
                <a:latin typeface="华文新魏" panose="02010800040101010101" pitchFamily="2" charset="-122"/>
                <a:ea typeface="华文新魏" panose="02010800040101010101" pitchFamily="2" charset="-122"/>
              </a:rPr>
              <a:t> char [20]</a:t>
            </a:r>
          </a:p>
          <a:p>
            <a:r>
              <a:rPr lang="en-US" altLang="zh-CN" sz="1600" b="1" dirty="0">
                <a:latin typeface="华文新魏" panose="02010800040101010101" pitchFamily="2" charset="-122"/>
                <a:ea typeface="华文新魏" panose="02010800040101010101" pitchFamily="2" charset="-122"/>
              </a:rPr>
              <a:t>    {return </a:t>
            </a:r>
            <a:r>
              <a:rPr lang="en-US" altLang="zh-CN" sz="1600" b="1" dirty="0" err="1">
                <a:latin typeface="华文新魏" panose="02010800040101010101" pitchFamily="2" charset="-122"/>
                <a:ea typeface="华文新魏" panose="02010800040101010101" pitchFamily="2" charset="-122"/>
              </a:rPr>
              <a:t>strcpy</a:t>
            </a:r>
            <a:r>
              <a:rPr lang="en-US" altLang="zh-CN" sz="1600" b="1" dirty="0">
                <a:latin typeface="华文新魏" panose="02010800040101010101" pitchFamily="2" charset="-122"/>
                <a:ea typeface="华文新魏" panose="02010800040101010101" pitchFamily="2" charset="-122"/>
              </a:rPr>
              <a:t> (</a:t>
            </a:r>
            <a:r>
              <a:rPr lang="en-US" altLang="zh-CN" sz="1600" b="1" dirty="0">
                <a:solidFill>
                  <a:srgbClr val="FF0000"/>
                </a:solidFill>
                <a:latin typeface="华文新魏" panose="02010800040101010101" pitchFamily="2" charset="-122"/>
                <a:ea typeface="华文新魏" panose="02010800040101010101" pitchFamily="2" charset="-122"/>
              </a:rPr>
              <a:t> (char *) </a:t>
            </a:r>
            <a:r>
              <a:rPr lang="en-US" altLang="zh-CN" sz="1600" b="1" dirty="0">
                <a:latin typeface="华文新魏" panose="02010800040101010101" pitchFamily="2" charset="-122"/>
                <a:ea typeface="华文新魏" panose="02010800040101010101" pitchFamily="2" charset="-122"/>
              </a:rPr>
              <a:t>name,  n)   ;  } //</a:t>
            </a:r>
            <a:r>
              <a:rPr lang="zh-CN" altLang="en-US" sz="1600" b="1" dirty="0">
                <a:latin typeface="华文新魏" panose="02010800040101010101" pitchFamily="2" charset="-122"/>
                <a:ea typeface="华文新魏" panose="02010800040101010101" pitchFamily="2" charset="-122"/>
              </a:rPr>
              <a:t>必须强制将</a:t>
            </a:r>
            <a:r>
              <a:rPr lang="en-US" altLang="zh-CN" sz="1600" b="1" dirty="0">
                <a:latin typeface="华文新魏" panose="02010800040101010101" pitchFamily="2" charset="-122"/>
                <a:ea typeface="华文新魏" panose="02010800040101010101" pitchFamily="2" charset="-122"/>
              </a:rPr>
              <a:t>volatile char * </a:t>
            </a:r>
            <a:r>
              <a:rPr lang="zh-CN" altLang="en-US" sz="1600" b="1" dirty="0">
                <a:latin typeface="华文新魏" panose="02010800040101010101" pitchFamily="2" charset="-122"/>
                <a:ea typeface="华文新魏" panose="02010800040101010101" pitchFamily="2" charset="-122"/>
              </a:rPr>
              <a:t>转换为</a:t>
            </a:r>
            <a:r>
              <a:rPr lang="en-US" altLang="zh-CN" sz="1600" b="1" dirty="0">
                <a:latin typeface="华文新魏" panose="02010800040101010101" pitchFamily="2" charset="-122"/>
                <a:ea typeface="华文新魏" panose="02010800040101010101" pitchFamily="2" charset="-122"/>
              </a:rPr>
              <a:t>char *	</a:t>
            </a:r>
          </a:p>
          <a:p>
            <a:r>
              <a:rPr lang="en-US" altLang="zh-CN" sz="1600" b="1" dirty="0">
                <a:latin typeface="华文新魏" panose="02010800040101010101" pitchFamily="2" charset="-122"/>
                <a:ea typeface="华文新魏" panose="02010800040101010101" pitchFamily="2" charset="-122"/>
              </a:rPr>
              <a:t>   void query (char* &amp;n,  char &amp;s,  int &amp;w)   </a:t>
            </a:r>
            <a:r>
              <a:rPr lang="en-US" altLang="zh-CN" sz="1600" b="1" dirty="0">
                <a:solidFill>
                  <a:srgbClr val="FF0000"/>
                </a:solidFill>
                <a:latin typeface="华文新魏" panose="02010800040101010101" pitchFamily="2" charset="-122"/>
                <a:ea typeface="华文新魏" panose="02010800040101010101" pitchFamily="2" charset="-122"/>
              </a:rPr>
              <a:t>const</a:t>
            </a:r>
            <a:r>
              <a:rPr lang="en-US" altLang="zh-CN" sz="1600" b="1" dirty="0">
                <a:latin typeface="华文新魏" panose="02010800040101010101" pitchFamily="2" charset="-122"/>
                <a:ea typeface="华文新魏" panose="02010800040101010101" pitchFamily="2" charset="-122"/>
              </a:rPr>
              <a:t> </a:t>
            </a:r>
          </a:p>
          <a:p>
            <a:r>
              <a:rPr lang="en-US" altLang="zh-CN" sz="1600" b="1" dirty="0">
                <a:latin typeface="华文新魏" panose="02010800040101010101" pitchFamily="2" charset="-122"/>
                <a:ea typeface="华文新魏" panose="02010800040101010101" pitchFamily="2" charset="-122"/>
              </a:rPr>
              <a:t>    //</a:t>
            </a:r>
            <a:r>
              <a:rPr lang="zh-CN" altLang="en-US" sz="1600" b="1" dirty="0">
                <a:latin typeface="华文新魏" panose="02010800040101010101" pitchFamily="2" charset="-122"/>
                <a:ea typeface="华文新魏" panose="02010800040101010101" pitchFamily="2" charset="-122"/>
              </a:rPr>
              <a:t>函数体不能修改当前对象</a:t>
            </a:r>
            <a:r>
              <a:rPr lang="en-US" altLang="zh-CN" sz="1600" b="1" dirty="0">
                <a:latin typeface="华文新魏" panose="02010800040101010101" pitchFamily="2" charset="-122"/>
                <a:ea typeface="华文新魏" panose="02010800040101010101" pitchFamily="2" charset="-122"/>
              </a:rPr>
              <a:t>, </a:t>
            </a:r>
            <a:r>
              <a:rPr lang="zh-CN" altLang="en-US" sz="1600" b="1" dirty="0">
                <a:latin typeface="华文新魏" panose="02010800040101010101" pitchFamily="2" charset="-122"/>
                <a:ea typeface="华文新魏" panose="02010800040101010101" pitchFamily="2" charset="-122"/>
              </a:rPr>
              <a:t>但修改机动成员。</a:t>
            </a:r>
            <a:r>
              <a:rPr lang="en-US" altLang="zh-CN" sz="1600" b="1" dirty="0">
                <a:solidFill>
                  <a:srgbClr val="FF0000"/>
                </a:solidFill>
                <a:latin typeface="华文新魏" panose="02010800040101010101" pitchFamily="2" charset="-122"/>
                <a:ea typeface="华文新魏" panose="02010800040101010101" pitchFamily="2" charset="-122"/>
              </a:rPr>
              <a:t>&amp;name[0]</a:t>
            </a:r>
            <a:r>
              <a:rPr lang="zh-CN" altLang="en-US" sz="1600" b="1" dirty="0">
                <a:solidFill>
                  <a:srgbClr val="FF0000"/>
                </a:solidFill>
                <a:latin typeface="华文新魏" panose="02010800040101010101" pitchFamily="2" charset="-122"/>
                <a:ea typeface="华文新魏" panose="02010800040101010101" pitchFamily="2" charset="-122"/>
              </a:rPr>
              <a:t>类型为</a:t>
            </a:r>
            <a:r>
              <a:rPr lang="en-US" altLang="zh-CN" sz="1600" b="1" dirty="0">
                <a:solidFill>
                  <a:srgbClr val="FF0000"/>
                </a:solidFill>
                <a:latin typeface="华文新魏" panose="02010800040101010101" pitchFamily="2" charset="-122"/>
                <a:ea typeface="华文新魏" panose="02010800040101010101" pitchFamily="2" charset="-122"/>
              </a:rPr>
              <a:t>const char *</a:t>
            </a:r>
          </a:p>
          <a:p>
            <a:r>
              <a:rPr lang="en-US" altLang="zh-CN" sz="1600" b="1" dirty="0">
                <a:latin typeface="华文新魏" panose="02010800040101010101" pitchFamily="2" charset="-122"/>
                <a:ea typeface="华文新魏" panose="02010800040101010101" pitchFamily="2" charset="-122"/>
              </a:rPr>
              <a:t>    {  n=</a:t>
            </a:r>
            <a:r>
              <a:rPr lang="en-US" altLang="zh-CN" sz="1600" b="1" dirty="0">
                <a:solidFill>
                  <a:srgbClr val="FF0000"/>
                </a:solidFill>
                <a:latin typeface="华文新魏" panose="02010800040101010101" pitchFamily="2" charset="-122"/>
                <a:ea typeface="华文新魏" panose="02010800040101010101" pitchFamily="2" charset="-122"/>
              </a:rPr>
              <a:t> (char*) </a:t>
            </a:r>
            <a:r>
              <a:rPr lang="en-US" altLang="zh-CN" sz="1600" b="1" dirty="0">
                <a:latin typeface="华文新魏" panose="02010800040101010101" pitchFamily="2" charset="-122"/>
                <a:ea typeface="华文新魏" panose="02010800040101010101" pitchFamily="2" charset="-122"/>
              </a:rPr>
              <a:t>&amp;name[0];  s=gender;  w=wage;  </a:t>
            </a:r>
          </a:p>
          <a:p>
            <a:r>
              <a:rPr lang="en-US" altLang="zh-CN" sz="1600" b="1" dirty="0">
                <a:latin typeface="华文新魏" panose="02010800040101010101" pitchFamily="2" charset="-122"/>
                <a:ea typeface="华文新魏" panose="02010800040101010101" pitchFamily="2" charset="-122"/>
              </a:rPr>
              <a:t>       wage ++; 		 //</a:t>
            </a:r>
            <a:r>
              <a:rPr lang="zh-CN" altLang="en-US" sz="1600" b="1" dirty="0">
                <a:latin typeface="华文新魏" panose="02010800040101010101" pitchFamily="2" charset="-122"/>
                <a:ea typeface="华文新魏" panose="02010800040101010101" pitchFamily="2" charset="-122"/>
              </a:rPr>
              <a:t>错误，不能修改</a:t>
            </a:r>
            <a:r>
              <a:rPr lang="en-US" altLang="zh-CN" sz="1600" b="1" dirty="0">
                <a:latin typeface="华文新魏" panose="02010800040101010101" pitchFamily="2" charset="-122"/>
                <a:ea typeface="华文新魏" panose="02010800040101010101" pitchFamily="2" charset="-122"/>
              </a:rPr>
              <a:t>const</a:t>
            </a:r>
            <a:r>
              <a:rPr lang="zh-CN" altLang="en-US" sz="1600" b="1" dirty="0">
                <a:latin typeface="华文新魏" panose="02010800040101010101" pitchFamily="2" charset="-122"/>
                <a:ea typeface="华文新魏" panose="02010800040101010101" pitchFamily="2" charset="-122"/>
              </a:rPr>
              <a:t>对象的成员</a:t>
            </a:r>
          </a:p>
          <a:p>
            <a:r>
              <a:rPr lang="zh-CN" altLang="en-US" sz="1600" b="1" dirty="0">
                <a:solidFill>
                  <a:srgbClr val="FF0000"/>
                </a:solidFill>
                <a:latin typeface="华文新魏" panose="02010800040101010101" pitchFamily="2" charset="-122"/>
                <a:ea typeface="华文新魏" panose="02010800040101010101" pitchFamily="2" charset="-122"/>
              </a:rPr>
              <a:t>      </a:t>
            </a:r>
            <a:r>
              <a:rPr lang="en-US" altLang="zh-CN" sz="1600" b="1" dirty="0" err="1">
                <a:solidFill>
                  <a:srgbClr val="FF0000"/>
                </a:solidFill>
                <a:latin typeface="华文新魏" panose="02010800040101010101" pitchFamily="2" charset="-122"/>
                <a:ea typeface="华文新魏" panose="02010800040101010101" pitchFamily="2" charset="-122"/>
              </a:rPr>
              <a:t>querytimes</a:t>
            </a:r>
            <a:r>
              <a:rPr lang="en-US" altLang="zh-CN" sz="1600" b="1" dirty="0">
                <a:solidFill>
                  <a:srgbClr val="FF0000"/>
                </a:solidFill>
                <a:latin typeface="华文新魏" panose="02010800040101010101" pitchFamily="2" charset="-122"/>
                <a:ea typeface="华文新魏" panose="02010800040101010101" pitchFamily="2" charset="-122"/>
              </a:rPr>
              <a:t>++</a:t>
            </a:r>
            <a:r>
              <a:rPr lang="en-US" altLang="zh-CN" sz="1600" b="1" dirty="0">
                <a:latin typeface="华文新魏" panose="02010800040101010101" pitchFamily="2" charset="-122"/>
                <a:ea typeface="华文新魏" panose="02010800040101010101" pitchFamily="2" charset="-122"/>
              </a:rPr>
              <a:t>; 		//ok</a:t>
            </a:r>
            <a:r>
              <a:rPr lang="zh-CN" altLang="en-US" sz="1600" b="1" dirty="0">
                <a:latin typeface="华文新魏" panose="02010800040101010101" pitchFamily="2" charset="-122"/>
                <a:ea typeface="华文新魏" panose="02010800040101010101" pitchFamily="2" charset="-122"/>
              </a:rPr>
              <a:t>，</a:t>
            </a:r>
            <a:r>
              <a:rPr lang="en-US" altLang="zh-CN" sz="1600" b="1" dirty="0" err="1">
                <a:latin typeface="华文新魏" panose="02010800040101010101" pitchFamily="2" charset="-122"/>
                <a:ea typeface="华文新魏" panose="02010800040101010101" pitchFamily="2" charset="-122"/>
              </a:rPr>
              <a:t>querytimes</a:t>
            </a:r>
            <a:r>
              <a:rPr lang="zh-CN" altLang="en-US" sz="1600" b="1" dirty="0">
                <a:latin typeface="华文新魏" panose="02010800040101010101" pitchFamily="2" charset="-122"/>
                <a:ea typeface="华文新魏" panose="02010800040101010101" pitchFamily="2" charset="-122"/>
              </a:rPr>
              <a:t>是</a:t>
            </a:r>
            <a:r>
              <a:rPr lang="en-US" altLang="zh-CN" sz="1600" b="1" dirty="0">
                <a:latin typeface="华文新魏" panose="02010800040101010101" pitchFamily="2" charset="-122"/>
                <a:ea typeface="华文新魏" panose="02010800040101010101" pitchFamily="2" charset="-122"/>
              </a:rPr>
              <a:t>mutable</a:t>
            </a:r>
            <a:r>
              <a:rPr lang="zh-CN" altLang="en-US" sz="1600" b="1" dirty="0">
                <a:latin typeface="华文新魏" panose="02010800040101010101" pitchFamily="2" charset="-122"/>
                <a:ea typeface="华文新魏" panose="02010800040101010101" pitchFamily="2" charset="-122"/>
              </a:rPr>
              <a:t>成员 </a:t>
            </a:r>
          </a:p>
          <a:p>
            <a:r>
              <a:rPr lang="zh-CN" altLang="en-US" sz="1600" b="1" dirty="0">
                <a:latin typeface="华文新魏" panose="02010800040101010101" pitchFamily="2" charset="-122"/>
                <a:ea typeface="华文新魏" panose="02010800040101010101" pitchFamily="2" charset="-122"/>
              </a:rPr>
              <a:t>    </a:t>
            </a:r>
            <a:r>
              <a:rPr lang="en-US" altLang="zh-CN" sz="1600" b="1" dirty="0">
                <a:latin typeface="华文新魏" panose="02010800040101010101" pitchFamily="2" charset="-122"/>
                <a:ea typeface="华文新魏" panose="02010800040101010101" pitchFamily="2" charset="-122"/>
              </a:rPr>
              <a:t>}</a:t>
            </a:r>
          </a:p>
          <a:p>
            <a:r>
              <a:rPr lang="en-US" altLang="zh-CN" sz="1600" b="1" dirty="0">
                <a:latin typeface="华文新魏" panose="02010800040101010101" pitchFamily="2" charset="-122"/>
                <a:ea typeface="华文新魏" panose="02010800040101010101" pitchFamily="2" charset="-122"/>
              </a:rPr>
              <a:t>}; </a:t>
            </a:r>
          </a:p>
        </p:txBody>
      </p:sp>
    </p:spTree>
    <p:extLst>
      <p:ext uri="{BB962C8B-B14F-4D97-AF65-F5344CB8AC3E}">
        <p14:creationId xmlns:p14="http://schemas.microsoft.com/office/powerpoint/2010/main" val="1933638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5</a:t>
            </a:r>
            <a:r>
              <a:rPr lang="zh-CN" altLang="en-US" b="1" dirty="0">
                <a:latin typeface="隶书" panose="02010509060101010101" pitchFamily="49" charset="-122"/>
                <a:ea typeface="隶书" panose="02010509060101010101" pitchFamily="49" charset="-122"/>
              </a:rPr>
              <a:t>章 </a:t>
            </a:r>
            <a:r>
              <a:rPr lang="zh-CN" altLang="zh-CN" b="1" dirty="0">
                <a:latin typeface="隶书" panose="02010509060101010101" pitchFamily="49" charset="-122"/>
                <a:ea typeface="隶书" panose="02010509060101010101" pitchFamily="49" charset="-122"/>
              </a:rPr>
              <a:t>成员及成员指针</a:t>
            </a:r>
            <a:endParaRPr lang="zh-CN" altLang="en-US" b="1" dirty="0">
              <a:latin typeface="隶书" panose="02010509060101010101" pitchFamily="49" charset="-122"/>
              <a:ea typeface="隶书" panose="02010509060101010101" pitchFamily="49" charset="-122"/>
            </a:endParaRP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5.2  const</a:t>
            </a:r>
            <a:r>
              <a:rPr lang="zh-CN" altLang="en-US" dirty="0">
                <a:latin typeface="华文新魏" panose="02010800040101010101" pitchFamily="2" charset="-122"/>
                <a:ea typeface="华文新魏" panose="02010800040101010101" pitchFamily="2" charset="-122"/>
              </a:rPr>
              <a:t>、</a:t>
            </a:r>
            <a:r>
              <a:rPr lang="en-US" altLang="zh-CN" dirty="0">
                <a:latin typeface="华文新魏" panose="02010800040101010101" pitchFamily="2" charset="-122"/>
                <a:ea typeface="华文新魏" panose="02010800040101010101" pitchFamily="2" charset="-122"/>
              </a:rPr>
              <a:t>volatile</a:t>
            </a:r>
            <a:r>
              <a:rPr lang="zh-CN" altLang="en-US" dirty="0">
                <a:latin typeface="华文新魏" panose="02010800040101010101" pitchFamily="2" charset="-122"/>
                <a:ea typeface="华文新魏" panose="02010800040101010101" pitchFamily="2" charset="-122"/>
              </a:rPr>
              <a:t>和</a:t>
            </a:r>
            <a:r>
              <a:rPr lang="en-US" altLang="zh-CN" dirty="0">
                <a:latin typeface="华文新魏" panose="02010800040101010101" pitchFamily="2" charset="-122"/>
                <a:ea typeface="华文新魏" panose="02010800040101010101" pitchFamily="2" charset="-122"/>
              </a:rPr>
              <a:t>mutable</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0930295" cy="2614114"/>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函数成员参数表后出现</a:t>
            </a:r>
            <a:r>
              <a:rPr lang="en-US" altLang="zh-CN" sz="2400" b="1" dirty="0">
                <a:latin typeface="华文新魏" panose="02010800040101010101" pitchFamily="2" charset="-122"/>
                <a:ea typeface="华文新魏" panose="02010800040101010101" pitchFamily="2" charset="-122"/>
              </a:rPr>
              <a:t>volatile</a:t>
            </a:r>
            <a:r>
              <a:rPr lang="zh-CN" altLang="en-US" sz="2400" b="1" dirty="0">
                <a:latin typeface="华文新魏" panose="02010800040101010101" pitchFamily="2" charset="-122"/>
                <a:ea typeface="华文新魏" panose="02010800040101010101" pitchFamily="2" charset="-122"/>
              </a:rPr>
              <a:t>，常表示调用该函数成员的对象是挥发对象，这通常意味着存在并发执行的进程。</a:t>
            </a:r>
          </a:p>
          <a:p>
            <a:pPr lvl="1">
              <a:lnSpc>
                <a:spcPct val="90000"/>
              </a:lnSpc>
              <a:spcBef>
                <a:spcPts val="500"/>
              </a:spcBef>
              <a:defRPr/>
            </a:pPr>
            <a:r>
              <a:rPr lang="zh-CN" altLang="en-US" sz="2400" b="1" dirty="0">
                <a:latin typeface="华文新魏" panose="02010800040101010101" pitchFamily="2" charset="-122"/>
                <a:ea typeface="华文新魏" panose="02010800040101010101" pitchFamily="2" charset="-122"/>
              </a:rPr>
              <a:t>		</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函数成员参数表后出现</a:t>
            </a:r>
            <a:r>
              <a:rPr lang="en-US" altLang="zh-CN" sz="2400" b="1" dirty="0">
                <a:solidFill>
                  <a:srgbClr val="FF0000"/>
                </a:solidFill>
                <a:latin typeface="华文新魏" panose="02010800040101010101" pitchFamily="2" charset="-122"/>
                <a:ea typeface="华文新魏" panose="02010800040101010101" pitchFamily="2" charset="-122"/>
              </a:rPr>
              <a:t>const</a:t>
            </a:r>
            <a:r>
              <a:rPr lang="zh-CN" altLang="en-US" sz="2400" b="1" dirty="0">
                <a:solidFill>
                  <a:srgbClr val="FF0000"/>
                </a:solidFill>
                <a:latin typeface="华文新魏" panose="02010800040101010101" pitchFamily="2" charset="-122"/>
                <a:ea typeface="华文新魏" panose="02010800040101010101" pitchFamily="2" charset="-122"/>
              </a:rPr>
              <a:t>时，不能修改调用对象的非静态数据成员，但如果该数据成员的存储类为</a:t>
            </a:r>
            <a:r>
              <a:rPr lang="en-US" altLang="zh-CN" sz="2400" b="1" dirty="0">
                <a:solidFill>
                  <a:srgbClr val="FF0000"/>
                </a:solidFill>
                <a:latin typeface="华文新魏" panose="02010800040101010101" pitchFamily="2" charset="-122"/>
                <a:ea typeface="华文新魏" panose="02010800040101010101" pitchFamily="2" charset="-122"/>
              </a:rPr>
              <a:t>mutable</a:t>
            </a:r>
            <a:r>
              <a:rPr lang="zh-CN" altLang="en-US" sz="2400" b="1" dirty="0">
                <a:solidFill>
                  <a:srgbClr val="FF0000"/>
                </a:solidFill>
                <a:latin typeface="华文新魏" panose="02010800040101010101" pitchFamily="2" charset="-122"/>
                <a:ea typeface="华文新魏" panose="02010800040101010101" pitchFamily="2" charset="-122"/>
              </a:rPr>
              <a:t>，则该数据成员就可以被修改。</a:t>
            </a:r>
          </a:p>
          <a:p>
            <a:pPr marL="685800" lvl="1" indent="-228600">
              <a:lnSpc>
                <a:spcPct val="90000"/>
              </a:lnSpc>
              <a:spcBef>
                <a:spcPts val="500"/>
              </a:spcBef>
              <a:buFont typeface="Wingdings" panose="05000000000000000000" pitchFamily="2" charset="2"/>
              <a:buChar char="l"/>
              <a:defRPr/>
            </a:pPr>
            <a:r>
              <a:rPr lang="en-US" altLang="zh-CN" sz="2400" b="1" dirty="0">
                <a:solidFill>
                  <a:srgbClr val="FF0000"/>
                </a:solidFill>
                <a:latin typeface="华文新魏" panose="02010800040101010101" pitchFamily="2" charset="-122"/>
                <a:ea typeface="华文新魏" panose="02010800040101010101" pitchFamily="2" charset="-122"/>
              </a:rPr>
              <a:t>mutable</a:t>
            </a:r>
            <a:r>
              <a:rPr lang="zh-CN" altLang="en-US" sz="2400" b="1" dirty="0">
                <a:solidFill>
                  <a:srgbClr val="FF0000"/>
                </a:solidFill>
                <a:latin typeface="华文新魏" panose="02010800040101010101" pitchFamily="2" charset="-122"/>
                <a:ea typeface="华文新魏" panose="02010800040101010101" pitchFamily="2" charset="-122"/>
              </a:rPr>
              <a:t>说明数据成员为机动数据成员，该成员不能用</a:t>
            </a:r>
            <a:r>
              <a:rPr lang="en-US" altLang="zh-CN" sz="2400" b="1" dirty="0">
                <a:solidFill>
                  <a:srgbClr val="FF0000"/>
                </a:solidFill>
                <a:latin typeface="华文新魏" panose="02010800040101010101" pitchFamily="2" charset="-122"/>
                <a:ea typeface="华文新魏" panose="02010800040101010101" pitchFamily="2" charset="-122"/>
              </a:rPr>
              <a:t>const</a:t>
            </a:r>
            <a:r>
              <a:rPr lang="zh-CN" altLang="en-US" sz="2400" b="1" dirty="0">
                <a:solidFill>
                  <a:srgbClr val="FF0000"/>
                </a:solidFill>
                <a:latin typeface="华文新魏" panose="02010800040101010101" pitchFamily="2" charset="-122"/>
                <a:ea typeface="华文新魏" panose="02010800040101010101" pitchFamily="2" charset="-122"/>
              </a:rPr>
              <a:t>、</a:t>
            </a:r>
            <a:r>
              <a:rPr lang="en-US" altLang="zh-CN" sz="2400" b="1" dirty="0">
                <a:solidFill>
                  <a:srgbClr val="FF0000"/>
                </a:solidFill>
                <a:latin typeface="华文新魏" panose="02010800040101010101" pitchFamily="2" charset="-122"/>
                <a:ea typeface="华文新魏" panose="02010800040101010101" pitchFamily="2" charset="-122"/>
              </a:rPr>
              <a:t>volatile</a:t>
            </a:r>
            <a:r>
              <a:rPr lang="zh-CN" altLang="en-US" sz="2400" b="1" dirty="0">
                <a:solidFill>
                  <a:srgbClr val="FF0000"/>
                </a:solidFill>
                <a:latin typeface="华文新魏" panose="02010800040101010101" pitchFamily="2" charset="-122"/>
                <a:ea typeface="华文新魏" panose="02010800040101010101" pitchFamily="2" charset="-122"/>
              </a:rPr>
              <a:t>或</a:t>
            </a:r>
            <a:r>
              <a:rPr lang="en-US" altLang="zh-CN" sz="2400" b="1" dirty="0">
                <a:solidFill>
                  <a:srgbClr val="FF0000"/>
                </a:solidFill>
                <a:latin typeface="华文新魏" panose="02010800040101010101" pitchFamily="2" charset="-122"/>
                <a:ea typeface="华文新魏" panose="02010800040101010101" pitchFamily="2" charset="-122"/>
              </a:rPr>
              <a:t>static</a:t>
            </a:r>
            <a:r>
              <a:rPr lang="zh-CN" altLang="en-US" sz="2400" b="1" dirty="0">
                <a:solidFill>
                  <a:srgbClr val="FF0000"/>
                </a:solidFill>
                <a:latin typeface="华文新魏" panose="02010800040101010101" pitchFamily="2" charset="-122"/>
                <a:ea typeface="华文新魏" panose="02010800040101010101" pitchFamily="2" charset="-122"/>
              </a:rPr>
              <a:t>修饰。 </a:t>
            </a:r>
          </a:p>
        </p:txBody>
      </p:sp>
    </p:spTree>
    <p:extLst>
      <p:ext uri="{BB962C8B-B14F-4D97-AF65-F5344CB8AC3E}">
        <p14:creationId xmlns:p14="http://schemas.microsoft.com/office/powerpoint/2010/main" val="2079322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5</a:t>
            </a:r>
            <a:r>
              <a:rPr lang="zh-CN" altLang="en-US" b="1" dirty="0">
                <a:latin typeface="隶书" panose="02010509060101010101" pitchFamily="49" charset="-122"/>
                <a:ea typeface="隶书" panose="02010509060101010101" pitchFamily="49" charset="-122"/>
              </a:rPr>
              <a:t>章 </a:t>
            </a:r>
            <a:r>
              <a:rPr lang="zh-CN" altLang="zh-CN" b="1" dirty="0">
                <a:latin typeface="隶书" panose="02010509060101010101" pitchFamily="49" charset="-122"/>
                <a:ea typeface="隶书" panose="02010509060101010101" pitchFamily="49" charset="-122"/>
              </a:rPr>
              <a:t>成员及成员指针</a:t>
            </a:r>
            <a:endParaRPr lang="zh-CN" altLang="en-US" b="1" dirty="0">
              <a:latin typeface="隶书" panose="02010509060101010101" pitchFamily="49" charset="-122"/>
              <a:ea typeface="隶书" panose="02010509060101010101" pitchFamily="49" charset="-122"/>
            </a:endParaRP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5.2  const</a:t>
            </a:r>
            <a:r>
              <a:rPr lang="zh-CN" altLang="en-US" dirty="0">
                <a:latin typeface="华文新魏" panose="02010800040101010101" pitchFamily="2" charset="-122"/>
                <a:ea typeface="华文新魏" panose="02010800040101010101" pitchFamily="2" charset="-122"/>
              </a:rPr>
              <a:t>、</a:t>
            </a:r>
            <a:r>
              <a:rPr lang="en-US" altLang="zh-CN" dirty="0">
                <a:latin typeface="华文新魏" panose="02010800040101010101" pitchFamily="2" charset="-122"/>
                <a:ea typeface="华文新魏" panose="02010800040101010101" pitchFamily="2" charset="-122"/>
              </a:rPr>
              <a:t>volatile</a:t>
            </a:r>
            <a:r>
              <a:rPr lang="zh-CN" altLang="en-US" dirty="0">
                <a:latin typeface="华文新魏" panose="02010800040101010101" pitchFamily="2" charset="-122"/>
                <a:ea typeface="华文新魏" panose="02010800040101010101" pitchFamily="2" charset="-122"/>
              </a:rPr>
              <a:t>和</a:t>
            </a:r>
            <a:r>
              <a:rPr lang="en-US" altLang="zh-CN" dirty="0">
                <a:latin typeface="华文新魏" panose="02010800040101010101" pitchFamily="2" charset="-122"/>
                <a:ea typeface="华文新魏" panose="02010800040101010101" pitchFamily="2" charset="-122"/>
              </a:rPr>
              <a:t>mutable</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0930295" cy="3278911"/>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有址（左值）引用变量</a:t>
            </a:r>
            <a:r>
              <a:rPr lang="en-US" altLang="zh-CN" sz="2400" b="1" dirty="0">
                <a:latin typeface="华文新魏" panose="02010800040101010101" pitchFamily="2" charset="-122"/>
                <a:ea typeface="华文新魏" panose="02010800040101010101" pitchFamily="2" charset="-122"/>
              </a:rPr>
              <a:t>(&amp;)</a:t>
            </a:r>
            <a:r>
              <a:rPr lang="zh-CN" altLang="en-US" sz="2400" b="1" dirty="0">
                <a:solidFill>
                  <a:srgbClr val="FF0000"/>
                </a:solidFill>
                <a:latin typeface="华文新魏" panose="02010800040101010101" pitchFamily="2" charset="-122"/>
                <a:ea typeface="华文新魏" panose="02010800040101010101" pitchFamily="2" charset="-122"/>
              </a:rPr>
              <a:t>只是被引用对象的别名，被引用对象自己负责构造和析构</a:t>
            </a:r>
            <a:r>
              <a:rPr lang="zh-CN" altLang="en-US" sz="2400" b="1" dirty="0">
                <a:latin typeface="华文新魏" panose="02010800040101010101" pitchFamily="2" charset="-122"/>
                <a:ea typeface="华文新魏" panose="02010800040101010101" pitchFamily="2" charset="-122"/>
              </a:rPr>
              <a:t>，该引用变量</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逻辑上不分配内存的实体</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不必构造和析构。</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无址（右值）引用变量</a:t>
            </a:r>
            <a:r>
              <a:rPr lang="en-US" altLang="zh-CN" sz="2400" b="1" dirty="0">
                <a:latin typeface="华文新魏" panose="02010800040101010101" pitchFamily="2" charset="-122"/>
                <a:ea typeface="华文新魏" panose="02010800040101010101" pitchFamily="2" charset="-122"/>
              </a:rPr>
              <a:t>(&amp;&amp;)</a:t>
            </a:r>
            <a:r>
              <a:rPr lang="zh-CN" altLang="en-US" sz="2400" b="1" dirty="0">
                <a:latin typeface="华文新魏" panose="02010800040101010101" pitchFamily="2" charset="-122"/>
                <a:ea typeface="华文新魏" panose="02010800040101010101" pitchFamily="2" charset="-122"/>
              </a:rPr>
              <a:t>常用来引用常量对象或者生命周期即将结束的对象，该引用变量</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逻辑上不分配缓存的实体</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不必构造和析构。无址引用变量为左值，但若同时用</a:t>
            </a:r>
            <a:r>
              <a:rPr lang="en-US" altLang="zh-CN" sz="2400" b="1" dirty="0">
                <a:latin typeface="华文新魏" panose="02010800040101010101" pitchFamily="2" charset="-122"/>
                <a:ea typeface="华文新魏" panose="02010800040101010101" pitchFamily="2" charset="-122"/>
              </a:rPr>
              <a:t>const</a:t>
            </a:r>
            <a:r>
              <a:rPr lang="zh-CN" altLang="en-US" sz="2400" b="1" dirty="0">
                <a:latin typeface="华文新魏" panose="02010800040101010101" pitchFamily="2" charset="-122"/>
                <a:ea typeface="华文新魏" panose="02010800040101010101" pitchFamily="2" charset="-122"/>
              </a:rPr>
              <a:t>定义则不能出现在</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左边。</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如果</a:t>
            </a:r>
            <a:r>
              <a:rPr lang="en-US" altLang="zh-CN" sz="2400" b="1" dirty="0">
                <a:latin typeface="华文新魏" panose="02010800040101010101" pitchFamily="2" charset="-122"/>
                <a:ea typeface="华文新魏" panose="02010800040101010101" pitchFamily="2" charset="-122"/>
              </a:rPr>
              <a:t>A</a:t>
            </a:r>
            <a:r>
              <a:rPr lang="zh-CN" altLang="en-US" sz="2400" b="1" dirty="0">
                <a:latin typeface="华文新魏" panose="02010800040101010101" pitchFamily="2" charset="-122"/>
                <a:ea typeface="华文新魏" panose="02010800040101010101" pitchFamily="2" charset="-122"/>
              </a:rPr>
              <a:t>类型的有址（左值）引用变量</a:t>
            </a:r>
            <a:r>
              <a:rPr lang="en-US" altLang="zh-CN" sz="2400" b="1" dirty="0">
                <a:latin typeface="华文新魏" panose="02010800040101010101" pitchFamily="2" charset="-122"/>
                <a:ea typeface="华文新魏" panose="02010800040101010101" pitchFamily="2" charset="-122"/>
              </a:rPr>
              <a:t>r</a:t>
            </a:r>
            <a:r>
              <a:rPr lang="zh-CN" altLang="en-US" sz="2400" b="1" dirty="0">
                <a:latin typeface="华文新魏" panose="02010800040101010101" pitchFamily="2" charset="-122"/>
                <a:ea typeface="华文新魏" panose="02010800040101010101" pitchFamily="2" charset="-122"/>
              </a:rPr>
              <a:t>引用了</a:t>
            </a:r>
            <a:r>
              <a:rPr lang="en-US" altLang="zh-CN" sz="2400" b="1" dirty="0">
                <a:latin typeface="华文新魏" panose="02010800040101010101" pitchFamily="2" charset="-122"/>
                <a:ea typeface="华文新魏" panose="02010800040101010101" pitchFamily="2" charset="-122"/>
              </a:rPr>
              <a:t>new</a:t>
            </a:r>
            <a:r>
              <a:rPr lang="zh-CN" altLang="en-US" sz="2400" b="1" dirty="0">
                <a:latin typeface="华文新魏" panose="02010800040101010101" pitchFamily="2" charset="-122"/>
                <a:ea typeface="华文新魏" panose="02010800040101010101" pitchFamily="2" charset="-122"/>
              </a:rPr>
              <a:t>生成的</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一定有址的）对象</a:t>
            </a:r>
            <a:r>
              <a:rPr lang="en-US" altLang="zh-CN" sz="2400" b="1" dirty="0">
                <a:latin typeface="华文新魏" panose="02010800040101010101" pitchFamily="2" charset="-122"/>
                <a:ea typeface="华文新魏" panose="02010800040101010101" pitchFamily="2" charset="-122"/>
              </a:rPr>
              <a:t>x</a:t>
            </a:r>
            <a:r>
              <a:rPr lang="zh-CN" altLang="en-US" sz="2400" b="1" dirty="0">
                <a:latin typeface="华文新魏" panose="02010800040101010101" pitchFamily="2" charset="-122"/>
                <a:ea typeface="华文新魏" panose="02010800040101010101" pitchFamily="2" charset="-122"/>
              </a:rPr>
              <a:t>，则应使用</a:t>
            </a:r>
            <a:r>
              <a:rPr lang="en-US" altLang="zh-CN" sz="2400" b="1" dirty="0">
                <a:solidFill>
                  <a:srgbClr val="FF0000"/>
                </a:solidFill>
                <a:latin typeface="华文新魏" panose="02010800040101010101" pitchFamily="2" charset="-122"/>
                <a:ea typeface="华文新魏" panose="02010800040101010101" pitchFamily="2" charset="-122"/>
              </a:rPr>
              <a:t>delete &amp;r</a:t>
            </a:r>
            <a:r>
              <a:rPr lang="zh-CN" altLang="en-US" sz="2400" b="1" dirty="0">
                <a:latin typeface="华文新魏" panose="02010800040101010101" pitchFamily="2" charset="-122"/>
                <a:ea typeface="华文新魏" panose="02010800040101010101" pitchFamily="2" charset="-122"/>
              </a:rPr>
              <a:t>析构</a:t>
            </a:r>
            <a:r>
              <a:rPr lang="en-US" altLang="zh-CN" sz="2400" b="1" dirty="0">
                <a:latin typeface="华文新魏" panose="02010800040101010101" pitchFamily="2" charset="-122"/>
                <a:ea typeface="华文新魏" panose="02010800040101010101" pitchFamily="2" charset="-122"/>
              </a:rPr>
              <a:t>x</a:t>
            </a:r>
            <a:r>
              <a:rPr lang="zh-CN" altLang="en-US" sz="2400" b="1" dirty="0">
                <a:latin typeface="华文新魏" panose="02010800040101010101" pitchFamily="2" charset="-122"/>
                <a:ea typeface="华文新魏" panose="02010800040101010101" pitchFamily="2" charset="-122"/>
              </a:rPr>
              <a:t>，同时释放其所占内存。</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引用变量必须在定义的同时初始化，函数的引用参数则在调用函数时初始化。非</a:t>
            </a:r>
            <a:r>
              <a:rPr lang="en-US" altLang="zh-CN" sz="2400" b="1" dirty="0">
                <a:latin typeface="华文新魏" panose="02010800040101010101" pitchFamily="2" charset="-122"/>
                <a:ea typeface="华文新魏" panose="02010800040101010101" pitchFamily="2" charset="-122"/>
              </a:rPr>
              <a:t>const</a:t>
            </a:r>
            <a:r>
              <a:rPr lang="zh-CN" altLang="en-US" sz="2400" b="1" dirty="0">
                <a:latin typeface="华文新魏" panose="02010800040101010101" pitchFamily="2" charset="-122"/>
                <a:ea typeface="华文新魏" panose="02010800040101010101" pitchFamily="2" charset="-122"/>
              </a:rPr>
              <a:t>左值引用变量和参数必须用同类型的左值表达式初始化。</a:t>
            </a:r>
          </a:p>
        </p:txBody>
      </p:sp>
    </p:spTree>
    <p:extLst>
      <p:ext uri="{BB962C8B-B14F-4D97-AF65-F5344CB8AC3E}">
        <p14:creationId xmlns:p14="http://schemas.microsoft.com/office/powerpoint/2010/main" val="18748651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左值引用对象</a:t>
            </a:r>
          </a:p>
        </p:txBody>
      </p:sp>
      <p:sp>
        <p:nvSpPr>
          <p:cNvPr id="4" name="TextBox 5">
            <a:extLst>
              <a:ext uri="{FF2B5EF4-FFF2-40B4-BE49-F238E27FC236}">
                <a16:creationId xmlns:a16="http://schemas.microsoft.com/office/drawing/2014/main" id="{4D463786-533F-4E71-88D3-9C7BA7F90953}"/>
              </a:ext>
            </a:extLst>
          </p:cNvPr>
          <p:cNvSpPr txBox="1">
            <a:spLocks noChangeArrowheads="1"/>
          </p:cNvSpPr>
          <p:nvPr/>
        </p:nvSpPr>
        <p:spPr bwMode="auto">
          <a:xfrm>
            <a:off x="1847528" y="1052736"/>
            <a:ext cx="8712968" cy="5616624"/>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10000"/>
              </a:lnSpc>
            </a:pPr>
            <a:r>
              <a:rPr lang="en-US" altLang="zh-CN" sz="2000" b="1" dirty="0">
                <a:latin typeface="华文新魏" panose="02010800040101010101" pitchFamily="2" charset="-122"/>
                <a:ea typeface="华文新魏" panose="02010800040101010101" pitchFamily="2" charset="-122"/>
              </a:rPr>
              <a:t>class A{</a:t>
            </a:r>
          </a:p>
          <a:p>
            <a:pPr>
              <a:lnSpc>
                <a:spcPct val="110000"/>
              </a:lnSpc>
            </a:pPr>
            <a:r>
              <a:rPr lang="en-US" altLang="zh-CN" sz="2000" b="1" dirty="0">
                <a:latin typeface="华文新魏" panose="02010800040101010101" pitchFamily="2" charset="-122"/>
                <a:ea typeface="华文新魏" panose="02010800040101010101" pitchFamily="2" charset="-122"/>
              </a:rPr>
              <a:t>	int i;</a:t>
            </a:r>
          </a:p>
          <a:p>
            <a:pPr>
              <a:lnSpc>
                <a:spcPct val="110000"/>
              </a:lnSpc>
            </a:pPr>
            <a:r>
              <a:rPr lang="en-US" altLang="zh-CN" sz="2000" b="1" dirty="0">
                <a:latin typeface="华文新魏" panose="02010800040101010101" pitchFamily="2" charset="-122"/>
                <a:ea typeface="华文新魏" panose="02010800040101010101" pitchFamily="2" charset="-122"/>
              </a:rPr>
              <a:t>public:</a:t>
            </a:r>
          </a:p>
          <a:p>
            <a:pPr>
              <a:lnSpc>
                <a:spcPct val="110000"/>
              </a:lnSpc>
            </a:pPr>
            <a:r>
              <a:rPr lang="en-US" altLang="zh-CN" sz="2000" b="1" dirty="0">
                <a:latin typeface="华文新魏" panose="02010800040101010101" pitchFamily="2" charset="-122"/>
                <a:ea typeface="华文新魏" panose="02010800040101010101" pitchFamily="2" charset="-122"/>
              </a:rPr>
              <a:t>	A(int i){ A::i= i;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&lt;&lt;"A:i = "&lt;&lt;i&lt;&lt;"\n";}</a:t>
            </a:r>
          </a:p>
          <a:p>
            <a:pPr>
              <a:lnSpc>
                <a:spcPct val="110000"/>
              </a:lnSpc>
            </a:pPr>
            <a:r>
              <a:rPr lang="en-US" altLang="zh-CN" sz="2000" b="1" dirty="0">
                <a:latin typeface="华文新魏" panose="02010800040101010101" pitchFamily="2" charset="-122"/>
                <a:ea typeface="华文新魏" panose="02010800040101010101" pitchFamily="2" charset="-122"/>
              </a:rPr>
              <a:t>	~A(){if(i)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&lt;&lt;"~</a:t>
            </a:r>
            <a:r>
              <a:rPr lang="en-US" altLang="zh-CN" sz="2000" b="1" dirty="0" err="1">
                <a:latin typeface="华文新魏" panose="02010800040101010101" pitchFamily="2" charset="-122"/>
                <a:ea typeface="华文新魏" panose="02010800040101010101" pitchFamily="2" charset="-122"/>
              </a:rPr>
              <a:t>A:i</a:t>
            </a:r>
            <a:r>
              <a:rPr lang="en-US" altLang="zh-CN" sz="2000" b="1" dirty="0">
                <a:latin typeface="华文新魏" panose="02010800040101010101" pitchFamily="2" charset="-122"/>
                <a:ea typeface="华文新魏" panose="02010800040101010101" pitchFamily="2" charset="-122"/>
              </a:rPr>
              <a:t> = "&lt;&lt;i&lt;&lt;"\</a:t>
            </a:r>
            <a:r>
              <a:rPr lang="en-US" altLang="zh-CN" sz="2000" b="1" dirty="0" err="1">
                <a:latin typeface="华文新魏" panose="02010800040101010101" pitchFamily="2" charset="-122"/>
                <a:ea typeface="华文新魏" panose="02010800040101010101" pitchFamily="2" charset="-122"/>
              </a:rPr>
              <a:t>n";i</a:t>
            </a:r>
            <a:r>
              <a:rPr lang="en-US" altLang="zh-CN" sz="2000" b="1" dirty="0">
                <a:latin typeface="华文新魏" panose="02010800040101010101" pitchFamily="2" charset="-122"/>
                <a:ea typeface="华文新魏" panose="02010800040101010101" pitchFamily="2" charset="-122"/>
              </a:rPr>
              <a:t>=0;}</a:t>
            </a:r>
          </a:p>
          <a:p>
            <a:pPr>
              <a:lnSpc>
                <a:spcPct val="110000"/>
              </a:lnSpc>
            </a:pPr>
            <a:r>
              <a:rPr lang="en-US" altLang="zh-CN" sz="2000" b="1" dirty="0">
                <a:latin typeface="华文新魏" panose="02010800040101010101" pitchFamily="2" charset="-122"/>
                <a:ea typeface="华文新魏" panose="02010800040101010101" pitchFamily="2" charset="-122"/>
              </a:rPr>
              <a:t>};</a:t>
            </a:r>
          </a:p>
          <a:p>
            <a:pPr>
              <a:lnSpc>
                <a:spcPct val="110000"/>
              </a:lnSpc>
            </a:pPr>
            <a:r>
              <a:rPr lang="en-US" altLang="zh-CN" sz="2000" b="1" dirty="0">
                <a:latin typeface="华文新魏" panose="02010800040101010101" pitchFamily="2" charset="-122"/>
                <a:ea typeface="华文新魏" panose="02010800040101010101" pitchFamily="2" charset="-122"/>
              </a:rPr>
              <a:t>void g(A </a:t>
            </a:r>
            <a:r>
              <a:rPr lang="en-US" altLang="zh-CN" sz="2000" b="1" dirty="0">
                <a:solidFill>
                  <a:srgbClr val="FF0000"/>
                </a:solidFill>
                <a:latin typeface="华文新魏" panose="02010800040101010101" pitchFamily="2" charset="-122"/>
                <a:ea typeface="华文新魏" panose="02010800040101010101" pitchFamily="2" charset="-122"/>
              </a:rPr>
              <a:t>&amp;</a:t>
            </a:r>
            <a:r>
              <a:rPr lang="en-US" altLang="zh-CN" sz="2000" b="1" dirty="0">
                <a:latin typeface="华文新魏" panose="02010800040101010101" pitchFamily="2" charset="-122"/>
                <a:ea typeface="华文新魏" panose="02010800040101010101" pitchFamily="2" charset="-122"/>
              </a:rPr>
              <a:t>a){</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&lt;&lt;"g is running\n";}</a:t>
            </a:r>
          </a:p>
          <a:p>
            <a:pPr>
              <a:lnSpc>
                <a:spcPct val="110000"/>
              </a:lnSpc>
            </a:pPr>
            <a:r>
              <a:rPr lang="en-US" altLang="zh-CN" sz="2000" b="1" dirty="0">
                <a:latin typeface="华文新魏" panose="02010800040101010101" pitchFamily="2" charset="-122"/>
                <a:ea typeface="华文新魏" panose="02010800040101010101" pitchFamily="2" charset="-122"/>
              </a:rPr>
              <a:t>void main(int </a:t>
            </a:r>
            <a:r>
              <a:rPr lang="en-US" altLang="zh-CN" sz="2000" b="1" dirty="0" err="1">
                <a:latin typeface="华文新魏" panose="02010800040101010101" pitchFamily="2" charset="-122"/>
                <a:ea typeface="华文新魏" panose="02010800040101010101" pitchFamily="2" charset="-122"/>
              </a:rPr>
              <a:t>argc</a:t>
            </a:r>
            <a:r>
              <a:rPr lang="en-US" altLang="zh-CN" sz="2000" b="1" dirty="0">
                <a:latin typeface="华文新魏" panose="02010800040101010101" pitchFamily="2" charset="-122"/>
                <a:ea typeface="华文新魏" panose="02010800040101010101" pitchFamily="2" charset="-122"/>
              </a:rPr>
              <a:t>, char* </a:t>
            </a:r>
            <a:r>
              <a:rPr lang="en-US" altLang="zh-CN" sz="2000" b="1" dirty="0" err="1">
                <a:latin typeface="华文新魏" panose="02010800040101010101" pitchFamily="2" charset="-122"/>
                <a:ea typeface="华文新魏" panose="02010800040101010101" pitchFamily="2" charset="-122"/>
              </a:rPr>
              <a:t>argv</a:t>
            </a:r>
            <a:r>
              <a:rPr lang="en-US" altLang="zh-CN" sz="2000" b="1" dirty="0">
                <a:latin typeface="华文新魏" panose="02010800040101010101" pitchFamily="2" charset="-122"/>
                <a:ea typeface="华文新魏" panose="02010800040101010101" pitchFamily="2" charset="-122"/>
              </a:rPr>
              <a:t>[]){</a:t>
            </a:r>
          </a:p>
          <a:p>
            <a:pPr>
              <a:lnSpc>
                <a:spcPct val="110000"/>
              </a:lnSpc>
            </a:pPr>
            <a:r>
              <a:rPr lang="en-US" altLang="zh-CN" sz="2000" b="1" dirty="0">
                <a:latin typeface="华文新魏" panose="02010800040101010101" pitchFamily="2" charset="-122"/>
                <a:ea typeface="华文新魏" panose="02010800040101010101" pitchFamily="2" charset="-122"/>
              </a:rPr>
              <a:t>	A a(1),b(2);</a:t>
            </a:r>
          </a:p>
          <a:p>
            <a:pPr>
              <a:lnSpc>
                <a:spcPct val="110000"/>
              </a:lnSpc>
            </a:pPr>
            <a:r>
              <a:rPr lang="en-US" altLang="zh-CN" sz="2000" b="1" dirty="0">
                <a:latin typeface="华文新魏" panose="02010800040101010101" pitchFamily="2" charset="-122"/>
                <a:ea typeface="华文新魏" panose="02010800040101010101" pitchFamily="2" charset="-122"/>
              </a:rPr>
              <a:t>	A &amp;p = a;  //p</a:t>
            </a:r>
            <a:r>
              <a:rPr lang="zh-CN" altLang="en-US" sz="2000" b="1" dirty="0">
                <a:latin typeface="华文新魏" panose="02010800040101010101" pitchFamily="2" charset="-122"/>
                <a:ea typeface="华文新魏" panose="02010800040101010101" pitchFamily="2" charset="-122"/>
              </a:rPr>
              <a:t>引用</a:t>
            </a:r>
            <a:r>
              <a:rPr lang="en-US" altLang="zh-CN" sz="2000" b="1" dirty="0">
                <a:latin typeface="华文新魏" panose="02010800040101010101" pitchFamily="2" charset="-122"/>
                <a:ea typeface="华文新魏" panose="02010800040101010101" pitchFamily="2" charset="-122"/>
              </a:rPr>
              <a:t>a</a:t>
            </a:r>
            <a:r>
              <a:rPr lang="zh-CN" altLang="en-US" sz="2000" b="1" dirty="0">
                <a:latin typeface="华文新魏" panose="02010800040101010101" pitchFamily="2" charset="-122"/>
                <a:ea typeface="华文新魏" panose="02010800040101010101" pitchFamily="2" charset="-122"/>
              </a:rPr>
              <a:t>，没有构造新对象</a:t>
            </a:r>
            <a:endParaRPr lang="en-US" altLang="zh-CN" sz="2000" b="1" dirty="0">
              <a:latin typeface="华文新魏" panose="02010800040101010101" pitchFamily="2" charset="-122"/>
              <a:ea typeface="华文新魏" panose="02010800040101010101" pitchFamily="2" charset="-122"/>
            </a:endParaRPr>
          </a:p>
          <a:p>
            <a:pPr>
              <a:lnSpc>
                <a:spcPct val="110000"/>
              </a:lnSpc>
            </a:pPr>
            <a:r>
              <a:rPr lang="en-US" altLang="zh-CN" sz="2000" b="1" dirty="0">
                <a:latin typeface="华文新魏" panose="02010800040101010101" pitchFamily="2" charset="-122"/>
                <a:ea typeface="华文新魏" panose="02010800040101010101" pitchFamily="2" charset="-122"/>
              </a:rPr>
              <a:t>	</a:t>
            </a:r>
            <a:r>
              <a:rPr lang="en-US" altLang="zh-CN" sz="2000" b="1" dirty="0">
                <a:solidFill>
                  <a:srgbClr val="FF0000"/>
                </a:solidFill>
                <a:latin typeface="华文新魏" panose="02010800040101010101" pitchFamily="2" charset="-122"/>
                <a:ea typeface="华文新魏" panose="02010800040101010101" pitchFamily="2" charset="-122"/>
              </a:rPr>
              <a:t>A &amp;q = *new A(3); </a:t>
            </a:r>
          </a:p>
          <a:p>
            <a:pPr>
              <a:lnSpc>
                <a:spcPct val="110000"/>
              </a:lnSpc>
            </a:pPr>
            <a:r>
              <a:rPr lang="en-US" altLang="zh-CN" sz="2000" b="1" dirty="0">
                <a:latin typeface="华文新魏" panose="02010800040101010101" pitchFamily="2" charset="-122"/>
                <a:ea typeface="华文新魏" panose="02010800040101010101" pitchFamily="2" charset="-122"/>
              </a:rPr>
              <a:t>	A &amp;r = p; </a:t>
            </a: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//r</a:t>
            </a:r>
            <a:r>
              <a:rPr lang="zh-CN" altLang="en-US" sz="2000" b="1" dirty="0">
                <a:latin typeface="华文新魏" panose="02010800040101010101" pitchFamily="2" charset="-122"/>
                <a:ea typeface="华文新魏" panose="02010800040101010101" pitchFamily="2" charset="-122"/>
              </a:rPr>
              <a:t>引用</a:t>
            </a:r>
            <a:r>
              <a:rPr lang="en-US" altLang="zh-CN" sz="2000" b="1" dirty="0">
                <a:latin typeface="华文新魏" panose="02010800040101010101" pitchFamily="2" charset="-122"/>
                <a:ea typeface="华文新魏" panose="02010800040101010101" pitchFamily="2" charset="-122"/>
              </a:rPr>
              <a:t>a</a:t>
            </a:r>
            <a:r>
              <a:rPr lang="zh-CN" altLang="en-US" sz="2000" b="1" dirty="0">
                <a:latin typeface="华文新魏" panose="02010800040101010101" pitchFamily="2" charset="-122"/>
                <a:ea typeface="华文新魏" panose="02010800040101010101" pitchFamily="2" charset="-122"/>
              </a:rPr>
              <a:t>，没有构造新对象</a:t>
            </a:r>
            <a:endParaRPr lang="en-US" altLang="zh-CN" sz="2000" b="1" dirty="0">
              <a:latin typeface="华文新魏" panose="02010800040101010101" pitchFamily="2" charset="-122"/>
              <a:ea typeface="华文新魏" panose="02010800040101010101" pitchFamily="2" charset="-122"/>
            </a:endParaRPr>
          </a:p>
          <a:p>
            <a:pPr>
              <a:lnSpc>
                <a:spcPct val="11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&lt;&lt;"call g(b)\n";</a:t>
            </a:r>
          </a:p>
          <a:p>
            <a:pPr>
              <a:lnSpc>
                <a:spcPct val="110000"/>
              </a:lnSpc>
            </a:pPr>
            <a:r>
              <a:rPr lang="en-US" altLang="zh-CN" sz="2000" b="1" dirty="0">
                <a:latin typeface="华文新魏" panose="02010800040101010101" pitchFamily="2" charset="-122"/>
                <a:ea typeface="华文新魏" panose="02010800040101010101" pitchFamily="2" charset="-122"/>
              </a:rPr>
              <a:t>	g(b); // </a:t>
            </a:r>
            <a:r>
              <a:rPr lang="zh-CN" altLang="en-US" sz="2000" b="1" dirty="0">
                <a:latin typeface="华文新魏" panose="02010800040101010101" pitchFamily="2" charset="-122"/>
                <a:ea typeface="华文新魏" panose="02010800040101010101" pitchFamily="2" charset="-122"/>
              </a:rPr>
              <a:t>实参传递给形参，</a:t>
            </a:r>
            <a:r>
              <a:rPr lang="en-US" altLang="zh-CN" sz="2000" b="1" dirty="0">
                <a:latin typeface="华文新魏" panose="02010800040101010101" pitchFamily="2" charset="-122"/>
                <a:ea typeface="华文新魏" panose="02010800040101010101" pitchFamily="2" charset="-122"/>
              </a:rPr>
              <a:t>A &amp;a  = b; </a:t>
            </a:r>
            <a:r>
              <a:rPr lang="zh-CN" altLang="en-US" sz="2000" b="1" dirty="0">
                <a:latin typeface="华文新魏" panose="02010800040101010101" pitchFamily="2" charset="-122"/>
                <a:ea typeface="华文新魏" panose="02010800040101010101" pitchFamily="2" charset="-122"/>
              </a:rPr>
              <a:t>没有构造新对象</a:t>
            </a:r>
            <a:endParaRPr lang="en-US" altLang="zh-CN" sz="2000" b="1" dirty="0">
              <a:latin typeface="华文新魏" panose="02010800040101010101" pitchFamily="2" charset="-122"/>
              <a:ea typeface="华文新魏" panose="02010800040101010101" pitchFamily="2" charset="-122"/>
            </a:endParaRPr>
          </a:p>
          <a:p>
            <a:pPr>
              <a:lnSpc>
                <a:spcPct val="110000"/>
              </a:lnSpc>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&lt;&lt;"main return\n";</a:t>
            </a:r>
          </a:p>
          <a:p>
            <a:pPr>
              <a:lnSpc>
                <a:spcPct val="110000"/>
              </a:lnSpc>
            </a:pPr>
            <a:r>
              <a:rPr lang="en-US" altLang="zh-CN" sz="2000" b="1" dirty="0">
                <a:latin typeface="华文新魏" panose="02010800040101010101" pitchFamily="2" charset="-122"/>
                <a:ea typeface="华文新魏" panose="02010800040101010101" pitchFamily="2" charset="-122"/>
              </a:rPr>
              <a:t>	</a:t>
            </a:r>
            <a:r>
              <a:rPr lang="en-US" altLang="zh-CN" sz="2000" b="1" dirty="0">
                <a:solidFill>
                  <a:srgbClr val="FF0000"/>
                </a:solidFill>
                <a:latin typeface="华文新魏" panose="02010800040101010101" pitchFamily="2" charset="-122"/>
                <a:ea typeface="华文新魏" panose="02010800040101010101" pitchFamily="2" charset="-122"/>
              </a:rPr>
              <a:t>delete &amp;q;  //</a:t>
            </a:r>
            <a:r>
              <a:rPr lang="zh-CN" altLang="en-US" sz="2000" b="1" dirty="0">
                <a:solidFill>
                  <a:srgbClr val="FF0000"/>
                </a:solidFill>
                <a:latin typeface="华文新魏" panose="02010800040101010101" pitchFamily="2" charset="-122"/>
                <a:ea typeface="华文新魏" panose="02010800040101010101" pitchFamily="2" charset="-122"/>
              </a:rPr>
              <a:t>必须</a:t>
            </a:r>
            <a:r>
              <a:rPr lang="en-US" altLang="zh-CN" sz="2000" b="1" dirty="0">
                <a:solidFill>
                  <a:srgbClr val="FF0000"/>
                </a:solidFill>
                <a:latin typeface="华文新魏" panose="02010800040101010101" pitchFamily="2" charset="-122"/>
                <a:ea typeface="华文新魏" panose="02010800040101010101" pitchFamily="2" charset="-122"/>
              </a:rPr>
              <a:t>delete</a:t>
            </a:r>
          </a:p>
          <a:p>
            <a:pPr>
              <a:lnSpc>
                <a:spcPct val="110000"/>
              </a:lnSpc>
            </a:pPr>
            <a:r>
              <a:rPr lang="en-US" altLang="zh-CN" sz="2000" b="1" dirty="0">
                <a:latin typeface="华文新魏" panose="02010800040101010101" pitchFamily="2" charset="-122"/>
                <a:ea typeface="华文新魏" panose="02010800040101010101" pitchFamily="2" charset="-122"/>
              </a:rPr>
              <a:t>}</a:t>
            </a:r>
          </a:p>
        </p:txBody>
      </p:sp>
      <p:sp>
        <p:nvSpPr>
          <p:cNvPr id="6" name="Text Box 5">
            <a:extLst>
              <a:ext uri="{FF2B5EF4-FFF2-40B4-BE49-F238E27FC236}">
                <a16:creationId xmlns:a16="http://schemas.microsoft.com/office/drawing/2014/main" id="{62EEC671-CE9B-4DBE-BE31-50BCE9816348}"/>
              </a:ext>
            </a:extLst>
          </p:cNvPr>
          <p:cNvSpPr txBox="1">
            <a:spLocks noChangeArrowheads="1"/>
          </p:cNvSpPr>
          <p:nvPr/>
        </p:nvSpPr>
        <p:spPr bwMode="auto">
          <a:xfrm>
            <a:off x="8472488" y="1052514"/>
            <a:ext cx="1354858" cy="2862322"/>
          </a:xfrm>
          <a:prstGeom prst="rect">
            <a:avLst/>
          </a:prstGeom>
          <a:noFill/>
          <a:ln w="12700">
            <a:noFill/>
            <a:miter lim="800000"/>
            <a:headEnd/>
            <a:tailEnd/>
          </a:ln>
        </p:spPr>
        <p:txBody>
          <a:bodyPr wrap="none">
            <a:spAutoFit/>
          </a:bodyPr>
          <a:lstStyle/>
          <a:p>
            <a:r>
              <a:rPr lang="zh-CN" altLang="en-US" dirty="0">
                <a:latin typeface="华文新魏" panose="02010800040101010101" pitchFamily="2" charset="-122"/>
                <a:ea typeface="华文新魏" panose="02010800040101010101" pitchFamily="2" charset="-122"/>
              </a:rPr>
              <a:t>输出：</a:t>
            </a:r>
          </a:p>
          <a:p>
            <a:r>
              <a:rPr lang="en-US" altLang="zh-CN" dirty="0">
                <a:latin typeface="华文新魏" panose="02010800040101010101" pitchFamily="2" charset="-122"/>
                <a:ea typeface="华文新魏" panose="02010800040101010101" pitchFamily="2" charset="-122"/>
              </a:rPr>
              <a:t>A:i=1</a:t>
            </a:r>
          </a:p>
          <a:p>
            <a:r>
              <a:rPr lang="en-US" altLang="zh-CN" dirty="0">
                <a:latin typeface="华文新魏" panose="02010800040101010101" pitchFamily="2" charset="-122"/>
                <a:ea typeface="华文新魏" panose="02010800040101010101" pitchFamily="2" charset="-122"/>
              </a:rPr>
              <a:t>A:i=2</a:t>
            </a:r>
          </a:p>
          <a:p>
            <a:r>
              <a:rPr lang="en-US" altLang="zh-CN" dirty="0">
                <a:latin typeface="华文新魏" panose="02010800040101010101" pitchFamily="2" charset="-122"/>
                <a:ea typeface="华文新魏" panose="02010800040101010101" pitchFamily="2" charset="-122"/>
              </a:rPr>
              <a:t>A:i=3</a:t>
            </a:r>
          </a:p>
          <a:p>
            <a:r>
              <a:rPr lang="en-US" altLang="zh-CN" dirty="0">
                <a:latin typeface="华文新魏" panose="02010800040101010101" pitchFamily="2" charset="-122"/>
                <a:ea typeface="华文新魏" panose="02010800040101010101" pitchFamily="2" charset="-122"/>
              </a:rPr>
              <a:t>call g(b)</a:t>
            </a:r>
          </a:p>
          <a:p>
            <a:r>
              <a:rPr lang="en-US" altLang="zh-CN" dirty="0">
                <a:latin typeface="华文新魏" panose="02010800040101010101" pitchFamily="2" charset="-122"/>
                <a:ea typeface="华文新魏" panose="02010800040101010101" pitchFamily="2" charset="-122"/>
              </a:rPr>
              <a:t>g is running</a:t>
            </a:r>
          </a:p>
          <a:p>
            <a:r>
              <a:rPr lang="en-US" altLang="zh-CN" dirty="0">
                <a:latin typeface="华文新魏" panose="02010800040101010101" pitchFamily="2" charset="-122"/>
                <a:ea typeface="华文新魏" panose="02010800040101010101" pitchFamily="2" charset="-122"/>
              </a:rPr>
              <a:t>main return</a:t>
            </a:r>
          </a:p>
          <a:p>
            <a:r>
              <a:rPr lang="en-US" altLang="zh-CN" dirty="0">
                <a:latin typeface="华文新魏" panose="02010800040101010101" pitchFamily="2" charset="-122"/>
                <a:ea typeface="华文新魏" panose="02010800040101010101" pitchFamily="2" charset="-122"/>
              </a:rPr>
              <a:t>~</a:t>
            </a:r>
            <a:r>
              <a:rPr lang="en-US" altLang="zh-CN" dirty="0" err="1">
                <a:latin typeface="华文新魏" panose="02010800040101010101" pitchFamily="2" charset="-122"/>
                <a:ea typeface="华文新魏" panose="02010800040101010101" pitchFamily="2" charset="-122"/>
              </a:rPr>
              <a:t>A:i</a:t>
            </a:r>
            <a:r>
              <a:rPr lang="en-US" altLang="zh-CN" dirty="0">
                <a:latin typeface="华文新魏" panose="02010800040101010101" pitchFamily="2" charset="-122"/>
                <a:ea typeface="华文新魏" panose="02010800040101010101" pitchFamily="2" charset="-122"/>
              </a:rPr>
              <a:t>=3</a:t>
            </a:r>
          </a:p>
          <a:p>
            <a:r>
              <a:rPr lang="en-US" altLang="zh-CN" dirty="0">
                <a:latin typeface="华文新魏" panose="02010800040101010101" pitchFamily="2" charset="-122"/>
                <a:ea typeface="华文新魏" panose="02010800040101010101" pitchFamily="2" charset="-122"/>
              </a:rPr>
              <a:t>~</a:t>
            </a:r>
            <a:r>
              <a:rPr lang="en-US" altLang="zh-CN" dirty="0" err="1">
                <a:latin typeface="华文新魏" panose="02010800040101010101" pitchFamily="2" charset="-122"/>
                <a:ea typeface="华文新魏" panose="02010800040101010101" pitchFamily="2" charset="-122"/>
              </a:rPr>
              <a:t>A:i</a:t>
            </a:r>
            <a:r>
              <a:rPr lang="en-US" altLang="zh-CN" dirty="0">
                <a:latin typeface="华文新魏" panose="02010800040101010101" pitchFamily="2" charset="-122"/>
                <a:ea typeface="华文新魏" panose="02010800040101010101" pitchFamily="2" charset="-122"/>
              </a:rPr>
              <a:t>=2</a:t>
            </a:r>
          </a:p>
          <a:p>
            <a:r>
              <a:rPr lang="en-US" altLang="zh-CN" dirty="0">
                <a:latin typeface="华文新魏" panose="02010800040101010101" pitchFamily="2" charset="-122"/>
                <a:ea typeface="华文新魏" panose="02010800040101010101" pitchFamily="2" charset="-122"/>
              </a:rPr>
              <a:t>~</a:t>
            </a:r>
            <a:r>
              <a:rPr lang="en-US" altLang="zh-CN" dirty="0" err="1">
                <a:latin typeface="华文新魏" panose="02010800040101010101" pitchFamily="2" charset="-122"/>
                <a:ea typeface="华文新魏" panose="02010800040101010101" pitchFamily="2" charset="-122"/>
              </a:rPr>
              <a:t>A:i</a:t>
            </a:r>
            <a:r>
              <a:rPr lang="en-US" altLang="zh-CN" dirty="0">
                <a:latin typeface="华文新魏" panose="02010800040101010101" pitchFamily="2" charset="-122"/>
                <a:ea typeface="华文新魏" panose="02010800040101010101" pitchFamily="2" charset="-122"/>
              </a:rPr>
              <a:t>=1</a:t>
            </a:r>
          </a:p>
        </p:txBody>
      </p:sp>
    </p:spTree>
    <p:extLst>
      <p:ext uri="{BB962C8B-B14F-4D97-AF65-F5344CB8AC3E}">
        <p14:creationId xmlns:p14="http://schemas.microsoft.com/office/powerpoint/2010/main" val="1619676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5</a:t>
            </a:r>
            <a:r>
              <a:rPr lang="zh-CN" altLang="en-US" b="1" dirty="0">
                <a:latin typeface="隶书" panose="02010509060101010101" pitchFamily="49" charset="-122"/>
                <a:ea typeface="隶书" panose="02010509060101010101" pitchFamily="49" charset="-122"/>
              </a:rPr>
              <a:t>章 </a:t>
            </a:r>
            <a:r>
              <a:rPr lang="zh-CN" altLang="zh-CN" b="1" dirty="0">
                <a:latin typeface="隶书" panose="02010509060101010101" pitchFamily="49" charset="-122"/>
                <a:ea typeface="隶书" panose="02010509060101010101" pitchFamily="49" charset="-122"/>
              </a:rPr>
              <a:t>成员及成员指针</a:t>
            </a:r>
            <a:endParaRPr lang="zh-CN" altLang="en-US" b="1" dirty="0">
              <a:latin typeface="隶书" panose="02010509060101010101" pitchFamily="49" charset="-122"/>
              <a:ea typeface="隶书" panose="02010509060101010101" pitchFamily="49" charset="-122"/>
            </a:endParaRP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838200" y="1825625"/>
            <a:ext cx="10515600" cy="2406566"/>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5.2  const</a:t>
            </a:r>
            <a:r>
              <a:rPr lang="zh-CN" altLang="en-US" dirty="0">
                <a:latin typeface="华文新魏" panose="02010800040101010101" pitchFamily="2" charset="-122"/>
                <a:ea typeface="华文新魏" panose="02010800040101010101" pitchFamily="2" charset="-122"/>
              </a:rPr>
              <a:t>、</a:t>
            </a:r>
            <a:r>
              <a:rPr lang="en-US" altLang="zh-CN" dirty="0">
                <a:latin typeface="华文新魏" panose="02010800040101010101" pitchFamily="2" charset="-122"/>
                <a:ea typeface="华文新魏" panose="02010800040101010101" pitchFamily="2" charset="-122"/>
              </a:rPr>
              <a:t>volatile</a:t>
            </a:r>
            <a:r>
              <a:rPr lang="zh-CN" altLang="en-US" dirty="0">
                <a:latin typeface="华文新魏" panose="02010800040101010101" pitchFamily="2" charset="-122"/>
                <a:ea typeface="华文新魏" panose="02010800040101010101" pitchFamily="2" charset="-122"/>
              </a:rPr>
              <a:t>和</a:t>
            </a:r>
            <a:r>
              <a:rPr lang="en-US" altLang="zh-CN" dirty="0">
                <a:latin typeface="华文新魏" panose="02010800040101010101" pitchFamily="2" charset="-122"/>
                <a:ea typeface="华文新魏" panose="02010800040101010101" pitchFamily="2" charset="-122"/>
              </a:rPr>
              <a:t>mutable</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0930295" cy="2611484"/>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en-US" altLang="zh-CN" sz="2400" b="1" dirty="0">
                <a:latin typeface="华文新魏" panose="02010800040101010101" pitchFamily="2" charset="-122"/>
                <a:ea typeface="华文新魏" panose="02010800040101010101" pitchFamily="2" charset="-122"/>
              </a:rPr>
              <a:t>mutable</a:t>
            </a:r>
            <a:r>
              <a:rPr lang="zh-CN" altLang="en-US" sz="2400" b="1" dirty="0">
                <a:latin typeface="华文新魏" panose="02010800040101010101" pitchFamily="2" charset="-122"/>
                <a:ea typeface="华文新魏" panose="02010800040101010101" pitchFamily="2" charset="-122"/>
              </a:rPr>
              <a:t>仅用于说明实例数据成员为机动成员，不能用于静态数据成员的。</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所谓机动是指在整个对象为只读状态时，其每个成员理论上都是不可写的，但若某个成员是</a:t>
            </a:r>
            <a:r>
              <a:rPr lang="en-US" altLang="zh-CN" sz="2400" b="1" dirty="0">
                <a:latin typeface="华文新魏" panose="02010800040101010101" pitchFamily="2" charset="-122"/>
                <a:ea typeface="华文新魏" panose="02010800040101010101" pitchFamily="2" charset="-122"/>
              </a:rPr>
              <a:t>mutable</a:t>
            </a:r>
            <a:r>
              <a:rPr lang="zh-CN" altLang="en-US" sz="2400" b="1" dirty="0">
                <a:latin typeface="华文新魏" panose="02010800040101010101" pitchFamily="2" charset="-122"/>
                <a:ea typeface="华文新魏" panose="02010800040101010101" pitchFamily="2" charset="-122"/>
              </a:rPr>
              <a:t>成员，则该成员在此状态是可写的。</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例如，产品对象的信息在查询时应处于只读状态，但是其成员“查询次数”应在此状态可写，故可以定义为“机动”成员。</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保留字</a:t>
            </a:r>
            <a:r>
              <a:rPr lang="en-US" altLang="zh-CN" sz="2400" b="1" dirty="0">
                <a:latin typeface="华文新魏" panose="02010800040101010101" pitchFamily="2" charset="-122"/>
                <a:ea typeface="华文新魏" panose="02010800040101010101" pitchFamily="2" charset="-122"/>
              </a:rPr>
              <a:t>mutable</a:t>
            </a:r>
            <a:r>
              <a:rPr lang="zh-CN" altLang="en-US" sz="2400" b="1" dirty="0">
                <a:latin typeface="华文新魏" panose="02010800040101010101" pitchFamily="2" charset="-122"/>
                <a:ea typeface="华文新魏" panose="02010800040101010101" pitchFamily="2" charset="-122"/>
              </a:rPr>
              <a:t>还可用于定义</a:t>
            </a:r>
            <a:r>
              <a:rPr lang="en-US" altLang="zh-CN" sz="2400" b="1" dirty="0">
                <a:latin typeface="华文新魏" panose="02010800040101010101" pitchFamily="2" charset="-122"/>
                <a:ea typeface="华文新魏" panose="02010800040101010101" pitchFamily="2" charset="-122"/>
              </a:rPr>
              <a:t>Lambda</a:t>
            </a:r>
            <a:r>
              <a:rPr lang="zh-CN" altLang="en-US" sz="2400" b="1" dirty="0">
                <a:latin typeface="华文新魏" panose="02010800040101010101" pitchFamily="2" charset="-122"/>
                <a:ea typeface="华文新魏" panose="02010800040101010101" pitchFamily="2" charset="-122"/>
              </a:rPr>
              <a:t>表达式的参数列表是否允许在</a:t>
            </a:r>
            <a:r>
              <a:rPr lang="en-US" altLang="zh-CN" sz="2400" b="1" dirty="0">
                <a:latin typeface="华文新魏" panose="02010800040101010101" pitchFamily="2" charset="-122"/>
                <a:ea typeface="华文新魏" panose="02010800040101010101" pitchFamily="2" charset="-122"/>
              </a:rPr>
              <a:t>Lambda</a:t>
            </a:r>
            <a:r>
              <a:rPr lang="zh-CN" altLang="en-US" sz="2400" b="1" dirty="0">
                <a:latin typeface="华文新魏" panose="02010800040101010101" pitchFamily="2" charset="-122"/>
                <a:ea typeface="华文新魏" panose="02010800040101010101" pitchFamily="2" charset="-122"/>
              </a:rPr>
              <a:t>的表达式内修改捕获的外部的参数列表的值。</a:t>
            </a:r>
          </a:p>
        </p:txBody>
      </p:sp>
    </p:spTree>
    <p:extLst>
      <p:ext uri="{BB962C8B-B14F-4D97-AF65-F5344CB8AC3E}">
        <p14:creationId xmlns:p14="http://schemas.microsoft.com/office/powerpoint/2010/main" val="20260545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5</a:t>
            </a:r>
            <a:r>
              <a:rPr lang="zh-CN" altLang="en-US" b="1" dirty="0">
                <a:latin typeface="隶书" panose="02010509060101010101" pitchFamily="49" charset="-122"/>
                <a:ea typeface="隶书" panose="02010509060101010101" pitchFamily="49" charset="-122"/>
              </a:rPr>
              <a:t>章 </a:t>
            </a:r>
            <a:r>
              <a:rPr lang="zh-CN" altLang="zh-CN" b="1" dirty="0">
                <a:latin typeface="隶书" panose="02010509060101010101" pitchFamily="49" charset="-122"/>
                <a:ea typeface="隶书" panose="02010509060101010101" pitchFamily="49" charset="-122"/>
              </a:rPr>
              <a:t>成员及成员指针</a:t>
            </a:r>
            <a:endParaRPr lang="zh-CN" altLang="en-US" b="1" dirty="0">
              <a:latin typeface="隶书" panose="02010509060101010101" pitchFamily="49" charset="-122"/>
              <a:ea typeface="隶书" panose="02010509060101010101" pitchFamily="49" charset="-122"/>
            </a:endParaRP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838200" y="1825625"/>
            <a:ext cx="10515600" cy="2406566"/>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5.2  const</a:t>
            </a:r>
            <a:r>
              <a:rPr lang="zh-CN" altLang="en-US" dirty="0">
                <a:latin typeface="华文新魏" panose="02010800040101010101" pitchFamily="2" charset="-122"/>
                <a:ea typeface="华文新魏" panose="02010800040101010101" pitchFamily="2" charset="-122"/>
              </a:rPr>
              <a:t>、</a:t>
            </a:r>
            <a:r>
              <a:rPr lang="en-US" altLang="zh-CN" dirty="0">
                <a:latin typeface="华文新魏" panose="02010800040101010101" pitchFamily="2" charset="-122"/>
                <a:ea typeface="华文新魏" panose="02010800040101010101" pitchFamily="2" charset="-122"/>
              </a:rPr>
              <a:t>volatile</a:t>
            </a:r>
            <a:r>
              <a:rPr lang="zh-CN" altLang="en-US" dirty="0">
                <a:latin typeface="华文新魏" panose="02010800040101010101" pitchFamily="2" charset="-122"/>
                <a:ea typeface="华文新魏" panose="02010800040101010101" pitchFamily="2" charset="-122"/>
              </a:rPr>
              <a:t>和</a:t>
            </a:r>
            <a:r>
              <a:rPr lang="en-US" altLang="zh-CN" dirty="0">
                <a:latin typeface="华文新魏" panose="02010800040101010101" pitchFamily="2" charset="-122"/>
                <a:ea typeface="华文新魏" panose="02010800040101010101" pitchFamily="2" charset="-122"/>
              </a:rPr>
              <a:t>mutable</a:t>
            </a:r>
            <a:endParaRPr lang="zh-CN" altLang="en-US" dirty="0">
              <a:latin typeface="华文新魏" panose="02010800040101010101" pitchFamily="2" charset="-122"/>
              <a:ea typeface="华文新魏" panose="02010800040101010101" pitchFamily="2" charset="-122"/>
            </a:endParaRPr>
          </a:p>
        </p:txBody>
      </p:sp>
      <p:sp>
        <p:nvSpPr>
          <p:cNvPr id="7" name="文本框 6">
            <a:extLst>
              <a:ext uri="{FF2B5EF4-FFF2-40B4-BE49-F238E27FC236}">
                <a16:creationId xmlns:a16="http://schemas.microsoft.com/office/drawing/2014/main" id="{6679A78B-25B7-4DB8-9A4A-2898C8D0B322}"/>
              </a:ext>
            </a:extLst>
          </p:cNvPr>
          <p:cNvSpPr txBox="1"/>
          <p:nvPr/>
        </p:nvSpPr>
        <p:spPr>
          <a:xfrm>
            <a:off x="601910" y="2403080"/>
            <a:ext cx="10035330" cy="4247317"/>
          </a:xfrm>
          <a:prstGeom prst="rect">
            <a:avLst/>
          </a:prstGeom>
          <a:noFill/>
        </p:spPr>
        <p:txBody>
          <a:bodyPr wrap="square">
            <a:spAutoFit/>
          </a:bodyPr>
          <a:lstStyle/>
          <a:p>
            <a:pPr indent="269875" algn="just"/>
            <a:r>
              <a:rPr lang="en-US" altLang="zh-CN" sz="1800" kern="100" dirty="0">
                <a:effectLst/>
                <a:latin typeface="华文新魏" panose="02010800040101010101" pitchFamily="2" charset="-122"/>
                <a:ea typeface="华文新魏" panose="02010800040101010101" pitchFamily="2" charset="-122"/>
              </a:rPr>
              <a:t>class PRODUCT {</a:t>
            </a:r>
            <a:endParaRPr lang="zh-CN" altLang="zh-CN" sz="1800" kern="100" dirty="0">
              <a:effectLst/>
              <a:latin typeface="华文新魏" panose="02010800040101010101" pitchFamily="2" charset="-122"/>
              <a:ea typeface="华文新魏" panose="02010800040101010101" pitchFamily="2" charset="-122"/>
            </a:endParaRPr>
          </a:p>
          <a:p>
            <a:pPr indent="269875" algn="just"/>
            <a:r>
              <a:rPr lang="en-US" altLang="zh-CN" sz="1800" kern="100" dirty="0">
                <a:effectLst/>
                <a:latin typeface="华文新魏" panose="02010800040101010101" pitchFamily="2" charset="-122"/>
                <a:ea typeface="华文新魏" panose="02010800040101010101" pitchFamily="2" charset="-122"/>
              </a:rPr>
              <a:t>    char* name;			//</a:t>
            </a:r>
            <a:r>
              <a:rPr lang="zh-CN" altLang="zh-CN" sz="1800" kern="100" dirty="0">
                <a:effectLst/>
                <a:latin typeface="华文新魏" panose="02010800040101010101" pitchFamily="2" charset="-122"/>
                <a:ea typeface="华文新魏" panose="02010800040101010101" pitchFamily="2" charset="-122"/>
              </a:rPr>
              <a:t>产品名称</a:t>
            </a:r>
          </a:p>
          <a:p>
            <a:pPr indent="269875" algn="just"/>
            <a:r>
              <a:rPr lang="en-US" altLang="zh-CN" sz="1800" kern="100" dirty="0">
                <a:effectLst/>
                <a:latin typeface="华文新魏" panose="02010800040101010101" pitchFamily="2" charset="-122"/>
                <a:ea typeface="华文新魏" panose="02010800040101010101" pitchFamily="2" charset="-122"/>
              </a:rPr>
              <a:t>    int  price;			//</a:t>
            </a:r>
            <a:r>
              <a:rPr lang="zh-CN" altLang="zh-CN" sz="1800" kern="100" dirty="0">
                <a:effectLst/>
                <a:latin typeface="华文新魏" panose="02010800040101010101" pitchFamily="2" charset="-122"/>
                <a:ea typeface="华文新魏" panose="02010800040101010101" pitchFamily="2" charset="-122"/>
              </a:rPr>
              <a:t>产品价格</a:t>
            </a:r>
          </a:p>
          <a:p>
            <a:pPr indent="269875" algn="just"/>
            <a:r>
              <a:rPr lang="en-US" altLang="zh-CN" sz="1800" kern="100" dirty="0">
                <a:effectLst/>
                <a:latin typeface="华文新魏" panose="02010800040101010101" pitchFamily="2" charset="-122"/>
                <a:ea typeface="华文新魏" panose="02010800040101010101" pitchFamily="2" charset="-122"/>
              </a:rPr>
              <a:t>    int  quantity;			//</a:t>
            </a:r>
            <a:r>
              <a:rPr lang="zh-CN" altLang="zh-CN" sz="1800" kern="100" dirty="0">
                <a:effectLst/>
                <a:latin typeface="华文新魏" panose="02010800040101010101" pitchFamily="2" charset="-122"/>
                <a:ea typeface="华文新魏" panose="02010800040101010101" pitchFamily="2" charset="-122"/>
              </a:rPr>
              <a:t>产品数量</a:t>
            </a:r>
          </a:p>
          <a:p>
            <a:pPr indent="269875" algn="just"/>
            <a:r>
              <a:rPr lang="en-US" altLang="zh-CN" sz="1800" kern="100" dirty="0">
                <a:effectLst/>
                <a:latin typeface="华文新魏" panose="02010800040101010101" pitchFamily="2" charset="-122"/>
                <a:ea typeface="华文新魏" panose="02010800040101010101" pitchFamily="2" charset="-122"/>
              </a:rPr>
              <a:t>    </a:t>
            </a:r>
            <a:r>
              <a:rPr lang="en-US" altLang="zh-CN" sz="1800" kern="100" dirty="0">
                <a:solidFill>
                  <a:srgbClr val="FF0000"/>
                </a:solidFill>
                <a:effectLst/>
                <a:latin typeface="华文新魏" panose="02010800040101010101" pitchFamily="2" charset="-122"/>
                <a:ea typeface="华文新魏" panose="02010800040101010101" pitchFamily="2" charset="-122"/>
              </a:rPr>
              <a:t>mutable int count;		//</a:t>
            </a:r>
            <a:r>
              <a:rPr lang="zh-CN" altLang="zh-CN" sz="1800" kern="100" dirty="0">
                <a:solidFill>
                  <a:srgbClr val="FF0000"/>
                </a:solidFill>
                <a:effectLst/>
                <a:latin typeface="华文新魏" panose="02010800040101010101" pitchFamily="2" charset="-122"/>
                <a:ea typeface="华文新魏" panose="02010800040101010101" pitchFamily="2" charset="-122"/>
              </a:rPr>
              <a:t>产品查询次数</a:t>
            </a:r>
          </a:p>
          <a:p>
            <a:pPr indent="269875" algn="just"/>
            <a:r>
              <a:rPr lang="en-US" altLang="zh-CN" sz="1800" kern="100" dirty="0">
                <a:effectLst/>
                <a:latin typeface="华文新魏" panose="02010800040101010101" pitchFamily="2" charset="-122"/>
                <a:ea typeface="华文新魏" panose="02010800040101010101" pitchFamily="2" charset="-122"/>
              </a:rPr>
              <a:t>public:</a:t>
            </a:r>
            <a:endParaRPr lang="zh-CN" altLang="zh-CN" sz="1800" kern="100" dirty="0">
              <a:effectLst/>
              <a:latin typeface="华文新魏" panose="02010800040101010101" pitchFamily="2" charset="-122"/>
              <a:ea typeface="华文新魏" panose="02010800040101010101" pitchFamily="2" charset="-122"/>
            </a:endParaRPr>
          </a:p>
          <a:p>
            <a:pPr indent="269875" algn="just"/>
            <a:r>
              <a:rPr lang="en-US" altLang="zh-CN" sz="1800" kern="100" dirty="0">
                <a:effectLst/>
                <a:latin typeface="华文新魏" panose="02010800040101010101" pitchFamily="2" charset="-122"/>
                <a:ea typeface="华文新魏" panose="02010800040101010101" pitchFamily="2" charset="-122"/>
              </a:rPr>
              <a:t>    PRODUCT(const char* n, int m, int p);</a:t>
            </a:r>
            <a:endParaRPr lang="zh-CN" altLang="zh-CN" sz="1800" kern="100" dirty="0">
              <a:effectLst/>
              <a:latin typeface="华文新魏" panose="02010800040101010101" pitchFamily="2" charset="-122"/>
              <a:ea typeface="华文新魏" panose="02010800040101010101" pitchFamily="2" charset="-122"/>
            </a:endParaRPr>
          </a:p>
          <a:p>
            <a:pPr indent="269875" algn="just"/>
            <a:r>
              <a:rPr lang="en-US" altLang="zh-CN" sz="1800" kern="100" dirty="0">
                <a:effectLst/>
                <a:latin typeface="华文新魏" panose="02010800040101010101" pitchFamily="2" charset="-122"/>
                <a:ea typeface="华文新魏" panose="02010800040101010101" pitchFamily="2" charset="-122"/>
              </a:rPr>
              <a:t>    int buy(int money);</a:t>
            </a:r>
            <a:endParaRPr lang="zh-CN" altLang="zh-CN" sz="1800" kern="100" dirty="0">
              <a:effectLst/>
              <a:latin typeface="华文新魏" panose="02010800040101010101" pitchFamily="2" charset="-122"/>
              <a:ea typeface="华文新魏" panose="02010800040101010101" pitchFamily="2" charset="-122"/>
            </a:endParaRPr>
          </a:p>
          <a:p>
            <a:pPr indent="269875" algn="just"/>
            <a:r>
              <a:rPr lang="en-US" altLang="zh-CN" sz="1800" kern="100" dirty="0">
                <a:effectLst/>
                <a:latin typeface="华文新魏" panose="02010800040101010101" pitchFamily="2" charset="-122"/>
                <a:ea typeface="华文新魏" panose="02010800040101010101" pitchFamily="2" charset="-122"/>
              </a:rPr>
              <a:t>    void get(int&amp; p, int&amp; q)</a:t>
            </a:r>
            <a:r>
              <a:rPr lang="en-US" altLang="zh-CN" sz="1800" kern="100" dirty="0">
                <a:solidFill>
                  <a:srgbClr val="FF0000"/>
                </a:solidFill>
                <a:effectLst/>
                <a:latin typeface="华文新魏" panose="02010800040101010101" pitchFamily="2" charset="-122"/>
                <a:ea typeface="华文新魏" panose="02010800040101010101" pitchFamily="2" charset="-122"/>
              </a:rPr>
              <a:t>const</a:t>
            </a:r>
            <a:r>
              <a:rPr lang="en-US" altLang="zh-CN" sz="1800" kern="100" dirty="0">
                <a:effectLst/>
                <a:latin typeface="华文新魏" panose="02010800040101010101" pitchFamily="2" charset="-122"/>
                <a:ea typeface="华文新魏" panose="02010800040101010101" pitchFamily="2" charset="-122"/>
              </a:rPr>
              <a:t>;</a:t>
            </a:r>
            <a:endParaRPr lang="zh-CN" altLang="zh-CN" sz="1800" kern="100" dirty="0">
              <a:effectLst/>
              <a:latin typeface="华文新魏" panose="02010800040101010101" pitchFamily="2" charset="-122"/>
              <a:ea typeface="华文新魏" panose="02010800040101010101" pitchFamily="2" charset="-122"/>
            </a:endParaRPr>
          </a:p>
          <a:p>
            <a:pPr indent="269875" algn="just"/>
            <a:r>
              <a:rPr lang="en-US" altLang="zh-CN" sz="1800" kern="100" dirty="0">
                <a:effectLst/>
                <a:latin typeface="华文新魏" panose="02010800040101010101" pitchFamily="2" charset="-122"/>
                <a:ea typeface="华文新魏" panose="02010800040101010101" pitchFamily="2" charset="-122"/>
              </a:rPr>
              <a:t>    ~PRODUCT(void);</a:t>
            </a:r>
            <a:endParaRPr lang="zh-CN" altLang="zh-CN" sz="1800" kern="100" dirty="0">
              <a:effectLst/>
              <a:latin typeface="华文新魏" panose="02010800040101010101" pitchFamily="2" charset="-122"/>
              <a:ea typeface="华文新魏" panose="02010800040101010101" pitchFamily="2" charset="-122"/>
            </a:endParaRPr>
          </a:p>
          <a:p>
            <a:pPr indent="269875" algn="just"/>
            <a:r>
              <a:rPr lang="en-US" altLang="zh-CN" sz="1800" kern="100" dirty="0">
                <a:effectLst/>
                <a:latin typeface="华文新魏" panose="02010800040101010101" pitchFamily="2" charset="-122"/>
                <a:ea typeface="华文新魏" panose="02010800040101010101" pitchFamily="2" charset="-122"/>
              </a:rPr>
              <a:t>};</a:t>
            </a:r>
          </a:p>
          <a:p>
            <a:pPr indent="269875" algn="just"/>
            <a:r>
              <a:rPr lang="en-US" altLang="zh-CN" kern="100" dirty="0">
                <a:latin typeface="华文新魏" panose="02010800040101010101" pitchFamily="2" charset="-122"/>
                <a:ea typeface="华文新魏" panose="02010800040101010101" pitchFamily="2" charset="-122"/>
              </a:rPr>
              <a:t>void PRODUCT::get(int &amp;p, int &amp;q)</a:t>
            </a:r>
            <a:r>
              <a:rPr lang="en-US" altLang="zh-CN" kern="100" dirty="0">
                <a:solidFill>
                  <a:srgbClr val="FF0000"/>
                </a:solidFill>
                <a:latin typeface="华文新魏" panose="02010800040101010101" pitchFamily="2" charset="-122"/>
                <a:ea typeface="华文新魏" panose="02010800040101010101" pitchFamily="2" charset="-122"/>
              </a:rPr>
              <a:t>const</a:t>
            </a:r>
            <a:r>
              <a:rPr lang="en-US" altLang="zh-CN" kern="100" dirty="0">
                <a:latin typeface="华文新魏" panose="02010800040101010101" pitchFamily="2" charset="-122"/>
                <a:ea typeface="华文新魏" panose="02010800040101010101" pitchFamily="2" charset="-122"/>
              </a:rPr>
              <a:t>{//const  PRODUCT *const this</a:t>
            </a:r>
          </a:p>
          <a:p>
            <a:pPr indent="269875" algn="just"/>
            <a:r>
              <a:rPr lang="en-US" altLang="zh-CN" kern="100" dirty="0">
                <a:latin typeface="华文新魏" panose="02010800040101010101" pitchFamily="2" charset="-122"/>
                <a:ea typeface="华文新魏" panose="02010800040101010101" pitchFamily="2" charset="-122"/>
              </a:rPr>
              <a:t>    p=price;       q=quantity; //</a:t>
            </a:r>
            <a:r>
              <a:rPr lang="zh-CN" altLang="en-US" kern="100" dirty="0">
                <a:latin typeface="华文新魏" panose="02010800040101010101" pitchFamily="2" charset="-122"/>
                <a:ea typeface="华文新魏" panose="02010800040101010101" pitchFamily="2" charset="-122"/>
              </a:rPr>
              <a:t>当前对象为</a:t>
            </a:r>
            <a:r>
              <a:rPr lang="en-US" altLang="zh-CN" kern="100" dirty="0">
                <a:solidFill>
                  <a:srgbClr val="FF0000"/>
                </a:solidFill>
                <a:latin typeface="华文新魏" panose="02010800040101010101" pitchFamily="2" charset="-122"/>
                <a:ea typeface="华文新魏" panose="02010800040101010101" pitchFamily="2" charset="-122"/>
              </a:rPr>
              <a:t>const</a:t>
            </a:r>
            <a:r>
              <a:rPr lang="zh-CN" altLang="en-US" kern="100" dirty="0">
                <a:latin typeface="华文新魏" panose="02010800040101010101" pitchFamily="2" charset="-122"/>
                <a:ea typeface="华文新魏" panose="02010800040101010101" pitchFamily="2" charset="-122"/>
              </a:rPr>
              <a:t>对象，故其成员不能被修改</a:t>
            </a:r>
          </a:p>
          <a:p>
            <a:pPr indent="269875" algn="just"/>
            <a:r>
              <a:rPr lang="zh-CN" altLang="en-US" kern="100" dirty="0">
                <a:latin typeface="华文新魏" panose="02010800040101010101" pitchFamily="2" charset="-122"/>
                <a:ea typeface="华文新魏" panose="02010800040101010101" pitchFamily="2" charset="-122"/>
              </a:rPr>
              <a:t>    </a:t>
            </a:r>
            <a:r>
              <a:rPr lang="en-US" altLang="zh-CN" kern="100" dirty="0">
                <a:solidFill>
                  <a:srgbClr val="FF0000"/>
                </a:solidFill>
                <a:latin typeface="华文新魏" panose="02010800040101010101" pitchFamily="2" charset="-122"/>
                <a:ea typeface="华文新魏" panose="02010800040101010101" pitchFamily="2" charset="-122"/>
              </a:rPr>
              <a:t>count++;    		//</a:t>
            </a:r>
            <a:r>
              <a:rPr lang="zh-CN" altLang="en-US" kern="100" dirty="0">
                <a:solidFill>
                  <a:srgbClr val="FF0000"/>
                </a:solidFill>
                <a:latin typeface="华文新魏" panose="02010800040101010101" pitchFamily="2" charset="-122"/>
                <a:ea typeface="华文新魏" panose="02010800040101010101" pitchFamily="2" charset="-122"/>
              </a:rPr>
              <a:t>但</a:t>
            </a:r>
            <a:r>
              <a:rPr lang="en-US" altLang="zh-CN" kern="100" dirty="0">
                <a:solidFill>
                  <a:srgbClr val="FF0000"/>
                </a:solidFill>
                <a:latin typeface="华文新魏" panose="02010800040101010101" pitchFamily="2" charset="-122"/>
                <a:ea typeface="华文新魏" panose="02010800040101010101" pitchFamily="2" charset="-122"/>
              </a:rPr>
              <a:t>count</a:t>
            </a:r>
            <a:r>
              <a:rPr lang="zh-CN" altLang="en-US" kern="100" dirty="0">
                <a:solidFill>
                  <a:srgbClr val="FF0000"/>
                </a:solidFill>
                <a:latin typeface="华文新魏" panose="02010800040101010101" pitchFamily="2" charset="-122"/>
                <a:ea typeface="华文新魏" panose="02010800040101010101" pitchFamily="2" charset="-122"/>
              </a:rPr>
              <a:t>为</a:t>
            </a:r>
            <a:r>
              <a:rPr lang="en-US" altLang="zh-CN" kern="100" dirty="0">
                <a:solidFill>
                  <a:srgbClr val="FF0000"/>
                </a:solidFill>
                <a:latin typeface="华文新魏" panose="02010800040101010101" pitchFamily="2" charset="-122"/>
                <a:ea typeface="华文新魏" panose="02010800040101010101" pitchFamily="2" charset="-122"/>
              </a:rPr>
              <a:t>mutable</a:t>
            </a:r>
            <a:r>
              <a:rPr lang="zh-CN" altLang="en-US" kern="100" dirty="0">
                <a:solidFill>
                  <a:srgbClr val="FF0000"/>
                </a:solidFill>
                <a:latin typeface="华文新魏" panose="02010800040101010101" pitchFamily="2" charset="-122"/>
                <a:ea typeface="华文新魏" panose="02010800040101010101" pitchFamily="2" charset="-122"/>
              </a:rPr>
              <a:t>成员，可以修改</a:t>
            </a:r>
          </a:p>
          <a:p>
            <a:pPr indent="269875" algn="just"/>
            <a:r>
              <a:rPr lang="en-US" altLang="zh-CN" kern="100"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2192958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5</a:t>
            </a:r>
            <a:r>
              <a:rPr lang="zh-CN" altLang="en-US" b="1" dirty="0">
                <a:latin typeface="隶书" panose="02010509060101010101" pitchFamily="49" charset="-122"/>
                <a:ea typeface="隶书" panose="02010509060101010101" pitchFamily="49" charset="-122"/>
              </a:rPr>
              <a:t>章 </a:t>
            </a:r>
            <a:r>
              <a:rPr lang="zh-CN" altLang="zh-CN" b="1" dirty="0">
                <a:latin typeface="隶书" panose="02010509060101010101" pitchFamily="49" charset="-122"/>
                <a:ea typeface="隶书" panose="02010509060101010101" pitchFamily="49" charset="-122"/>
              </a:rPr>
              <a:t>成员及成员指针</a:t>
            </a:r>
            <a:endParaRPr lang="zh-CN" altLang="en-US" b="1" dirty="0">
              <a:latin typeface="隶书" panose="02010509060101010101" pitchFamily="49" charset="-122"/>
              <a:ea typeface="隶书" panose="02010509060101010101" pitchFamily="49" charset="-122"/>
            </a:endParaRP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358140" y="1345565"/>
            <a:ext cx="10515600" cy="2406566"/>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5.3  </a:t>
            </a:r>
            <a:r>
              <a:rPr lang="zh-CN" altLang="en-US" dirty="0">
                <a:latin typeface="华文新魏" panose="02010800040101010101" pitchFamily="2" charset="-122"/>
                <a:ea typeface="华文新魏" panose="02010800040101010101" pitchFamily="2" charset="-122"/>
              </a:rPr>
              <a:t>静态数据成员</a:t>
            </a:r>
          </a:p>
        </p:txBody>
      </p:sp>
      <p:sp>
        <p:nvSpPr>
          <p:cNvPr id="5" name="Rectangle 7">
            <a:extLst>
              <a:ext uri="{FF2B5EF4-FFF2-40B4-BE49-F238E27FC236}">
                <a16:creationId xmlns:a16="http://schemas.microsoft.com/office/drawing/2014/main" id="{8691C570-6370-4516-8F64-F9A6D31AAF99}"/>
              </a:ext>
            </a:extLst>
          </p:cNvPr>
          <p:cNvSpPr>
            <a:spLocks noChangeArrowheads="1"/>
          </p:cNvSpPr>
          <p:nvPr/>
        </p:nvSpPr>
        <p:spPr bwMode="auto">
          <a:xfrm>
            <a:off x="838200" y="1889225"/>
            <a:ext cx="9949378" cy="4968775"/>
          </a:xfrm>
          <a:prstGeom prst="rect">
            <a:avLst/>
          </a:prstGeom>
          <a:noFill/>
          <a:ln w="9525">
            <a:noFill/>
            <a:miter lim="800000"/>
            <a:headEnd/>
            <a:tailEnd/>
          </a:ln>
        </p:spPr>
        <p:txBody>
          <a:bodyPr>
            <a:noAutofit/>
          </a:bodyPr>
          <a:lstStyle/>
          <a:p>
            <a:pPr algn="just">
              <a:lnSpc>
                <a:spcPct val="120000"/>
              </a:lnSpc>
            </a:pPr>
            <a:r>
              <a:rPr lang="en-US" altLang="zh-CN" sz="2400" b="1" dirty="0">
                <a:latin typeface="华文新魏" pitchFamily="2" charset="-122"/>
                <a:ea typeface="华文新魏" pitchFamily="2" charset="-122"/>
              </a:rPr>
              <a:t>	</a:t>
            </a:r>
            <a:r>
              <a:rPr lang="zh-CN" altLang="en-US" sz="2200" b="1" dirty="0">
                <a:latin typeface="华文新魏" panose="02010800040101010101" pitchFamily="2" charset="-122"/>
                <a:ea typeface="华文新魏" panose="02010800040101010101" pitchFamily="2" charset="-122"/>
              </a:rPr>
              <a:t>静态成员用</a:t>
            </a:r>
            <a:r>
              <a:rPr lang="en-US" altLang="zh-CN" sz="2200" b="1" dirty="0">
                <a:solidFill>
                  <a:srgbClr val="FF0000"/>
                </a:solidFill>
                <a:latin typeface="华文新魏" panose="02010800040101010101" pitchFamily="2" charset="-122"/>
                <a:ea typeface="华文新魏" panose="02010800040101010101" pitchFamily="2" charset="-122"/>
              </a:rPr>
              <a:t>static</a:t>
            </a:r>
            <a:r>
              <a:rPr lang="zh-CN" altLang="en-US" sz="2200" b="1" dirty="0">
                <a:latin typeface="华文新魏" panose="02010800040101010101" pitchFamily="2" charset="-122"/>
                <a:ea typeface="华文新魏" panose="02010800040101010101" pitchFamily="2" charset="-122"/>
              </a:rPr>
              <a:t>声明</a:t>
            </a: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包括静态数据成员和静态函数成员，</a:t>
            </a:r>
            <a:r>
              <a:rPr lang="en-US" altLang="zh-CN" sz="2200" b="1" dirty="0">
                <a:solidFill>
                  <a:srgbClr val="FF0000"/>
                </a:solidFill>
                <a:latin typeface="华文新魏" panose="02010800040101010101" pitchFamily="2" charset="-122"/>
                <a:ea typeface="华文新魏" panose="02010800040101010101" pitchFamily="2" charset="-122"/>
              </a:rPr>
              <a:t>static</a:t>
            </a:r>
            <a:r>
              <a:rPr lang="zh-CN" altLang="en-US" sz="2200" b="1" dirty="0">
                <a:solidFill>
                  <a:srgbClr val="FF0000"/>
                </a:solidFill>
                <a:latin typeface="华文新魏" panose="02010800040101010101" pitchFamily="2" charset="-122"/>
                <a:ea typeface="华文新魏" panose="02010800040101010101" pitchFamily="2" charset="-122"/>
              </a:rPr>
              <a:t>声明只能出现在类内。</a:t>
            </a:r>
            <a:endParaRPr lang="en-US" altLang="zh-CN" sz="2200" b="1" dirty="0">
              <a:solidFill>
                <a:srgbClr val="FF0000"/>
              </a:solidFill>
              <a:latin typeface="华文新魏" panose="02010800040101010101" pitchFamily="2" charset="-122"/>
              <a:ea typeface="华文新魏" panose="02010800040101010101" pitchFamily="2" charset="-122"/>
            </a:endParaRPr>
          </a:p>
          <a:p>
            <a:pPr algn="just">
              <a:lnSpc>
                <a:spcPct val="120000"/>
              </a:lnSpc>
            </a:pP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非</a:t>
            </a:r>
            <a:r>
              <a:rPr lang="en-US" altLang="zh-CN" sz="2200" b="1" dirty="0">
                <a:latin typeface="华文新魏" panose="02010800040101010101" pitchFamily="2" charset="-122"/>
                <a:ea typeface="华文新魏" panose="02010800040101010101" pitchFamily="2" charset="-122"/>
              </a:rPr>
              <a:t>const</a:t>
            </a:r>
            <a:r>
              <a:rPr lang="zh-CN" altLang="en-US" sz="2200" b="1" dirty="0">
                <a:latin typeface="华文新魏" panose="02010800040101010101" pitchFamily="2" charset="-122"/>
                <a:ea typeface="华文新魏" panose="02010800040101010101" pitchFamily="2" charset="-122"/>
              </a:rPr>
              <a:t>、非</a:t>
            </a:r>
            <a:r>
              <a:rPr lang="en-US" altLang="zh-CN" sz="2200" b="1" dirty="0">
                <a:latin typeface="华文新魏" panose="02010800040101010101" pitchFamily="2" charset="-122"/>
                <a:ea typeface="华文新魏" panose="02010800040101010101" pitchFamily="2" charset="-122"/>
              </a:rPr>
              <a:t>inline</a:t>
            </a:r>
            <a:r>
              <a:rPr lang="zh-CN" altLang="en-US" sz="2200" b="1" dirty="0">
                <a:latin typeface="华文新魏" panose="02010800040101010101" pitchFamily="2" charset="-122"/>
                <a:ea typeface="华文新魏" panose="02010800040101010101" pitchFamily="2" charset="-122"/>
              </a:rPr>
              <a:t>静态数据成员在</a:t>
            </a:r>
            <a:r>
              <a:rPr lang="zh-CN" altLang="en-US" sz="2200" b="1" dirty="0">
                <a:solidFill>
                  <a:srgbClr val="FF0000"/>
                </a:solidFill>
                <a:latin typeface="华文新魏" panose="02010800040101010101" pitchFamily="2" charset="-122"/>
                <a:ea typeface="华文新魏" panose="02010800040101010101" pitchFamily="2" charset="-122"/>
              </a:rPr>
              <a:t>类体内声明、类体外定义并初始化</a:t>
            </a:r>
            <a:r>
              <a:rPr lang="zh-CN" altLang="en-US" sz="2200" b="1" dirty="0">
                <a:latin typeface="华文新魏" panose="02010800040101010101" pitchFamily="2" charset="-122"/>
                <a:ea typeface="华文新魏" panose="02010800040101010101" pitchFamily="2" charset="-122"/>
              </a:rPr>
              <a:t>。</a:t>
            </a:r>
            <a:endParaRPr lang="zh-CN" altLang="en-US" sz="2200" b="1" dirty="0">
              <a:solidFill>
                <a:srgbClr val="FF0000"/>
              </a:solidFill>
              <a:latin typeface="华文新魏" panose="02010800040101010101" pitchFamily="2" charset="-122"/>
              <a:ea typeface="华文新魏" panose="02010800040101010101" pitchFamily="2" charset="-122"/>
            </a:endParaRPr>
          </a:p>
          <a:p>
            <a:pPr algn="just">
              <a:lnSpc>
                <a:spcPct val="120000"/>
              </a:lnSpc>
            </a:pPr>
            <a:r>
              <a:rPr lang="en-US" altLang="zh-CN" sz="2200" b="1" dirty="0">
                <a:solidFill>
                  <a:srgbClr val="FF0000"/>
                </a:solidFill>
                <a:latin typeface="华文新魏" panose="02010800040101010101" pitchFamily="2" charset="-122"/>
                <a:ea typeface="华文新魏" panose="02010800040101010101" pitchFamily="2" charset="-122"/>
              </a:rPr>
              <a:t>	</a:t>
            </a:r>
            <a:r>
              <a:rPr lang="zh-CN" altLang="en-US" sz="2200" b="1" dirty="0">
                <a:solidFill>
                  <a:srgbClr val="FF0000"/>
                </a:solidFill>
                <a:latin typeface="华文新魏" panose="02010800040101010101" pitchFamily="2" charset="-122"/>
                <a:ea typeface="华文新魏" panose="02010800040101010101" pitchFamily="2" charset="-122"/>
              </a:rPr>
              <a:t>类的静态数据成员在类还没有实例化对象前就已存在，</a:t>
            </a:r>
            <a:r>
              <a:rPr lang="zh-CN" altLang="en-US" sz="2200" b="1" dirty="0">
                <a:latin typeface="华文新魏" panose="02010800040101010101" pitchFamily="2" charset="-122"/>
                <a:ea typeface="华文新魏" panose="02010800040101010101" pitchFamily="2" charset="-122"/>
              </a:rPr>
              <a:t>相当于</a:t>
            </a:r>
            <a:r>
              <a:rPr lang="en-US" altLang="zh-CN" sz="2200" b="1" dirty="0">
                <a:latin typeface="华文新魏" panose="02010800040101010101" pitchFamily="2" charset="-122"/>
                <a:ea typeface="华文新魏" panose="02010800040101010101" pitchFamily="2" charset="-122"/>
              </a:rPr>
              <a:t>Java</a:t>
            </a:r>
            <a:r>
              <a:rPr lang="zh-CN" altLang="en-US" sz="2200" b="1" dirty="0">
                <a:latin typeface="华文新魏" panose="02010800040101010101" pitchFamily="2" charset="-122"/>
                <a:ea typeface="华文新魏" panose="02010800040101010101" pitchFamily="2" charset="-122"/>
              </a:rPr>
              <a:t>的类变量，用于描述类的总体信息，如对象总数、连接所有对象的链表表头等。</a:t>
            </a:r>
            <a:r>
              <a:rPr lang="zh-CN" altLang="en-US" sz="2200" b="1" dirty="0">
                <a:solidFill>
                  <a:srgbClr val="FF0000"/>
                </a:solidFill>
                <a:latin typeface="华文新魏" panose="02010800040101010101" pitchFamily="2" charset="-122"/>
                <a:ea typeface="华文新魏" panose="02010800040101010101" pitchFamily="2" charset="-122"/>
              </a:rPr>
              <a:t>访问权限同普通成员</a:t>
            </a:r>
            <a:r>
              <a:rPr lang="zh-CN" altLang="en-US" sz="2200" b="1" dirty="0">
                <a:latin typeface="华文新魏" panose="02010800040101010101" pitchFamily="2" charset="-122"/>
                <a:ea typeface="华文新魏" panose="02010800040101010101" pitchFamily="2" charset="-122"/>
              </a:rPr>
              <a:t>。</a:t>
            </a:r>
          </a:p>
          <a:p>
            <a:pPr algn="just">
              <a:lnSpc>
                <a:spcPct val="120000"/>
              </a:lnSpc>
            </a:pP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逻辑上，所有对象共享静态数据成员内存，任何对象修改静态数据成员的值，都会同时影响其他对象关于该成员的值。</a:t>
            </a:r>
            <a:r>
              <a:rPr lang="zh-CN" altLang="en-US" sz="2200" b="1" dirty="0">
                <a:solidFill>
                  <a:srgbClr val="FF0000"/>
                </a:solidFill>
                <a:latin typeface="华文新魏" panose="02010800040101010101" pitchFamily="2" charset="-122"/>
                <a:ea typeface="华文新魏" panose="02010800040101010101" pitchFamily="2" charset="-122"/>
              </a:rPr>
              <a:t>物理上，静态数据成员相当于独立分配内存的变量</a:t>
            </a:r>
            <a:r>
              <a:rPr lang="zh-CN" altLang="en-US" sz="2200" b="1" dirty="0">
                <a:latin typeface="华文新魏" panose="02010800040101010101" pitchFamily="2" charset="-122"/>
                <a:ea typeface="华文新魏" panose="02010800040101010101" pitchFamily="2" charset="-122"/>
              </a:rPr>
              <a:t>，</a:t>
            </a:r>
            <a:r>
              <a:rPr lang="zh-CN" altLang="en-US" sz="2200" b="1" dirty="0">
                <a:solidFill>
                  <a:srgbClr val="FF0000"/>
                </a:solidFill>
                <a:latin typeface="华文新魏" panose="02010800040101010101" pitchFamily="2" charset="-122"/>
                <a:ea typeface="华文新魏" panose="02010800040101010101" pitchFamily="2" charset="-122"/>
              </a:rPr>
              <a:t>不属于任何对象内存的一部分</a:t>
            </a:r>
            <a:r>
              <a:rPr lang="zh-CN" altLang="en-US" sz="2200" b="1" dirty="0">
                <a:latin typeface="华文新魏" panose="02010800040101010101" pitchFamily="2" charset="-122"/>
                <a:ea typeface="华文新魏" panose="02010800040101010101" pitchFamily="2" charset="-122"/>
              </a:rPr>
              <a:t>。</a:t>
            </a:r>
          </a:p>
          <a:p>
            <a:pPr algn="just">
              <a:lnSpc>
                <a:spcPct val="120000"/>
              </a:lnSpc>
            </a:pP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静态数据成员相当于有</a:t>
            </a:r>
            <a:r>
              <a:rPr lang="zh-CN" altLang="en-US" sz="2200" b="1" dirty="0">
                <a:solidFill>
                  <a:srgbClr val="FF0000"/>
                </a:solidFill>
                <a:latin typeface="华文新魏" panose="02010800040101010101" pitchFamily="2" charset="-122"/>
                <a:ea typeface="华文新魏" panose="02010800040101010101" pitchFamily="2" charset="-122"/>
              </a:rPr>
              <a:t>类名限定、带访问权限</a:t>
            </a:r>
            <a:r>
              <a:rPr lang="zh-CN" altLang="en-US" sz="2200" b="1" dirty="0">
                <a:latin typeface="华文新魏" panose="02010800040101010101" pitchFamily="2" charset="-122"/>
                <a:ea typeface="华文新魏" panose="02010800040101010101" pitchFamily="2" charset="-122"/>
              </a:rPr>
              <a:t>的全局变量</a:t>
            </a:r>
          </a:p>
        </p:txBody>
      </p:sp>
    </p:spTree>
    <p:extLst>
      <p:ext uri="{BB962C8B-B14F-4D97-AF65-F5344CB8AC3E}">
        <p14:creationId xmlns:p14="http://schemas.microsoft.com/office/powerpoint/2010/main" val="3101806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灯片编号占位符 3"/>
          <p:cNvSpPr>
            <a:spLocks noGrp="1"/>
          </p:cNvSpPr>
          <p:nvPr>
            <p:ph type="sldNum" sz="quarter" idx="12"/>
          </p:nvPr>
        </p:nvSpPr>
        <p:spPr>
          <a:noFill/>
        </p:spPr>
        <p:txBody>
          <a:bodyPr/>
          <a:lstStyle/>
          <a:p>
            <a:fld id="{D527A474-5FEB-40C9-86EE-38F661282CAA}" type="slidenum">
              <a:rPr lang="en-US" altLang="zh-CN" smtClean="0">
                <a:latin typeface="华文新魏" panose="02010800040101010101" pitchFamily="2" charset="-122"/>
                <a:ea typeface="华文新魏" panose="02010800040101010101" pitchFamily="2" charset="-122"/>
              </a:rPr>
              <a:pPr/>
              <a:t>21</a:t>
            </a:fld>
            <a:endParaRPr lang="en-US" altLang="zh-CN" dirty="0">
              <a:latin typeface="华文新魏" panose="02010800040101010101" pitchFamily="2" charset="-122"/>
              <a:ea typeface="华文新魏" panose="02010800040101010101" pitchFamily="2" charset="-122"/>
            </a:endParaRPr>
          </a:p>
        </p:txBody>
      </p:sp>
      <p:sp>
        <p:nvSpPr>
          <p:cNvPr id="137219" name="TextBox 4"/>
          <p:cNvSpPr txBox="1">
            <a:spLocks noChangeArrowheads="1"/>
          </p:cNvSpPr>
          <p:nvPr/>
        </p:nvSpPr>
        <p:spPr bwMode="auto">
          <a:xfrm>
            <a:off x="1809751" y="428625"/>
            <a:ext cx="7572375" cy="4286250"/>
          </a:xfrm>
          <a:prstGeom prst="rect">
            <a:avLst/>
          </a:prstGeom>
          <a:noFill/>
          <a:ln w="9525">
            <a:noFill/>
            <a:miter lim="800000"/>
            <a:headEnd/>
            <a:tailEnd/>
          </a:ln>
        </p:spPr>
        <p:txBody>
          <a:bodyPr/>
          <a:lstStyle/>
          <a:p>
            <a:pPr algn="l"/>
            <a:r>
              <a:rPr lang="en-US" altLang="zh-CN" dirty="0">
                <a:latin typeface="华文新魏" panose="02010800040101010101" pitchFamily="2" charset="-122"/>
                <a:ea typeface="华文新魏" panose="02010800040101010101" pitchFamily="2" charset="-122"/>
              </a:rPr>
              <a:t>class Circle {</a:t>
            </a:r>
          </a:p>
          <a:p>
            <a:pPr algn="l"/>
            <a:r>
              <a:rPr lang="en-US" altLang="zh-CN" dirty="0">
                <a:latin typeface="华文新魏" panose="02010800040101010101" pitchFamily="2" charset="-122"/>
                <a:ea typeface="华文新魏" panose="02010800040101010101" pitchFamily="2" charset="-122"/>
              </a:rPr>
              <a:t>private:</a:t>
            </a:r>
          </a:p>
          <a:p>
            <a:pPr algn="l"/>
            <a:r>
              <a:rPr lang="en-US" altLang="zh-CN" dirty="0">
                <a:latin typeface="华文新魏" panose="02010800040101010101" pitchFamily="2" charset="-122"/>
                <a:ea typeface="华文新魏" panose="02010800040101010101" pitchFamily="2" charset="-122"/>
              </a:rPr>
              <a:t>      double radius</a:t>
            </a:r>
            <a:r>
              <a:rPr lang="zh-CN" altLang="en-US" dirty="0">
                <a:latin typeface="华文新魏" panose="02010800040101010101" pitchFamily="2" charset="-122"/>
                <a:ea typeface="华文新魏" panose="02010800040101010101" pitchFamily="2" charset="-122"/>
              </a:rPr>
              <a:t>；</a:t>
            </a:r>
            <a:endParaRPr lang="en-US" altLang="zh-CN" dirty="0">
              <a:latin typeface="华文新魏" panose="02010800040101010101" pitchFamily="2" charset="-122"/>
              <a:ea typeface="华文新魏" panose="02010800040101010101" pitchFamily="2" charset="-122"/>
            </a:endParaRPr>
          </a:p>
          <a:p>
            <a:pPr algn="l"/>
            <a:r>
              <a:rPr lang="en-US" altLang="zh-CN" dirty="0">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static</a:t>
            </a:r>
            <a:r>
              <a:rPr lang="en-US" altLang="zh-CN" dirty="0">
                <a:latin typeface="华文新魏" panose="02010800040101010101" pitchFamily="2" charset="-122"/>
                <a:ea typeface="华文新魏" panose="02010800040101010101" pitchFamily="2" charset="-122"/>
              </a:rPr>
              <a:t> int </a:t>
            </a:r>
            <a:r>
              <a:rPr lang="en-US" altLang="zh-CN" dirty="0" err="1">
                <a:latin typeface="华文新魏" panose="02010800040101010101" pitchFamily="2" charset="-122"/>
                <a:ea typeface="华文新魏" panose="02010800040101010101" pitchFamily="2" charset="-122"/>
              </a:rPr>
              <a:t>totalCount</a:t>
            </a:r>
            <a:r>
              <a:rPr lang="en-US" altLang="zh-CN" dirty="0">
                <a:latin typeface="华文新魏" panose="02010800040101010101" pitchFamily="2" charset="-122"/>
                <a:ea typeface="华文新魏" panose="02010800040101010101" pitchFamily="2" charset="-122"/>
              </a:rPr>
              <a:t>;</a:t>
            </a:r>
          </a:p>
          <a:p>
            <a:pPr algn="l"/>
            <a:r>
              <a:rPr lang="en-US" altLang="zh-CN" dirty="0">
                <a:latin typeface="华文新魏" panose="02010800040101010101" pitchFamily="2" charset="-122"/>
                <a:ea typeface="华文新魏" panose="02010800040101010101" pitchFamily="2" charset="-122"/>
              </a:rPr>
              <a:t>public:</a:t>
            </a:r>
          </a:p>
          <a:p>
            <a:pPr algn="l"/>
            <a:r>
              <a:rPr lang="en-US" altLang="zh-CN" dirty="0">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static</a:t>
            </a:r>
            <a:r>
              <a:rPr lang="en-US" altLang="zh-CN" dirty="0">
                <a:latin typeface="华文新魏" panose="02010800040101010101" pitchFamily="2" charset="-122"/>
                <a:ea typeface="华文新魏" panose="02010800040101010101" pitchFamily="2" charset="-122"/>
              </a:rPr>
              <a:t> int </a:t>
            </a:r>
            <a:r>
              <a:rPr lang="en-US" altLang="zh-CN" dirty="0" err="1">
                <a:latin typeface="华文新魏" panose="02010800040101010101" pitchFamily="2" charset="-122"/>
                <a:ea typeface="华文新魏" panose="02010800040101010101" pitchFamily="2" charset="-122"/>
              </a:rPr>
              <a:t>getTotalCount</a:t>
            </a:r>
            <a:r>
              <a:rPr lang="en-US" altLang="zh-CN" dirty="0">
                <a:latin typeface="华文新魏" panose="02010800040101010101" pitchFamily="2" charset="-122"/>
                <a:ea typeface="华文新魏" panose="02010800040101010101" pitchFamily="2" charset="-122"/>
              </a:rPr>
              <a:t>();</a:t>
            </a:r>
          </a:p>
          <a:p>
            <a:pPr algn="l"/>
            <a:r>
              <a:rPr lang="en-US" altLang="zh-CN" dirty="0">
                <a:latin typeface="华文新魏" panose="02010800040101010101" pitchFamily="2" charset="-122"/>
                <a:ea typeface="华文新魏" panose="02010800040101010101" pitchFamily="2" charset="-122"/>
              </a:rPr>
              <a:t>public</a:t>
            </a:r>
            <a:r>
              <a:rPr lang="zh-CN" altLang="en-US" dirty="0">
                <a:latin typeface="华文新魏" panose="02010800040101010101" pitchFamily="2" charset="-122"/>
                <a:ea typeface="华文新魏" panose="02010800040101010101" pitchFamily="2" charset="-122"/>
              </a:rPr>
              <a:t>：</a:t>
            </a:r>
            <a:endParaRPr lang="en-US" altLang="zh-CN" dirty="0">
              <a:latin typeface="华文新魏" panose="02010800040101010101" pitchFamily="2" charset="-122"/>
              <a:ea typeface="华文新魏" panose="02010800040101010101" pitchFamily="2" charset="-122"/>
            </a:endParaRPr>
          </a:p>
          <a:p>
            <a:pPr algn="l"/>
            <a:r>
              <a:rPr lang="en-US" altLang="zh-CN" dirty="0">
                <a:latin typeface="华文新魏" panose="02010800040101010101" pitchFamily="2" charset="-122"/>
                <a:ea typeface="华文新魏" panose="02010800040101010101" pitchFamily="2" charset="-122"/>
              </a:rPr>
              <a:t>       Circle():radius(1.0){Circle::</a:t>
            </a:r>
            <a:r>
              <a:rPr lang="en-US" altLang="zh-CN" dirty="0" err="1">
                <a:latin typeface="华文新魏" panose="02010800040101010101" pitchFamily="2" charset="-122"/>
                <a:ea typeface="华文新魏" panose="02010800040101010101" pitchFamily="2" charset="-122"/>
              </a:rPr>
              <a:t>totalCount</a:t>
            </a:r>
            <a:r>
              <a:rPr lang="en-US" altLang="zh-CN" dirty="0">
                <a:latin typeface="华文新魏" panose="02010800040101010101" pitchFamily="2" charset="-122"/>
                <a:ea typeface="华文新魏" panose="02010800040101010101" pitchFamily="2" charset="-122"/>
              </a:rPr>
              <a:t>++;}</a:t>
            </a:r>
          </a:p>
          <a:p>
            <a:pPr algn="l"/>
            <a:r>
              <a:rPr lang="en-US" altLang="zh-CN" dirty="0">
                <a:latin typeface="华文新魏" panose="02010800040101010101" pitchFamily="2" charset="-122"/>
                <a:ea typeface="华文新魏" panose="02010800040101010101" pitchFamily="2" charset="-122"/>
              </a:rPr>
              <a:t>       Circle(double r):radius(r){Circle::</a:t>
            </a:r>
            <a:r>
              <a:rPr lang="en-US" altLang="zh-CN" dirty="0" err="1">
                <a:latin typeface="华文新魏" panose="02010800040101010101" pitchFamily="2" charset="-122"/>
                <a:ea typeface="华文新魏" panose="02010800040101010101" pitchFamily="2" charset="-122"/>
              </a:rPr>
              <a:t>totalCount</a:t>
            </a:r>
            <a:r>
              <a:rPr lang="en-US" altLang="zh-CN" dirty="0">
                <a:latin typeface="华文新魏" panose="02010800040101010101" pitchFamily="2" charset="-122"/>
                <a:ea typeface="华文新魏" panose="02010800040101010101" pitchFamily="2" charset="-122"/>
              </a:rPr>
              <a:t>++;}</a:t>
            </a:r>
          </a:p>
          <a:p>
            <a:pPr algn="l"/>
            <a:r>
              <a:rPr lang="en-US" altLang="zh-CN" dirty="0">
                <a:latin typeface="华文新魏" panose="02010800040101010101" pitchFamily="2" charset="-122"/>
                <a:ea typeface="华文新魏" panose="02010800040101010101" pitchFamily="2" charset="-122"/>
              </a:rPr>
              <a:t>};</a:t>
            </a:r>
          </a:p>
          <a:p>
            <a:pPr algn="l"/>
            <a:r>
              <a:rPr lang="en-US" altLang="zh-CN" dirty="0">
                <a:latin typeface="华文新魏" panose="02010800040101010101" pitchFamily="2" charset="-122"/>
                <a:ea typeface="华文新魏" panose="02010800040101010101" pitchFamily="2" charset="-122"/>
              </a:rPr>
              <a:t>int Circle::</a:t>
            </a:r>
            <a:r>
              <a:rPr lang="en-US" altLang="zh-CN" dirty="0" err="1">
                <a:latin typeface="华文新魏" panose="02010800040101010101" pitchFamily="2" charset="-122"/>
                <a:ea typeface="华文新魏" panose="02010800040101010101" pitchFamily="2" charset="-122"/>
              </a:rPr>
              <a:t>totalCount</a:t>
            </a:r>
            <a:r>
              <a:rPr lang="en-US" altLang="zh-CN" dirty="0">
                <a:latin typeface="华文新魏" panose="02010800040101010101" pitchFamily="2" charset="-122"/>
                <a:ea typeface="华文新魏" panose="02010800040101010101" pitchFamily="2" charset="-122"/>
              </a:rPr>
              <a:t> = 0;</a:t>
            </a:r>
          </a:p>
          <a:p>
            <a:pPr algn="l"/>
            <a:endParaRPr lang="en-US" altLang="zh-CN" dirty="0">
              <a:latin typeface="华文新魏" panose="02010800040101010101" pitchFamily="2" charset="-122"/>
              <a:ea typeface="华文新魏" panose="02010800040101010101" pitchFamily="2" charset="-122"/>
            </a:endParaRPr>
          </a:p>
          <a:p>
            <a:pPr algn="l"/>
            <a:r>
              <a:rPr lang="en-US" altLang="zh-CN" dirty="0">
                <a:latin typeface="华文新魏" panose="02010800040101010101" pitchFamily="2" charset="-122"/>
                <a:ea typeface="华文新魏" panose="02010800040101010101" pitchFamily="2" charset="-122"/>
              </a:rPr>
              <a:t>int Circle::</a:t>
            </a:r>
            <a:r>
              <a:rPr lang="en-US" altLang="zh-CN" dirty="0" err="1">
                <a:latin typeface="华文新魏" panose="02010800040101010101" pitchFamily="2" charset="-122"/>
                <a:ea typeface="华文新魏" panose="02010800040101010101" pitchFamily="2" charset="-122"/>
              </a:rPr>
              <a:t>getTotalCount</a:t>
            </a:r>
            <a:r>
              <a:rPr lang="en-US" altLang="zh-CN" dirty="0">
                <a:latin typeface="华文新魏" panose="02010800040101010101" pitchFamily="2" charset="-122"/>
                <a:ea typeface="华文新魏" panose="02010800040101010101" pitchFamily="2" charset="-122"/>
              </a:rPr>
              <a:t>(){</a:t>
            </a:r>
          </a:p>
          <a:p>
            <a:pPr algn="l"/>
            <a:r>
              <a:rPr lang="en-US" altLang="zh-CN" dirty="0">
                <a:latin typeface="华文新魏" panose="02010800040101010101" pitchFamily="2" charset="-122"/>
                <a:ea typeface="华文新魏" panose="02010800040101010101" pitchFamily="2" charset="-122"/>
              </a:rPr>
              <a:t>    return </a:t>
            </a:r>
            <a:r>
              <a:rPr lang="en-US" altLang="zh-CN" dirty="0" err="1">
                <a:latin typeface="华文新魏" panose="02010800040101010101" pitchFamily="2" charset="-122"/>
                <a:ea typeface="华文新魏" panose="02010800040101010101" pitchFamily="2" charset="-122"/>
              </a:rPr>
              <a:t>totalCount</a:t>
            </a:r>
            <a:r>
              <a:rPr lang="en-US" altLang="zh-CN" dirty="0">
                <a:latin typeface="华文新魏" panose="02010800040101010101" pitchFamily="2" charset="-122"/>
                <a:ea typeface="华文新魏" panose="02010800040101010101" pitchFamily="2" charset="-122"/>
              </a:rPr>
              <a:t>;</a:t>
            </a:r>
          </a:p>
          <a:p>
            <a:pPr algn="l"/>
            <a:r>
              <a:rPr lang="en-US" altLang="zh-CN" dirty="0">
                <a:latin typeface="华文新魏" panose="02010800040101010101" pitchFamily="2" charset="-122"/>
                <a:ea typeface="华文新魏" panose="02010800040101010101" pitchFamily="2" charset="-122"/>
              </a:rPr>
              <a:t>}</a:t>
            </a:r>
          </a:p>
          <a:p>
            <a:pPr algn="l"/>
            <a:r>
              <a:rPr lang="en-US" altLang="zh-CN" dirty="0">
                <a:latin typeface="华文新魏" panose="02010800040101010101" pitchFamily="2" charset="-122"/>
                <a:ea typeface="华文新魏" panose="02010800040101010101" pitchFamily="2" charset="-122"/>
              </a:rPr>
              <a:t> </a:t>
            </a:r>
            <a:endParaRPr lang="zh-CN" altLang="en-US" dirty="0">
              <a:latin typeface="华文新魏" panose="02010800040101010101" pitchFamily="2" charset="-122"/>
              <a:ea typeface="华文新魏" panose="02010800040101010101" pitchFamily="2" charset="-122"/>
            </a:endParaRPr>
          </a:p>
        </p:txBody>
      </p:sp>
      <p:sp>
        <p:nvSpPr>
          <p:cNvPr id="137220" name="矩形标注 5"/>
          <p:cNvSpPr>
            <a:spLocks noChangeArrowheads="1"/>
          </p:cNvSpPr>
          <p:nvPr/>
        </p:nvSpPr>
        <p:spPr bwMode="auto">
          <a:xfrm>
            <a:off x="5810251" y="673101"/>
            <a:ext cx="3000375" cy="612775"/>
          </a:xfrm>
          <a:prstGeom prst="wedgeRectCallout">
            <a:avLst>
              <a:gd name="adj1" fmla="val -102792"/>
              <a:gd name="adj2" fmla="val 77009"/>
            </a:avLst>
          </a:prstGeom>
          <a:solidFill>
            <a:schemeClr val="accent1"/>
          </a:solidFill>
          <a:ln w="12700" algn="ctr">
            <a:solidFill>
              <a:schemeClr val="tx1"/>
            </a:solidFill>
            <a:round/>
            <a:headEnd/>
            <a:tailEnd type="triangle" w="med" len="med"/>
          </a:ln>
        </p:spPr>
        <p:txBody>
          <a:bodyPr/>
          <a:lstStyle/>
          <a:p>
            <a:pPr algn="l"/>
            <a:r>
              <a:rPr lang="zh-CN" altLang="en-US" b="1" dirty="0">
                <a:latin typeface="华文新魏" panose="02010800040101010101" pitchFamily="2" charset="-122"/>
                <a:ea typeface="华文新魏" panose="02010800040101010101" pitchFamily="2" charset="-122"/>
              </a:rPr>
              <a:t>非</a:t>
            </a:r>
            <a:r>
              <a:rPr lang="en-US" altLang="zh-CN" b="1" dirty="0">
                <a:latin typeface="华文新魏" panose="02010800040101010101" pitchFamily="2" charset="-122"/>
                <a:ea typeface="华文新魏" panose="02010800040101010101" pitchFamily="2" charset="-122"/>
              </a:rPr>
              <a:t>const</a:t>
            </a:r>
            <a:r>
              <a:rPr lang="zh-CN" altLang="en-US" b="1" dirty="0">
                <a:latin typeface="华文新魏" panose="02010800040101010101" pitchFamily="2" charset="-122"/>
                <a:ea typeface="华文新魏" panose="02010800040101010101" pitchFamily="2" charset="-122"/>
              </a:rPr>
              <a:t>，非</a:t>
            </a:r>
            <a:r>
              <a:rPr lang="en-US" altLang="zh-CN" b="1" dirty="0">
                <a:latin typeface="华文新魏" panose="02010800040101010101" pitchFamily="2" charset="-122"/>
                <a:ea typeface="华文新魏" panose="02010800040101010101" pitchFamily="2" charset="-122"/>
              </a:rPr>
              <a:t>inline</a:t>
            </a:r>
            <a:r>
              <a:rPr lang="zh-CN" altLang="en-US" b="1" dirty="0">
                <a:latin typeface="华文新魏" panose="02010800040101010101" pitchFamily="2" charset="-122"/>
                <a:ea typeface="华文新魏" panose="02010800040101010101" pitchFamily="2" charset="-122"/>
              </a:rPr>
              <a:t>静态数据成员成员在类体内声明</a:t>
            </a:r>
          </a:p>
        </p:txBody>
      </p:sp>
      <p:sp>
        <p:nvSpPr>
          <p:cNvPr id="137221" name="矩形标注 6"/>
          <p:cNvSpPr>
            <a:spLocks noChangeArrowheads="1"/>
          </p:cNvSpPr>
          <p:nvPr/>
        </p:nvSpPr>
        <p:spPr bwMode="auto">
          <a:xfrm>
            <a:off x="5595938" y="3030538"/>
            <a:ext cx="5072062" cy="469900"/>
          </a:xfrm>
          <a:prstGeom prst="wedgeRectCallout">
            <a:avLst>
              <a:gd name="adj1" fmla="val -70160"/>
              <a:gd name="adj2" fmla="val 13116"/>
            </a:avLst>
          </a:prstGeom>
          <a:solidFill>
            <a:schemeClr val="accent1"/>
          </a:solidFill>
          <a:ln w="12700" algn="ctr">
            <a:solidFill>
              <a:schemeClr val="tx1"/>
            </a:solidFill>
            <a:round/>
            <a:headEnd/>
            <a:tailEnd type="triangle" w="med" len="med"/>
          </a:ln>
        </p:spPr>
        <p:txBody>
          <a:bodyPr/>
          <a:lstStyle/>
          <a:p>
            <a:pPr algn="l"/>
            <a:r>
              <a:rPr lang="zh-CN" altLang="en-US" b="1" dirty="0">
                <a:latin typeface="华文新魏" panose="02010800040101010101" pitchFamily="2" charset="-122"/>
                <a:ea typeface="华文新魏" panose="02010800040101010101" pitchFamily="2" charset="-122"/>
              </a:rPr>
              <a:t>非</a:t>
            </a:r>
            <a:r>
              <a:rPr lang="en-US" altLang="zh-CN" b="1" dirty="0">
                <a:latin typeface="华文新魏" panose="02010800040101010101" pitchFamily="2" charset="-122"/>
                <a:ea typeface="华文新魏" panose="02010800040101010101" pitchFamily="2" charset="-122"/>
              </a:rPr>
              <a:t>const</a:t>
            </a:r>
            <a:r>
              <a:rPr lang="zh-CN" altLang="en-US" b="1" dirty="0">
                <a:latin typeface="华文新魏" panose="02010800040101010101" pitchFamily="2" charset="-122"/>
                <a:ea typeface="华文新魏" panose="02010800040101010101" pitchFamily="2" charset="-122"/>
              </a:rPr>
              <a:t>静态数据成员成员在类体外定义并初始化</a:t>
            </a:r>
          </a:p>
        </p:txBody>
      </p:sp>
      <p:sp>
        <p:nvSpPr>
          <p:cNvPr id="137222" name="矩形标注 7"/>
          <p:cNvSpPr>
            <a:spLocks noChangeArrowheads="1"/>
          </p:cNvSpPr>
          <p:nvPr/>
        </p:nvSpPr>
        <p:spPr bwMode="auto">
          <a:xfrm>
            <a:off x="5524500" y="3571876"/>
            <a:ext cx="4000500" cy="612775"/>
          </a:xfrm>
          <a:prstGeom prst="wedgeRectCallout">
            <a:avLst>
              <a:gd name="adj1" fmla="val -92634"/>
              <a:gd name="adj2" fmla="val 52134"/>
            </a:avLst>
          </a:prstGeom>
          <a:solidFill>
            <a:schemeClr val="accent1"/>
          </a:solidFill>
          <a:ln w="12700" algn="ctr">
            <a:solidFill>
              <a:schemeClr val="tx1"/>
            </a:solidFill>
            <a:round/>
            <a:headEnd/>
            <a:tailEnd type="triangle" w="med" len="med"/>
          </a:ln>
        </p:spPr>
        <p:txBody>
          <a:bodyPr/>
          <a:lstStyle/>
          <a:p>
            <a:pPr algn="l"/>
            <a:r>
              <a:rPr lang="zh-CN" altLang="en-US" b="1" dirty="0">
                <a:latin typeface="华文新魏" panose="02010800040101010101" pitchFamily="2" charset="-122"/>
                <a:ea typeface="华文新魏" panose="02010800040101010101" pitchFamily="2" charset="-122"/>
              </a:rPr>
              <a:t>静态函数成员内只能访问静态成员，不能访问实例</a:t>
            </a: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普通</a:t>
            </a: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数据成员（</a:t>
            </a:r>
            <a:r>
              <a:rPr lang="en-US" altLang="zh-CN" b="1" dirty="0">
                <a:latin typeface="华文新魏" panose="02010800040101010101" pitchFamily="2" charset="-122"/>
                <a:ea typeface="华文新魏" panose="02010800040101010101" pitchFamily="2" charset="-122"/>
              </a:rPr>
              <a:t>radius</a:t>
            </a:r>
            <a:r>
              <a:rPr lang="zh-CN" altLang="en-US" b="1" dirty="0">
                <a:latin typeface="华文新魏" panose="02010800040101010101" pitchFamily="2" charset="-122"/>
                <a:ea typeface="华文新魏" panose="02010800040101010101" pitchFamily="2" charset="-122"/>
              </a:rPr>
              <a:t>）</a:t>
            </a:r>
          </a:p>
        </p:txBody>
      </p:sp>
      <p:sp>
        <p:nvSpPr>
          <p:cNvPr id="14" name="Rectangle 22"/>
          <p:cNvSpPr>
            <a:spLocks noChangeArrowheads="1"/>
          </p:cNvSpPr>
          <p:nvPr/>
        </p:nvSpPr>
        <p:spPr bwMode="auto">
          <a:xfrm>
            <a:off x="8347076" y="5605464"/>
            <a:ext cx="765175" cy="314325"/>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pPr>
              <a:defRPr/>
            </a:pPr>
            <a:r>
              <a:rPr lang="en-US" altLang="zh-CN" sz="2000" dirty="0">
                <a:solidFill>
                  <a:srgbClr val="000000"/>
                </a:solidFill>
                <a:latin typeface="华文新魏" panose="02010800040101010101" pitchFamily="2" charset="-122"/>
                <a:ea typeface="华文新魏" panose="02010800040101010101" pitchFamily="2" charset="-122"/>
              </a:rPr>
              <a:t>2</a:t>
            </a:r>
          </a:p>
        </p:txBody>
      </p:sp>
      <p:sp>
        <p:nvSpPr>
          <p:cNvPr id="24" name="Text Box 43"/>
          <p:cNvSpPr txBox="1">
            <a:spLocks noChangeArrowheads="1"/>
          </p:cNvSpPr>
          <p:nvPr/>
        </p:nvSpPr>
        <p:spPr bwMode="auto">
          <a:xfrm>
            <a:off x="9096375" y="5529263"/>
            <a:ext cx="1393330" cy="400110"/>
          </a:xfrm>
          <a:prstGeom prst="rect">
            <a:avLst/>
          </a:prstGeom>
          <a:noFill/>
          <a:ln w="9525" algn="ctr">
            <a:noFill/>
            <a:miter lim="800000"/>
            <a:headEnd/>
            <a:tailEnd/>
          </a:ln>
        </p:spPr>
        <p:txBody>
          <a:bodyPr wrap="none">
            <a:spAutoFit/>
          </a:bodyPr>
          <a:lstStyle/>
          <a:p>
            <a:r>
              <a:rPr lang="en-US" altLang="zh-CN" sz="2000">
                <a:latin typeface="华文新魏" panose="02010800040101010101" pitchFamily="2" charset="-122"/>
                <a:ea typeface="华文新魏" panose="02010800040101010101" pitchFamily="2" charset="-122"/>
              </a:rPr>
              <a:t>totalCount</a:t>
            </a:r>
          </a:p>
        </p:txBody>
      </p:sp>
      <p:grpSp>
        <p:nvGrpSpPr>
          <p:cNvPr id="2" name="组合 26"/>
          <p:cNvGrpSpPr>
            <a:grpSpLocks/>
          </p:cNvGrpSpPr>
          <p:nvPr/>
        </p:nvGrpSpPr>
        <p:grpSpPr bwMode="auto">
          <a:xfrm>
            <a:off x="5310189" y="4500563"/>
            <a:ext cx="1571625" cy="726443"/>
            <a:chOff x="1071538" y="4857760"/>
            <a:chExt cx="1571636" cy="726603"/>
          </a:xfrm>
        </p:grpSpPr>
        <p:sp>
          <p:nvSpPr>
            <p:cNvPr id="137235" name="TextBox 24"/>
            <p:cNvSpPr txBox="1">
              <a:spLocks noChangeArrowheads="1"/>
            </p:cNvSpPr>
            <p:nvPr/>
          </p:nvSpPr>
          <p:spPr bwMode="auto">
            <a:xfrm>
              <a:off x="1071538" y="4857760"/>
              <a:ext cx="1571636" cy="369332"/>
            </a:xfrm>
            <a:prstGeom prst="rect">
              <a:avLst/>
            </a:prstGeom>
            <a:noFill/>
            <a:ln w="9525">
              <a:solidFill>
                <a:schemeClr val="accent1"/>
              </a:solidFill>
              <a:miter lim="800000"/>
              <a:headEnd/>
              <a:tailEnd/>
            </a:ln>
          </p:spPr>
          <p:txBody>
            <a:bodyPr>
              <a:spAutoFit/>
            </a:bodyPr>
            <a:lstStyle/>
            <a:p>
              <a:r>
                <a:rPr lang="en-US" altLang="zh-CN">
                  <a:latin typeface="华文新魏" panose="02010800040101010101" pitchFamily="2" charset="-122"/>
                  <a:ea typeface="华文新魏" panose="02010800040101010101" pitchFamily="2" charset="-122"/>
                </a:rPr>
                <a:t>c1</a:t>
              </a:r>
              <a:endParaRPr lang="zh-CN" altLang="en-US">
                <a:latin typeface="华文新魏" panose="02010800040101010101" pitchFamily="2" charset="-122"/>
                <a:ea typeface="华文新魏" panose="02010800040101010101" pitchFamily="2" charset="-122"/>
              </a:endParaRPr>
            </a:p>
          </p:txBody>
        </p:sp>
        <p:sp>
          <p:nvSpPr>
            <p:cNvPr id="137236" name="TextBox 25"/>
            <p:cNvSpPr txBox="1">
              <a:spLocks noChangeArrowheads="1"/>
            </p:cNvSpPr>
            <p:nvPr/>
          </p:nvSpPr>
          <p:spPr bwMode="auto">
            <a:xfrm>
              <a:off x="1071538" y="5214950"/>
              <a:ext cx="1571636" cy="369413"/>
            </a:xfrm>
            <a:prstGeom prst="rect">
              <a:avLst/>
            </a:prstGeom>
            <a:noFill/>
            <a:ln w="9525">
              <a:solidFill>
                <a:schemeClr val="accent1"/>
              </a:solidFill>
              <a:miter lim="800000"/>
              <a:headEnd/>
              <a:tailEnd/>
            </a:ln>
          </p:spPr>
          <p:txBody>
            <a:bodyPr>
              <a:spAutoFit/>
            </a:bodyPr>
            <a:lstStyle/>
            <a:p>
              <a:pPr algn="l"/>
              <a:r>
                <a:rPr lang="en-US" altLang="zh-CN" dirty="0">
                  <a:latin typeface="华文新魏" panose="02010800040101010101" pitchFamily="2" charset="-122"/>
                  <a:ea typeface="华文新魏" panose="02010800040101010101" pitchFamily="2" charset="-122"/>
                </a:rPr>
                <a:t>radius=1.0</a:t>
              </a:r>
            </a:p>
          </p:txBody>
        </p:sp>
      </p:grpSp>
      <p:grpSp>
        <p:nvGrpSpPr>
          <p:cNvPr id="3" name="组合 27"/>
          <p:cNvGrpSpPr>
            <a:grpSpLocks/>
          </p:cNvGrpSpPr>
          <p:nvPr/>
        </p:nvGrpSpPr>
        <p:grpSpPr bwMode="auto">
          <a:xfrm>
            <a:off x="5310189" y="5640387"/>
            <a:ext cx="1571625" cy="739141"/>
            <a:chOff x="1071538" y="4857760"/>
            <a:chExt cx="1571636" cy="739302"/>
          </a:xfrm>
        </p:grpSpPr>
        <p:sp>
          <p:nvSpPr>
            <p:cNvPr id="137233" name="TextBox 28"/>
            <p:cNvSpPr txBox="1">
              <a:spLocks noChangeArrowheads="1"/>
            </p:cNvSpPr>
            <p:nvPr/>
          </p:nvSpPr>
          <p:spPr bwMode="auto">
            <a:xfrm>
              <a:off x="1071538" y="4857760"/>
              <a:ext cx="1571636" cy="369332"/>
            </a:xfrm>
            <a:prstGeom prst="rect">
              <a:avLst/>
            </a:prstGeom>
            <a:noFill/>
            <a:ln w="9525">
              <a:solidFill>
                <a:schemeClr val="accent1"/>
              </a:solidFill>
              <a:miter lim="800000"/>
              <a:headEnd/>
              <a:tailEnd/>
            </a:ln>
          </p:spPr>
          <p:txBody>
            <a:bodyPr>
              <a:spAutoFit/>
            </a:bodyPr>
            <a:lstStyle/>
            <a:p>
              <a:r>
                <a:rPr lang="en-US" altLang="zh-CN">
                  <a:latin typeface="华文新魏" panose="02010800040101010101" pitchFamily="2" charset="-122"/>
                  <a:ea typeface="华文新魏" panose="02010800040101010101" pitchFamily="2" charset="-122"/>
                </a:rPr>
                <a:t>c2</a:t>
              </a:r>
              <a:endParaRPr lang="zh-CN" altLang="en-US">
                <a:latin typeface="华文新魏" panose="02010800040101010101" pitchFamily="2" charset="-122"/>
                <a:ea typeface="华文新魏" panose="02010800040101010101" pitchFamily="2" charset="-122"/>
              </a:endParaRPr>
            </a:p>
          </p:txBody>
        </p:sp>
        <p:sp>
          <p:nvSpPr>
            <p:cNvPr id="137234" name="TextBox 29"/>
            <p:cNvSpPr txBox="1">
              <a:spLocks noChangeArrowheads="1"/>
            </p:cNvSpPr>
            <p:nvPr/>
          </p:nvSpPr>
          <p:spPr bwMode="auto">
            <a:xfrm>
              <a:off x="1071538" y="5227650"/>
              <a:ext cx="1571636" cy="369412"/>
            </a:xfrm>
            <a:prstGeom prst="rect">
              <a:avLst/>
            </a:prstGeom>
            <a:noFill/>
            <a:ln w="9525">
              <a:solidFill>
                <a:schemeClr val="accent1"/>
              </a:solidFill>
              <a:miter lim="800000"/>
              <a:headEnd/>
              <a:tailEnd/>
            </a:ln>
          </p:spPr>
          <p:txBody>
            <a:bodyPr>
              <a:spAutoFit/>
            </a:bodyPr>
            <a:lstStyle/>
            <a:p>
              <a:pPr algn="l"/>
              <a:r>
                <a:rPr lang="en-US" altLang="zh-CN" dirty="0">
                  <a:latin typeface="华文新魏" panose="02010800040101010101" pitchFamily="2" charset="-122"/>
                  <a:ea typeface="华文新魏" panose="02010800040101010101" pitchFamily="2" charset="-122"/>
                </a:rPr>
                <a:t>radius=5.0</a:t>
              </a:r>
            </a:p>
          </p:txBody>
        </p:sp>
      </p:grpSp>
      <p:cxnSp>
        <p:nvCxnSpPr>
          <p:cNvPr id="32" name="形状 31"/>
          <p:cNvCxnSpPr>
            <a:cxnSpLocks noChangeShapeType="1"/>
            <a:endCxn id="36" idx="0"/>
          </p:cNvCxnSpPr>
          <p:nvPr/>
        </p:nvCxnSpPr>
        <p:spPr bwMode="auto">
          <a:xfrm>
            <a:off x="6453191" y="5286388"/>
            <a:ext cx="2278061" cy="315900"/>
          </a:xfrm>
          <a:prstGeom prst="bentConnector2">
            <a:avLst/>
          </a:prstGeom>
          <a:noFill/>
          <a:ln w="12700" algn="ctr">
            <a:solidFill>
              <a:schemeClr val="tx1"/>
            </a:solidFill>
            <a:round/>
            <a:headEnd/>
            <a:tailEnd type="arrow" w="med" len="med"/>
          </a:ln>
        </p:spPr>
      </p:cxnSp>
      <p:cxnSp>
        <p:nvCxnSpPr>
          <p:cNvPr id="34" name="形状 33"/>
          <p:cNvCxnSpPr>
            <a:cxnSpLocks noChangeShapeType="1"/>
            <a:endCxn id="36" idx="2"/>
          </p:cNvCxnSpPr>
          <p:nvPr/>
        </p:nvCxnSpPr>
        <p:spPr bwMode="auto">
          <a:xfrm flipV="1">
            <a:off x="6453191" y="5916614"/>
            <a:ext cx="2278061" cy="568343"/>
          </a:xfrm>
          <a:prstGeom prst="bentConnector2">
            <a:avLst/>
          </a:prstGeom>
          <a:noFill/>
          <a:ln w="12700" algn="ctr">
            <a:solidFill>
              <a:schemeClr val="tx1"/>
            </a:solidFill>
            <a:round/>
            <a:headEnd/>
            <a:tailEnd type="arrow" w="med" len="med"/>
          </a:ln>
        </p:spPr>
      </p:cxnSp>
      <p:sp>
        <p:nvSpPr>
          <p:cNvPr id="35" name="TextBox 34"/>
          <p:cNvSpPr txBox="1">
            <a:spLocks noChangeArrowheads="1"/>
          </p:cNvSpPr>
          <p:nvPr/>
        </p:nvSpPr>
        <p:spPr bwMode="auto">
          <a:xfrm>
            <a:off x="2024064" y="4786314"/>
            <a:ext cx="1601721" cy="646331"/>
          </a:xfrm>
          <a:prstGeom prst="rect">
            <a:avLst/>
          </a:prstGeom>
          <a:noFill/>
          <a:ln w="9525">
            <a:noFill/>
            <a:miter lim="800000"/>
            <a:headEnd/>
            <a:tailEnd/>
          </a:ln>
        </p:spPr>
        <p:txBody>
          <a:bodyPr wrap="none">
            <a:spAutoFit/>
          </a:bodyPr>
          <a:lstStyle/>
          <a:p>
            <a:pPr algn="l"/>
            <a:r>
              <a:rPr lang="en-US" altLang="zh-CN" dirty="0">
                <a:latin typeface="华文新魏" panose="02010800040101010101" pitchFamily="2" charset="-122"/>
                <a:ea typeface="华文新魏" panose="02010800040101010101" pitchFamily="2" charset="-122"/>
              </a:rPr>
              <a:t>Circle c1;</a:t>
            </a:r>
          </a:p>
          <a:p>
            <a:pPr algn="l"/>
            <a:r>
              <a:rPr lang="en-US" altLang="zh-CN" dirty="0">
                <a:latin typeface="华文新魏" panose="02010800040101010101" pitchFamily="2" charset="-122"/>
                <a:ea typeface="华文新魏" panose="02010800040101010101" pitchFamily="2" charset="-122"/>
              </a:rPr>
              <a:t>Circle c2(5.0);</a:t>
            </a:r>
            <a:endParaRPr lang="zh-CN" altLang="en-US" dirty="0">
              <a:latin typeface="华文新魏" panose="02010800040101010101" pitchFamily="2" charset="-122"/>
              <a:ea typeface="华文新魏" panose="02010800040101010101" pitchFamily="2" charset="-122"/>
            </a:endParaRPr>
          </a:p>
        </p:txBody>
      </p:sp>
      <p:sp>
        <p:nvSpPr>
          <p:cNvPr id="36" name="Rectangle 22"/>
          <p:cNvSpPr>
            <a:spLocks noChangeArrowheads="1"/>
          </p:cNvSpPr>
          <p:nvPr/>
        </p:nvSpPr>
        <p:spPr bwMode="auto">
          <a:xfrm>
            <a:off x="8348664" y="5602289"/>
            <a:ext cx="765175" cy="314325"/>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pPr>
              <a:defRPr/>
            </a:pPr>
            <a:r>
              <a:rPr lang="en-US" altLang="zh-CN" sz="2000" dirty="0">
                <a:solidFill>
                  <a:srgbClr val="000000"/>
                </a:solidFill>
                <a:latin typeface="华文新魏" panose="02010800040101010101" pitchFamily="2" charset="-122"/>
                <a:ea typeface="华文新魏" panose="02010800040101010101" pitchFamily="2" charset="-122"/>
              </a:rPr>
              <a:t>1</a:t>
            </a:r>
          </a:p>
        </p:txBody>
      </p:sp>
      <p:sp>
        <p:nvSpPr>
          <p:cNvPr id="38" name="矩形标注 37"/>
          <p:cNvSpPr>
            <a:spLocks noChangeArrowheads="1"/>
          </p:cNvSpPr>
          <p:nvPr/>
        </p:nvSpPr>
        <p:spPr bwMode="auto">
          <a:xfrm>
            <a:off x="8667751" y="4357689"/>
            <a:ext cx="1857375" cy="612775"/>
          </a:xfrm>
          <a:prstGeom prst="wedgeRectCallout">
            <a:avLst>
              <a:gd name="adj1" fmla="val -33069"/>
              <a:gd name="adj2" fmla="val 137125"/>
            </a:avLst>
          </a:prstGeom>
          <a:solidFill>
            <a:schemeClr val="accent1"/>
          </a:solidFill>
          <a:ln w="12700" algn="ctr">
            <a:solidFill>
              <a:schemeClr val="tx1"/>
            </a:solidFill>
            <a:round/>
            <a:headEnd/>
            <a:tailEnd type="triangle" w="med" len="med"/>
          </a:ln>
        </p:spPr>
        <p:txBody>
          <a:bodyPr/>
          <a:lstStyle/>
          <a:p>
            <a:r>
              <a:rPr lang="zh-CN" altLang="en-US" b="1">
                <a:latin typeface="华文新魏" panose="02010800040101010101" pitchFamily="2" charset="-122"/>
                <a:ea typeface="华文新魏" panose="02010800040101010101" pitchFamily="2" charset="-122"/>
              </a:rPr>
              <a:t>对象共享静态数据成员内存</a:t>
            </a:r>
            <a:endParaRPr lang="zh-CN" altLang="en-US">
              <a:latin typeface="华文新魏" panose="02010800040101010101" pitchFamily="2" charset="-122"/>
              <a:ea typeface="华文新魏" panose="02010800040101010101" pitchFamily="2" charset="-122"/>
            </a:endParaRPr>
          </a:p>
        </p:txBody>
      </p:sp>
      <p:sp>
        <p:nvSpPr>
          <p:cNvPr id="39" name="矩形标注 38"/>
          <p:cNvSpPr>
            <a:spLocks noChangeArrowheads="1"/>
          </p:cNvSpPr>
          <p:nvPr/>
        </p:nvSpPr>
        <p:spPr bwMode="auto">
          <a:xfrm>
            <a:off x="1524000" y="5786438"/>
            <a:ext cx="2857500" cy="857250"/>
          </a:xfrm>
          <a:prstGeom prst="wedgeRectCallout">
            <a:avLst>
              <a:gd name="adj1" fmla="val 82634"/>
              <a:gd name="adj2" fmla="val -6097"/>
            </a:avLst>
          </a:prstGeom>
          <a:solidFill>
            <a:schemeClr val="accent1"/>
          </a:solidFill>
          <a:ln w="12700" algn="ctr">
            <a:solidFill>
              <a:schemeClr val="tx1"/>
            </a:solidFill>
            <a:round/>
            <a:headEnd/>
            <a:tailEnd type="triangle" w="med" len="med"/>
          </a:ln>
        </p:spPr>
        <p:txBody>
          <a:bodyPr/>
          <a:lstStyle/>
          <a:p>
            <a:pPr algn="l"/>
            <a:r>
              <a:rPr lang="zh-CN" altLang="en-US" b="1">
                <a:latin typeface="华文新魏" panose="02010800040101010101" pitchFamily="2" charset="-122"/>
                <a:ea typeface="华文新魏" panose="02010800040101010101" pitchFamily="2" charset="-122"/>
              </a:rPr>
              <a:t>实例数据成员属于对象内存布局的一部分，随着对象的存在而存在</a:t>
            </a:r>
            <a:endParaRPr lang="zh-CN" altLang="en-US">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Effect transition="in" filter="blinds(horizontal)">
                                      <p:cBhvr>
                                        <p:cTn id="7" dur="500"/>
                                        <p:tgtEl>
                                          <p:spTgt spid="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par>
                                <p:cTn id="13" presetID="3" presetClass="entr" presetSubtype="10" fill="hold" nodeType="with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blinds(horizontal)">
                                      <p:cBhvr>
                                        <p:cTn id="15" dur="500"/>
                                        <p:tgtEl>
                                          <p:spTgt spid="32"/>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blinds(horizontal)">
                                      <p:cBhvr>
                                        <p:cTn id="18" dur="500"/>
                                        <p:tgtEl>
                                          <p:spTgt spid="24"/>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blinds(horizontal)">
                                      <p:cBhvr>
                                        <p:cTn id="21" dur="500"/>
                                        <p:tgtEl>
                                          <p:spTgt spid="36"/>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5">
                                            <p:txEl>
                                              <p:pRg st="1" end="1"/>
                                            </p:txEl>
                                          </p:spTgt>
                                        </p:tgtEl>
                                        <p:attrNameLst>
                                          <p:attrName>style.visibility</p:attrName>
                                        </p:attrNameLst>
                                      </p:cBhvr>
                                      <p:to>
                                        <p:strVal val="visible"/>
                                      </p:to>
                                    </p:set>
                                    <p:animEffect transition="in" filter="blinds(horizontal)">
                                      <p:cBhvr>
                                        <p:cTn id="26" dur="500"/>
                                        <p:tgtEl>
                                          <p:spTgt spid="35">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blinds(horizontal)">
                                      <p:cBhvr>
                                        <p:cTn id="31" dur="500"/>
                                        <p:tgtEl>
                                          <p:spTgt spid="3"/>
                                        </p:tgtEl>
                                      </p:cBhvr>
                                    </p:animEffect>
                                  </p:childTnLst>
                                </p:cTn>
                              </p:par>
                              <p:par>
                                <p:cTn id="32" presetID="3" presetClass="entr" presetSubtype="10" fill="hold"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blinds(horizontal)">
                                      <p:cBhvr>
                                        <p:cTn id="34" dur="500"/>
                                        <p:tgtEl>
                                          <p:spTgt spid="34"/>
                                        </p:tgtEl>
                                      </p:cBhvr>
                                    </p:animEffect>
                                  </p:childTnLst>
                                </p:cTn>
                              </p:par>
                              <p:par>
                                <p:cTn id="35" presetID="3" presetClass="entr" presetSubtype="10" fill="hold" grpId="1"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blinds(horizontal)">
                                      <p:cBhvr>
                                        <p:cTn id="37" dur="500"/>
                                        <p:tgtEl>
                                          <p:spTgt spid="24"/>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blinds(horizontal)">
                                      <p:cBhvr>
                                        <p:cTn id="40" dur="500"/>
                                        <p:tgtEl>
                                          <p:spTgt spid="14"/>
                                        </p:tgtEl>
                                      </p:cBhvr>
                                    </p:animEffect>
                                  </p:childTnLst>
                                </p:cTn>
                              </p:par>
                              <p:par>
                                <p:cTn id="41" presetID="3" presetClass="exit" presetSubtype="10" fill="hold" grpId="1" nodeType="withEffect">
                                  <p:stCondLst>
                                    <p:cond delay="0"/>
                                  </p:stCondLst>
                                  <p:childTnLst>
                                    <p:animEffect transition="out" filter="blinds(horizontal)">
                                      <p:cBhvr>
                                        <p:cTn id="42" dur="500"/>
                                        <p:tgtEl>
                                          <p:spTgt spid="36"/>
                                        </p:tgtEl>
                                      </p:cBhvr>
                                    </p:animEffect>
                                    <p:set>
                                      <p:cBhvr>
                                        <p:cTn id="43" dur="1" fill="hold">
                                          <p:stCondLst>
                                            <p:cond delay="499"/>
                                          </p:stCondLst>
                                        </p:cTn>
                                        <p:tgtEl>
                                          <p:spTgt spid="36"/>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38"/>
                                        </p:tgtEl>
                                        <p:attrNameLst>
                                          <p:attrName>style.visibility</p:attrName>
                                        </p:attrNameLst>
                                      </p:cBhvr>
                                      <p:to>
                                        <p:strVal val="visible"/>
                                      </p:to>
                                    </p:set>
                                    <p:animEffect transition="in" filter="blinds(horizontal)">
                                      <p:cBhvr>
                                        <p:cTn id="48" dur="500"/>
                                        <p:tgtEl>
                                          <p:spTgt spid="38"/>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blinds(horizontal)">
                                      <p:cBhvr>
                                        <p:cTn id="53"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4" grpId="0"/>
      <p:bldP spid="24" grpId="1"/>
      <p:bldP spid="36" grpId="0" animBg="1"/>
      <p:bldP spid="36" grpId="1" animBg="1"/>
      <p:bldP spid="38" grpId="0" animBg="1"/>
      <p:bldP spid="3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灯片编号占位符 5"/>
          <p:cNvSpPr>
            <a:spLocks noGrp="1"/>
          </p:cNvSpPr>
          <p:nvPr>
            <p:ph type="sldNum" sz="quarter" idx="12"/>
          </p:nvPr>
        </p:nvSpPr>
        <p:spPr>
          <a:noFill/>
        </p:spPr>
        <p:txBody>
          <a:bodyPr/>
          <a:lstStyle/>
          <a:p>
            <a:fld id="{ECF9855E-6098-411D-8238-7D28855EB605}" type="slidenum">
              <a:rPr lang="en-US" altLang="zh-CN" smtClean="0"/>
              <a:pPr/>
              <a:t>22</a:t>
            </a:fld>
            <a:endParaRPr lang="en-US" altLang="zh-CN"/>
          </a:p>
        </p:txBody>
      </p:sp>
      <p:sp>
        <p:nvSpPr>
          <p:cNvPr id="6" name="TextBox 5">
            <a:extLst>
              <a:ext uri="{FF2B5EF4-FFF2-40B4-BE49-F238E27FC236}">
                <a16:creationId xmlns:a16="http://schemas.microsoft.com/office/drawing/2014/main" id="{08394419-818A-4F22-83E5-9FC24BCC9228}"/>
              </a:ext>
            </a:extLst>
          </p:cNvPr>
          <p:cNvSpPr txBox="1">
            <a:spLocks noChangeArrowheads="1"/>
          </p:cNvSpPr>
          <p:nvPr/>
        </p:nvSpPr>
        <p:spPr bwMode="auto">
          <a:xfrm>
            <a:off x="1703512" y="136526"/>
            <a:ext cx="8856984" cy="6532835"/>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20000"/>
              </a:lnSpc>
              <a:spcBef>
                <a:spcPct val="0"/>
              </a:spcBef>
            </a:pPr>
            <a:r>
              <a:rPr lang="en-US" altLang="zh-CN" b="1" dirty="0">
                <a:latin typeface="华文新魏" panose="02010800040101010101" pitchFamily="2" charset="-122"/>
                <a:ea typeface="华文新魏" panose="02010800040101010101" pitchFamily="2" charset="-122"/>
              </a:rPr>
              <a:t>#include &lt;</a:t>
            </a:r>
            <a:r>
              <a:rPr lang="en-US" altLang="zh-CN" b="1" dirty="0" err="1">
                <a:latin typeface="华文新魏" panose="02010800040101010101" pitchFamily="2" charset="-122"/>
                <a:ea typeface="华文新魏" panose="02010800040101010101" pitchFamily="2" charset="-122"/>
              </a:rPr>
              <a:t>iostream.h</a:t>
            </a:r>
            <a:r>
              <a:rPr lang="en-US" altLang="zh-CN" b="1" dirty="0">
                <a:latin typeface="华文新魏" panose="02010800040101010101" pitchFamily="2" charset="-122"/>
                <a:ea typeface="华文新魏" panose="02010800040101010101" pitchFamily="2" charset="-122"/>
              </a:rPr>
              <a:t>&gt;</a:t>
            </a: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#include &lt;</a:t>
            </a:r>
            <a:r>
              <a:rPr lang="en-US" altLang="zh-CN" b="1" dirty="0" err="1">
                <a:latin typeface="华文新魏" panose="02010800040101010101" pitchFamily="2" charset="-122"/>
                <a:ea typeface="华文新魏" panose="02010800040101010101" pitchFamily="2" charset="-122"/>
              </a:rPr>
              <a:t>string.h</a:t>
            </a:r>
            <a:r>
              <a:rPr lang="en-US" altLang="zh-CN" b="1" dirty="0">
                <a:latin typeface="华文新魏" panose="02010800040101010101" pitchFamily="2" charset="-122"/>
                <a:ea typeface="华文新魏" panose="02010800040101010101" pitchFamily="2" charset="-122"/>
              </a:rPr>
              <a:t>&gt;</a:t>
            </a: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class H {     //</a:t>
            </a:r>
            <a:r>
              <a:rPr lang="en-US" altLang="zh-CN" b="1" dirty="0" err="1">
                <a:latin typeface="华文新魏" panose="02010800040101010101" pitchFamily="2" charset="-122"/>
                <a:ea typeface="华文新魏" panose="02010800040101010101" pitchFamily="2" charset="-122"/>
              </a:rPr>
              <a:t>sizeof</a:t>
            </a:r>
            <a:r>
              <a:rPr lang="en-US" altLang="zh-CN" b="1" dirty="0">
                <a:latin typeface="华文新魏" panose="02010800040101010101" pitchFamily="2" charset="-122"/>
                <a:ea typeface="华文新魏" panose="02010800040101010101" pitchFamily="2" charset="-122"/>
              </a:rPr>
              <a:t> (H)=</a:t>
            </a:r>
            <a:r>
              <a:rPr lang="en-US" altLang="zh-CN" b="1" dirty="0" err="1">
                <a:latin typeface="华文新魏" panose="02010800040101010101" pitchFamily="2" charset="-122"/>
                <a:ea typeface="华文新魏" panose="02010800040101010101" pitchFamily="2" charset="-122"/>
              </a:rPr>
              <a:t>sizeof</a:t>
            </a:r>
            <a:r>
              <a:rPr lang="en-US" altLang="zh-CN" b="1" dirty="0">
                <a:latin typeface="华文新魏" panose="02010800040101010101" pitchFamily="2" charset="-122"/>
                <a:ea typeface="华文新魏" panose="02010800040101010101" pitchFamily="2" charset="-122"/>
              </a:rPr>
              <a:t> (char[11])</a:t>
            </a:r>
            <a:r>
              <a:rPr lang="zh-CN" altLang="en-US" b="1" dirty="0">
                <a:latin typeface="华文新魏" panose="02010800040101010101" pitchFamily="2" charset="-122"/>
                <a:ea typeface="华文新魏" panose="02010800040101010101" pitchFamily="2" charset="-122"/>
              </a:rPr>
              <a:t>，对象内存布局不包括</a:t>
            </a:r>
            <a:r>
              <a:rPr lang="zh-CN" altLang="en-US" b="1" dirty="0">
                <a:solidFill>
                  <a:srgbClr val="FF0000"/>
                </a:solidFill>
                <a:latin typeface="华文新魏" panose="02010800040101010101" pitchFamily="2" charset="-122"/>
                <a:ea typeface="华文新魏" panose="02010800040101010101" pitchFamily="2" charset="-122"/>
              </a:rPr>
              <a:t>静态</a:t>
            </a:r>
            <a:r>
              <a:rPr lang="zh-CN" altLang="en-US" b="1" dirty="0">
                <a:latin typeface="华文新魏" panose="02010800040101010101" pitchFamily="2" charset="-122"/>
                <a:ea typeface="华文新魏" panose="02010800040101010101" pitchFamily="2" charset="-122"/>
              </a:rPr>
              <a:t>成员</a:t>
            </a:r>
            <a:r>
              <a:rPr lang="en-US" altLang="zh-CN" b="1" dirty="0">
                <a:latin typeface="华文新魏" panose="02010800040101010101" pitchFamily="2" charset="-122"/>
                <a:ea typeface="华文新魏" panose="02010800040101010101" pitchFamily="2" charset="-122"/>
              </a:rPr>
              <a:t>total</a:t>
            </a: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    char name[11]; </a:t>
            </a: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public</a:t>
            </a:r>
            <a:r>
              <a:rPr lang="zh-CN" altLang="en-US" b="1" dirty="0">
                <a:latin typeface="华文新魏" panose="02010800040101010101" pitchFamily="2" charset="-122"/>
                <a:ea typeface="华文新魏" panose="02010800040101010101" pitchFamily="2" charset="-122"/>
              </a:rPr>
              <a:t>：</a:t>
            </a:r>
          </a:p>
          <a:p>
            <a:pPr>
              <a:lnSpc>
                <a:spcPct val="120000"/>
              </a:lnSpc>
              <a:spcBef>
                <a:spcPct val="0"/>
              </a:spcBef>
            </a:pPr>
            <a:r>
              <a:rPr lang="zh-CN" altLang="en-US" b="1" dirty="0">
                <a:latin typeface="华文新魏" panose="02010800040101010101" pitchFamily="2" charset="-122"/>
                <a:ea typeface="华文新魏" panose="02010800040101010101" pitchFamily="2" charset="-122"/>
              </a:rPr>
              <a:t>    </a:t>
            </a:r>
            <a:r>
              <a:rPr lang="en-US" altLang="zh-CN" b="1" dirty="0">
                <a:solidFill>
                  <a:srgbClr val="FF0000"/>
                </a:solidFill>
                <a:latin typeface="华文新魏" panose="02010800040101010101" pitchFamily="2" charset="-122"/>
                <a:ea typeface="华文新魏" panose="02010800040101010101" pitchFamily="2" charset="-122"/>
              </a:rPr>
              <a:t>static</a:t>
            </a:r>
            <a:r>
              <a:rPr lang="en-US" altLang="zh-CN" b="1" dirty="0">
                <a:latin typeface="华文新魏" panose="02010800040101010101" pitchFamily="2" charset="-122"/>
                <a:ea typeface="华文新魏" panose="02010800040101010101" pitchFamily="2" charset="-122"/>
              </a:rPr>
              <a:t>  int  total;    //</a:t>
            </a:r>
            <a:r>
              <a:rPr lang="zh-CN" altLang="en-US" b="1" dirty="0">
                <a:latin typeface="华文新魏" panose="02010800040101010101" pitchFamily="2" charset="-122"/>
                <a:ea typeface="华文新魏" panose="02010800040101010101" pitchFamily="2" charset="-122"/>
              </a:rPr>
              <a:t>类体内声明</a:t>
            </a: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访问权限</a:t>
            </a:r>
            <a:r>
              <a:rPr lang="en-US" altLang="zh-CN" b="1" dirty="0">
                <a:latin typeface="华文新魏" panose="02010800040101010101" pitchFamily="2" charset="-122"/>
                <a:ea typeface="华文新魏" panose="02010800040101010101" pitchFamily="2" charset="-122"/>
              </a:rPr>
              <a:t>public</a:t>
            </a: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    H (char *n)   {</a:t>
            </a: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strncpy</a:t>
            </a:r>
            <a:r>
              <a:rPr lang="en-US" altLang="zh-CN" b="1" dirty="0">
                <a:latin typeface="华文新魏" panose="02010800040101010101" pitchFamily="2" charset="-122"/>
                <a:ea typeface="华文新魏" panose="02010800040101010101" pitchFamily="2" charset="-122"/>
              </a:rPr>
              <a:t> (name,  n,  10) ;  </a:t>
            </a:r>
          </a:p>
          <a:p>
            <a:pPr>
              <a:lnSpc>
                <a:spcPct val="120000"/>
              </a:lnSpc>
              <a:spcBef>
                <a:spcPct val="0"/>
              </a:spcBef>
            </a:pPr>
            <a:r>
              <a:rPr lang="en-US" altLang="zh-CN" b="1" dirty="0">
                <a:solidFill>
                  <a:srgbClr val="FF0000"/>
                </a:solidFill>
                <a:latin typeface="华文新魏" panose="02010800040101010101" pitchFamily="2" charset="-122"/>
                <a:ea typeface="华文新魏" panose="02010800040101010101" pitchFamily="2" charset="-122"/>
              </a:rPr>
              <a:t>        H::total++; </a:t>
            </a: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这里</a:t>
            </a:r>
            <a:r>
              <a:rPr lang="en-US" altLang="zh-CN" b="1" dirty="0">
                <a:latin typeface="华文新魏" panose="02010800040101010101" pitchFamily="2" charset="-122"/>
                <a:ea typeface="华文新魏" panose="02010800040101010101" pitchFamily="2" charset="-122"/>
              </a:rPr>
              <a:t>,H::</a:t>
            </a:r>
            <a:r>
              <a:rPr lang="zh-CN" altLang="en-US" b="1" dirty="0">
                <a:latin typeface="华文新魏" panose="02010800040101010101" pitchFamily="2" charset="-122"/>
                <a:ea typeface="华文新魏" panose="02010800040101010101" pitchFamily="2" charset="-122"/>
              </a:rPr>
              <a:t>可以省略</a:t>
            </a: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但不提倡</a:t>
            </a:r>
          </a:p>
          <a:p>
            <a:pPr>
              <a:lnSpc>
                <a:spcPct val="120000"/>
              </a:lnSpc>
              <a:spcBef>
                <a:spcPct val="0"/>
              </a:spcBef>
            </a:pP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a:t>
            </a: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    ~H (  )   { </a:t>
            </a:r>
            <a:r>
              <a:rPr lang="en-US" altLang="zh-CN" b="1" dirty="0">
                <a:solidFill>
                  <a:srgbClr val="FF0000"/>
                </a:solidFill>
                <a:latin typeface="华文新魏" panose="02010800040101010101" pitchFamily="2" charset="-122"/>
                <a:ea typeface="华文新魏" panose="02010800040101010101" pitchFamily="2" charset="-122"/>
              </a:rPr>
              <a:t>H::total --;  </a:t>
            </a:r>
            <a:r>
              <a:rPr lang="en-US" altLang="zh-CN" b="1" dirty="0">
                <a:latin typeface="华文新魏" panose="02010800040101010101" pitchFamily="2" charset="-122"/>
                <a:ea typeface="华文新魏" panose="02010800040101010101" pitchFamily="2" charset="-122"/>
              </a:rPr>
              <a:t>}; </a:t>
            </a: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 </a:t>
            </a: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int  </a:t>
            </a:r>
            <a:r>
              <a:rPr lang="en-US" altLang="zh-CN" b="1" dirty="0">
                <a:solidFill>
                  <a:srgbClr val="FF0000"/>
                </a:solidFill>
                <a:latin typeface="华文新魏" panose="02010800040101010101" pitchFamily="2" charset="-122"/>
                <a:ea typeface="华文新魏" panose="02010800040101010101" pitchFamily="2" charset="-122"/>
              </a:rPr>
              <a:t>H::total</a:t>
            </a:r>
            <a:r>
              <a:rPr lang="en-US" altLang="zh-CN" b="1" dirty="0">
                <a:latin typeface="华文新魏" panose="02010800040101010101" pitchFamily="2" charset="-122"/>
                <a:ea typeface="华文新魏" panose="02010800040101010101" pitchFamily="2" charset="-122"/>
              </a:rPr>
              <a:t>=0; 	    //</a:t>
            </a:r>
            <a:r>
              <a:rPr lang="zh-CN" altLang="en-US" b="1" dirty="0">
                <a:latin typeface="华文新魏" panose="02010800040101010101" pitchFamily="2" charset="-122"/>
                <a:ea typeface="华文新魏" panose="02010800040101010101" pitchFamily="2" charset="-122"/>
              </a:rPr>
              <a:t>类体外定义并初始化</a:t>
            </a: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有</a:t>
            </a:r>
            <a:r>
              <a:rPr lang="zh-CN" altLang="en-US" b="1" dirty="0">
                <a:solidFill>
                  <a:srgbClr val="FF0000"/>
                </a:solidFill>
                <a:latin typeface="华文新魏" panose="02010800040101010101" pitchFamily="2" charset="-122"/>
                <a:ea typeface="华文新魏" panose="02010800040101010101" pitchFamily="2" charset="-122"/>
              </a:rPr>
              <a:t>访问权限</a:t>
            </a:r>
            <a:r>
              <a:rPr lang="zh-CN" altLang="en-US" b="1" dirty="0">
                <a:latin typeface="华文新魏" panose="02010800040101010101" pitchFamily="2" charset="-122"/>
                <a:ea typeface="华文新魏" panose="02010800040101010101" pitchFamily="2" charset="-122"/>
              </a:rPr>
              <a:t>的独立变量，</a:t>
            </a:r>
          </a:p>
          <a:p>
            <a:pPr>
              <a:lnSpc>
                <a:spcPct val="120000"/>
              </a:lnSpc>
              <a:spcBef>
                <a:spcPct val="0"/>
              </a:spcBef>
            </a:pP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注意这里不能加</a:t>
            </a:r>
            <a:r>
              <a:rPr lang="en-US" altLang="zh-CN" b="1" dirty="0">
                <a:latin typeface="华文新魏" panose="02010800040101010101" pitchFamily="2" charset="-122"/>
                <a:ea typeface="华文新魏" panose="02010800040101010101" pitchFamily="2" charset="-122"/>
              </a:rPr>
              <a:t>static</a:t>
            </a:r>
            <a:r>
              <a:rPr lang="zh-CN" altLang="en-US" b="1" dirty="0">
                <a:latin typeface="华文新魏" panose="02010800040101010101" pitchFamily="2" charset="-122"/>
                <a:ea typeface="华文新魏" panose="02010800040101010101" pitchFamily="2" charset="-122"/>
              </a:rPr>
              <a:t>，加了</a:t>
            </a:r>
            <a:r>
              <a:rPr lang="en-US" altLang="zh-CN" b="1" dirty="0">
                <a:latin typeface="华文新魏" panose="02010800040101010101" pitchFamily="2" charset="-122"/>
                <a:ea typeface="华文新魏" panose="02010800040101010101" pitchFamily="2" charset="-122"/>
              </a:rPr>
              <a:t>static</a:t>
            </a:r>
            <a:r>
              <a:rPr lang="zh-CN" altLang="en-US" b="1" dirty="0">
                <a:latin typeface="华文新魏" panose="02010800040101010101" pitchFamily="2" charset="-122"/>
                <a:ea typeface="华文新魏" panose="02010800040101010101" pitchFamily="2" charset="-122"/>
              </a:rPr>
              <a:t>使</a:t>
            </a:r>
            <a:r>
              <a:rPr lang="en-US" altLang="zh-CN" b="1" dirty="0">
                <a:latin typeface="华文新魏" panose="02010800040101010101" pitchFamily="2" charset="-122"/>
                <a:ea typeface="华文新魏" panose="02010800040101010101" pitchFamily="2" charset="-122"/>
              </a:rPr>
              <a:t>H::total</a:t>
            </a:r>
            <a:r>
              <a:rPr lang="zh-CN" altLang="en-US" b="1" dirty="0">
                <a:latin typeface="华文新魏" panose="02010800040101010101" pitchFamily="2" charset="-122"/>
                <a:ea typeface="华文新魏" panose="02010800040101010101" pitchFamily="2" charset="-122"/>
              </a:rPr>
              <a:t>局限于本文件</a:t>
            </a: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void main (void)   {   //</a:t>
            </a:r>
            <a:r>
              <a:rPr lang="en-US" altLang="zh-CN" b="1" dirty="0" err="1">
                <a:latin typeface="华文新魏" panose="02010800040101010101" pitchFamily="2" charset="-122"/>
                <a:ea typeface="华文新魏" panose="02010800040101010101" pitchFamily="2" charset="-122"/>
              </a:rPr>
              <a:t>sizeof</a:t>
            </a:r>
            <a:r>
              <a:rPr lang="en-US" altLang="zh-CN" b="1" dirty="0">
                <a:latin typeface="华文新魏" panose="02010800040101010101" pitchFamily="2" charset="-122"/>
                <a:ea typeface="华文新魏" panose="02010800040101010101" pitchFamily="2" charset="-122"/>
              </a:rPr>
              <a:t> (H)=</a:t>
            </a:r>
            <a:r>
              <a:rPr lang="en-US" altLang="zh-CN" b="1" dirty="0" err="1">
                <a:latin typeface="华文新魏" panose="02010800040101010101" pitchFamily="2" charset="-122"/>
                <a:ea typeface="华文新魏" panose="02010800040101010101" pitchFamily="2" charset="-122"/>
              </a:rPr>
              <a:t>sizeof</a:t>
            </a:r>
            <a:r>
              <a:rPr lang="en-US" altLang="zh-CN" b="1" dirty="0">
                <a:latin typeface="华文新魏" panose="02010800040101010101" pitchFamily="2" charset="-122"/>
                <a:ea typeface="华文新魏" panose="02010800040101010101" pitchFamily="2" charset="-122"/>
              </a:rPr>
              <a:t>  x=</a:t>
            </a:r>
            <a:r>
              <a:rPr lang="en-US" altLang="zh-CN" b="1" dirty="0" err="1">
                <a:latin typeface="华文新魏" panose="02010800040101010101" pitchFamily="2" charset="-122"/>
                <a:ea typeface="华文新魏" panose="02010800040101010101" pitchFamily="2" charset="-122"/>
              </a:rPr>
              <a:t>sizeof</a:t>
            </a:r>
            <a:r>
              <a:rPr lang="en-US" altLang="zh-CN" b="1" dirty="0">
                <a:latin typeface="华文新魏" panose="02010800040101010101" pitchFamily="2" charset="-122"/>
                <a:ea typeface="华文新魏" panose="02010800040101010101" pitchFamily="2" charset="-122"/>
              </a:rPr>
              <a:t>  y</a:t>
            </a:r>
          </a:p>
          <a:p>
            <a:pPr>
              <a:lnSpc>
                <a:spcPct val="120000"/>
              </a:lnSpc>
              <a:spcBef>
                <a:spcPct val="0"/>
              </a:spcBef>
            </a:pPr>
            <a:r>
              <a:rPr lang="en-US" altLang="zh-CN" b="1" dirty="0">
                <a:solidFill>
                  <a:schemeClr val="hlink"/>
                </a:solidFill>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H   x ("Xi") ; //</a:t>
            </a:r>
            <a:r>
              <a:rPr lang="en-US" altLang="zh-CN" b="1" dirty="0">
                <a:solidFill>
                  <a:srgbClr val="FF0000"/>
                </a:solidFill>
                <a:latin typeface="华文新魏" panose="02010800040101010101" pitchFamily="2" charset="-122"/>
                <a:ea typeface="华文新魏" panose="02010800040101010101" pitchFamily="2" charset="-122"/>
              </a:rPr>
              <a:t>H::total=</a:t>
            </a:r>
            <a:r>
              <a:rPr lang="en-US" altLang="zh-CN" b="1" dirty="0" err="1">
                <a:solidFill>
                  <a:srgbClr val="FF0000"/>
                </a:solidFill>
                <a:latin typeface="华文新魏" panose="02010800040101010101" pitchFamily="2" charset="-122"/>
                <a:ea typeface="华文新魏" panose="02010800040101010101" pitchFamily="2" charset="-122"/>
              </a:rPr>
              <a:t>x.total</a:t>
            </a:r>
            <a:r>
              <a:rPr lang="en-US" altLang="zh-CN" b="1" dirty="0">
                <a:solidFill>
                  <a:srgbClr val="FF0000"/>
                </a:solidFill>
                <a:latin typeface="华文新魏" panose="02010800040101010101" pitchFamily="2" charset="-122"/>
                <a:ea typeface="华文新魏" panose="02010800040101010101" pitchFamily="2" charset="-122"/>
              </a:rPr>
              <a:t>=1</a:t>
            </a:r>
          </a:p>
          <a:p>
            <a:pPr>
              <a:lnSpc>
                <a:spcPct val="120000"/>
              </a:lnSpc>
              <a:spcBef>
                <a:spcPct val="0"/>
              </a:spcBef>
            </a:pPr>
            <a:r>
              <a:rPr lang="en-US" altLang="zh-CN" b="1" dirty="0">
                <a:solidFill>
                  <a:srgbClr val="FF0000"/>
                </a:solidFill>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H   y ("Yi") ;  //</a:t>
            </a:r>
            <a:r>
              <a:rPr lang="en-US" altLang="zh-CN" b="1" dirty="0">
                <a:solidFill>
                  <a:srgbClr val="FF0000"/>
                </a:solidFill>
                <a:latin typeface="华文新魏" panose="02010800040101010101" pitchFamily="2" charset="-122"/>
                <a:ea typeface="华文新魏" panose="02010800040101010101" pitchFamily="2" charset="-122"/>
              </a:rPr>
              <a:t>H::total=</a:t>
            </a:r>
            <a:r>
              <a:rPr lang="en-US" altLang="zh-CN" b="1" dirty="0" err="1">
                <a:solidFill>
                  <a:srgbClr val="FF0000"/>
                </a:solidFill>
                <a:latin typeface="华文新魏" panose="02010800040101010101" pitchFamily="2" charset="-122"/>
                <a:ea typeface="华文新魏" panose="02010800040101010101" pitchFamily="2" charset="-122"/>
              </a:rPr>
              <a:t>x.total</a:t>
            </a:r>
            <a:r>
              <a:rPr lang="en-US" altLang="zh-CN" b="1" dirty="0">
                <a:solidFill>
                  <a:srgbClr val="FF0000"/>
                </a:solidFill>
                <a:latin typeface="华文新魏" panose="02010800040101010101" pitchFamily="2" charset="-122"/>
                <a:ea typeface="华文新魏" panose="02010800040101010101" pitchFamily="2" charset="-122"/>
              </a:rPr>
              <a:t>=</a:t>
            </a:r>
            <a:r>
              <a:rPr lang="en-US" altLang="zh-CN" b="1" dirty="0" err="1">
                <a:solidFill>
                  <a:srgbClr val="FF0000"/>
                </a:solidFill>
                <a:latin typeface="华文新魏" panose="02010800040101010101" pitchFamily="2" charset="-122"/>
                <a:ea typeface="华文新魏" panose="02010800040101010101" pitchFamily="2" charset="-122"/>
              </a:rPr>
              <a:t>y.total</a:t>
            </a:r>
            <a:r>
              <a:rPr lang="en-US" altLang="zh-CN" b="1" dirty="0">
                <a:solidFill>
                  <a:srgbClr val="FF0000"/>
                </a:solidFill>
                <a:latin typeface="华文新魏" panose="02010800040101010101" pitchFamily="2" charset="-122"/>
                <a:ea typeface="华文新魏" panose="02010800040101010101" pitchFamily="2" charset="-122"/>
              </a:rPr>
              <a:t>=2</a:t>
            </a:r>
          </a:p>
          <a:p>
            <a:pPr>
              <a:lnSpc>
                <a:spcPct val="120000"/>
              </a:lnSpc>
              <a:spcBef>
                <a:spcPct val="0"/>
              </a:spcBef>
            </a:pPr>
            <a:r>
              <a:rPr lang="en-US" altLang="zh-CN" b="1" dirty="0">
                <a:solidFill>
                  <a:srgbClr val="FF0000"/>
                </a:solidFill>
                <a:latin typeface="华文新魏" panose="02010800040101010101" pitchFamily="2" charset="-122"/>
                <a:ea typeface="华文新魏" panose="02010800040101010101" pitchFamily="2" charset="-122"/>
              </a:rPr>
              <a:t>	</a:t>
            </a:r>
            <a:r>
              <a:rPr lang="en-US" altLang="zh-CN" b="1" dirty="0" err="1">
                <a:solidFill>
                  <a:srgbClr val="FF0000"/>
                </a:solidFill>
                <a:latin typeface="华文新魏" panose="02010800040101010101" pitchFamily="2" charset="-122"/>
                <a:ea typeface="华文新魏" panose="02010800040101010101" pitchFamily="2" charset="-122"/>
              </a:rPr>
              <a:t>cout</a:t>
            </a:r>
            <a:r>
              <a:rPr lang="en-US" altLang="zh-CN" b="1" dirty="0">
                <a:solidFill>
                  <a:srgbClr val="FF0000"/>
                </a:solidFill>
                <a:latin typeface="华文新魏" panose="02010800040101010101" pitchFamily="2" charset="-122"/>
                <a:ea typeface="华文新魏" panose="02010800040101010101" pitchFamily="2" charset="-122"/>
              </a:rPr>
              <a:t>&lt;&lt;H::total&lt;&lt;</a:t>
            </a:r>
            <a:r>
              <a:rPr lang="en-US" altLang="zh-CN" b="1" dirty="0" err="1">
                <a:solidFill>
                  <a:srgbClr val="FF0000"/>
                </a:solidFill>
                <a:latin typeface="华文新魏" panose="02010800040101010101" pitchFamily="2" charset="-122"/>
                <a:ea typeface="华文新魏" panose="02010800040101010101" pitchFamily="2" charset="-122"/>
              </a:rPr>
              <a:t>x.H</a:t>
            </a:r>
            <a:r>
              <a:rPr lang="en-US" altLang="zh-CN" b="1" dirty="0">
                <a:solidFill>
                  <a:srgbClr val="FF0000"/>
                </a:solidFill>
                <a:latin typeface="华文新魏" panose="02010800040101010101" pitchFamily="2" charset="-122"/>
                <a:ea typeface="华文新魏" panose="02010800040101010101" pitchFamily="2" charset="-122"/>
              </a:rPr>
              <a:t>::total&lt;&lt;</a:t>
            </a:r>
            <a:r>
              <a:rPr lang="en-US" altLang="zh-CN" b="1" dirty="0" err="1">
                <a:solidFill>
                  <a:srgbClr val="FF0000"/>
                </a:solidFill>
                <a:latin typeface="华文新魏" panose="02010800040101010101" pitchFamily="2" charset="-122"/>
                <a:ea typeface="华文新魏" panose="02010800040101010101" pitchFamily="2" charset="-122"/>
              </a:rPr>
              <a:t>x.total</a:t>
            </a: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静态数据成员的三种访问方式</a:t>
            </a: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灯片编号占位符 5"/>
          <p:cNvSpPr>
            <a:spLocks noGrp="1"/>
          </p:cNvSpPr>
          <p:nvPr>
            <p:ph type="sldNum" sz="quarter" idx="12"/>
          </p:nvPr>
        </p:nvSpPr>
        <p:spPr>
          <a:noFill/>
        </p:spPr>
        <p:txBody>
          <a:bodyPr/>
          <a:lstStyle/>
          <a:p>
            <a:fld id="{3771C63D-4969-41D9-A1A9-FE3E65C93126}" type="slidenum">
              <a:rPr lang="en-US" altLang="zh-CN" smtClean="0">
                <a:latin typeface="华文新魏" panose="02010800040101010101" pitchFamily="2" charset="-122"/>
                <a:ea typeface="华文新魏" panose="02010800040101010101" pitchFamily="2" charset="-122"/>
              </a:rPr>
              <a:pPr/>
              <a:t>23</a:t>
            </a:fld>
            <a:endParaRPr lang="en-US" altLang="zh-CN">
              <a:latin typeface="华文新魏" panose="02010800040101010101" pitchFamily="2" charset="-122"/>
              <a:ea typeface="华文新魏" panose="02010800040101010101" pitchFamily="2" charset="-122"/>
            </a:endParaRPr>
          </a:p>
        </p:txBody>
      </p:sp>
      <p:grpSp>
        <p:nvGrpSpPr>
          <p:cNvPr id="2" name="Group 21"/>
          <p:cNvGrpSpPr>
            <a:grpSpLocks/>
          </p:cNvGrpSpPr>
          <p:nvPr/>
        </p:nvGrpSpPr>
        <p:grpSpPr bwMode="auto">
          <a:xfrm>
            <a:off x="2374901" y="1412875"/>
            <a:ext cx="2144713" cy="3200400"/>
            <a:chOff x="536" y="1146"/>
            <a:chExt cx="1351" cy="2016"/>
          </a:xfrm>
        </p:grpSpPr>
        <p:sp>
          <p:nvSpPr>
            <p:cNvPr id="139280" name="Text Box 4"/>
            <p:cNvSpPr txBox="1">
              <a:spLocks noChangeArrowheads="1"/>
            </p:cNvSpPr>
            <p:nvPr/>
          </p:nvSpPr>
          <p:spPr bwMode="auto">
            <a:xfrm>
              <a:off x="751" y="1298"/>
              <a:ext cx="1134" cy="296"/>
            </a:xfrm>
            <a:prstGeom prst="rect">
              <a:avLst/>
            </a:prstGeom>
            <a:noFill/>
            <a:ln w="12700">
              <a:solidFill>
                <a:schemeClr val="tx1"/>
              </a:solidFill>
              <a:miter lim="800000"/>
              <a:headEnd/>
              <a:tailEnd/>
            </a:ln>
          </p:spPr>
          <p:txBody>
            <a:bodyPr wrap="none"/>
            <a:lstStyle/>
            <a:p>
              <a:pPr algn="dist"/>
              <a:r>
                <a:rPr lang="en-US" altLang="zh-CN">
                  <a:latin typeface="华文新魏" panose="02010800040101010101" pitchFamily="2" charset="-122"/>
                  <a:ea typeface="华文新魏" panose="02010800040101010101" pitchFamily="2" charset="-122"/>
                </a:rPr>
                <a:t>name[0]:’X’</a:t>
              </a:r>
            </a:p>
          </p:txBody>
        </p:sp>
        <p:sp>
          <p:nvSpPr>
            <p:cNvPr id="139281" name="Text Box 6"/>
            <p:cNvSpPr txBox="1">
              <a:spLocks noChangeArrowheads="1"/>
            </p:cNvSpPr>
            <p:nvPr/>
          </p:nvSpPr>
          <p:spPr bwMode="auto">
            <a:xfrm>
              <a:off x="753" y="1596"/>
              <a:ext cx="1134" cy="296"/>
            </a:xfrm>
            <a:prstGeom prst="rect">
              <a:avLst/>
            </a:prstGeom>
            <a:noFill/>
            <a:ln w="12700">
              <a:solidFill>
                <a:schemeClr val="tx1"/>
              </a:solidFill>
              <a:miter lim="800000"/>
              <a:headEnd/>
              <a:tailEnd/>
            </a:ln>
          </p:spPr>
          <p:txBody>
            <a:bodyPr wrap="none"/>
            <a:lstStyle/>
            <a:p>
              <a:pPr algn="dist"/>
              <a:r>
                <a:rPr lang="en-US" altLang="zh-CN">
                  <a:latin typeface="华文新魏" panose="02010800040101010101" pitchFamily="2" charset="-122"/>
                  <a:ea typeface="华文新魏" panose="02010800040101010101" pitchFamily="2" charset="-122"/>
                </a:rPr>
                <a:t>name[1]:’i’  </a:t>
              </a:r>
            </a:p>
          </p:txBody>
        </p:sp>
        <p:sp>
          <p:nvSpPr>
            <p:cNvPr id="139282" name="Text Box 7"/>
            <p:cNvSpPr txBox="1">
              <a:spLocks noChangeArrowheads="1"/>
            </p:cNvSpPr>
            <p:nvPr/>
          </p:nvSpPr>
          <p:spPr bwMode="auto">
            <a:xfrm>
              <a:off x="752" y="1893"/>
              <a:ext cx="1134" cy="296"/>
            </a:xfrm>
            <a:prstGeom prst="rect">
              <a:avLst/>
            </a:prstGeom>
            <a:noFill/>
            <a:ln w="12700">
              <a:solidFill>
                <a:schemeClr val="tx1"/>
              </a:solidFill>
              <a:miter lim="800000"/>
              <a:headEnd/>
              <a:tailEnd/>
            </a:ln>
          </p:spPr>
          <p:txBody>
            <a:bodyPr wrap="none"/>
            <a:lstStyle/>
            <a:p>
              <a:pPr algn="dist"/>
              <a:r>
                <a:rPr lang="en-US" altLang="zh-CN">
                  <a:latin typeface="华文新魏" panose="02010800040101010101" pitchFamily="2" charset="-122"/>
                  <a:ea typeface="华文新魏" panose="02010800040101010101" pitchFamily="2" charset="-122"/>
                </a:rPr>
                <a:t>name[2]:’\0’</a:t>
              </a:r>
            </a:p>
          </p:txBody>
        </p:sp>
        <p:sp>
          <p:nvSpPr>
            <p:cNvPr id="139283" name="Text Box 8"/>
            <p:cNvSpPr txBox="1">
              <a:spLocks noChangeArrowheads="1"/>
            </p:cNvSpPr>
            <p:nvPr/>
          </p:nvSpPr>
          <p:spPr bwMode="auto">
            <a:xfrm>
              <a:off x="749" y="2866"/>
              <a:ext cx="1134" cy="296"/>
            </a:xfrm>
            <a:prstGeom prst="rect">
              <a:avLst/>
            </a:prstGeom>
            <a:noFill/>
            <a:ln w="12700">
              <a:solidFill>
                <a:schemeClr val="tx1"/>
              </a:solidFill>
              <a:miter lim="800000"/>
              <a:headEnd/>
              <a:tailEnd/>
            </a:ln>
          </p:spPr>
          <p:txBody>
            <a:bodyPr wrap="none"/>
            <a:lstStyle/>
            <a:p>
              <a:pPr algn="dist"/>
              <a:r>
                <a:rPr lang="en-US" altLang="zh-CN">
                  <a:latin typeface="华文新魏" panose="02010800040101010101" pitchFamily="2" charset="-122"/>
                  <a:ea typeface="华文新魏" panose="02010800040101010101" pitchFamily="2" charset="-122"/>
                </a:rPr>
                <a:t>name[10]:’\0’</a:t>
              </a:r>
            </a:p>
          </p:txBody>
        </p:sp>
        <p:sp>
          <p:nvSpPr>
            <p:cNvPr id="139284" name="Text Box 9"/>
            <p:cNvSpPr txBox="1">
              <a:spLocks noChangeArrowheads="1"/>
            </p:cNvSpPr>
            <p:nvPr/>
          </p:nvSpPr>
          <p:spPr bwMode="auto">
            <a:xfrm>
              <a:off x="748" y="2362"/>
              <a:ext cx="1134" cy="296"/>
            </a:xfrm>
            <a:prstGeom prst="rect">
              <a:avLst/>
            </a:prstGeom>
            <a:noFill/>
            <a:ln w="12700">
              <a:solidFill>
                <a:schemeClr val="tx1"/>
              </a:solidFill>
              <a:miter lim="800000"/>
              <a:headEnd/>
              <a:tailEnd/>
            </a:ln>
          </p:spPr>
          <p:txBody>
            <a:bodyPr wrap="none"/>
            <a:lstStyle/>
            <a:p>
              <a:pPr algn="dist"/>
              <a:r>
                <a:rPr lang="en-US" altLang="zh-CN">
                  <a:latin typeface="华文新魏" panose="02010800040101010101" pitchFamily="2" charset="-122"/>
                  <a:ea typeface="华文新魏" panose="02010800040101010101" pitchFamily="2" charset="-122"/>
                </a:rPr>
                <a:t>…</a:t>
              </a:r>
            </a:p>
          </p:txBody>
        </p:sp>
        <p:sp>
          <p:nvSpPr>
            <p:cNvPr id="139285" name="Text Box 11"/>
            <p:cNvSpPr txBox="1">
              <a:spLocks noChangeArrowheads="1"/>
            </p:cNvSpPr>
            <p:nvPr/>
          </p:nvSpPr>
          <p:spPr bwMode="auto">
            <a:xfrm>
              <a:off x="536" y="1146"/>
              <a:ext cx="190" cy="233"/>
            </a:xfrm>
            <a:prstGeom prst="rect">
              <a:avLst/>
            </a:prstGeom>
            <a:noFill/>
            <a:ln w="12700">
              <a:noFill/>
              <a:miter lim="800000"/>
              <a:headEnd/>
              <a:tailEnd/>
            </a:ln>
          </p:spPr>
          <p:txBody>
            <a:bodyPr wrap="none">
              <a:spAutoFit/>
            </a:bodyPr>
            <a:lstStyle/>
            <a:p>
              <a:r>
                <a:rPr lang="en-US" altLang="zh-CN">
                  <a:latin typeface="华文新魏" panose="02010800040101010101" pitchFamily="2" charset="-122"/>
                  <a:ea typeface="华文新魏" panose="02010800040101010101" pitchFamily="2" charset="-122"/>
                </a:rPr>
                <a:t>x</a:t>
              </a:r>
            </a:p>
          </p:txBody>
        </p:sp>
      </p:grpSp>
      <p:grpSp>
        <p:nvGrpSpPr>
          <p:cNvPr id="3" name="Group 13"/>
          <p:cNvGrpSpPr>
            <a:grpSpLocks/>
          </p:cNvGrpSpPr>
          <p:nvPr/>
        </p:nvGrpSpPr>
        <p:grpSpPr bwMode="auto">
          <a:xfrm>
            <a:off x="6111876" y="1412875"/>
            <a:ext cx="2144713" cy="3200400"/>
            <a:chOff x="536" y="1146"/>
            <a:chExt cx="1351" cy="2016"/>
          </a:xfrm>
        </p:grpSpPr>
        <p:sp>
          <p:nvSpPr>
            <p:cNvPr id="139274" name="Text Box 14"/>
            <p:cNvSpPr txBox="1">
              <a:spLocks noChangeArrowheads="1"/>
            </p:cNvSpPr>
            <p:nvPr/>
          </p:nvSpPr>
          <p:spPr bwMode="auto">
            <a:xfrm>
              <a:off x="751" y="1298"/>
              <a:ext cx="1134" cy="296"/>
            </a:xfrm>
            <a:prstGeom prst="rect">
              <a:avLst/>
            </a:prstGeom>
            <a:noFill/>
            <a:ln w="12700">
              <a:solidFill>
                <a:schemeClr val="tx1"/>
              </a:solidFill>
              <a:miter lim="800000"/>
              <a:headEnd/>
              <a:tailEnd/>
            </a:ln>
          </p:spPr>
          <p:txBody>
            <a:bodyPr wrap="none"/>
            <a:lstStyle/>
            <a:p>
              <a:pPr algn="dist"/>
              <a:r>
                <a:rPr lang="en-US" altLang="zh-CN">
                  <a:latin typeface="华文新魏" panose="02010800040101010101" pitchFamily="2" charset="-122"/>
                  <a:ea typeface="华文新魏" panose="02010800040101010101" pitchFamily="2" charset="-122"/>
                </a:rPr>
                <a:t>name[0]:’Y’</a:t>
              </a:r>
            </a:p>
          </p:txBody>
        </p:sp>
        <p:sp>
          <p:nvSpPr>
            <p:cNvPr id="139275" name="Text Box 15"/>
            <p:cNvSpPr txBox="1">
              <a:spLocks noChangeArrowheads="1"/>
            </p:cNvSpPr>
            <p:nvPr/>
          </p:nvSpPr>
          <p:spPr bwMode="auto">
            <a:xfrm>
              <a:off x="753" y="1596"/>
              <a:ext cx="1134" cy="296"/>
            </a:xfrm>
            <a:prstGeom prst="rect">
              <a:avLst/>
            </a:prstGeom>
            <a:noFill/>
            <a:ln w="12700">
              <a:solidFill>
                <a:schemeClr val="tx1"/>
              </a:solidFill>
              <a:miter lim="800000"/>
              <a:headEnd/>
              <a:tailEnd/>
            </a:ln>
          </p:spPr>
          <p:txBody>
            <a:bodyPr wrap="none"/>
            <a:lstStyle/>
            <a:p>
              <a:pPr algn="dist"/>
              <a:r>
                <a:rPr lang="en-US" altLang="zh-CN">
                  <a:latin typeface="华文新魏" panose="02010800040101010101" pitchFamily="2" charset="-122"/>
                  <a:ea typeface="华文新魏" panose="02010800040101010101" pitchFamily="2" charset="-122"/>
                </a:rPr>
                <a:t>name[1]:’i’  </a:t>
              </a:r>
            </a:p>
          </p:txBody>
        </p:sp>
        <p:sp>
          <p:nvSpPr>
            <p:cNvPr id="139276" name="Text Box 16"/>
            <p:cNvSpPr txBox="1">
              <a:spLocks noChangeArrowheads="1"/>
            </p:cNvSpPr>
            <p:nvPr/>
          </p:nvSpPr>
          <p:spPr bwMode="auto">
            <a:xfrm>
              <a:off x="752" y="1893"/>
              <a:ext cx="1134" cy="296"/>
            </a:xfrm>
            <a:prstGeom prst="rect">
              <a:avLst/>
            </a:prstGeom>
            <a:noFill/>
            <a:ln w="12700">
              <a:solidFill>
                <a:schemeClr val="tx1"/>
              </a:solidFill>
              <a:miter lim="800000"/>
              <a:headEnd/>
              <a:tailEnd/>
            </a:ln>
          </p:spPr>
          <p:txBody>
            <a:bodyPr wrap="none"/>
            <a:lstStyle/>
            <a:p>
              <a:pPr algn="dist"/>
              <a:r>
                <a:rPr lang="en-US" altLang="zh-CN">
                  <a:latin typeface="华文新魏" panose="02010800040101010101" pitchFamily="2" charset="-122"/>
                  <a:ea typeface="华文新魏" panose="02010800040101010101" pitchFamily="2" charset="-122"/>
                </a:rPr>
                <a:t>name[2]:’\0’</a:t>
              </a:r>
            </a:p>
          </p:txBody>
        </p:sp>
        <p:sp>
          <p:nvSpPr>
            <p:cNvPr id="139277" name="Text Box 17"/>
            <p:cNvSpPr txBox="1">
              <a:spLocks noChangeArrowheads="1"/>
            </p:cNvSpPr>
            <p:nvPr/>
          </p:nvSpPr>
          <p:spPr bwMode="auto">
            <a:xfrm>
              <a:off x="749" y="2866"/>
              <a:ext cx="1134" cy="296"/>
            </a:xfrm>
            <a:prstGeom prst="rect">
              <a:avLst/>
            </a:prstGeom>
            <a:noFill/>
            <a:ln w="12700">
              <a:solidFill>
                <a:schemeClr val="tx1"/>
              </a:solidFill>
              <a:miter lim="800000"/>
              <a:headEnd/>
              <a:tailEnd/>
            </a:ln>
          </p:spPr>
          <p:txBody>
            <a:bodyPr wrap="none"/>
            <a:lstStyle/>
            <a:p>
              <a:pPr algn="dist"/>
              <a:r>
                <a:rPr lang="en-US" altLang="zh-CN">
                  <a:latin typeface="华文新魏" panose="02010800040101010101" pitchFamily="2" charset="-122"/>
                  <a:ea typeface="华文新魏" panose="02010800040101010101" pitchFamily="2" charset="-122"/>
                </a:rPr>
                <a:t>name[10]:’\0’</a:t>
              </a:r>
            </a:p>
          </p:txBody>
        </p:sp>
        <p:sp>
          <p:nvSpPr>
            <p:cNvPr id="139278" name="Text Box 18"/>
            <p:cNvSpPr txBox="1">
              <a:spLocks noChangeArrowheads="1"/>
            </p:cNvSpPr>
            <p:nvPr/>
          </p:nvSpPr>
          <p:spPr bwMode="auto">
            <a:xfrm>
              <a:off x="748" y="2362"/>
              <a:ext cx="1134" cy="296"/>
            </a:xfrm>
            <a:prstGeom prst="rect">
              <a:avLst/>
            </a:prstGeom>
            <a:noFill/>
            <a:ln w="12700">
              <a:solidFill>
                <a:schemeClr val="tx1"/>
              </a:solidFill>
              <a:miter lim="800000"/>
              <a:headEnd/>
              <a:tailEnd/>
            </a:ln>
          </p:spPr>
          <p:txBody>
            <a:bodyPr wrap="none"/>
            <a:lstStyle/>
            <a:p>
              <a:pPr algn="dist"/>
              <a:r>
                <a:rPr lang="en-US" altLang="zh-CN">
                  <a:latin typeface="华文新魏" panose="02010800040101010101" pitchFamily="2" charset="-122"/>
                  <a:ea typeface="华文新魏" panose="02010800040101010101" pitchFamily="2" charset="-122"/>
                </a:rPr>
                <a:t>…</a:t>
              </a:r>
            </a:p>
          </p:txBody>
        </p:sp>
        <p:sp>
          <p:nvSpPr>
            <p:cNvPr id="139279" name="Text Box 19"/>
            <p:cNvSpPr txBox="1">
              <a:spLocks noChangeArrowheads="1"/>
            </p:cNvSpPr>
            <p:nvPr/>
          </p:nvSpPr>
          <p:spPr bwMode="auto">
            <a:xfrm>
              <a:off x="536" y="1146"/>
              <a:ext cx="192" cy="233"/>
            </a:xfrm>
            <a:prstGeom prst="rect">
              <a:avLst/>
            </a:prstGeom>
            <a:noFill/>
            <a:ln w="12700">
              <a:noFill/>
              <a:miter lim="800000"/>
              <a:headEnd/>
              <a:tailEnd/>
            </a:ln>
          </p:spPr>
          <p:txBody>
            <a:bodyPr wrap="none">
              <a:spAutoFit/>
            </a:bodyPr>
            <a:lstStyle/>
            <a:p>
              <a:r>
                <a:rPr lang="en-US" altLang="zh-CN">
                  <a:latin typeface="华文新魏" panose="02010800040101010101" pitchFamily="2" charset="-122"/>
                  <a:ea typeface="华文新魏" panose="02010800040101010101" pitchFamily="2" charset="-122"/>
                </a:rPr>
                <a:t>y</a:t>
              </a:r>
            </a:p>
          </p:txBody>
        </p:sp>
      </p:grpSp>
      <p:sp>
        <p:nvSpPr>
          <p:cNvPr id="292884" name="Text Box 20"/>
          <p:cNvSpPr txBox="1">
            <a:spLocks noChangeArrowheads="1"/>
          </p:cNvSpPr>
          <p:nvPr/>
        </p:nvSpPr>
        <p:spPr bwMode="auto">
          <a:xfrm>
            <a:off x="2725739" y="5695950"/>
            <a:ext cx="1800225" cy="469900"/>
          </a:xfrm>
          <a:prstGeom prst="rect">
            <a:avLst/>
          </a:prstGeom>
          <a:noFill/>
          <a:ln w="12700">
            <a:solidFill>
              <a:srgbClr val="FF0000"/>
            </a:solidFill>
            <a:miter lim="800000"/>
            <a:headEnd/>
            <a:tailEnd/>
          </a:ln>
        </p:spPr>
        <p:txBody>
          <a:bodyPr wrap="none"/>
          <a:lstStyle/>
          <a:p>
            <a:pPr algn="dist"/>
            <a:r>
              <a:rPr lang="en-US" altLang="zh-CN">
                <a:solidFill>
                  <a:srgbClr val="FF0000"/>
                </a:solidFill>
                <a:latin typeface="华文新魏" panose="02010800040101010101" pitchFamily="2" charset="-122"/>
                <a:ea typeface="华文新魏" panose="02010800040101010101" pitchFamily="2" charset="-122"/>
              </a:rPr>
              <a:t>H::total = 1</a:t>
            </a:r>
          </a:p>
        </p:txBody>
      </p:sp>
      <p:sp>
        <p:nvSpPr>
          <p:cNvPr id="292886" name="Text Box 22"/>
          <p:cNvSpPr txBox="1">
            <a:spLocks noChangeArrowheads="1"/>
          </p:cNvSpPr>
          <p:nvPr/>
        </p:nvSpPr>
        <p:spPr bwMode="auto">
          <a:xfrm>
            <a:off x="2711451" y="5700713"/>
            <a:ext cx="1800225" cy="469900"/>
          </a:xfrm>
          <a:prstGeom prst="rect">
            <a:avLst/>
          </a:prstGeom>
          <a:noFill/>
          <a:ln w="12700">
            <a:solidFill>
              <a:srgbClr val="FF0000"/>
            </a:solidFill>
            <a:miter lim="800000"/>
            <a:headEnd/>
            <a:tailEnd/>
          </a:ln>
        </p:spPr>
        <p:txBody>
          <a:bodyPr wrap="none"/>
          <a:lstStyle/>
          <a:p>
            <a:pPr algn="dist"/>
            <a:r>
              <a:rPr lang="en-US" altLang="zh-CN">
                <a:solidFill>
                  <a:srgbClr val="FF0000"/>
                </a:solidFill>
                <a:latin typeface="华文新魏" panose="02010800040101010101" pitchFamily="2" charset="-122"/>
                <a:ea typeface="华文新魏" panose="02010800040101010101" pitchFamily="2" charset="-122"/>
              </a:rPr>
              <a:t>H::total = 2</a:t>
            </a:r>
          </a:p>
        </p:txBody>
      </p:sp>
      <p:sp>
        <p:nvSpPr>
          <p:cNvPr id="292887" name="Text Box 23"/>
          <p:cNvSpPr txBox="1">
            <a:spLocks noChangeArrowheads="1"/>
          </p:cNvSpPr>
          <p:nvPr/>
        </p:nvSpPr>
        <p:spPr bwMode="auto">
          <a:xfrm>
            <a:off x="5224463" y="5373688"/>
            <a:ext cx="3648756" cy="923330"/>
          </a:xfrm>
          <a:prstGeom prst="rect">
            <a:avLst/>
          </a:prstGeom>
          <a:noFill/>
          <a:ln w="12700">
            <a:noFill/>
            <a:miter lim="800000"/>
            <a:headEnd/>
            <a:tailEnd/>
          </a:ln>
        </p:spPr>
        <p:txBody>
          <a:bodyPr wrap="none">
            <a:spAutoFit/>
          </a:bodyPr>
          <a:lstStyle/>
          <a:p>
            <a:pPr algn="l"/>
            <a:r>
              <a:rPr lang="zh-CN" altLang="en-US">
                <a:latin typeface="华文新魏" panose="02010800040101010101" pitchFamily="2" charset="-122"/>
                <a:ea typeface="华文新魏" panose="02010800040101010101" pitchFamily="2" charset="-122"/>
              </a:rPr>
              <a:t>此时</a:t>
            </a:r>
          </a:p>
          <a:p>
            <a:pPr algn="l"/>
            <a:r>
              <a:rPr lang="en-US" altLang="zh-CN">
                <a:latin typeface="华文新魏" panose="02010800040101010101" pitchFamily="2" charset="-122"/>
                <a:ea typeface="华文新魏" panose="02010800040101010101" pitchFamily="2" charset="-122"/>
              </a:rPr>
              <a:t>x.H::total = x.total = H::total = 2</a:t>
            </a:r>
          </a:p>
          <a:p>
            <a:pPr algn="l"/>
            <a:r>
              <a:rPr lang="en-US" altLang="zh-CN">
                <a:latin typeface="华文新魏" panose="02010800040101010101" pitchFamily="2" charset="-122"/>
                <a:ea typeface="华文新魏" panose="02010800040101010101" pitchFamily="2" charset="-122"/>
              </a:rPr>
              <a:t>y.H::total = y.total = H::total = 2</a:t>
            </a:r>
          </a:p>
        </p:txBody>
      </p:sp>
      <p:sp>
        <p:nvSpPr>
          <p:cNvPr id="292888" name="Text Box 24"/>
          <p:cNvSpPr txBox="1">
            <a:spLocks noChangeArrowheads="1"/>
          </p:cNvSpPr>
          <p:nvPr/>
        </p:nvSpPr>
        <p:spPr bwMode="auto">
          <a:xfrm>
            <a:off x="1919288" y="4941889"/>
            <a:ext cx="8362950" cy="396875"/>
          </a:xfrm>
          <a:prstGeom prst="rect">
            <a:avLst/>
          </a:prstGeom>
          <a:noFill/>
          <a:ln w="12700">
            <a:noFill/>
            <a:miter lim="800000"/>
            <a:headEnd/>
            <a:tailEnd/>
          </a:ln>
        </p:spPr>
        <p:txBody>
          <a:bodyPr wrap="none">
            <a:spAutoFit/>
          </a:bodyPr>
          <a:lstStyle/>
          <a:p>
            <a:r>
              <a:rPr lang="zh-CN" altLang="en-US" sz="2000" b="1">
                <a:solidFill>
                  <a:srgbClr val="FF0000"/>
                </a:solidFill>
                <a:latin typeface="华文新魏" panose="02010800040101010101" pitchFamily="2" charset="-122"/>
                <a:ea typeface="华文新魏" panose="02010800040101010101" pitchFamily="2" charset="-122"/>
              </a:rPr>
              <a:t>静态数据成员相当于独立分配内存的变量</a:t>
            </a:r>
            <a:r>
              <a:rPr lang="zh-CN" altLang="en-US" sz="2000" b="1">
                <a:latin typeface="华文新魏" panose="02010800040101010101" pitchFamily="2" charset="-122"/>
                <a:ea typeface="华文新魏" panose="02010800040101010101" pitchFamily="2" charset="-122"/>
              </a:rPr>
              <a:t>，</a:t>
            </a:r>
            <a:r>
              <a:rPr lang="zh-CN" altLang="en-US" sz="2000" b="1">
                <a:solidFill>
                  <a:srgbClr val="FF0000"/>
                </a:solidFill>
                <a:latin typeface="华文新魏" panose="02010800040101010101" pitchFamily="2" charset="-122"/>
                <a:ea typeface="华文新魏" panose="02010800040101010101" pitchFamily="2" charset="-122"/>
              </a:rPr>
              <a:t>不属于任何对象内存的一部分</a:t>
            </a:r>
          </a:p>
        </p:txBody>
      </p:sp>
      <p:sp>
        <p:nvSpPr>
          <p:cNvPr id="24" name="Rectangle 4">
            <a:extLst>
              <a:ext uri="{FF2B5EF4-FFF2-40B4-BE49-F238E27FC236}">
                <a16:creationId xmlns:a16="http://schemas.microsoft.com/office/drawing/2014/main" id="{D8A91BD4-068B-4C86-9A93-51AD60E1E37D}"/>
              </a:ext>
            </a:extLst>
          </p:cNvPr>
          <p:cNvSpPr>
            <a:spLocks noGrp="1" noChangeArrowheads="1"/>
          </p:cNvSpPr>
          <p:nvPr>
            <p:ph type="title"/>
          </p:nvPr>
        </p:nvSpPr>
        <p:spPr>
          <a:xfrm>
            <a:off x="2057400" y="188913"/>
            <a:ext cx="7772400" cy="838200"/>
          </a:xfrm>
        </p:spPr>
        <p:txBody>
          <a:bodyPr/>
          <a:lstStyle/>
          <a:p>
            <a:pPr algn="l"/>
            <a:r>
              <a:rPr lang="zh-CN" altLang="en-US" sz="3600" b="1" dirty="0">
                <a:solidFill>
                  <a:srgbClr val="FF0000"/>
                </a:solidFill>
                <a:latin typeface="微软雅黑" pitchFamily="34" charset="-122"/>
                <a:ea typeface="微软雅黑" pitchFamily="34" charset="-122"/>
              </a:rPr>
              <a:t>静态数据成员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92884"/>
                                        </p:tgtEl>
                                        <p:attrNameLst>
                                          <p:attrName>style.visibility</p:attrName>
                                        </p:attrNameLst>
                                      </p:cBhvr>
                                      <p:to>
                                        <p:strVal val="visible"/>
                                      </p:to>
                                    </p:set>
                                    <p:animEffect transition="in" filter="blinds(horizontal)">
                                      <p:cBhvr>
                                        <p:cTn id="12" dur="500"/>
                                        <p:tgtEl>
                                          <p:spTgt spid="29288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92886"/>
                                        </p:tgtEl>
                                        <p:attrNameLst>
                                          <p:attrName>style.visibility</p:attrName>
                                        </p:attrNameLst>
                                      </p:cBhvr>
                                      <p:to>
                                        <p:strVal val="visible"/>
                                      </p:to>
                                    </p:set>
                                    <p:animEffect transition="in" filter="blinds(horizontal)">
                                      <p:cBhvr>
                                        <p:cTn id="22" dur="500"/>
                                        <p:tgtEl>
                                          <p:spTgt spid="292886"/>
                                        </p:tgtEl>
                                      </p:cBhvr>
                                    </p:animEffect>
                                  </p:childTnLst>
                                </p:cTn>
                              </p:par>
                              <p:par>
                                <p:cTn id="23" presetID="3" presetClass="exit" presetSubtype="10" fill="hold" grpId="1" nodeType="withEffect">
                                  <p:stCondLst>
                                    <p:cond delay="0"/>
                                  </p:stCondLst>
                                  <p:childTnLst>
                                    <p:animEffect transition="out" filter="blinds(horizontal)">
                                      <p:cBhvr>
                                        <p:cTn id="24" dur="500"/>
                                        <p:tgtEl>
                                          <p:spTgt spid="292884"/>
                                        </p:tgtEl>
                                      </p:cBhvr>
                                    </p:animEffect>
                                    <p:set>
                                      <p:cBhvr>
                                        <p:cTn id="25" dur="1" fill="hold">
                                          <p:stCondLst>
                                            <p:cond delay="499"/>
                                          </p:stCondLst>
                                        </p:cTn>
                                        <p:tgtEl>
                                          <p:spTgt spid="292884"/>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292887"/>
                                        </p:tgtEl>
                                        <p:attrNameLst>
                                          <p:attrName>style.visibility</p:attrName>
                                        </p:attrNameLst>
                                      </p:cBhvr>
                                      <p:to>
                                        <p:strVal val="visible"/>
                                      </p:to>
                                    </p:set>
                                    <p:animEffect transition="in" filter="blinds(horizontal)">
                                      <p:cBhvr>
                                        <p:cTn id="30" dur="500"/>
                                        <p:tgtEl>
                                          <p:spTgt spid="292887"/>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92888"/>
                                        </p:tgtEl>
                                        <p:attrNameLst>
                                          <p:attrName>style.visibility</p:attrName>
                                        </p:attrNameLst>
                                      </p:cBhvr>
                                      <p:to>
                                        <p:strVal val="visible"/>
                                      </p:to>
                                    </p:set>
                                    <p:animEffect transition="in" filter="blinds(horizontal)">
                                      <p:cBhvr>
                                        <p:cTn id="35" dur="500"/>
                                        <p:tgtEl>
                                          <p:spTgt spid="2928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84" grpId="0" animBg="1"/>
      <p:bldP spid="292884" grpId="1" animBg="1"/>
      <p:bldP spid="292886" grpId="0" animBg="1"/>
      <p:bldP spid="292887" grpId="0"/>
      <p:bldP spid="29288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灯片编号占位符 5"/>
          <p:cNvSpPr>
            <a:spLocks noGrp="1"/>
          </p:cNvSpPr>
          <p:nvPr>
            <p:ph type="sldNum" sz="quarter" idx="12"/>
          </p:nvPr>
        </p:nvSpPr>
        <p:spPr>
          <a:noFill/>
        </p:spPr>
        <p:txBody>
          <a:bodyPr/>
          <a:lstStyle/>
          <a:p>
            <a:fld id="{ECF9855E-6098-411D-8238-7D28855EB605}" type="slidenum">
              <a:rPr lang="en-US" altLang="zh-CN" smtClean="0"/>
              <a:pPr/>
              <a:t>24</a:t>
            </a:fld>
            <a:endParaRPr lang="en-US" altLang="zh-CN"/>
          </a:p>
        </p:txBody>
      </p:sp>
      <p:sp>
        <p:nvSpPr>
          <p:cNvPr id="6" name="TextBox 5">
            <a:extLst>
              <a:ext uri="{FF2B5EF4-FFF2-40B4-BE49-F238E27FC236}">
                <a16:creationId xmlns:a16="http://schemas.microsoft.com/office/drawing/2014/main" id="{08394419-818A-4F22-83E5-9FC24BCC9228}"/>
              </a:ext>
            </a:extLst>
          </p:cNvPr>
          <p:cNvSpPr txBox="1">
            <a:spLocks noChangeArrowheads="1"/>
          </p:cNvSpPr>
          <p:nvPr/>
        </p:nvSpPr>
        <p:spPr bwMode="auto">
          <a:xfrm>
            <a:off x="662940" y="1485267"/>
            <a:ext cx="11121390" cy="2549523"/>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20000"/>
              </a:lnSpc>
              <a:spcBef>
                <a:spcPct val="0"/>
              </a:spcBef>
            </a:pPr>
            <a:r>
              <a:rPr lang="en-US" altLang="zh-CN" b="1" dirty="0">
                <a:latin typeface="华文新魏" panose="02010800040101010101" pitchFamily="2" charset="-122"/>
                <a:ea typeface="华文新魏" panose="02010800040101010101" pitchFamily="2" charset="-122"/>
              </a:rPr>
              <a:t>class A {</a:t>
            </a: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public:</a:t>
            </a: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	</a:t>
            </a: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非常量静态成员必须在类里声明，类外定义和初始化 ，静态成员的</a:t>
            </a:r>
            <a:r>
              <a:rPr lang="en-US" altLang="zh-CN" b="1" dirty="0">
                <a:solidFill>
                  <a:srgbClr val="FF0000"/>
                </a:solidFill>
                <a:latin typeface="华文新魏" panose="02010800040101010101" pitchFamily="2" charset="-122"/>
                <a:ea typeface="华文新魏" panose="02010800040101010101" pitchFamily="2" charset="-122"/>
              </a:rPr>
              <a:t>static</a:t>
            </a:r>
            <a:r>
              <a:rPr lang="zh-CN" altLang="en-US" b="1" dirty="0">
                <a:solidFill>
                  <a:srgbClr val="FF0000"/>
                </a:solidFill>
                <a:latin typeface="华文新魏" panose="02010800040101010101" pitchFamily="2" charset="-122"/>
                <a:ea typeface="华文新魏" panose="02010800040101010101" pitchFamily="2" charset="-122"/>
              </a:rPr>
              <a:t>声明只能出现在类里</a:t>
            </a:r>
            <a:endParaRPr lang="en-US" altLang="zh-CN" b="1" dirty="0">
              <a:solidFill>
                <a:srgbClr val="FF0000"/>
              </a:solidFill>
              <a:latin typeface="华文新魏" panose="02010800040101010101" pitchFamily="2" charset="-122"/>
              <a:ea typeface="华文新魏" panose="02010800040101010101" pitchFamily="2" charset="-122"/>
            </a:endParaRP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	static int i = 0;  //</a:t>
            </a:r>
            <a:r>
              <a:rPr lang="zh-CN" altLang="en-US" b="1" dirty="0">
                <a:latin typeface="华文新魏" panose="02010800040101010101" pitchFamily="2" charset="-122"/>
                <a:ea typeface="华文新魏" panose="02010800040101010101" pitchFamily="2" charset="-122"/>
              </a:rPr>
              <a:t>错误</a:t>
            </a:r>
            <a:endParaRPr lang="en-US" altLang="zh-CN" b="1" dirty="0">
              <a:latin typeface="华文新魏" panose="02010800040101010101" pitchFamily="2" charset="-122"/>
              <a:ea typeface="华文新魏" panose="02010800040101010101" pitchFamily="2" charset="-122"/>
            </a:endParaRP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a:t>
            </a:r>
          </a:p>
        </p:txBody>
      </p:sp>
      <p:sp>
        <p:nvSpPr>
          <p:cNvPr id="4" name="Rectangle 4">
            <a:extLst>
              <a:ext uri="{FF2B5EF4-FFF2-40B4-BE49-F238E27FC236}">
                <a16:creationId xmlns:a16="http://schemas.microsoft.com/office/drawing/2014/main" id="{CF844CC1-90BD-49B3-BBF2-E12C45DDB1BA}"/>
              </a:ext>
            </a:extLst>
          </p:cNvPr>
          <p:cNvSpPr>
            <a:spLocks noGrp="1" noChangeArrowheads="1"/>
          </p:cNvSpPr>
          <p:nvPr>
            <p:ph type="title"/>
          </p:nvPr>
        </p:nvSpPr>
        <p:spPr>
          <a:xfrm>
            <a:off x="1531620" y="246383"/>
            <a:ext cx="9212580" cy="838200"/>
          </a:xfrm>
        </p:spPr>
        <p:txBody>
          <a:bodyPr>
            <a:normAutofit fontScale="90000"/>
          </a:bodyPr>
          <a:lstStyle/>
          <a:p>
            <a:pPr algn="l"/>
            <a:r>
              <a:rPr lang="zh-CN" altLang="en-US" sz="3600" b="1" dirty="0">
                <a:solidFill>
                  <a:srgbClr val="FF0000"/>
                </a:solidFill>
                <a:latin typeface="微软雅黑" pitchFamily="34" charset="-122"/>
                <a:ea typeface="微软雅黑" pitchFamily="34" charset="-122"/>
              </a:rPr>
              <a:t>静态数据成员的初始化</a:t>
            </a:r>
            <a:r>
              <a:rPr lang="en-US" altLang="zh-CN" sz="3600" b="1" dirty="0">
                <a:solidFill>
                  <a:srgbClr val="FF0000"/>
                </a:solidFill>
                <a:latin typeface="微软雅黑" pitchFamily="34" charset="-122"/>
                <a:ea typeface="微软雅黑" pitchFamily="34" charset="-122"/>
              </a:rPr>
              <a:t>-</a:t>
            </a:r>
            <a:r>
              <a:rPr lang="zh-CN" altLang="en-US" sz="3600" b="1" dirty="0">
                <a:solidFill>
                  <a:srgbClr val="FF0000"/>
                </a:solidFill>
                <a:latin typeface="微软雅黑" pitchFamily="34" charset="-122"/>
                <a:ea typeface="微软雅黑" pitchFamily="34" charset="-122"/>
              </a:rPr>
              <a:t>非</a:t>
            </a:r>
            <a:r>
              <a:rPr lang="en-US" altLang="zh-CN" sz="3600" b="1" dirty="0">
                <a:solidFill>
                  <a:srgbClr val="FF0000"/>
                </a:solidFill>
                <a:latin typeface="微软雅黑" pitchFamily="34" charset="-122"/>
                <a:ea typeface="微软雅黑" pitchFamily="34" charset="-122"/>
              </a:rPr>
              <a:t>const</a:t>
            </a:r>
            <a:r>
              <a:rPr lang="zh-CN" altLang="en-US" sz="3600" b="1" dirty="0">
                <a:solidFill>
                  <a:srgbClr val="FF0000"/>
                </a:solidFill>
                <a:latin typeface="微软雅黑" pitchFamily="34" charset="-122"/>
                <a:ea typeface="微软雅黑" pitchFamily="34" charset="-122"/>
              </a:rPr>
              <a:t>、非</a:t>
            </a:r>
            <a:r>
              <a:rPr lang="en-US" altLang="zh-CN" sz="3600" b="1" dirty="0">
                <a:solidFill>
                  <a:srgbClr val="FF0000"/>
                </a:solidFill>
                <a:latin typeface="微软雅黑" pitchFamily="34" charset="-122"/>
                <a:ea typeface="微软雅黑" pitchFamily="34" charset="-122"/>
              </a:rPr>
              <a:t>inline</a:t>
            </a:r>
            <a:r>
              <a:rPr lang="zh-CN" altLang="en-US" sz="3600" b="1" dirty="0">
                <a:solidFill>
                  <a:srgbClr val="FF0000"/>
                </a:solidFill>
                <a:latin typeface="微软雅黑" pitchFamily="34" charset="-122"/>
                <a:ea typeface="微软雅黑" pitchFamily="34" charset="-122"/>
              </a:rPr>
              <a:t>成员</a:t>
            </a:r>
          </a:p>
        </p:txBody>
      </p:sp>
      <p:sp>
        <p:nvSpPr>
          <p:cNvPr id="2" name="矩形 1">
            <a:extLst>
              <a:ext uri="{FF2B5EF4-FFF2-40B4-BE49-F238E27FC236}">
                <a16:creationId xmlns:a16="http://schemas.microsoft.com/office/drawing/2014/main" id="{80AC48AB-E10F-4AFA-8FA5-37773EF92654}"/>
              </a:ext>
            </a:extLst>
          </p:cNvPr>
          <p:cNvSpPr/>
          <p:nvPr/>
        </p:nvSpPr>
        <p:spPr>
          <a:xfrm>
            <a:off x="1312545" y="4541736"/>
            <a:ext cx="9566910" cy="830997"/>
          </a:xfrm>
          <a:prstGeom prst="rect">
            <a:avLst/>
          </a:prstGeom>
        </p:spPr>
        <p:txBody>
          <a:bodyPr wrap="square">
            <a:spAutoFit/>
          </a:bodyPr>
          <a:lstStyle/>
          <a:p>
            <a:r>
              <a:rPr lang="zh-CN" altLang="en-US" sz="2400" b="1" dirty="0">
                <a:solidFill>
                  <a:srgbClr val="FF0000"/>
                </a:solidFill>
                <a:latin typeface="华文新魏" panose="02010800040101010101" pitchFamily="2" charset="-122"/>
                <a:ea typeface="华文新魏" panose="02010800040101010101" pitchFamily="2" charset="-122"/>
              </a:rPr>
              <a:t> </a:t>
            </a:r>
            <a:r>
              <a:rPr lang="en-US" altLang="zh-CN" sz="2400" b="1" dirty="0">
                <a:solidFill>
                  <a:srgbClr val="FF0000"/>
                </a:solidFill>
                <a:latin typeface="华文新魏" panose="02010800040101010101" pitchFamily="2" charset="-122"/>
                <a:ea typeface="华文新魏" panose="02010800040101010101" pitchFamily="2" charset="-122"/>
              </a:rPr>
              <a:t>error C2864: A::i: </a:t>
            </a:r>
            <a:r>
              <a:rPr lang="zh-CN" altLang="en-US" sz="2400" b="1" dirty="0">
                <a:solidFill>
                  <a:srgbClr val="FF0000"/>
                </a:solidFill>
                <a:latin typeface="华文新魏" panose="02010800040101010101" pitchFamily="2" charset="-122"/>
                <a:ea typeface="华文新魏" panose="02010800040101010101" pitchFamily="2" charset="-122"/>
              </a:rPr>
              <a:t>带有类内初始化表达式的静态 数据成员 必须具有不可变的常量</a:t>
            </a:r>
            <a:r>
              <a:rPr lang="zh-CN" altLang="en-US" sz="2400" b="1" dirty="0">
                <a:solidFill>
                  <a:schemeClr val="accent1"/>
                </a:solidFill>
                <a:latin typeface="华文新魏" panose="02010800040101010101" pitchFamily="2" charset="-122"/>
                <a:ea typeface="华文新魏" panose="02010800040101010101" pitchFamily="2" charset="-122"/>
              </a:rPr>
              <a:t>整型</a:t>
            </a:r>
            <a:r>
              <a:rPr lang="zh-CN" altLang="en-US" sz="2400" b="1" dirty="0">
                <a:solidFill>
                  <a:srgbClr val="FF0000"/>
                </a:solidFill>
                <a:latin typeface="华文新魏" panose="02010800040101010101" pitchFamily="2" charset="-122"/>
                <a:ea typeface="华文新魏" panose="02010800040101010101" pitchFamily="2" charset="-122"/>
              </a:rPr>
              <a:t>类型，或必须被指定为“内联”</a:t>
            </a:r>
          </a:p>
        </p:txBody>
      </p:sp>
    </p:spTree>
    <p:extLst>
      <p:ext uri="{BB962C8B-B14F-4D97-AF65-F5344CB8AC3E}">
        <p14:creationId xmlns:p14="http://schemas.microsoft.com/office/powerpoint/2010/main" val="9377673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灯片编号占位符 5"/>
          <p:cNvSpPr>
            <a:spLocks noGrp="1"/>
          </p:cNvSpPr>
          <p:nvPr>
            <p:ph type="sldNum" sz="quarter" idx="12"/>
          </p:nvPr>
        </p:nvSpPr>
        <p:spPr>
          <a:noFill/>
        </p:spPr>
        <p:txBody>
          <a:bodyPr/>
          <a:lstStyle/>
          <a:p>
            <a:fld id="{ECF9855E-6098-411D-8238-7D28855EB605}" type="slidenum">
              <a:rPr lang="en-US" altLang="zh-CN" smtClean="0"/>
              <a:pPr/>
              <a:t>25</a:t>
            </a:fld>
            <a:endParaRPr lang="en-US" altLang="zh-CN"/>
          </a:p>
        </p:txBody>
      </p:sp>
      <p:sp>
        <p:nvSpPr>
          <p:cNvPr id="6" name="TextBox 5">
            <a:extLst>
              <a:ext uri="{FF2B5EF4-FFF2-40B4-BE49-F238E27FC236}">
                <a16:creationId xmlns:a16="http://schemas.microsoft.com/office/drawing/2014/main" id="{08394419-818A-4F22-83E5-9FC24BCC9228}"/>
              </a:ext>
            </a:extLst>
          </p:cNvPr>
          <p:cNvSpPr txBox="1">
            <a:spLocks noChangeArrowheads="1"/>
          </p:cNvSpPr>
          <p:nvPr/>
        </p:nvSpPr>
        <p:spPr bwMode="auto">
          <a:xfrm>
            <a:off x="577215" y="1828167"/>
            <a:ext cx="11121390" cy="2549523"/>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20000"/>
              </a:lnSpc>
              <a:spcBef>
                <a:spcPct val="0"/>
              </a:spcBef>
            </a:pPr>
            <a:r>
              <a:rPr lang="en-US" altLang="zh-CN" b="1" dirty="0">
                <a:latin typeface="华文新魏" panose="02010800040101010101" pitchFamily="2" charset="-122"/>
                <a:ea typeface="华文新魏" panose="02010800040101010101" pitchFamily="2" charset="-122"/>
              </a:rPr>
              <a:t>class A {</a:t>
            </a: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public:</a:t>
            </a: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	</a:t>
            </a: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非常量静态成员必须在类里声明，类外定义和初始化 ，静态成员的</a:t>
            </a:r>
            <a:r>
              <a:rPr lang="en-US" altLang="zh-CN" b="1" dirty="0">
                <a:solidFill>
                  <a:srgbClr val="FF0000"/>
                </a:solidFill>
                <a:latin typeface="华文新魏" panose="02010800040101010101" pitchFamily="2" charset="-122"/>
                <a:ea typeface="华文新魏" panose="02010800040101010101" pitchFamily="2" charset="-122"/>
              </a:rPr>
              <a:t>static</a:t>
            </a:r>
            <a:r>
              <a:rPr lang="zh-CN" altLang="en-US" b="1" dirty="0">
                <a:solidFill>
                  <a:srgbClr val="FF0000"/>
                </a:solidFill>
                <a:latin typeface="华文新魏" panose="02010800040101010101" pitchFamily="2" charset="-122"/>
                <a:ea typeface="华文新魏" panose="02010800040101010101" pitchFamily="2" charset="-122"/>
              </a:rPr>
              <a:t>声明只能出现在类里</a:t>
            </a:r>
            <a:endParaRPr lang="en-US" altLang="zh-CN" b="1" dirty="0">
              <a:solidFill>
                <a:srgbClr val="FF0000"/>
              </a:solidFill>
              <a:latin typeface="华文新魏" panose="02010800040101010101" pitchFamily="2" charset="-122"/>
              <a:ea typeface="华文新魏" panose="02010800040101010101" pitchFamily="2" charset="-122"/>
            </a:endParaRP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	static int i ;  //</a:t>
            </a:r>
            <a:r>
              <a:rPr lang="zh-CN" altLang="en-US" b="1" dirty="0">
                <a:latin typeface="华文新魏" panose="02010800040101010101" pitchFamily="2" charset="-122"/>
                <a:ea typeface="华文新魏" panose="02010800040101010101" pitchFamily="2" charset="-122"/>
              </a:rPr>
              <a:t>类里声明</a:t>
            </a:r>
            <a:endParaRPr lang="en-US" altLang="zh-CN" b="1" dirty="0">
              <a:latin typeface="华文新魏" panose="02010800040101010101" pitchFamily="2" charset="-122"/>
              <a:ea typeface="华文新魏" panose="02010800040101010101" pitchFamily="2" charset="-122"/>
            </a:endParaRP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a:t>
            </a:r>
          </a:p>
          <a:p>
            <a:pPr>
              <a:lnSpc>
                <a:spcPct val="120000"/>
              </a:lnSpc>
              <a:spcBef>
                <a:spcPct val="0"/>
              </a:spcBef>
            </a:pPr>
            <a:endParaRPr lang="en-US" altLang="zh-CN" b="1" dirty="0">
              <a:latin typeface="华文新魏" panose="02010800040101010101" pitchFamily="2" charset="-122"/>
              <a:ea typeface="华文新魏" panose="02010800040101010101" pitchFamily="2" charset="-122"/>
            </a:endParaRP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int A::i = 10;  //</a:t>
            </a:r>
            <a:r>
              <a:rPr lang="zh-CN" altLang="en-US" b="1" dirty="0">
                <a:latin typeface="华文新魏" panose="02010800040101010101" pitchFamily="2" charset="-122"/>
                <a:ea typeface="华文新魏" panose="02010800040101010101" pitchFamily="2" charset="-122"/>
              </a:rPr>
              <a:t>类体外初始化，注意不能加</a:t>
            </a:r>
            <a:r>
              <a:rPr lang="en-US" altLang="zh-CN" b="1" dirty="0">
                <a:latin typeface="华文新魏" panose="02010800040101010101" pitchFamily="2" charset="-122"/>
                <a:ea typeface="华文新魏" panose="02010800040101010101" pitchFamily="2" charset="-122"/>
              </a:rPr>
              <a:t>static</a:t>
            </a:r>
          </a:p>
        </p:txBody>
      </p:sp>
      <p:sp>
        <p:nvSpPr>
          <p:cNvPr id="4" name="Rectangle 4">
            <a:extLst>
              <a:ext uri="{FF2B5EF4-FFF2-40B4-BE49-F238E27FC236}">
                <a16:creationId xmlns:a16="http://schemas.microsoft.com/office/drawing/2014/main" id="{CF844CC1-90BD-49B3-BBF2-E12C45DDB1BA}"/>
              </a:ext>
            </a:extLst>
          </p:cNvPr>
          <p:cNvSpPr>
            <a:spLocks noGrp="1" noChangeArrowheads="1"/>
          </p:cNvSpPr>
          <p:nvPr>
            <p:ph type="title"/>
          </p:nvPr>
        </p:nvSpPr>
        <p:spPr>
          <a:xfrm>
            <a:off x="1531620" y="246383"/>
            <a:ext cx="9212580" cy="838200"/>
          </a:xfrm>
        </p:spPr>
        <p:txBody>
          <a:bodyPr>
            <a:normAutofit fontScale="90000"/>
          </a:bodyPr>
          <a:lstStyle/>
          <a:p>
            <a:pPr algn="l"/>
            <a:r>
              <a:rPr lang="zh-CN" altLang="en-US" sz="3600" b="1" dirty="0">
                <a:solidFill>
                  <a:srgbClr val="FF0000"/>
                </a:solidFill>
                <a:latin typeface="微软雅黑" pitchFamily="34" charset="-122"/>
                <a:ea typeface="微软雅黑" pitchFamily="34" charset="-122"/>
              </a:rPr>
              <a:t>静态数据成员的初始化</a:t>
            </a:r>
            <a:r>
              <a:rPr lang="en-US" altLang="zh-CN" sz="3600" b="1" dirty="0">
                <a:solidFill>
                  <a:srgbClr val="FF0000"/>
                </a:solidFill>
                <a:latin typeface="微软雅黑" pitchFamily="34" charset="-122"/>
                <a:ea typeface="微软雅黑" pitchFamily="34" charset="-122"/>
              </a:rPr>
              <a:t>-</a:t>
            </a:r>
            <a:r>
              <a:rPr lang="zh-CN" altLang="en-US" sz="3600" b="1" dirty="0">
                <a:solidFill>
                  <a:srgbClr val="FF0000"/>
                </a:solidFill>
                <a:latin typeface="微软雅黑" pitchFamily="34" charset="-122"/>
                <a:ea typeface="微软雅黑" pitchFamily="34" charset="-122"/>
              </a:rPr>
              <a:t>非</a:t>
            </a:r>
            <a:r>
              <a:rPr lang="en-US" altLang="zh-CN" sz="3600" b="1" dirty="0">
                <a:solidFill>
                  <a:srgbClr val="FF0000"/>
                </a:solidFill>
                <a:latin typeface="微软雅黑" pitchFamily="34" charset="-122"/>
                <a:ea typeface="微软雅黑" pitchFamily="34" charset="-122"/>
              </a:rPr>
              <a:t>const</a:t>
            </a:r>
            <a:r>
              <a:rPr lang="zh-CN" altLang="en-US" sz="3600" b="1" dirty="0">
                <a:solidFill>
                  <a:srgbClr val="FF0000"/>
                </a:solidFill>
                <a:latin typeface="微软雅黑" pitchFamily="34" charset="-122"/>
                <a:ea typeface="微软雅黑" pitchFamily="34" charset="-122"/>
              </a:rPr>
              <a:t>、非</a:t>
            </a:r>
            <a:r>
              <a:rPr lang="en-US" altLang="zh-CN" sz="3600" b="1" dirty="0">
                <a:solidFill>
                  <a:srgbClr val="FF0000"/>
                </a:solidFill>
                <a:latin typeface="微软雅黑" pitchFamily="34" charset="-122"/>
                <a:ea typeface="微软雅黑" pitchFamily="34" charset="-122"/>
              </a:rPr>
              <a:t>inline</a:t>
            </a:r>
            <a:r>
              <a:rPr lang="zh-CN" altLang="en-US" sz="3600" b="1" dirty="0">
                <a:solidFill>
                  <a:srgbClr val="FF0000"/>
                </a:solidFill>
                <a:latin typeface="微软雅黑" pitchFamily="34" charset="-122"/>
                <a:ea typeface="微软雅黑" pitchFamily="34" charset="-122"/>
              </a:rPr>
              <a:t>成员</a:t>
            </a:r>
          </a:p>
        </p:txBody>
      </p:sp>
    </p:spTree>
    <p:extLst>
      <p:ext uri="{BB962C8B-B14F-4D97-AF65-F5344CB8AC3E}">
        <p14:creationId xmlns:p14="http://schemas.microsoft.com/office/powerpoint/2010/main" val="31907847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灯片编号占位符 5"/>
          <p:cNvSpPr>
            <a:spLocks noGrp="1"/>
          </p:cNvSpPr>
          <p:nvPr>
            <p:ph type="sldNum" sz="quarter" idx="12"/>
          </p:nvPr>
        </p:nvSpPr>
        <p:spPr>
          <a:noFill/>
        </p:spPr>
        <p:txBody>
          <a:bodyPr/>
          <a:lstStyle/>
          <a:p>
            <a:fld id="{ECF9855E-6098-411D-8238-7D28855EB605}" type="slidenum">
              <a:rPr lang="en-US" altLang="zh-CN" smtClean="0"/>
              <a:pPr/>
              <a:t>26</a:t>
            </a:fld>
            <a:endParaRPr lang="en-US" altLang="zh-CN"/>
          </a:p>
        </p:txBody>
      </p:sp>
      <p:sp>
        <p:nvSpPr>
          <p:cNvPr id="6" name="TextBox 5">
            <a:extLst>
              <a:ext uri="{FF2B5EF4-FFF2-40B4-BE49-F238E27FC236}">
                <a16:creationId xmlns:a16="http://schemas.microsoft.com/office/drawing/2014/main" id="{08394419-818A-4F22-83E5-9FC24BCC9228}"/>
              </a:ext>
            </a:extLst>
          </p:cNvPr>
          <p:cNvSpPr txBox="1">
            <a:spLocks noChangeArrowheads="1"/>
          </p:cNvSpPr>
          <p:nvPr/>
        </p:nvSpPr>
        <p:spPr bwMode="auto">
          <a:xfrm>
            <a:off x="411480" y="1828167"/>
            <a:ext cx="11287125" cy="4528183"/>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20000"/>
              </a:lnSpc>
              <a:spcBef>
                <a:spcPct val="0"/>
              </a:spcBef>
            </a:pPr>
            <a:r>
              <a:rPr lang="en-US" altLang="zh-CN" b="1" dirty="0">
                <a:latin typeface="华文新魏" panose="02010800040101010101" pitchFamily="2" charset="-122"/>
                <a:ea typeface="华文新魏" panose="02010800040101010101" pitchFamily="2" charset="-122"/>
              </a:rPr>
              <a:t>class B {</a:t>
            </a: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public:</a:t>
            </a: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	//const</a:t>
            </a:r>
            <a:r>
              <a:rPr lang="zh-CN" altLang="en-US" b="1" dirty="0">
                <a:latin typeface="华文新魏" panose="02010800040101010101" pitchFamily="2" charset="-122"/>
                <a:ea typeface="华文新魏" panose="02010800040101010101" pitchFamily="2" charset="-122"/>
              </a:rPr>
              <a:t>静态整型常量可以在类里初始化</a:t>
            </a:r>
          </a:p>
          <a:p>
            <a:pPr>
              <a:lnSpc>
                <a:spcPct val="120000"/>
              </a:lnSpc>
              <a:spcBef>
                <a:spcPct val="0"/>
              </a:spcBef>
            </a:pP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const static int i = 0;		//</a:t>
            </a:r>
            <a:r>
              <a:rPr lang="zh-CN" altLang="en-US" b="1" dirty="0">
                <a:latin typeface="华文新魏" panose="02010800040101010101" pitchFamily="2" charset="-122"/>
                <a:ea typeface="华文新魏" panose="02010800040101010101" pitchFamily="2" charset="-122"/>
              </a:rPr>
              <a:t>正确</a:t>
            </a:r>
          </a:p>
          <a:p>
            <a:pPr>
              <a:lnSpc>
                <a:spcPct val="120000"/>
              </a:lnSpc>
              <a:spcBef>
                <a:spcPct val="0"/>
              </a:spcBef>
            </a:pP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const static int j{ 1 };		//</a:t>
            </a:r>
            <a:r>
              <a:rPr lang="zh-CN" altLang="en-US" b="1" dirty="0">
                <a:latin typeface="华文新魏" panose="02010800040101010101" pitchFamily="2" charset="-122"/>
                <a:ea typeface="华文新魏" panose="02010800040101010101" pitchFamily="2" charset="-122"/>
              </a:rPr>
              <a:t>正确</a:t>
            </a:r>
          </a:p>
          <a:p>
            <a:pPr>
              <a:lnSpc>
                <a:spcPct val="120000"/>
              </a:lnSpc>
              <a:spcBef>
                <a:spcPct val="0"/>
              </a:spcBef>
            </a:pPr>
            <a:endParaRPr lang="zh-CN" altLang="en-US" b="1" dirty="0">
              <a:latin typeface="华文新魏" panose="02010800040101010101" pitchFamily="2" charset="-122"/>
              <a:ea typeface="华文新魏" panose="02010800040101010101" pitchFamily="2" charset="-122"/>
            </a:endParaRPr>
          </a:p>
          <a:p>
            <a:pPr>
              <a:lnSpc>
                <a:spcPct val="120000"/>
              </a:lnSpc>
              <a:spcBef>
                <a:spcPct val="0"/>
              </a:spcBef>
            </a:pP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错误。</a:t>
            </a:r>
            <a:r>
              <a:rPr lang="en-US" altLang="zh-CN" b="1" dirty="0">
                <a:latin typeface="华文新魏" panose="02010800040101010101" pitchFamily="2" charset="-122"/>
                <a:ea typeface="华文新魏" panose="02010800040101010101" pitchFamily="2" charset="-122"/>
              </a:rPr>
              <a:t>error C2864: B::d: </a:t>
            </a:r>
            <a:r>
              <a:rPr lang="zh-CN" altLang="en-US" b="1" dirty="0">
                <a:latin typeface="华文新魏" panose="02010800040101010101" pitchFamily="2" charset="-122"/>
                <a:ea typeface="华文新魏" panose="02010800040101010101" pitchFamily="2" charset="-122"/>
              </a:rPr>
              <a:t>带有类内初始化表达式的静态数据成员必须具有不可变的常量</a:t>
            </a:r>
            <a:r>
              <a:rPr lang="zh-CN" altLang="en-US" b="1" dirty="0">
                <a:solidFill>
                  <a:srgbClr val="FF0000"/>
                </a:solidFill>
                <a:latin typeface="华文新魏" panose="02010800040101010101" pitchFamily="2" charset="-122"/>
                <a:ea typeface="华文新魏" panose="02010800040101010101" pitchFamily="2" charset="-122"/>
              </a:rPr>
              <a:t>整型</a:t>
            </a:r>
            <a:r>
              <a:rPr lang="zh-CN" altLang="en-US" b="1" dirty="0">
                <a:latin typeface="华文新魏" panose="02010800040101010101" pitchFamily="2" charset="-122"/>
                <a:ea typeface="华文新魏" panose="02010800040101010101" pitchFamily="2" charset="-122"/>
              </a:rPr>
              <a:t>类型，或必须被指定为“内联”</a:t>
            </a:r>
          </a:p>
          <a:p>
            <a:pPr>
              <a:lnSpc>
                <a:spcPct val="120000"/>
              </a:lnSpc>
              <a:spcBef>
                <a:spcPct val="0"/>
              </a:spcBef>
            </a:pP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//const static double d = 3.14 ; </a:t>
            </a:r>
          </a:p>
          <a:p>
            <a:pPr>
              <a:lnSpc>
                <a:spcPct val="120000"/>
              </a:lnSpc>
              <a:spcBef>
                <a:spcPct val="0"/>
              </a:spcBef>
            </a:pPr>
            <a:endParaRPr lang="en-US" altLang="zh-CN" b="1" dirty="0">
              <a:latin typeface="华文新魏" panose="02010800040101010101" pitchFamily="2" charset="-122"/>
              <a:ea typeface="华文新魏" panose="02010800040101010101" pitchFamily="2" charset="-122"/>
            </a:endParaRP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	// constexpr</a:t>
            </a:r>
            <a:r>
              <a:rPr lang="zh-CN" altLang="en-US" b="1" dirty="0">
                <a:latin typeface="华文新魏" panose="02010800040101010101" pitchFamily="2" charset="-122"/>
                <a:ea typeface="华文新魏" panose="02010800040101010101" pitchFamily="2" charset="-122"/>
              </a:rPr>
              <a:t>类型的字面值类型可以在类体里初始化</a:t>
            </a:r>
          </a:p>
          <a:p>
            <a:pPr>
              <a:lnSpc>
                <a:spcPct val="120000"/>
              </a:lnSpc>
              <a:spcBef>
                <a:spcPct val="0"/>
              </a:spcBef>
            </a:pP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static constexpr double dd = 3.14;	//static constexpr double</a:t>
            </a: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a:t>
            </a:r>
          </a:p>
        </p:txBody>
      </p:sp>
      <p:sp>
        <p:nvSpPr>
          <p:cNvPr id="4" name="Rectangle 4">
            <a:extLst>
              <a:ext uri="{FF2B5EF4-FFF2-40B4-BE49-F238E27FC236}">
                <a16:creationId xmlns:a16="http://schemas.microsoft.com/office/drawing/2014/main" id="{CF844CC1-90BD-49B3-BBF2-E12C45DDB1BA}"/>
              </a:ext>
            </a:extLst>
          </p:cNvPr>
          <p:cNvSpPr>
            <a:spLocks noGrp="1" noChangeArrowheads="1"/>
          </p:cNvSpPr>
          <p:nvPr>
            <p:ph type="title"/>
          </p:nvPr>
        </p:nvSpPr>
        <p:spPr>
          <a:xfrm>
            <a:off x="1531620" y="246383"/>
            <a:ext cx="921258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静态数据成员的初始化</a:t>
            </a:r>
            <a:r>
              <a:rPr lang="en-US" altLang="zh-CN" sz="3600" b="1" dirty="0">
                <a:solidFill>
                  <a:srgbClr val="FF0000"/>
                </a:solidFill>
                <a:latin typeface="微软雅黑" pitchFamily="34" charset="-122"/>
                <a:ea typeface="微软雅黑" pitchFamily="34" charset="-122"/>
              </a:rPr>
              <a:t>-const</a:t>
            </a:r>
            <a:r>
              <a:rPr lang="zh-CN" altLang="en-US" sz="3600" b="1" dirty="0">
                <a:solidFill>
                  <a:srgbClr val="FF0000"/>
                </a:solidFill>
                <a:latin typeface="微软雅黑" pitchFamily="34" charset="-122"/>
                <a:ea typeface="微软雅黑" pitchFamily="34" charset="-122"/>
              </a:rPr>
              <a:t>成员</a:t>
            </a:r>
          </a:p>
        </p:txBody>
      </p:sp>
    </p:spTree>
    <p:extLst>
      <p:ext uri="{BB962C8B-B14F-4D97-AF65-F5344CB8AC3E}">
        <p14:creationId xmlns:p14="http://schemas.microsoft.com/office/powerpoint/2010/main" val="40939917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灯片编号占位符 5"/>
          <p:cNvSpPr>
            <a:spLocks noGrp="1"/>
          </p:cNvSpPr>
          <p:nvPr>
            <p:ph type="sldNum" sz="quarter" idx="12"/>
          </p:nvPr>
        </p:nvSpPr>
        <p:spPr>
          <a:noFill/>
        </p:spPr>
        <p:txBody>
          <a:bodyPr/>
          <a:lstStyle/>
          <a:p>
            <a:fld id="{ECF9855E-6098-411D-8238-7D28855EB605}" type="slidenum">
              <a:rPr lang="en-US" altLang="zh-CN" smtClean="0"/>
              <a:pPr/>
              <a:t>27</a:t>
            </a:fld>
            <a:endParaRPr lang="en-US" altLang="zh-CN"/>
          </a:p>
        </p:txBody>
      </p:sp>
      <p:sp>
        <p:nvSpPr>
          <p:cNvPr id="6" name="TextBox 5">
            <a:extLst>
              <a:ext uri="{FF2B5EF4-FFF2-40B4-BE49-F238E27FC236}">
                <a16:creationId xmlns:a16="http://schemas.microsoft.com/office/drawing/2014/main" id="{08394419-818A-4F22-83E5-9FC24BCC9228}"/>
              </a:ext>
            </a:extLst>
          </p:cNvPr>
          <p:cNvSpPr txBox="1">
            <a:spLocks noChangeArrowheads="1"/>
          </p:cNvSpPr>
          <p:nvPr/>
        </p:nvSpPr>
        <p:spPr bwMode="auto">
          <a:xfrm>
            <a:off x="411480" y="1828167"/>
            <a:ext cx="11287125" cy="4528183"/>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20000"/>
              </a:lnSpc>
              <a:spcBef>
                <a:spcPct val="0"/>
              </a:spcBef>
            </a:pPr>
            <a:r>
              <a:rPr lang="en-US" altLang="zh-CN" b="1" dirty="0">
                <a:latin typeface="华文新魏" panose="02010800040101010101" pitchFamily="2" charset="-122"/>
                <a:ea typeface="华文新魏" panose="02010800040101010101" pitchFamily="2" charset="-122"/>
              </a:rPr>
              <a:t>class C {</a:t>
            </a: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public:</a:t>
            </a: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内联的静态数据成员可以在类里初始化</a:t>
            </a:r>
          </a:p>
          <a:p>
            <a:pPr>
              <a:lnSpc>
                <a:spcPct val="120000"/>
              </a:lnSpc>
              <a:spcBef>
                <a:spcPct val="0"/>
              </a:spcBef>
            </a:pP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inline static int i = 0;</a:t>
            </a: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	inline static double d = { 3.14 };</a:t>
            </a:r>
          </a:p>
          <a:p>
            <a:pPr>
              <a:lnSpc>
                <a:spcPct val="120000"/>
              </a:lnSpc>
              <a:spcBef>
                <a:spcPct val="0"/>
              </a:spcBef>
            </a:pPr>
            <a:endParaRPr lang="en-US" altLang="zh-CN" b="1" dirty="0">
              <a:latin typeface="华文新魏" panose="02010800040101010101" pitchFamily="2" charset="-122"/>
              <a:ea typeface="华文新魏" panose="02010800040101010101" pitchFamily="2" charset="-122"/>
            </a:endParaRP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	//inline</a:t>
            </a:r>
            <a:r>
              <a:rPr lang="zh-CN" altLang="en-US" b="1" dirty="0">
                <a:latin typeface="华文新魏" panose="02010800040101010101" pitchFamily="2" charset="-122"/>
                <a:ea typeface="华文新魏" panose="02010800040101010101" pitchFamily="2" charset="-122"/>
              </a:rPr>
              <a:t>和</a:t>
            </a:r>
            <a:r>
              <a:rPr lang="en-US" altLang="zh-CN" b="1" dirty="0">
                <a:latin typeface="华文新魏" panose="02010800040101010101" pitchFamily="2" charset="-122"/>
                <a:ea typeface="华文新魏" panose="02010800040101010101" pitchFamily="2" charset="-122"/>
              </a:rPr>
              <a:t>const</a:t>
            </a:r>
            <a:r>
              <a:rPr lang="zh-CN" altLang="en-US" b="1" dirty="0">
                <a:latin typeface="华文新魏" panose="02010800040101010101" pitchFamily="2" charset="-122"/>
                <a:ea typeface="华文新魏" panose="02010800040101010101" pitchFamily="2" charset="-122"/>
              </a:rPr>
              <a:t>可以一起使用</a:t>
            </a:r>
          </a:p>
          <a:p>
            <a:pPr>
              <a:lnSpc>
                <a:spcPct val="120000"/>
              </a:lnSpc>
              <a:spcBef>
                <a:spcPct val="0"/>
              </a:spcBef>
            </a:pP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inline static const int j = 1;</a:t>
            </a:r>
          </a:p>
          <a:p>
            <a:pPr>
              <a:lnSpc>
                <a:spcPct val="120000"/>
              </a:lnSpc>
              <a:spcBef>
                <a:spcPct val="0"/>
              </a:spcBef>
            </a:pPr>
            <a:r>
              <a:rPr lang="en-US" altLang="zh-CN" b="1" dirty="0">
                <a:latin typeface="华文新魏" panose="02010800040101010101" pitchFamily="2" charset="-122"/>
                <a:ea typeface="华文新魏" panose="02010800040101010101" pitchFamily="2" charset="-122"/>
              </a:rPr>
              <a:t>};</a:t>
            </a:r>
          </a:p>
        </p:txBody>
      </p:sp>
      <p:sp>
        <p:nvSpPr>
          <p:cNvPr id="4" name="Rectangle 4">
            <a:extLst>
              <a:ext uri="{FF2B5EF4-FFF2-40B4-BE49-F238E27FC236}">
                <a16:creationId xmlns:a16="http://schemas.microsoft.com/office/drawing/2014/main" id="{CF844CC1-90BD-49B3-BBF2-E12C45DDB1BA}"/>
              </a:ext>
            </a:extLst>
          </p:cNvPr>
          <p:cNvSpPr>
            <a:spLocks noGrp="1" noChangeArrowheads="1"/>
          </p:cNvSpPr>
          <p:nvPr>
            <p:ph type="title"/>
          </p:nvPr>
        </p:nvSpPr>
        <p:spPr>
          <a:xfrm>
            <a:off x="1531620" y="246383"/>
            <a:ext cx="921258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静态数据成员的初始化</a:t>
            </a:r>
            <a:r>
              <a:rPr lang="en-US" altLang="zh-CN" sz="3600" b="1" dirty="0">
                <a:solidFill>
                  <a:srgbClr val="FF0000"/>
                </a:solidFill>
                <a:latin typeface="微软雅黑" pitchFamily="34" charset="-122"/>
                <a:ea typeface="微软雅黑" pitchFamily="34" charset="-122"/>
              </a:rPr>
              <a:t>-inline</a:t>
            </a:r>
            <a:r>
              <a:rPr lang="zh-CN" altLang="en-US" sz="3600" b="1" dirty="0">
                <a:solidFill>
                  <a:srgbClr val="FF0000"/>
                </a:solidFill>
                <a:latin typeface="微软雅黑" pitchFamily="34" charset="-122"/>
                <a:ea typeface="微软雅黑" pitchFamily="34" charset="-122"/>
              </a:rPr>
              <a:t>成员（</a:t>
            </a:r>
            <a:r>
              <a:rPr lang="en-US" altLang="zh-CN" sz="3600" b="1" dirty="0">
                <a:solidFill>
                  <a:srgbClr val="FF0000"/>
                </a:solidFill>
                <a:latin typeface="微软雅黑" pitchFamily="34" charset="-122"/>
                <a:ea typeface="微软雅黑" pitchFamily="34" charset="-122"/>
              </a:rPr>
              <a:t>17 </a:t>
            </a:r>
            <a:r>
              <a:rPr lang="zh-CN" altLang="en-US" sz="3600" b="1" dirty="0">
                <a:solidFill>
                  <a:srgbClr val="FF0000"/>
                </a:solidFill>
                <a:latin typeface="微软雅黑" pitchFamily="34" charset="-122"/>
                <a:ea typeface="微软雅黑" pitchFamily="34" charset="-122"/>
              </a:rPr>
              <a:t>标准）</a:t>
            </a:r>
          </a:p>
        </p:txBody>
      </p:sp>
    </p:spTree>
    <p:extLst>
      <p:ext uri="{BB962C8B-B14F-4D97-AF65-F5344CB8AC3E}">
        <p14:creationId xmlns:p14="http://schemas.microsoft.com/office/powerpoint/2010/main" val="18768209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5</a:t>
            </a:r>
            <a:r>
              <a:rPr lang="zh-CN" altLang="en-US" b="1" dirty="0">
                <a:latin typeface="隶书" panose="02010509060101010101" pitchFamily="49" charset="-122"/>
                <a:ea typeface="隶书" panose="02010509060101010101" pitchFamily="49" charset="-122"/>
              </a:rPr>
              <a:t>章 </a:t>
            </a:r>
            <a:r>
              <a:rPr lang="zh-CN" altLang="zh-CN" b="1" dirty="0">
                <a:latin typeface="隶书" panose="02010509060101010101" pitchFamily="49" charset="-122"/>
                <a:ea typeface="隶书" panose="02010509060101010101" pitchFamily="49" charset="-122"/>
              </a:rPr>
              <a:t>成员及成员指针</a:t>
            </a:r>
            <a:endParaRPr lang="zh-CN" altLang="en-US" b="1" dirty="0">
              <a:latin typeface="隶书" panose="02010509060101010101" pitchFamily="49" charset="-122"/>
              <a:ea typeface="隶书" panose="02010509060101010101" pitchFamily="49" charset="-122"/>
            </a:endParaRP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838200" y="1505585"/>
            <a:ext cx="10515600" cy="2406566"/>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5.3  </a:t>
            </a:r>
            <a:r>
              <a:rPr lang="zh-CN" altLang="en-US" dirty="0">
                <a:latin typeface="华文新魏" panose="02010800040101010101" pitchFamily="2" charset="-122"/>
                <a:ea typeface="华文新魏" panose="02010800040101010101" pitchFamily="2" charset="-122"/>
              </a:rPr>
              <a:t>静态数据成员</a:t>
            </a:r>
          </a:p>
        </p:txBody>
      </p:sp>
      <p:sp>
        <p:nvSpPr>
          <p:cNvPr id="7" name="文本框 6">
            <a:extLst>
              <a:ext uri="{FF2B5EF4-FFF2-40B4-BE49-F238E27FC236}">
                <a16:creationId xmlns:a16="http://schemas.microsoft.com/office/drawing/2014/main" id="{7D15768E-A38D-4F9E-9B5C-D3F69E61740E}"/>
              </a:ext>
            </a:extLst>
          </p:cNvPr>
          <p:cNvSpPr txBox="1"/>
          <p:nvPr/>
        </p:nvSpPr>
        <p:spPr>
          <a:xfrm>
            <a:off x="838200" y="2010205"/>
            <a:ext cx="10226040" cy="4555093"/>
          </a:xfrm>
          <a:prstGeom prst="rect">
            <a:avLst/>
          </a:prstGeom>
          <a:noFill/>
        </p:spPr>
        <p:txBody>
          <a:bodyPr wrap="square">
            <a:spAutoFit/>
          </a:bodyPr>
          <a:lstStyle/>
          <a:p>
            <a:pPr indent="269875" algn="just"/>
            <a:r>
              <a:rPr lang="zh-CN" altLang="zh-CN" sz="1800" kern="100" dirty="0">
                <a:effectLst/>
                <a:latin typeface="华文新魏" panose="02010800040101010101" pitchFamily="2" charset="-122"/>
                <a:ea typeface="华文新魏" panose="02010800040101010101" pitchFamily="2" charset="-122"/>
              </a:rPr>
              <a:t>例</a:t>
            </a:r>
            <a:r>
              <a:rPr lang="en-US" altLang="zh-CN" sz="1800" kern="100" dirty="0">
                <a:effectLst/>
                <a:latin typeface="华文新魏" panose="02010800040101010101" pitchFamily="2" charset="-122"/>
                <a:ea typeface="华文新魏" panose="02010800040101010101" pitchFamily="2" charset="-122"/>
              </a:rPr>
              <a:t>5.9</a:t>
            </a:r>
            <a:r>
              <a:rPr lang="zh-CN" altLang="zh-CN" sz="1800" kern="100" dirty="0">
                <a:effectLst/>
                <a:latin typeface="华文新魏" panose="02010800040101010101" pitchFamily="2" charset="-122"/>
                <a:ea typeface="华文新魏" panose="02010800040101010101" pitchFamily="2" charset="-122"/>
              </a:rPr>
              <a:t>函数局部类不能定义静态数据成员</a:t>
            </a:r>
            <a:endParaRPr lang="en-US" altLang="zh-CN" sz="1800" kern="100" dirty="0">
              <a:effectLst/>
              <a:latin typeface="华文新魏" panose="02010800040101010101" pitchFamily="2" charset="-122"/>
              <a:ea typeface="华文新魏" panose="02010800040101010101" pitchFamily="2" charset="-122"/>
            </a:endParaRPr>
          </a:p>
          <a:p>
            <a:pPr indent="269875" algn="just"/>
            <a:r>
              <a:rPr lang="en-US" altLang="zh-CN" kern="100" dirty="0">
                <a:latin typeface="华文新魏" panose="02010800040101010101" pitchFamily="2" charset="-122"/>
                <a:ea typeface="华文新魏" panose="02010800040101010101" pitchFamily="2" charset="-122"/>
              </a:rPr>
              <a:t>int  x=3;</a:t>
            </a:r>
            <a:endParaRPr lang="en-US" altLang="zh-CN" sz="1800" kern="100" dirty="0">
              <a:effectLst/>
              <a:latin typeface="华文新魏" panose="02010800040101010101" pitchFamily="2" charset="-122"/>
              <a:ea typeface="华文新魏" panose="02010800040101010101" pitchFamily="2" charset="-122"/>
            </a:endParaRPr>
          </a:p>
          <a:p>
            <a:pPr indent="269875" algn="just"/>
            <a:r>
              <a:rPr lang="en-US" altLang="zh-CN" kern="100" dirty="0">
                <a:latin typeface="华文新魏" panose="02010800040101010101" pitchFamily="2" charset="-122"/>
                <a:ea typeface="华文新魏" panose="02010800040101010101" pitchFamily="2" charset="-122"/>
              </a:rPr>
              <a:t>union  S {  //</a:t>
            </a:r>
            <a:r>
              <a:rPr lang="zh-CN" altLang="en-US" kern="100" dirty="0">
                <a:latin typeface="华文新魏" panose="02010800040101010101" pitchFamily="2" charset="-122"/>
                <a:ea typeface="华文新魏" panose="02010800040101010101" pitchFamily="2" charset="-122"/>
              </a:rPr>
              <a:t>定义全局类</a:t>
            </a:r>
            <a:r>
              <a:rPr lang="en-US" altLang="zh-CN" kern="100" dirty="0">
                <a:latin typeface="华文新魏" panose="02010800040101010101" pitchFamily="2" charset="-122"/>
                <a:ea typeface="华文新魏" panose="02010800040101010101" pitchFamily="2" charset="-122"/>
              </a:rPr>
              <a:t>T</a:t>
            </a:r>
          </a:p>
          <a:p>
            <a:pPr indent="269875" algn="just"/>
            <a:r>
              <a:rPr lang="en-US" altLang="zh-CN" kern="100" dirty="0">
                <a:latin typeface="华文新魏" panose="02010800040101010101" pitchFamily="2" charset="-122"/>
                <a:ea typeface="华文新魏" panose="02010800040101010101" pitchFamily="2" charset="-122"/>
              </a:rPr>
              <a:t>    const  static int b=0;       //</a:t>
            </a:r>
            <a:r>
              <a:rPr lang="zh-CN" altLang="en-US" kern="100" dirty="0">
                <a:latin typeface="华文新魏" panose="02010800040101010101" pitchFamily="2" charset="-122"/>
                <a:ea typeface="华文新魏" panose="02010800040101010101" pitchFamily="2" charset="-122"/>
              </a:rPr>
              <a:t>全局类中可用</a:t>
            </a:r>
            <a:r>
              <a:rPr lang="en-US" altLang="zh-CN" kern="100" dirty="0">
                <a:latin typeface="华文新魏" panose="02010800040101010101" pitchFamily="2" charset="-122"/>
                <a:ea typeface="华文新魏" panose="02010800040101010101" pitchFamily="2" charset="-122"/>
              </a:rPr>
              <a:t>const</a:t>
            </a:r>
            <a:r>
              <a:rPr lang="zh-CN" altLang="en-US" kern="100" dirty="0">
                <a:latin typeface="华文新魏" panose="02010800040101010101" pitchFamily="2" charset="-122"/>
                <a:ea typeface="华文新魏" panose="02010800040101010101" pitchFamily="2" charset="-122"/>
              </a:rPr>
              <a:t>定义同时初始化静态整型成员</a:t>
            </a:r>
            <a:r>
              <a:rPr lang="en-US" altLang="zh-CN" kern="100" dirty="0">
                <a:latin typeface="华文新魏" panose="02010800040101010101" pitchFamily="2" charset="-122"/>
                <a:ea typeface="华文新魏" panose="02010800040101010101" pitchFamily="2" charset="-122"/>
              </a:rPr>
              <a:t>,</a:t>
            </a:r>
            <a:r>
              <a:rPr lang="zh-CN" altLang="en-US" kern="100" dirty="0">
                <a:latin typeface="华文新魏" panose="02010800040101010101" pitchFamily="2" charset="-122"/>
                <a:ea typeface="华文新魏" panose="02010800040101010101" pitchFamily="2" charset="-122"/>
              </a:rPr>
              <a:t>必须用常量</a:t>
            </a:r>
            <a:endParaRPr lang="en-US" altLang="zh-CN" kern="100" dirty="0">
              <a:latin typeface="华文新魏" panose="02010800040101010101" pitchFamily="2" charset="-122"/>
              <a:ea typeface="华文新魏" panose="02010800040101010101" pitchFamily="2" charset="-122"/>
            </a:endParaRPr>
          </a:p>
          <a:p>
            <a:pPr indent="269875" algn="just"/>
            <a:r>
              <a:rPr lang="en-US" altLang="zh-CN" kern="100" dirty="0">
                <a:latin typeface="华文新魏" panose="02010800040101010101" pitchFamily="2" charset="-122"/>
                <a:ea typeface="华文新魏" panose="02010800040101010101" pitchFamily="2" charset="-122"/>
              </a:rPr>
              <a:t>    inline  static int c = x;	//</a:t>
            </a:r>
            <a:r>
              <a:rPr lang="zh-CN" altLang="en-US" kern="100" dirty="0">
                <a:latin typeface="华文新魏" panose="02010800040101010101" pitchFamily="2" charset="-122"/>
                <a:ea typeface="华文新魏" panose="02010800040101010101" pitchFamily="2" charset="-122"/>
              </a:rPr>
              <a:t>全局类可用</a:t>
            </a:r>
            <a:r>
              <a:rPr lang="en-US" altLang="zh-CN" kern="100" dirty="0">
                <a:latin typeface="华文新魏" panose="02010800040101010101" pitchFamily="2" charset="-122"/>
                <a:ea typeface="华文新魏" panose="02010800040101010101" pitchFamily="2" charset="-122"/>
              </a:rPr>
              <a:t>inline</a:t>
            </a:r>
            <a:r>
              <a:rPr lang="zh-CN" altLang="en-US" kern="100" dirty="0">
                <a:latin typeface="华文新魏" panose="02010800040101010101" pitchFamily="2" charset="-122"/>
                <a:ea typeface="华文新魏" panose="02010800040101010101" pitchFamily="2" charset="-122"/>
              </a:rPr>
              <a:t>定义同时初始化静态成员，可用任意表达式</a:t>
            </a:r>
            <a:endParaRPr lang="en-US" altLang="zh-CN" kern="100" dirty="0">
              <a:latin typeface="华文新魏" panose="02010800040101010101" pitchFamily="2" charset="-122"/>
              <a:ea typeface="华文新魏" panose="02010800040101010101" pitchFamily="2" charset="-122"/>
            </a:endParaRPr>
          </a:p>
          <a:p>
            <a:pPr indent="269875" algn="just"/>
            <a:r>
              <a:rPr lang="en-US" altLang="zh-CN" kern="100" dirty="0">
                <a:latin typeface="华文新魏" panose="02010800040101010101" pitchFamily="2" charset="-122"/>
                <a:ea typeface="华文新魏" panose="02010800040101010101" pitchFamily="2" charset="-122"/>
              </a:rPr>
              <a:t>    inline  const static int d = x;  //</a:t>
            </a:r>
            <a:r>
              <a:rPr lang="zh-CN" altLang="en-US" kern="100" dirty="0">
                <a:latin typeface="华文新魏" panose="02010800040101010101" pitchFamily="2" charset="-122"/>
                <a:ea typeface="华文新魏" panose="02010800040101010101" pitchFamily="2" charset="-122"/>
              </a:rPr>
              <a:t>可用任意表达式</a:t>
            </a:r>
            <a:r>
              <a:rPr lang="en-US" altLang="zh-CN" kern="100" dirty="0">
                <a:latin typeface="华文新魏" panose="02010800040101010101" pitchFamily="2" charset="-122"/>
                <a:ea typeface="华文新魏" panose="02010800040101010101" pitchFamily="2" charset="-122"/>
              </a:rPr>
              <a:t>	</a:t>
            </a:r>
            <a:endParaRPr lang="zh-CN" altLang="en-US" kern="100" dirty="0">
              <a:latin typeface="华文新魏" panose="02010800040101010101" pitchFamily="2" charset="-122"/>
              <a:ea typeface="华文新魏" panose="02010800040101010101" pitchFamily="2" charset="-122"/>
            </a:endParaRPr>
          </a:p>
          <a:p>
            <a:pPr indent="269875" algn="just"/>
            <a:r>
              <a:rPr lang="en-US" altLang="zh-CN" kern="100" dirty="0">
                <a:latin typeface="华文新魏" panose="02010800040101010101" pitchFamily="2" charset="-122"/>
                <a:ea typeface="华文新魏" panose="02010800040101010101" pitchFamily="2" charset="-122"/>
              </a:rPr>
              <a:t>};</a:t>
            </a:r>
            <a:endParaRPr lang="zh-CN" altLang="zh-CN" kern="100" dirty="0">
              <a:latin typeface="华文新魏" panose="02010800040101010101" pitchFamily="2" charset="-122"/>
              <a:ea typeface="华文新魏" panose="02010800040101010101" pitchFamily="2" charset="-122"/>
            </a:endParaRPr>
          </a:p>
          <a:p>
            <a:pPr indent="269875" algn="just"/>
            <a:r>
              <a:rPr lang="en-US" altLang="zh-CN" sz="1800" kern="100" dirty="0">
                <a:effectLst/>
                <a:latin typeface="华文新魏" panose="02010800040101010101" pitchFamily="2" charset="-122"/>
                <a:ea typeface="华文新魏" panose="02010800040101010101" pitchFamily="2" charset="-122"/>
              </a:rPr>
              <a:t>void f(void){</a:t>
            </a:r>
            <a:endParaRPr lang="zh-CN" altLang="zh-CN" sz="1800" kern="100" dirty="0">
              <a:effectLst/>
              <a:latin typeface="华文新魏" panose="02010800040101010101" pitchFamily="2" charset="-122"/>
              <a:ea typeface="华文新魏" panose="02010800040101010101" pitchFamily="2" charset="-122"/>
            </a:endParaRPr>
          </a:p>
          <a:p>
            <a:pPr indent="269875" algn="just"/>
            <a:r>
              <a:rPr lang="en-US" altLang="zh-CN" sz="1800" kern="100" dirty="0">
                <a:effectLst/>
                <a:latin typeface="华文新魏" panose="02010800040101010101" pitchFamily="2" charset="-122"/>
                <a:ea typeface="华文新魏" panose="02010800040101010101" pitchFamily="2" charset="-122"/>
              </a:rPr>
              <a:t>    class  T{ 	 	//</a:t>
            </a:r>
            <a:r>
              <a:rPr lang="zh-CN" altLang="zh-CN" sz="1800" kern="100" dirty="0">
                <a:effectLst/>
                <a:latin typeface="华文新魏" panose="02010800040101010101" pitchFamily="2" charset="-122"/>
                <a:ea typeface="华文新魏" panose="02010800040101010101" pitchFamily="2" charset="-122"/>
              </a:rPr>
              <a:t>定义</a:t>
            </a:r>
            <a:r>
              <a:rPr lang="zh-CN" altLang="en-US" kern="100" dirty="0">
                <a:latin typeface="华文新魏" panose="02010800040101010101" pitchFamily="2" charset="-122"/>
                <a:ea typeface="华文新魏" panose="02010800040101010101" pitchFamily="2" charset="-122"/>
              </a:rPr>
              <a:t>函数中的</a:t>
            </a:r>
            <a:r>
              <a:rPr lang="zh-CN" altLang="zh-CN" sz="1800" kern="100" dirty="0">
                <a:solidFill>
                  <a:srgbClr val="FF0000"/>
                </a:solidFill>
                <a:effectLst/>
                <a:latin typeface="华文新魏" panose="02010800040101010101" pitchFamily="2" charset="-122"/>
                <a:ea typeface="华文新魏" panose="02010800040101010101" pitchFamily="2" charset="-122"/>
              </a:rPr>
              <a:t>局部类</a:t>
            </a:r>
            <a:r>
              <a:rPr lang="en-US" altLang="zh-CN" sz="1800" kern="100" dirty="0">
                <a:solidFill>
                  <a:srgbClr val="FF0000"/>
                </a:solidFill>
                <a:effectLst/>
                <a:latin typeface="华文新魏" panose="02010800040101010101" pitchFamily="2" charset="-122"/>
                <a:ea typeface="华文新魏" panose="02010800040101010101" pitchFamily="2" charset="-122"/>
              </a:rPr>
              <a:t>T</a:t>
            </a:r>
            <a:endParaRPr lang="zh-CN" altLang="zh-CN" sz="1800" kern="100" dirty="0">
              <a:solidFill>
                <a:srgbClr val="FF0000"/>
              </a:solidFill>
              <a:effectLst/>
              <a:latin typeface="华文新魏" panose="02010800040101010101" pitchFamily="2" charset="-122"/>
              <a:ea typeface="华文新魏" panose="02010800040101010101" pitchFamily="2" charset="-122"/>
            </a:endParaRPr>
          </a:p>
          <a:p>
            <a:pPr indent="269875" algn="just"/>
            <a:r>
              <a:rPr lang="en-US" altLang="zh-CN" sz="1800" kern="100" dirty="0">
                <a:effectLst/>
                <a:latin typeface="华文新魏" panose="02010800040101010101" pitchFamily="2" charset="-122"/>
                <a:ea typeface="华文新魏" panose="02010800040101010101" pitchFamily="2" charset="-122"/>
              </a:rPr>
              <a:t>        int  c;                         </a:t>
            </a:r>
          </a:p>
          <a:p>
            <a:pPr indent="269875" algn="just"/>
            <a:r>
              <a:rPr lang="en-US" altLang="zh-CN" kern="100" dirty="0">
                <a:latin typeface="华文新魏" panose="02010800040101010101" pitchFamily="2" charset="-122"/>
                <a:ea typeface="华文新魏" panose="02010800040101010101" pitchFamily="2" charset="-122"/>
              </a:rPr>
              <a:t>      </a:t>
            </a:r>
            <a:r>
              <a:rPr lang="en-US" altLang="zh-CN" sz="1800" kern="100" dirty="0">
                <a:effectLst/>
                <a:latin typeface="华文新魏" panose="02010800040101010101" pitchFamily="2" charset="-122"/>
                <a:ea typeface="华文新魏" panose="02010800040101010101" pitchFamily="2" charset="-122"/>
              </a:rPr>
              <a:t> //static int d;   	//</a:t>
            </a:r>
            <a:r>
              <a:rPr lang="zh-CN" altLang="zh-CN" sz="1800" kern="100" dirty="0">
                <a:effectLst/>
                <a:latin typeface="华文新魏" panose="02010800040101010101" pitchFamily="2" charset="-122"/>
                <a:ea typeface="华文新魏" panose="02010800040101010101" pitchFamily="2" charset="-122"/>
              </a:rPr>
              <a:t>错误：</a:t>
            </a:r>
            <a:r>
              <a:rPr lang="zh-CN" altLang="en-US" sz="1800" kern="100" dirty="0">
                <a:effectLst/>
                <a:latin typeface="华文新魏" panose="02010800040101010101" pitchFamily="2" charset="-122"/>
                <a:ea typeface="华文新魏" panose="02010800040101010101" pitchFamily="2" charset="-122"/>
              </a:rPr>
              <a:t>函数中的</a:t>
            </a:r>
            <a:r>
              <a:rPr lang="zh-CN" altLang="zh-CN" sz="1800" kern="100" dirty="0">
                <a:effectLst/>
                <a:latin typeface="华文新魏" panose="02010800040101010101" pitchFamily="2" charset="-122"/>
                <a:ea typeface="华文新魏" panose="02010800040101010101" pitchFamily="2" charset="-122"/>
              </a:rPr>
              <a:t>局部类不能定义静态数据成员</a:t>
            </a:r>
          </a:p>
          <a:p>
            <a:pPr indent="269875" algn="just"/>
            <a:r>
              <a:rPr lang="en-US" altLang="zh-CN" sz="1800" kern="100" dirty="0">
                <a:effectLst/>
                <a:latin typeface="华文新魏" panose="02010800040101010101" pitchFamily="2" charset="-122"/>
                <a:ea typeface="华文新魏" panose="02010800040101010101" pitchFamily="2" charset="-122"/>
              </a:rPr>
              <a:t>    };</a:t>
            </a:r>
            <a:endParaRPr lang="zh-CN" altLang="zh-CN" sz="1800" kern="100" dirty="0">
              <a:effectLst/>
              <a:latin typeface="华文新魏" panose="02010800040101010101" pitchFamily="2" charset="-122"/>
              <a:ea typeface="华文新魏" panose="02010800040101010101" pitchFamily="2" charset="-122"/>
            </a:endParaRPr>
          </a:p>
          <a:p>
            <a:pPr indent="269875" algn="just"/>
            <a:r>
              <a:rPr lang="en-US" altLang="zh-CN" sz="1800" kern="100" dirty="0">
                <a:effectLst/>
                <a:latin typeface="华文新魏" panose="02010800040101010101" pitchFamily="2" charset="-122"/>
                <a:ea typeface="华文新魏" panose="02010800040101010101" pitchFamily="2" charset="-122"/>
              </a:rPr>
              <a:t>    T a;         		//</a:t>
            </a:r>
            <a:r>
              <a:rPr lang="zh-CN" altLang="zh-CN" sz="1800" kern="100" dirty="0">
                <a:effectLst/>
                <a:latin typeface="华文新魏" panose="02010800040101010101" pitchFamily="2" charset="-122"/>
                <a:ea typeface="华文新魏" panose="02010800040101010101" pitchFamily="2" charset="-122"/>
              </a:rPr>
              <a:t>局部自动变量</a:t>
            </a:r>
            <a:r>
              <a:rPr lang="en-US" altLang="zh-CN" sz="1800" kern="100" dirty="0">
                <a:effectLst/>
                <a:latin typeface="华文新魏" panose="02010800040101010101" pitchFamily="2" charset="-122"/>
                <a:ea typeface="华文新魏" panose="02010800040101010101" pitchFamily="2" charset="-122"/>
              </a:rPr>
              <a:t>a</a:t>
            </a:r>
            <a:endParaRPr lang="zh-CN" altLang="zh-CN" sz="1800" kern="100" dirty="0">
              <a:effectLst/>
              <a:latin typeface="华文新魏" panose="02010800040101010101" pitchFamily="2" charset="-122"/>
              <a:ea typeface="华文新魏" panose="02010800040101010101" pitchFamily="2" charset="-122"/>
            </a:endParaRPr>
          </a:p>
          <a:p>
            <a:pPr indent="269875" algn="just"/>
            <a:r>
              <a:rPr lang="en-US" altLang="zh-CN" sz="1800" kern="100" dirty="0">
                <a:effectLst/>
                <a:latin typeface="华文新魏" panose="02010800040101010101" pitchFamily="2" charset="-122"/>
                <a:ea typeface="华文新魏" panose="02010800040101010101" pitchFamily="2" charset="-122"/>
              </a:rPr>
              <a:t>    static T s;  		//</a:t>
            </a:r>
            <a:r>
              <a:rPr lang="zh-CN" altLang="zh-CN" sz="1800" kern="100" dirty="0">
                <a:effectLst/>
                <a:latin typeface="华文新魏" panose="02010800040101010101" pitchFamily="2" charset="-122"/>
                <a:ea typeface="华文新魏" panose="02010800040101010101" pitchFamily="2" charset="-122"/>
              </a:rPr>
              <a:t>局部静态变量</a:t>
            </a:r>
            <a:r>
              <a:rPr lang="en-US" altLang="zh-CN" sz="1800" kern="100" dirty="0">
                <a:effectLst/>
                <a:latin typeface="华文新魏" panose="02010800040101010101" pitchFamily="2" charset="-122"/>
                <a:ea typeface="华文新魏" panose="02010800040101010101" pitchFamily="2" charset="-122"/>
              </a:rPr>
              <a:t>s</a:t>
            </a:r>
            <a:endParaRPr lang="zh-CN" altLang="zh-CN" sz="1800" kern="100" dirty="0">
              <a:effectLst/>
              <a:latin typeface="华文新魏" panose="02010800040101010101" pitchFamily="2" charset="-122"/>
              <a:ea typeface="华文新魏" panose="02010800040101010101" pitchFamily="2" charset="-122"/>
            </a:endParaRPr>
          </a:p>
          <a:p>
            <a:pPr indent="269875" algn="just"/>
            <a:r>
              <a:rPr lang="en-US" altLang="zh-CN" sz="1800" kern="100" dirty="0">
                <a:effectLst/>
                <a:latin typeface="华文新魏" panose="02010800040101010101" pitchFamily="2" charset="-122"/>
                <a:ea typeface="华文新魏" panose="02010800040101010101" pitchFamily="2" charset="-122"/>
              </a:rPr>
              <a:t>}</a:t>
            </a:r>
            <a:endParaRPr lang="zh-CN" altLang="zh-CN" sz="1800" kern="100" dirty="0">
              <a:effectLst/>
              <a:latin typeface="华文新魏" panose="02010800040101010101" pitchFamily="2" charset="-122"/>
              <a:ea typeface="华文新魏" panose="02010800040101010101" pitchFamily="2" charset="-122"/>
            </a:endParaRPr>
          </a:p>
          <a:p>
            <a:pPr indent="269875" algn="just"/>
            <a:r>
              <a:rPr lang="en-US" altLang="zh-CN" sz="1800" kern="100" dirty="0">
                <a:effectLst/>
                <a:latin typeface="华文新魏" panose="02010800040101010101" pitchFamily="2" charset="-122"/>
                <a:ea typeface="华文新魏" panose="02010800040101010101" pitchFamily="2" charset="-122"/>
              </a:rPr>
              <a:t>void main( ){ f( ); f( ); }	//</a:t>
            </a:r>
            <a:r>
              <a:rPr lang="zh-CN" altLang="zh-CN" sz="1800" kern="100" dirty="0">
                <a:effectLst/>
                <a:latin typeface="华文新魏" panose="02010800040101010101" pitchFamily="2" charset="-122"/>
                <a:ea typeface="华文新魏" panose="02010800040101010101" pitchFamily="2" charset="-122"/>
              </a:rPr>
              <a:t>第一个函数调用</a:t>
            </a:r>
            <a:r>
              <a:rPr lang="en-US" altLang="zh-CN" sz="1800" kern="100" dirty="0">
                <a:effectLst/>
                <a:latin typeface="华文新魏" panose="02010800040101010101" pitchFamily="2" charset="-122"/>
                <a:ea typeface="华文新魏" panose="02010800040101010101" pitchFamily="2" charset="-122"/>
              </a:rPr>
              <a:t>f( )</a:t>
            </a:r>
            <a:r>
              <a:rPr lang="zh-CN" altLang="zh-CN" sz="1800" kern="100" dirty="0">
                <a:effectLst/>
                <a:latin typeface="华文新魏" panose="02010800040101010101" pitchFamily="2" charset="-122"/>
                <a:ea typeface="华文新魏" panose="02010800040101010101" pitchFamily="2" charset="-122"/>
              </a:rPr>
              <a:t>返回后</a:t>
            </a:r>
            <a:r>
              <a:rPr lang="en-US" altLang="zh-CN" sz="1800" kern="100" dirty="0" err="1">
                <a:effectLst/>
                <a:latin typeface="华文新魏" panose="02010800040101010101" pitchFamily="2" charset="-122"/>
                <a:ea typeface="华文新魏" panose="02010800040101010101" pitchFamily="2" charset="-122"/>
              </a:rPr>
              <a:t>a.d</a:t>
            </a:r>
            <a:r>
              <a:rPr lang="en-US" altLang="zh-CN" sz="2000" kern="100" dirty="0" err="1">
                <a:solidFill>
                  <a:srgbClr val="000000"/>
                </a:solidFill>
                <a:effectLst/>
                <a:latin typeface="华文新魏" panose="02010800040101010101" pitchFamily="2" charset="-122"/>
                <a:ea typeface="华文新魏" panose="02010800040101010101" pitchFamily="2" charset="-122"/>
                <a:cs typeface="Cambria Math" panose="02040503050406030204" pitchFamily="18" charset="0"/>
              </a:rPr>
              <a:t>⇔</a:t>
            </a:r>
            <a:r>
              <a:rPr lang="en-US" altLang="zh-CN" sz="1800" kern="100" dirty="0" err="1">
                <a:effectLst/>
                <a:latin typeface="华文新魏" panose="02010800040101010101" pitchFamily="2" charset="-122"/>
                <a:ea typeface="华文新魏" panose="02010800040101010101" pitchFamily="2" charset="-122"/>
              </a:rPr>
              <a:t>s.d</a:t>
            </a:r>
            <a:r>
              <a:rPr lang="en-US" altLang="zh-CN" sz="2000" kern="100" dirty="0" err="1">
                <a:solidFill>
                  <a:srgbClr val="000000"/>
                </a:solidFill>
                <a:effectLst/>
                <a:latin typeface="华文新魏" panose="02010800040101010101" pitchFamily="2" charset="-122"/>
                <a:ea typeface="华文新魏" panose="02010800040101010101" pitchFamily="2" charset="-122"/>
                <a:cs typeface="Cambria Math" panose="02040503050406030204" pitchFamily="18" charset="0"/>
              </a:rPr>
              <a:t>⇔</a:t>
            </a:r>
            <a:r>
              <a:rPr lang="en-US" altLang="zh-CN" sz="1800" kern="100" dirty="0" err="1">
                <a:effectLst/>
                <a:latin typeface="华文新魏" panose="02010800040101010101" pitchFamily="2" charset="-122"/>
                <a:ea typeface="华文新魏" panose="02010800040101010101" pitchFamily="2" charset="-122"/>
              </a:rPr>
              <a:t>T</a:t>
            </a:r>
            <a:r>
              <a:rPr lang="en-US" altLang="zh-CN" sz="1800" kern="100" dirty="0">
                <a:effectLst/>
                <a:latin typeface="华文新魏" panose="02010800040101010101" pitchFamily="2" charset="-122"/>
                <a:ea typeface="华文新魏" panose="02010800040101010101" pitchFamily="2" charset="-122"/>
              </a:rPr>
              <a:t>::d</a:t>
            </a:r>
            <a:r>
              <a:rPr lang="zh-CN" altLang="zh-CN" sz="1800" kern="100" dirty="0">
                <a:effectLst/>
                <a:latin typeface="华文新魏" panose="02010800040101010101" pitchFamily="2" charset="-122"/>
                <a:ea typeface="华文新魏" panose="02010800040101010101" pitchFamily="2" charset="-122"/>
              </a:rPr>
              <a:t>产生</a:t>
            </a:r>
            <a:r>
              <a:rPr lang="zh-CN" altLang="en-US" sz="1800" kern="100" dirty="0">
                <a:effectLst/>
                <a:latin typeface="华文新魏" panose="02010800040101010101" pitchFamily="2" charset="-122"/>
                <a:ea typeface="华文新魏" panose="02010800040101010101" pitchFamily="2" charset="-122"/>
              </a:rPr>
              <a:t>静态成员</a:t>
            </a:r>
            <a:r>
              <a:rPr lang="zh-CN" altLang="en-US" kern="100" dirty="0">
                <a:latin typeface="华文新魏" panose="02010800040101010101" pitchFamily="2" charset="-122"/>
                <a:ea typeface="华文新魏" panose="02010800040101010101" pitchFamily="2" charset="-122"/>
              </a:rPr>
              <a:t>声明周期</a:t>
            </a:r>
            <a:r>
              <a:rPr lang="zh-CN" altLang="zh-CN" sz="1800" kern="100" dirty="0">
                <a:effectLst/>
                <a:latin typeface="华文新魏" panose="02010800040101010101" pitchFamily="2" charset="-122"/>
                <a:ea typeface="华文新魏" panose="02010800040101010101" pitchFamily="2" charset="-122"/>
              </a:rPr>
              <a:t>矛盾</a:t>
            </a:r>
          </a:p>
        </p:txBody>
      </p:sp>
    </p:spTree>
    <p:extLst>
      <p:ext uri="{BB962C8B-B14F-4D97-AF65-F5344CB8AC3E}">
        <p14:creationId xmlns:p14="http://schemas.microsoft.com/office/powerpoint/2010/main" val="40533567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5</a:t>
            </a:r>
            <a:r>
              <a:rPr lang="zh-CN" altLang="en-US" b="1" dirty="0">
                <a:latin typeface="隶书" panose="02010509060101010101" pitchFamily="49" charset="-122"/>
                <a:ea typeface="隶书" panose="02010509060101010101" pitchFamily="49" charset="-122"/>
              </a:rPr>
              <a:t>章 </a:t>
            </a:r>
            <a:r>
              <a:rPr lang="zh-CN" altLang="zh-CN" b="1" dirty="0">
                <a:latin typeface="隶书" panose="02010509060101010101" pitchFamily="49" charset="-122"/>
                <a:ea typeface="隶书" panose="02010509060101010101" pitchFamily="49" charset="-122"/>
              </a:rPr>
              <a:t>成员及成员指针</a:t>
            </a:r>
            <a:endParaRPr lang="zh-CN" altLang="en-US" b="1" dirty="0">
              <a:latin typeface="隶书" panose="02010509060101010101" pitchFamily="49" charset="-122"/>
              <a:ea typeface="隶书" panose="02010509060101010101" pitchFamily="49" charset="-122"/>
            </a:endParaRP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838200" y="1825625"/>
            <a:ext cx="10515600" cy="588119"/>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5.4  </a:t>
            </a:r>
            <a:r>
              <a:rPr lang="zh-CN" altLang="en-US" dirty="0">
                <a:latin typeface="华文新魏" panose="02010800040101010101" pitchFamily="2" charset="-122"/>
                <a:ea typeface="华文新魏" panose="02010800040101010101" pitchFamily="2" charset="-122"/>
              </a:rPr>
              <a:t>静态函数成员</a:t>
            </a: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0930295" cy="2803844"/>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静态函数成员通常在类里以</a:t>
            </a:r>
            <a:r>
              <a:rPr lang="en-US" altLang="zh-CN" sz="2400" b="1" dirty="0">
                <a:latin typeface="华文新魏" panose="02010800040101010101" pitchFamily="2" charset="-122"/>
                <a:ea typeface="华文新魏" panose="02010800040101010101" pitchFamily="2" charset="-122"/>
              </a:rPr>
              <a:t>static</a:t>
            </a:r>
            <a:r>
              <a:rPr lang="zh-CN" altLang="en-US" sz="2400" b="1" dirty="0">
                <a:latin typeface="华文新魏" panose="02010800040101010101" pitchFamily="2" charset="-122"/>
                <a:ea typeface="华文新魏" panose="02010800040101010101" pitchFamily="2" charset="-122"/>
              </a:rPr>
              <a:t>说明或定义，</a:t>
            </a:r>
            <a:r>
              <a:rPr lang="zh-CN" altLang="en-US" sz="2400" b="1" dirty="0">
                <a:solidFill>
                  <a:srgbClr val="FF0000"/>
                </a:solidFill>
                <a:latin typeface="华文新魏" panose="02010800040101010101" pitchFamily="2" charset="-122"/>
                <a:ea typeface="华文新魏" panose="02010800040101010101" pitchFamily="2" charset="-122"/>
              </a:rPr>
              <a:t>它没有</a:t>
            </a:r>
            <a:r>
              <a:rPr lang="en-US" altLang="zh-CN" sz="2400" b="1" dirty="0">
                <a:solidFill>
                  <a:srgbClr val="FF0000"/>
                </a:solidFill>
                <a:latin typeface="华文新魏" panose="02010800040101010101" pitchFamily="2" charset="-122"/>
                <a:ea typeface="华文新魏" panose="02010800040101010101" pitchFamily="2" charset="-122"/>
              </a:rPr>
              <a:t>this</a:t>
            </a:r>
            <a:r>
              <a:rPr lang="zh-CN" altLang="en-US" sz="2400" b="1" dirty="0">
                <a:solidFill>
                  <a:srgbClr val="FF0000"/>
                </a:solidFill>
                <a:latin typeface="华文新魏" panose="02010800040101010101" pitchFamily="2" charset="-122"/>
                <a:ea typeface="华文新魏" panose="02010800040101010101" pitchFamily="2" charset="-122"/>
              </a:rPr>
              <a:t>参数</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有</a:t>
            </a:r>
            <a:r>
              <a:rPr lang="en-US" altLang="zh-CN" sz="2400" b="1" dirty="0">
                <a:solidFill>
                  <a:srgbClr val="FF0000"/>
                </a:solidFill>
                <a:latin typeface="华文新魏" panose="02010800040101010101" pitchFamily="2" charset="-122"/>
                <a:ea typeface="华文新魏" panose="02010800040101010101" pitchFamily="2" charset="-122"/>
              </a:rPr>
              <a:t>this</a:t>
            </a:r>
            <a:r>
              <a:rPr lang="zh-CN" altLang="en-US" sz="2400" b="1" dirty="0">
                <a:solidFill>
                  <a:srgbClr val="FF0000"/>
                </a:solidFill>
                <a:latin typeface="华文新魏" panose="02010800040101010101" pitchFamily="2" charset="-122"/>
                <a:ea typeface="华文新魏" panose="02010800040101010101" pitchFamily="2" charset="-122"/>
              </a:rPr>
              <a:t>的</a:t>
            </a:r>
            <a:r>
              <a:rPr lang="zh-CN" altLang="en-US" sz="2400" b="1" dirty="0">
                <a:latin typeface="华文新魏" panose="02010800040101010101" pitchFamily="2" charset="-122"/>
                <a:ea typeface="华文新魏" panose="02010800040101010101" pitchFamily="2" charset="-122"/>
              </a:rPr>
              <a:t>构造和析构函数、虚函数及纯虚函数</a:t>
            </a:r>
            <a:r>
              <a:rPr lang="zh-CN" altLang="en-US" sz="2400" b="1" dirty="0">
                <a:solidFill>
                  <a:srgbClr val="FF0000"/>
                </a:solidFill>
                <a:latin typeface="华文新魏" panose="02010800040101010101" pitchFamily="2" charset="-122"/>
                <a:ea typeface="华文新魏" panose="02010800040101010101" pitchFamily="2" charset="-122"/>
              </a:rPr>
              <a:t>都不能定义为静态函数成员</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静态函数成员一般用来访问类的总体信息，例如对象总个数。</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静态函数成员可以重载、内联、定义默认值参数。</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静态函数成员同实例成员的继承、访问规则没有区别。</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静态函数成员的</a:t>
            </a:r>
            <a:r>
              <a:rPr lang="zh-CN" altLang="en-US" sz="2400" b="1" dirty="0">
                <a:solidFill>
                  <a:srgbClr val="FF0000"/>
                </a:solidFill>
                <a:latin typeface="华文新魏" panose="02010800040101010101" pitchFamily="2" charset="-122"/>
                <a:ea typeface="华文新魏" panose="02010800040101010101" pitchFamily="2" charset="-122"/>
              </a:rPr>
              <a:t>参数表后不能出现</a:t>
            </a:r>
            <a:r>
              <a:rPr lang="en-US" altLang="zh-CN" sz="2400" b="1" dirty="0">
                <a:solidFill>
                  <a:srgbClr val="FF0000"/>
                </a:solidFill>
                <a:latin typeface="华文新魏" panose="02010800040101010101" pitchFamily="2" charset="-122"/>
                <a:ea typeface="华文新魏" panose="02010800040101010101" pitchFamily="2" charset="-122"/>
              </a:rPr>
              <a:t>const</a:t>
            </a:r>
            <a:r>
              <a:rPr lang="zh-CN" altLang="en-US" sz="2400" b="1" dirty="0">
                <a:solidFill>
                  <a:srgbClr val="FF0000"/>
                </a:solidFill>
                <a:latin typeface="华文新魏" panose="02010800040101010101" pitchFamily="2" charset="-122"/>
                <a:ea typeface="华文新魏" panose="02010800040101010101" pitchFamily="2" charset="-122"/>
              </a:rPr>
              <a:t>、</a:t>
            </a:r>
            <a:r>
              <a:rPr lang="en-US" altLang="zh-CN" sz="2400" b="1" dirty="0">
                <a:solidFill>
                  <a:srgbClr val="FF0000"/>
                </a:solidFill>
                <a:latin typeface="华文新魏" panose="02010800040101010101" pitchFamily="2" charset="-122"/>
                <a:ea typeface="华文新魏" panose="02010800040101010101" pitchFamily="2" charset="-122"/>
              </a:rPr>
              <a:t>volatile</a:t>
            </a:r>
            <a:r>
              <a:rPr lang="zh-CN" altLang="en-US" sz="2400" b="1" dirty="0">
                <a:solidFill>
                  <a:srgbClr val="FF0000"/>
                </a:solidFill>
                <a:latin typeface="华文新魏" panose="02010800040101010101" pitchFamily="2" charset="-122"/>
                <a:ea typeface="华文新魏" panose="02010800040101010101" pitchFamily="2" charset="-122"/>
              </a:rPr>
              <a:t>、</a:t>
            </a:r>
            <a:r>
              <a:rPr lang="en-US" altLang="zh-CN" sz="2400" b="1" dirty="0">
                <a:solidFill>
                  <a:srgbClr val="FF0000"/>
                </a:solidFill>
                <a:latin typeface="华文新魏" panose="02010800040101010101" pitchFamily="2" charset="-122"/>
                <a:ea typeface="华文新魏" panose="02010800040101010101" pitchFamily="2" charset="-122"/>
              </a:rPr>
              <a:t>const volatile</a:t>
            </a:r>
            <a:r>
              <a:rPr lang="zh-CN" altLang="en-US" sz="2400" b="1" dirty="0">
                <a:solidFill>
                  <a:srgbClr val="FF0000"/>
                </a:solidFill>
                <a:latin typeface="华文新魏" panose="02010800040101010101" pitchFamily="2" charset="-122"/>
                <a:ea typeface="华文新魏" panose="02010800040101010101" pitchFamily="2" charset="-122"/>
              </a:rPr>
              <a:t>等修饰符</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静态函数成员的返回类型可以同时使用</a:t>
            </a:r>
            <a:r>
              <a:rPr lang="en-US" altLang="zh-CN" sz="2400" b="1" dirty="0">
                <a:latin typeface="华文新魏" panose="02010800040101010101" pitchFamily="2" charset="-122"/>
                <a:ea typeface="华文新魏" panose="02010800040101010101" pitchFamily="2" charset="-122"/>
              </a:rPr>
              <a:t>inline</a:t>
            </a:r>
            <a:r>
              <a:rPr lang="zh-CN" altLang="en-US" sz="2400" b="1" dirty="0">
                <a:latin typeface="华文新魏" panose="02010800040101010101" pitchFamily="2" charset="-122"/>
                <a:ea typeface="华文新魏" panose="02010800040101010101" pitchFamily="2" charset="-122"/>
              </a:rPr>
              <a:t>、</a:t>
            </a:r>
            <a:r>
              <a:rPr lang="en-US" altLang="zh-CN" sz="2400" b="1" dirty="0">
                <a:latin typeface="华文新魏" panose="02010800040101010101" pitchFamily="2" charset="-122"/>
                <a:ea typeface="华文新魏" panose="02010800040101010101" pitchFamily="2" charset="-122"/>
              </a:rPr>
              <a:t>const</a:t>
            </a:r>
            <a:r>
              <a:rPr lang="zh-CN" altLang="en-US" sz="2400" b="1" dirty="0">
                <a:latin typeface="华文新魏" panose="02010800040101010101" pitchFamily="2" charset="-122"/>
                <a:ea typeface="华文新魏" panose="02010800040101010101" pitchFamily="2" charset="-122"/>
              </a:rPr>
              <a:t>、</a:t>
            </a:r>
            <a:r>
              <a:rPr lang="en-US" altLang="zh-CN" sz="2400" b="1" dirty="0">
                <a:latin typeface="华文新魏" panose="02010800040101010101" pitchFamily="2" charset="-122"/>
                <a:ea typeface="华文新魏" panose="02010800040101010101" pitchFamily="2" charset="-122"/>
              </a:rPr>
              <a:t>volatile</a:t>
            </a:r>
            <a:r>
              <a:rPr lang="zh-CN" altLang="en-US" sz="2400" b="1" dirty="0">
                <a:latin typeface="华文新魏" panose="02010800040101010101" pitchFamily="2" charset="-122"/>
                <a:ea typeface="华文新魏" panose="02010800040101010101" pitchFamily="2" charset="-122"/>
              </a:rPr>
              <a:t>等修饰。</a:t>
            </a:r>
          </a:p>
        </p:txBody>
      </p:sp>
    </p:spTree>
    <p:extLst>
      <p:ext uri="{BB962C8B-B14F-4D97-AF65-F5344CB8AC3E}">
        <p14:creationId xmlns:p14="http://schemas.microsoft.com/office/powerpoint/2010/main" val="7671108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5</a:t>
            </a:r>
            <a:r>
              <a:rPr lang="zh-CN" altLang="en-US" b="1" dirty="0">
                <a:latin typeface="隶书" panose="02010509060101010101" pitchFamily="49" charset="-122"/>
                <a:ea typeface="隶书" panose="02010509060101010101" pitchFamily="49" charset="-122"/>
              </a:rPr>
              <a:t>章 </a:t>
            </a:r>
            <a:r>
              <a:rPr lang="zh-CN" altLang="zh-CN" b="1" dirty="0">
                <a:latin typeface="隶书" panose="02010509060101010101" pitchFamily="49" charset="-122"/>
                <a:ea typeface="隶书" panose="02010509060101010101" pitchFamily="49" charset="-122"/>
              </a:rPr>
              <a:t>成员及成员指针</a:t>
            </a:r>
            <a:endParaRPr lang="zh-CN" altLang="en-US" b="1" dirty="0">
              <a:latin typeface="隶书" panose="02010509060101010101" pitchFamily="49" charset="-122"/>
              <a:ea typeface="隶书" panose="02010509060101010101" pitchFamily="49" charset="-122"/>
            </a:endParaRP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529590" y="1690688"/>
            <a:ext cx="10515600" cy="588119"/>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5.4  </a:t>
            </a:r>
            <a:r>
              <a:rPr lang="zh-CN" altLang="en-US" dirty="0">
                <a:latin typeface="华文新魏" panose="02010800040101010101" pitchFamily="2" charset="-122"/>
                <a:ea typeface="华文新魏" panose="02010800040101010101" pitchFamily="2" charset="-122"/>
              </a:rPr>
              <a:t>静态函数成员</a:t>
            </a:r>
          </a:p>
        </p:txBody>
      </p:sp>
      <p:sp>
        <p:nvSpPr>
          <p:cNvPr id="7" name="文本框 6">
            <a:extLst>
              <a:ext uri="{FF2B5EF4-FFF2-40B4-BE49-F238E27FC236}">
                <a16:creationId xmlns:a16="http://schemas.microsoft.com/office/drawing/2014/main" id="{4ADD8930-7989-4BC5-98A4-CBE44A440045}"/>
              </a:ext>
            </a:extLst>
          </p:cNvPr>
          <p:cNvSpPr txBox="1"/>
          <p:nvPr/>
        </p:nvSpPr>
        <p:spPr>
          <a:xfrm>
            <a:off x="335245" y="2194139"/>
            <a:ext cx="11541563" cy="4247317"/>
          </a:xfrm>
          <a:prstGeom prst="rect">
            <a:avLst/>
          </a:prstGeom>
          <a:noFill/>
        </p:spPr>
        <p:txBody>
          <a:bodyPr wrap="square">
            <a:spAutoFit/>
          </a:bodyPr>
          <a:lstStyle/>
          <a:p>
            <a:pPr indent="269875" algn="just"/>
            <a:r>
              <a:rPr lang="en-US" altLang="zh-CN" sz="1800" kern="100" dirty="0">
                <a:effectLst/>
                <a:latin typeface="华文新魏" panose="02010800040101010101" pitchFamily="2" charset="-122"/>
                <a:ea typeface="华文新魏" panose="02010800040101010101" pitchFamily="2" charset="-122"/>
              </a:rPr>
              <a:t>class A{</a:t>
            </a:r>
            <a:endParaRPr lang="zh-CN" altLang="zh-CN" sz="1800" kern="100" dirty="0">
              <a:effectLst/>
              <a:latin typeface="华文新魏" panose="02010800040101010101" pitchFamily="2" charset="-122"/>
              <a:ea typeface="华文新魏" panose="02010800040101010101" pitchFamily="2" charset="-122"/>
            </a:endParaRPr>
          </a:p>
          <a:p>
            <a:pPr indent="269875" algn="just"/>
            <a:r>
              <a:rPr lang="en-US" altLang="zh-CN" sz="1800" kern="100" dirty="0">
                <a:effectLst/>
                <a:latin typeface="华文新魏" panose="02010800040101010101" pitchFamily="2" charset="-122"/>
                <a:ea typeface="华文新魏" panose="02010800040101010101" pitchFamily="2" charset="-122"/>
              </a:rPr>
              <a:t>    double  </a:t>
            </a:r>
            <a:r>
              <a:rPr lang="en-US" altLang="zh-CN" sz="1800" kern="100" dirty="0" err="1">
                <a:effectLst/>
                <a:latin typeface="华文新魏" panose="02010800040101010101" pitchFamily="2" charset="-122"/>
                <a:ea typeface="华文新魏" panose="02010800040101010101" pitchFamily="2" charset="-122"/>
              </a:rPr>
              <a:t>i</a:t>
            </a:r>
            <a:r>
              <a:rPr lang="en-US" altLang="zh-CN" sz="1800" kern="100" dirty="0">
                <a:effectLst/>
                <a:latin typeface="华文新魏" panose="02010800040101010101" pitchFamily="2" charset="-122"/>
                <a:ea typeface="华文新魏" panose="02010800040101010101" pitchFamily="2" charset="-122"/>
              </a:rPr>
              <a:t>;</a:t>
            </a:r>
          </a:p>
          <a:p>
            <a:pPr indent="269875" algn="just"/>
            <a:r>
              <a:rPr lang="en-US" altLang="zh-CN" kern="100" dirty="0">
                <a:latin typeface="华文新魏" panose="02010800040101010101" pitchFamily="2" charset="-122"/>
                <a:ea typeface="华文新魏" panose="02010800040101010101" pitchFamily="2" charset="-122"/>
              </a:rPr>
              <a:t>    const static int  j=3;</a:t>
            </a:r>
            <a:endParaRPr lang="zh-CN" altLang="zh-CN" sz="1800" kern="100" dirty="0">
              <a:effectLst/>
              <a:latin typeface="华文新魏" panose="02010800040101010101" pitchFamily="2" charset="-122"/>
              <a:ea typeface="华文新魏" panose="02010800040101010101" pitchFamily="2" charset="-122"/>
            </a:endParaRPr>
          </a:p>
          <a:p>
            <a:pPr indent="269875" algn="just"/>
            <a:r>
              <a:rPr lang="en-US" altLang="zh-CN" sz="1800" kern="100" dirty="0">
                <a:effectLst/>
                <a:latin typeface="华文新魏" panose="02010800040101010101" pitchFamily="2" charset="-122"/>
                <a:ea typeface="华文新魏" panose="02010800040101010101" pitchFamily="2" charset="-122"/>
              </a:rPr>
              <a:t>public:</a:t>
            </a:r>
            <a:endParaRPr lang="zh-CN" altLang="zh-CN" sz="1800" kern="100" dirty="0">
              <a:effectLst/>
              <a:latin typeface="华文新魏" panose="02010800040101010101" pitchFamily="2" charset="-122"/>
              <a:ea typeface="华文新魏" panose="02010800040101010101" pitchFamily="2" charset="-122"/>
            </a:endParaRPr>
          </a:p>
          <a:p>
            <a:pPr indent="269875" algn="just"/>
            <a:r>
              <a:rPr lang="en-US" altLang="zh-CN" sz="1800" kern="100" dirty="0">
                <a:effectLst/>
                <a:latin typeface="华文新魏" panose="02010800040101010101" pitchFamily="2" charset="-122"/>
                <a:ea typeface="华文新魏" panose="02010800040101010101" pitchFamily="2" charset="-122"/>
              </a:rPr>
              <a:t>    static A&amp; </a:t>
            </a:r>
            <a:r>
              <a:rPr lang="en-US" altLang="zh-CN" sz="1800" kern="100" dirty="0" err="1">
                <a:effectLst/>
                <a:latin typeface="华文新魏" panose="02010800040101010101" pitchFamily="2" charset="-122"/>
                <a:ea typeface="华文新魏" panose="02010800040101010101" pitchFamily="2" charset="-122"/>
              </a:rPr>
              <a:t>inc</a:t>
            </a:r>
            <a:r>
              <a:rPr lang="en-US" altLang="zh-CN" sz="1800" kern="100" dirty="0">
                <a:effectLst/>
                <a:latin typeface="华文新魏" panose="02010800040101010101" pitchFamily="2" charset="-122"/>
                <a:ea typeface="华文新魏" panose="02010800040101010101" pitchFamily="2" charset="-122"/>
              </a:rPr>
              <a:t>(A &amp;);	//</a:t>
            </a:r>
            <a:r>
              <a:rPr lang="zh-CN" altLang="zh-CN" sz="1800" kern="100" dirty="0">
                <a:effectLst/>
                <a:latin typeface="华文新魏" panose="02010800040101010101" pitchFamily="2" charset="-122"/>
                <a:ea typeface="华文新魏" panose="02010800040101010101" pitchFamily="2" charset="-122"/>
              </a:rPr>
              <a:t>说明静态函数成员</a:t>
            </a:r>
          </a:p>
          <a:p>
            <a:pPr indent="269875" algn="just"/>
            <a:r>
              <a:rPr lang="en-US" altLang="zh-CN" kern="100" dirty="0">
                <a:latin typeface="华文新魏" panose="02010800040101010101" pitchFamily="2" charset="-122"/>
                <a:ea typeface="华文新魏" panose="02010800040101010101" pitchFamily="2" charset="-122"/>
              </a:rPr>
              <a:t>    static A&amp; </a:t>
            </a:r>
            <a:r>
              <a:rPr lang="en-US" altLang="zh-CN" kern="100" dirty="0" err="1">
                <a:latin typeface="华文新魏" panose="02010800040101010101" pitchFamily="2" charset="-122"/>
                <a:ea typeface="华文新魏" panose="02010800040101010101" pitchFamily="2" charset="-122"/>
              </a:rPr>
              <a:t>dec</a:t>
            </a:r>
            <a:r>
              <a:rPr lang="en-US" altLang="zh-CN" kern="100" dirty="0">
                <a:latin typeface="华文新魏" panose="02010800040101010101" pitchFamily="2" charset="-122"/>
                <a:ea typeface="华文新魏" panose="02010800040101010101" pitchFamily="2" charset="-122"/>
              </a:rPr>
              <a:t>(A &amp;a){	//</a:t>
            </a:r>
            <a:r>
              <a:rPr lang="zh-CN" altLang="zh-CN" kern="100" dirty="0">
                <a:latin typeface="华文新魏" panose="02010800040101010101" pitchFamily="2" charset="-122"/>
                <a:ea typeface="华文新魏" panose="02010800040101010101" pitchFamily="2" charset="-122"/>
              </a:rPr>
              <a:t>在内体内定义静态函数成员：</a:t>
            </a:r>
            <a:r>
              <a:rPr lang="zh-CN" altLang="en-US" kern="100" dirty="0">
                <a:latin typeface="华文新魏" panose="02010800040101010101" pitchFamily="2" charset="-122"/>
                <a:ea typeface="华文新魏" panose="02010800040101010101" pitchFamily="2" charset="-122"/>
              </a:rPr>
              <a:t>自动</a:t>
            </a:r>
            <a:r>
              <a:rPr lang="en-US" altLang="zh-CN" kern="100" dirty="0">
                <a:latin typeface="华文新魏" panose="02010800040101010101" pitchFamily="2" charset="-122"/>
                <a:ea typeface="华文新魏" panose="02010800040101010101" pitchFamily="2" charset="-122"/>
              </a:rPr>
              <a:t>inline</a:t>
            </a:r>
            <a:endParaRPr lang="zh-CN" altLang="zh-CN" kern="100" dirty="0">
              <a:latin typeface="华文新魏" panose="02010800040101010101" pitchFamily="2" charset="-122"/>
              <a:ea typeface="华文新魏" panose="02010800040101010101" pitchFamily="2" charset="-122"/>
            </a:endParaRPr>
          </a:p>
          <a:p>
            <a:pPr marL="530225" indent="269875" algn="just"/>
            <a:r>
              <a:rPr lang="en-US" altLang="zh-CN" sz="1800" kern="100" dirty="0" err="1">
                <a:effectLst/>
                <a:latin typeface="华文新魏" panose="02010800040101010101" pitchFamily="2" charset="-122"/>
                <a:ea typeface="华文新魏" panose="02010800040101010101" pitchFamily="2" charset="-122"/>
              </a:rPr>
              <a:t>a.i</a:t>
            </a:r>
            <a:r>
              <a:rPr lang="en-US" altLang="zh-CN" sz="1800" kern="100" dirty="0">
                <a:effectLst/>
                <a:latin typeface="华文新魏" panose="02010800040101010101" pitchFamily="2" charset="-122"/>
                <a:ea typeface="华文新魏" panose="02010800040101010101" pitchFamily="2" charset="-122"/>
              </a:rPr>
              <a:t>=</a:t>
            </a:r>
            <a:r>
              <a:rPr lang="en-US" altLang="zh-CN" sz="1800" kern="100" dirty="0" err="1">
                <a:effectLst/>
                <a:latin typeface="华文新魏" panose="02010800040101010101" pitchFamily="2" charset="-122"/>
                <a:ea typeface="华文新魏" panose="02010800040101010101" pitchFamily="2" charset="-122"/>
              </a:rPr>
              <a:t>a.i</a:t>
            </a:r>
            <a:r>
              <a:rPr lang="en-US" altLang="zh-CN" sz="1800" kern="100" dirty="0">
                <a:effectLst/>
                <a:latin typeface="华文新魏" panose="02010800040101010101" pitchFamily="2" charset="-122"/>
                <a:ea typeface="华文新魏" panose="02010800040101010101" pitchFamily="2" charset="-122"/>
              </a:rPr>
              <a:t>-A::j;</a:t>
            </a:r>
            <a:endParaRPr lang="zh-CN" altLang="zh-CN" sz="1800" kern="100" dirty="0">
              <a:effectLst/>
              <a:latin typeface="华文新魏" panose="02010800040101010101" pitchFamily="2" charset="-122"/>
              <a:ea typeface="华文新魏" panose="02010800040101010101" pitchFamily="2" charset="-122"/>
            </a:endParaRPr>
          </a:p>
          <a:p>
            <a:pPr indent="269875" algn="just"/>
            <a:r>
              <a:rPr lang="en-US" altLang="zh-CN" sz="1800" kern="100" dirty="0">
                <a:effectLst/>
                <a:latin typeface="华文新魏" panose="02010800040101010101" pitchFamily="2" charset="-122"/>
                <a:ea typeface="华文新魏" panose="02010800040101010101" pitchFamily="2" charset="-122"/>
              </a:rPr>
              <a:t>         return a;</a:t>
            </a:r>
            <a:endParaRPr lang="zh-CN" altLang="zh-CN" sz="1800" kern="100" dirty="0">
              <a:effectLst/>
              <a:latin typeface="华文新魏" panose="02010800040101010101" pitchFamily="2" charset="-122"/>
              <a:ea typeface="华文新魏" panose="02010800040101010101" pitchFamily="2" charset="-122"/>
            </a:endParaRPr>
          </a:p>
          <a:p>
            <a:pPr marL="263525" indent="269875" algn="just"/>
            <a:r>
              <a:rPr lang="en-US" altLang="zh-CN" sz="1800" kern="100" dirty="0">
                <a:effectLst/>
                <a:latin typeface="华文新魏" panose="02010800040101010101" pitchFamily="2" charset="-122"/>
                <a:ea typeface="华文新魏" panose="02010800040101010101" pitchFamily="2" charset="-122"/>
              </a:rPr>
              <a:t>}</a:t>
            </a:r>
            <a:endParaRPr lang="zh-CN" altLang="zh-CN" sz="1800" kern="100" dirty="0">
              <a:effectLst/>
              <a:latin typeface="华文新魏" panose="02010800040101010101" pitchFamily="2" charset="-122"/>
              <a:ea typeface="华文新魏" panose="02010800040101010101" pitchFamily="2" charset="-122"/>
            </a:endParaRPr>
          </a:p>
          <a:p>
            <a:pPr indent="269875" algn="just"/>
            <a:r>
              <a:rPr lang="en-US" altLang="zh-CN" sz="1800" kern="100" dirty="0">
                <a:effectLst/>
                <a:latin typeface="华文新魏" panose="02010800040101010101" pitchFamily="2" charset="-122"/>
                <a:ea typeface="华文新魏" panose="02010800040101010101" pitchFamily="2" charset="-122"/>
              </a:rPr>
              <a:t>};</a:t>
            </a:r>
            <a:endParaRPr lang="zh-CN" altLang="zh-CN" sz="1800" kern="100" dirty="0">
              <a:effectLst/>
              <a:latin typeface="华文新魏" panose="02010800040101010101" pitchFamily="2" charset="-122"/>
              <a:ea typeface="华文新魏" panose="02010800040101010101" pitchFamily="2" charset="-122"/>
            </a:endParaRPr>
          </a:p>
          <a:p>
            <a:pPr indent="269875" algn="just"/>
            <a:r>
              <a:rPr lang="en-US" altLang="zh-CN" sz="1800" kern="100" dirty="0">
                <a:effectLst/>
                <a:latin typeface="华文新魏" panose="02010800040101010101" pitchFamily="2" charset="-122"/>
                <a:ea typeface="华文新魏" panose="02010800040101010101" pitchFamily="2" charset="-122"/>
              </a:rPr>
              <a:t>A&amp; A::inc(A&amp;a){ 	//</a:t>
            </a:r>
            <a:r>
              <a:rPr lang="zh-CN" altLang="zh-CN" sz="1800" kern="100" dirty="0">
                <a:effectLst/>
                <a:latin typeface="华文新魏" panose="02010800040101010101" pitchFamily="2" charset="-122"/>
                <a:ea typeface="华文新魏" panose="02010800040101010101" pitchFamily="2" charset="-122"/>
              </a:rPr>
              <a:t>不能定义</a:t>
            </a:r>
            <a:r>
              <a:rPr lang="en-US" altLang="zh-CN" sz="1800" kern="100" dirty="0">
                <a:effectLst/>
                <a:latin typeface="华文新魏" panose="02010800040101010101" pitchFamily="2" charset="-122"/>
                <a:ea typeface="华文新魏" panose="02010800040101010101" pitchFamily="2" charset="-122"/>
              </a:rPr>
              <a:t>static  A&amp; A::inc(A&amp;a)</a:t>
            </a:r>
            <a:endParaRPr lang="zh-CN" altLang="zh-CN" sz="1800" kern="100" dirty="0">
              <a:effectLst/>
              <a:latin typeface="华文新魏" panose="02010800040101010101" pitchFamily="2" charset="-122"/>
              <a:ea typeface="华文新魏" panose="02010800040101010101" pitchFamily="2" charset="-122"/>
            </a:endParaRPr>
          </a:p>
          <a:p>
            <a:pPr indent="269875" algn="just"/>
            <a:r>
              <a:rPr lang="en-US" altLang="zh-CN" kern="100" dirty="0">
                <a:latin typeface="华文新魏" panose="02010800040101010101" pitchFamily="2" charset="-122"/>
                <a:ea typeface="华文新魏" panose="02010800040101010101" pitchFamily="2" charset="-122"/>
              </a:rPr>
              <a:t>    </a:t>
            </a:r>
            <a:r>
              <a:rPr lang="en-US" altLang="zh-CN" kern="100" dirty="0" err="1">
                <a:latin typeface="华文新魏" panose="02010800040101010101" pitchFamily="2" charset="-122"/>
                <a:ea typeface="华文新魏" panose="02010800040101010101" pitchFamily="2" charset="-122"/>
              </a:rPr>
              <a:t>a.i</a:t>
            </a:r>
            <a:r>
              <a:rPr lang="en-US" altLang="zh-CN" kern="100" dirty="0">
                <a:latin typeface="华文新魏" panose="02010800040101010101" pitchFamily="2" charset="-122"/>
                <a:ea typeface="华文新魏" panose="02010800040101010101" pitchFamily="2" charset="-122"/>
              </a:rPr>
              <a:t>+=A::j;		//</a:t>
            </a:r>
            <a:r>
              <a:rPr lang="zh-CN" altLang="en-US" kern="100" dirty="0">
                <a:latin typeface="华文新魏" panose="02010800040101010101" pitchFamily="2" charset="-122"/>
                <a:ea typeface="华文新魏" panose="02010800040101010101" pitchFamily="2" charset="-122"/>
              </a:rPr>
              <a:t>静态函数可访问静态数据成员，</a:t>
            </a:r>
            <a:r>
              <a:rPr lang="zh-CN" altLang="en-US" kern="100" dirty="0">
                <a:solidFill>
                  <a:srgbClr val="FF0000"/>
                </a:solidFill>
                <a:latin typeface="华文新魏" panose="02010800040101010101" pitchFamily="2" charset="-122"/>
                <a:ea typeface="华文新魏" panose="02010800040101010101" pitchFamily="2" charset="-122"/>
              </a:rPr>
              <a:t>但不能访问实例成员</a:t>
            </a:r>
            <a:r>
              <a:rPr lang="en-US" altLang="zh-CN" kern="100" dirty="0">
                <a:solidFill>
                  <a:srgbClr val="FF0000"/>
                </a:solidFill>
                <a:latin typeface="华文新魏" panose="02010800040101010101" pitchFamily="2" charset="-122"/>
                <a:ea typeface="华文新魏" panose="02010800040101010101" pitchFamily="2" charset="-122"/>
              </a:rPr>
              <a:t>this-&gt;i</a:t>
            </a:r>
            <a:r>
              <a:rPr lang="zh-CN" altLang="en-US" kern="100" dirty="0">
                <a:solidFill>
                  <a:srgbClr val="FF0000"/>
                </a:solidFill>
                <a:latin typeface="华文新魏" panose="02010800040101010101" pitchFamily="2" charset="-122"/>
                <a:ea typeface="华文新魏" panose="02010800040101010101" pitchFamily="2" charset="-122"/>
              </a:rPr>
              <a:t>，但可以访问</a:t>
            </a:r>
            <a:r>
              <a:rPr lang="en-US" altLang="zh-CN" kern="100" dirty="0" err="1">
                <a:solidFill>
                  <a:srgbClr val="FF0000"/>
                </a:solidFill>
                <a:latin typeface="华文新魏" panose="02010800040101010101" pitchFamily="2" charset="-122"/>
                <a:ea typeface="华文新魏" panose="02010800040101010101" pitchFamily="2" charset="-122"/>
              </a:rPr>
              <a:t>a.i</a:t>
            </a:r>
            <a:r>
              <a:rPr lang="zh-CN" altLang="en-US" kern="100" dirty="0">
                <a:solidFill>
                  <a:srgbClr val="FF0000"/>
                </a:solidFill>
                <a:latin typeface="华文新魏" panose="02010800040101010101" pitchFamily="2" charset="-122"/>
                <a:ea typeface="华文新魏" panose="02010800040101010101" pitchFamily="2" charset="-122"/>
              </a:rPr>
              <a:t>（另外一个已构造好的对象）</a:t>
            </a:r>
            <a:endParaRPr lang="zh-CN" altLang="zh-CN" kern="100" dirty="0">
              <a:solidFill>
                <a:srgbClr val="FF0000"/>
              </a:solidFill>
              <a:latin typeface="华文新魏" panose="02010800040101010101" pitchFamily="2" charset="-122"/>
              <a:ea typeface="华文新魏" panose="02010800040101010101" pitchFamily="2" charset="-122"/>
            </a:endParaRPr>
          </a:p>
          <a:p>
            <a:pPr indent="269875" algn="just"/>
            <a:r>
              <a:rPr lang="en-US" altLang="zh-CN" kern="100" dirty="0">
                <a:latin typeface="华文新魏" panose="02010800040101010101" pitchFamily="2" charset="-122"/>
                <a:ea typeface="华文新魏" panose="02010800040101010101" pitchFamily="2" charset="-122"/>
              </a:rPr>
              <a:t>    return a;</a:t>
            </a:r>
            <a:endParaRPr lang="zh-CN" altLang="zh-CN" kern="100" dirty="0">
              <a:latin typeface="华文新魏" panose="02010800040101010101" pitchFamily="2" charset="-122"/>
              <a:ea typeface="华文新魏" panose="02010800040101010101" pitchFamily="2" charset="-122"/>
            </a:endParaRPr>
          </a:p>
          <a:p>
            <a:pPr indent="269875" algn="just"/>
            <a:r>
              <a:rPr lang="en-US" altLang="zh-CN" sz="1800" kern="100" dirty="0">
                <a:effectLst/>
                <a:latin typeface="华文新魏" panose="02010800040101010101" pitchFamily="2" charset="-122"/>
                <a:ea typeface="华文新魏" panose="02010800040101010101" pitchFamily="2" charset="-122"/>
              </a:rPr>
              <a:t>}</a:t>
            </a:r>
            <a:endParaRPr lang="zh-CN" altLang="zh-CN" sz="1800" kern="100" dirty="0">
              <a:effectLst/>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7368477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5</a:t>
            </a:r>
            <a:r>
              <a:rPr lang="zh-CN" altLang="en-US" b="1" dirty="0">
                <a:latin typeface="隶书" panose="02010509060101010101" pitchFamily="49" charset="-122"/>
                <a:ea typeface="隶书" panose="02010509060101010101" pitchFamily="49" charset="-122"/>
              </a:rPr>
              <a:t>章 </a:t>
            </a:r>
            <a:r>
              <a:rPr lang="zh-CN" altLang="zh-CN" b="1" dirty="0">
                <a:latin typeface="隶书" panose="02010509060101010101" pitchFamily="49" charset="-122"/>
                <a:ea typeface="隶书" panose="02010509060101010101" pitchFamily="49" charset="-122"/>
              </a:rPr>
              <a:t>成员及成员指针</a:t>
            </a:r>
            <a:endParaRPr lang="zh-CN" altLang="en-US" b="1" dirty="0">
              <a:latin typeface="隶书" panose="02010509060101010101" pitchFamily="49" charset="-122"/>
              <a:ea typeface="隶书" panose="02010509060101010101" pitchFamily="49" charset="-122"/>
            </a:endParaRP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838200" y="1825625"/>
            <a:ext cx="10515600" cy="588119"/>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5.5  </a:t>
            </a:r>
            <a:r>
              <a:rPr lang="zh-CN" altLang="en-US" dirty="0">
                <a:latin typeface="华文新魏" panose="02010800040101010101" pitchFamily="2" charset="-122"/>
                <a:ea typeface="华文新魏" panose="02010800040101010101" pitchFamily="2" charset="-122"/>
              </a:rPr>
              <a:t>静态成员指针</a:t>
            </a: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0930295" cy="2943883"/>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静态成员指针是指向类的静态成员的指针，包括静态数据成员指针和静态函数成员指针。</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静态数据成员的存储单元为该类所有的对象共享，因此，通过该指针修改成员的值时会影响到所有对象该成员的值。  </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静态数据成员和静态函数成员除了具有访问权限外，同普通变量</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普通函数没有本质区别；</a:t>
            </a:r>
            <a:r>
              <a:rPr lang="zh-CN" altLang="en-US" sz="2400" b="1" dirty="0">
                <a:solidFill>
                  <a:srgbClr val="FF0000"/>
                </a:solidFill>
                <a:latin typeface="华文新魏" panose="02010800040101010101" pitchFamily="2" charset="-122"/>
                <a:ea typeface="华文新魏" panose="02010800040101010101" pitchFamily="2" charset="-122"/>
              </a:rPr>
              <a:t>静态成员指针则和普通指针没有任何区别。</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变量、数据成员、普通函数和函数成员的参数和返回值都可以定义成静态成员指针。</a:t>
            </a:r>
          </a:p>
        </p:txBody>
      </p:sp>
    </p:spTree>
    <p:extLst>
      <p:ext uri="{BB962C8B-B14F-4D97-AF65-F5344CB8AC3E}">
        <p14:creationId xmlns:p14="http://schemas.microsoft.com/office/powerpoint/2010/main" val="20385457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灯片编号占位符 5"/>
          <p:cNvSpPr>
            <a:spLocks noGrp="1"/>
          </p:cNvSpPr>
          <p:nvPr>
            <p:ph type="sldNum" sz="quarter" idx="12"/>
          </p:nvPr>
        </p:nvSpPr>
        <p:spPr>
          <a:noFill/>
        </p:spPr>
        <p:txBody>
          <a:bodyPr/>
          <a:lstStyle/>
          <a:p>
            <a:fld id="{E3F6E04B-4260-43B4-A847-999A4D57479A}" type="slidenum">
              <a:rPr lang="en-US" altLang="zh-CN" smtClean="0"/>
              <a:pPr/>
              <a:t>32</a:t>
            </a:fld>
            <a:endParaRPr lang="en-US" altLang="zh-CN"/>
          </a:p>
        </p:txBody>
      </p:sp>
      <p:sp>
        <p:nvSpPr>
          <p:cNvPr id="150531" name="Rectangle 2"/>
          <p:cNvSpPr>
            <a:spLocks noGrp="1" noChangeArrowheads="1"/>
          </p:cNvSpPr>
          <p:nvPr>
            <p:ph type="title"/>
          </p:nvPr>
        </p:nvSpPr>
        <p:spPr>
          <a:xfrm>
            <a:off x="2057400" y="304800"/>
            <a:ext cx="7772400" cy="685800"/>
          </a:xfrm>
        </p:spPr>
        <p:txBody>
          <a:bodyPr/>
          <a:lstStyle/>
          <a:p>
            <a:pPr algn="l" eaLnBrk="1" hangingPunct="1"/>
            <a:r>
              <a:rPr lang="zh-CN" altLang="en-US" sz="3600" b="1" dirty="0">
                <a:solidFill>
                  <a:srgbClr val="FF0000"/>
                </a:solidFill>
                <a:latin typeface="微软雅黑" panose="020B0503020204020204" pitchFamily="34" charset="-122"/>
                <a:ea typeface="微软雅黑" panose="020B0503020204020204" pitchFamily="34" charset="-122"/>
              </a:rPr>
              <a:t>静态成员指针</a:t>
            </a:r>
          </a:p>
        </p:txBody>
      </p:sp>
      <p:sp>
        <p:nvSpPr>
          <p:cNvPr id="150532" name="Rectangle 3"/>
          <p:cNvSpPr>
            <a:spLocks noGrp="1" noChangeArrowheads="1"/>
          </p:cNvSpPr>
          <p:nvPr>
            <p:ph type="body" idx="1"/>
          </p:nvPr>
        </p:nvSpPr>
        <p:spPr>
          <a:xfrm>
            <a:off x="1919288" y="1052513"/>
            <a:ext cx="8280400" cy="5562600"/>
          </a:xfrm>
        </p:spPr>
        <p:txBody>
          <a:bodyPr/>
          <a:lstStyle/>
          <a:p>
            <a:pPr marL="0" indent="0" algn="just">
              <a:lnSpc>
                <a:spcPct val="130000"/>
              </a:lnSpc>
              <a:buClr>
                <a:schemeClr val="tx2"/>
              </a:buClr>
              <a:buNone/>
            </a:pPr>
            <a:r>
              <a:rPr lang="en-US" altLang="zh-CN" sz="4400" b="1" dirty="0"/>
              <a:t>	</a:t>
            </a:r>
            <a:r>
              <a:rPr lang="zh-CN" altLang="en-US" sz="4400" b="1" dirty="0">
                <a:solidFill>
                  <a:srgbClr val="FF0000"/>
                </a:solidFill>
                <a:latin typeface="华文新魏" panose="02010800040101010101" pitchFamily="2" charset="-122"/>
                <a:ea typeface="华文新魏" panose="02010800040101010101" pitchFamily="2" charset="-122"/>
              </a:rPr>
              <a:t>静态成员指针（不管指向静态数据成员还是指向静态函数成员）就是普通指针，因此如果申明指向类的静态成员的指针，就用普通指针。</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5</a:t>
            </a:r>
            <a:r>
              <a:rPr lang="zh-CN" altLang="en-US" b="1" dirty="0">
                <a:latin typeface="隶书" panose="02010509060101010101" pitchFamily="49" charset="-122"/>
                <a:ea typeface="隶书" panose="02010509060101010101" pitchFamily="49" charset="-122"/>
              </a:rPr>
              <a:t>章 </a:t>
            </a:r>
            <a:r>
              <a:rPr lang="zh-CN" altLang="zh-CN" b="1" dirty="0">
                <a:latin typeface="隶书" panose="02010509060101010101" pitchFamily="49" charset="-122"/>
                <a:ea typeface="隶书" panose="02010509060101010101" pitchFamily="49" charset="-122"/>
              </a:rPr>
              <a:t>成员及成员指针</a:t>
            </a:r>
            <a:endParaRPr lang="zh-CN" altLang="en-US" b="1" dirty="0">
              <a:latin typeface="隶书" panose="02010509060101010101" pitchFamily="49" charset="-122"/>
              <a:ea typeface="隶书" panose="02010509060101010101" pitchFamily="49" charset="-122"/>
            </a:endParaRP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472440" y="1396628"/>
            <a:ext cx="10515600" cy="588119"/>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5.5  </a:t>
            </a:r>
            <a:r>
              <a:rPr lang="zh-CN" altLang="en-US" dirty="0">
                <a:latin typeface="华文新魏" panose="02010800040101010101" pitchFamily="2" charset="-122"/>
                <a:ea typeface="华文新魏" panose="02010800040101010101" pitchFamily="2" charset="-122"/>
              </a:rPr>
              <a:t>静态成员指针</a:t>
            </a:r>
          </a:p>
        </p:txBody>
      </p:sp>
      <p:sp>
        <p:nvSpPr>
          <p:cNvPr id="7" name="Rectangle 3">
            <a:extLst>
              <a:ext uri="{FF2B5EF4-FFF2-40B4-BE49-F238E27FC236}">
                <a16:creationId xmlns:a16="http://schemas.microsoft.com/office/drawing/2014/main" id="{BF500BCA-FF77-42BF-8191-A3E39FE62077}"/>
              </a:ext>
            </a:extLst>
          </p:cNvPr>
          <p:cNvSpPr txBox="1">
            <a:spLocks noChangeArrowheads="1"/>
          </p:cNvSpPr>
          <p:nvPr/>
        </p:nvSpPr>
        <p:spPr>
          <a:xfrm>
            <a:off x="504597" y="2203823"/>
            <a:ext cx="3886201" cy="37931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5000"/>
              </a:spcBef>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#include &lt;iostream&gt;</a:t>
            </a:r>
          </a:p>
          <a:p>
            <a:pPr>
              <a:spcBef>
                <a:spcPct val="5000"/>
              </a:spcBef>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using namespace std;</a:t>
            </a:r>
          </a:p>
          <a:p>
            <a:pPr>
              <a:spcBef>
                <a:spcPct val="5000"/>
              </a:spcBef>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class  CROWD{</a:t>
            </a:r>
          </a:p>
          <a:p>
            <a:pPr>
              <a:spcBef>
                <a:spcPct val="5000"/>
              </a:spcBef>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int    age;</a:t>
            </a:r>
          </a:p>
          <a:p>
            <a:pPr>
              <a:spcBef>
                <a:spcPct val="5000"/>
              </a:spcBef>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char   name[20];</a:t>
            </a:r>
          </a:p>
          <a:p>
            <a:pPr>
              <a:spcBef>
                <a:spcPct val="5000"/>
              </a:spcBef>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public:</a:t>
            </a:r>
          </a:p>
          <a:p>
            <a:pPr>
              <a:spcBef>
                <a:spcPct val="5000"/>
              </a:spcBef>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static</a:t>
            </a:r>
            <a:r>
              <a:rPr lang="en-US" altLang="zh-CN" sz="1800" b="1" dirty="0">
                <a:latin typeface="华文新魏" panose="02010800040101010101" pitchFamily="2" charset="-122"/>
                <a:ea typeface="华文新魏" panose="02010800040101010101" pitchFamily="2" charset="-122"/>
              </a:rPr>
              <a:t> int number;</a:t>
            </a:r>
          </a:p>
          <a:p>
            <a:pPr>
              <a:spcBef>
                <a:spcPct val="5000"/>
              </a:spcBef>
              <a:buNone/>
            </a:pPr>
            <a:r>
              <a:rPr lang="en-US" altLang="zh-CN" sz="1800" b="1" dirty="0">
                <a:latin typeface="华文新魏" panose="02010800040101010101" pitchFamily="2" charset="-122"/>
                <a:ea typeface="华文新魏" panose="02010800040101010101"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static</a:t>
            </a:r>
            <a:r>
              <a:rPr lang="en-US" altLang="zh-CN" sz="1800" b="1" dirty="0">
                <a:latin typeface="华文新魏" panose="02010800040101010101" pitchFamily="2" charset="-122"/>
                <a:ea typeface="华文新魏" panose="02010800040101010101" pitchFamily="2" charset="-122"/>
              </a:rPr>
              <a:t> int </a:t>
            </a:r>
            <a:r>
              <a:rPr lang="en-US" altLang="zh-CN" sz="1800" b="1" dirty="0" err="1">
                <a:latin typeface="华文新魏" panose="02010800040101010101" pitchFamily="2" charset="-122"/>
                <a:ea typeface="华文新魏" panose="02010800040101010101" pitchFamily="2" charset="-122"/>
              </a:rPr>
              <a:t>getn</a:t>
            </a:r>
            <a:r>
              <a:rPr lang="en-US" altLang="zh-CN" sz="1800" b="1" dirty="0">
                <a:latin typeface="华文新魏" panose="02010800040101010101" pitchFamily="2" charset="-122"/>
                <a:ea typeface="华文新魏" panose="02010800040101010101" pitchFamily="2" charset="-122"/>
              </a:rPr>
              <a:t>( ) { return </a:t>
            </a:r>
            <a:r>
              <a:rPr lang="en-US" altLang="zh-CN" sz="1800" b="1" dirty="0">
                <a:solidFill>
                  <a:srgbClr val="FF0000"/>
                </a:solidFill>
                <a:latin typeface="华文新魏" panose="02010800040101010101" pitchFamily="2" charset="-122"/>
                <a:ea typeface="华文新魏" panose="02010800040101010101" pitchFamily="2" charset="-122"/>
              </a:rPr>
              <a:t>number</a:t>
            </a:r>
            <a:r>
              <a:rPr lang="en-US" altLang="zh-CN" sz="1800" b="1" dirty="0">
                <a:latin typeface="华文新魏" panose="02010800040101010101" pitchFamily="2" charset="-122"/>
                <a:ea typeface="华文新魏" panose="02010800040101010101" pitchFamily="2" charset="-122"/>
              </a:rPr>
              <a:t>;}</a:t>
            </a:r>
          </a:p>
          <a:p>
            <a:pPr>
              <a:spcBef>
                <a:spcPct val="5000"/>
              </a:spcBef>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CROWD(char *n, int a){</a:t>
            </a:r>
          </a:p>
          <a:p>
            <a:pPr>
              <a:spcBef>
                <a:spcPct val="5000"/>
              </a:spcBef>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a:t>
            </a:r>
            <a:r>
              <a:rPr lang="en-US" altLang="zh-CN" sz="1800" b="1" dirty="0" err="1">
                <a:latin typeface="华文新魏" panose="02010800040101010101" pitchFamily="2" charset="-122"/>
                <a:ea typeface="华文新魏" panose="02010800040101010101" pitchFamily="2" charset="-122"/>
              </a:rPr>
              <a:t>strcpy</a:t>
            </a:r>
            <a:r>
              <a:rPr lang="en-US" altLang="zh-CN" sz="1800" b="1" dirty="0">
                <a:latin typeface="华文新魏" panose="02010800040101010101" pitchFamily="2" charset="-122"/>
                <a:ea typeface="华文新魏" panose="02010800040101010101" pitchFamily="2" charset="-122"/>
              </a:rPr>
              <a:t>(</a:t>
            </a:r>
            <a:r>
              <a:rPr lang="en-US" altLang="zh-CN" sz="1800" b="1" dirty="0" err="1">
                <a:latin typeface="华文新魏" panose="02010800040101010101" pitchFamily="2" charset="-122"/>
                <a:ea typeface="华文新魏" panose="02010800040101010101" pitchFamily="2" charset="-122"/>
              </a:rPr>
              <a:t>name,n</a:t>
            </a:r>
            <a:r>
              <a:rPr lang="en-US" altLang="zh-CN" sz="1800" b="1" dirty="0">
                <a:latin typeface="华文新魏" panose="02010800040101010101" pitchFamily="2" charset="-122"/>
                <a:ea typeface="华文新魏" panose="02010800040101010101" pitchFamily="2" charset="-122"/>
              </a:rPr>
              <a:t>);</a:t>
            </a:r>
          </a:p>
          <a:p>
            <a:pPr>
              <a:spcBef>
                <a:spcPct val="5000"/>
              </a:spcBef>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age=a;   </a:t>
            </a:r>
            <a:r>
              <a:rPr lang="en-US" altLang="zh-CN" sz="1800" b="1" dirty="0">
                <a:solidFill>
                  <a:srgbClr val="FF0000"/>
                </a:solidFill>
                <a:latin typeface="华文新魏" panose="02010800040101010101" pitchFamily="2" charset="-122"/>
                <a:ea typeface="华文新魏" panose="02010800040101010101" pitchFamily="2" charset="-122"/>
              </a:rPr>
              <a:t>number++;</a:t>
            </a:r>
          </a:p>
          <a:p>
            <a:pPr>
              <a:spcBef>
                <a:spcPct val="5000"/>
              </a:spcBef>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a:t>
            </a:r>
          </a:p>
          <a:p>
            <a:pPr>
              <a:spcBef>
                <a:spcPct val="5000"/>
              </a:spcBef>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~CROWD( ) { number – –; }</a:t>
            </a:r>
          </a:p>
          <a:p>
            <a:pPr>
              <a:spcBef>
                <a:spcPct val="5000"/>
              </a:spcBef>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a:t>
            </a:r>
          </a:p>
        </p:txBody>
      </p:sp>
      <p:sp>
        <p:nvSpPr>
          <p:cNvPr id="8" name="Rectangle 4">
            <a:extLst>
              <a:ext uri="{FF2B5EF4-FFF2-40B4-BE49-F238E27FC236}">
                <a16:creationId xmlns:a16="http://schemas.microsoft.com/office/drawing/2014/main" id="{30F0F799-4B66-41A6-81E2-462DEA71A80E}"/>
              </a:ext>
            </a:extLst>
          </p:cNvPr>
          <p:cNvSpPr txBox="1">
            <a:spLocks noChangeArrowheads="1"/>
          </p:cNvSpPr>
          <p:nvPr/>
        </p:nvSpPr>
        <p:spPr>
          <a:xfrm>
            <a:off x="4676023" y="2203822"/>
            <a:ext cx="7163777" cy="370086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10000"/>
              </a:spcBef>
              <a:buFont typeface="Wingdings" panose="05000000000000000000" pitchFamily="2" charset="2"/>
              <a:buNone/>
            </a:pPr>
            <a:r>
              <a:rPr lang="en-US" altLang="zh-CN" sz="1800" b="1" dirty="0">
                <a:solidFill>
                  <a:schemeClr val="hlink"/>
                </a:solidFill>
                <a:latin typeface="华文新魏" panose="02010800040101010101" pitchFamily="2" charset="-122"/>
                <a:ea typeface="华文新魏" panose="02010800040101010101" pitchFamily="2" charset="-122"/>
              </a:rPr>
              <a:t>int CROWD::number=0;</a:t>
            </a:r>
          </a:p>
          <a:p>
            <a:pPr>
              <a:spcBef>
                <a:spcPct val="10000"/>
              </a:spcBef>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void main(void){</a:t>
            </a:r>
          </a:p>
          <a:p>
            <a:pPr>
              <a:spcBef>
                <a:spcPct val="10000"/>
              </a:spcBef>
              <a:buNone/>
            </a:pPr>
            <a:r>
              <a:rPr lang="en-US" altLang="zh-CN" sz="1800" b="1" dirty="0">
                <a:latin typeface="华文新魏" panose="02010800040101010101" pitchFamily="2" charset="-122"/>
                <a:ea typeface="华文新魏" panose="02010800040101010101"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int *</a:t>
            </a:r>
            <a:r>
              <a:rPr lang="en-US" altLang="zh-CN" sz="1800" b="1" dirty="0">
                <a:latin typeface="华文新魏" panose="02010800040101010101" pitchFamily="2" charset="-122"/>
                <a:ea typeface="华文新魏" panose="02010800040101010101" pitchFamily="2" charset="-122"/>
              </a:rPr>
              <a:t>d=&amp;CROWD::number;</a:t>
            </a:r>
            <a:r>
              <a:rPr lang="en-US" altLang="zh-CN" sz="1800" b="1" dirty="0">
                <a:solidFill>
                  <a:srgbClr val="FF3300"/>
                </a:solidFill>
                <a:latin typeface="华文新魏" panose="02010800040101010101" pitchFamily="2" charset="-122"/>
                <a:ea typeface="华文新魏" panose="02010800040101010101" pitchFamily="2" charset="-122"/>
              </a:rPr>
              <a:t> //</a:t>
            </a:r>
            <a:r>
              <a:rPr lang="zh-CN" altLang="en-US" sz="1800" b="1" dirty="0">
                <a:solidFill>
                  <a:srgbClr val="FF3300"/>
                </a:solidFill>
                <a:latin typeface="华文新魏" panose="02010800040101010101" pitchFamily="2" charset="-122"/>
                <a:ea typeface="华文新魏" panose="02010800040101010101" pitchFamily="2" charset="-122"/>
              </a:rPr>
              <a:t>普通指针指向静态数据成员</a:t>
            </a:r>
            <a:endParaRPr lang="zh-CN" altLang="en-US" sz="1800" b="1" dirty="0">
              <a:latin typeface="华文新魏" panose="02010800040101010101" pitchFamily="2" charset="-122"/>
              <a:ea typeface="华文新魏" panose="02010800040101010101" pitchFamily="2" charset="-122"/>
            </a:endParaRPr>
          </a:p>
          <a:p>
            <a:pPr>
              <a:spcBef>
                <a:spcPct val="10000"/>
              </a:spcBef>
              <a:buNone/>
            </a:pPr>
            <a:r>
              <a:rPr lang="en-US" altLang="zh-CN" sz="1800" b="1" dirty="0">
                <a:solidFill>
                  <a:schemeClr val="hlink"/>
                </a:solidFill>
                <a:latin typeface="华文新魏" panose="02010800040101010101" pitchFamily="2" charset="-122"/>
                <a:ea typeface="华文新魏" panose="02010800040101010101" pitchFamily="2" charset="-122"/>
              </a:rPr>
              <a:t>    int (*f)( )</a:t>
            </a:r>
            <a:r>
              <a:rPr lang="en-US" altLang="zh-CN" sz="1800" b="1" dirty="0">
                <a:latin typeface="华文新魏" panose="02010800040101010101" pitchFamily="2" charset="-122"/>
                <a:ea typeface="华文新魏" panose="02010800040101010101" pitchFamily="2" charset="-122"/>
              </a:rPr>
              <a:t>=&amp;CROWD::</a:t>
            </a:r>
            <a:r>
              <a:rPr lang="en-US" altLang="zh-CN" sz="1800" b="1" dirty="0" err="1">
                <a:latin typeface="华文新魏" panose="02010800040101010101" pitchFamily="2" charset="-122"/>
                <a:ea typeface="华文新魏" panose="02010800040101010101" pitchFamily="2" charset="-122"/>
              </a:rPr>
              <a:t>getn</a:t>
            </a:r>
            <a:r>
              <a:rPr lang="en-US" altLang="zh-CN" sz="1800" b="1" dirty="0">
                <a:latin typeface="华文新魏" panose="02010800040101010101" pitchFamily="2" charset="-122"/>
                <a:ea typeface="华文新魏" panose="02010800040101010101" pitchFamily="2" charset="-122"/>
              </a:rPr>
              <a:t>;</a:t>
            </a:r>
            <a:r>
              <a:rPr lang="en-US" altLang="zh-CN" sz="1800" b="1" dirty="0">
                <a:solidFill>
                  <a:srgbClr val="FF3300"/>
                </a:solidFill>
                <a:latin typeface="华文新魏" panose="02010800040101010101" pitchFamily="2" charset="-122"/>
                <a:ea typeface="华文新魏" panose="02010800040101010101" pitchFamily="2" charset="-122"/>
              </a:rPr>
              <a:t> //</a:t>
            </a:r>
            <a:r>
              <a:rPr lang="zh-CN" altLang="en-US" sz="1800" b="1" dirty="0">
                <a:solidFill>
                  <a:srgbClr val="FF3300"/>
                </a:solidFill>
                <a:latin typeface="华文新魏" panose="02010800040101010101" pitchFamily="2" charset="-122"/>
                <a:ea typeface="华文新魏" panose="02010800040101010101" pitchFamily="2" charset="-122"/>
              </a:rPr>
              <a:t>普通函数指针指向静态函数成员</a:t>
            </a:r>
            <a:endParaRPr lang="en-US" altLang="zh-CN" sz="1800" b="1" dirty="0">
              <a:solidFill>
                <a:srgbClr val="FF3300"/>
              </a:solidFill>
              <a:latin typeface="华文新魏" panose="02010800040101010101" pitchFamily="2" charset="-122"/>
              <a:ea typeface="华文新魏" panose="02010800040101010101" pitchFamily="2" charset="-122"/>
            </a:endParaRPr>
          </a:p>
          <a:p>
            <a:pPr>
              <a:spcBef>
                <a:spcPct val="10000"/>
              </a:spcBef>
              <a:buNone/>
            </a:pPr>
            <a:r>
              <a:rPr lang="en-US" altLang="zh-CN" sz="1800" b="1" dirty="0">
                <a:solidFill>
                  <a:srgbClr val="FF3300"/>
                </a:solidFill>
                <a:latin typeface="华文新魏" panose="02010800040101010101" pitchFamily="2" charset="-122"/>
                <a:ea typeface="华文新魏" panose="02010800040101010101" pitchFamily="2" charset="-122"/>
              </a:rPr>
              <a:t>  //</a:t>
            </a:r>
            <a:r>
              <a:rPr lang="zh-CN" altLang="en-US" sz="1800" b="1" dirty="0">
                <a:solidFill>
                  <a:srgbClr val="FF3300"/>
                </a:solidFill>
                <a:latin typeface="华文新魏" panose="02010800040101010101" pitchFamily="2" charset="-122"/>
                <a:ea typeface="华文新魏" panose="02010800040101010101" pitchFamily="2" charset="-122"/>
              </a:rPr>
              <a:t>类</a:t>
            </a:r>
            <a:r>
              <a:rPr lang="en-US" altLang="zh-CN" sz="1800" b="1" dirty="0">
                <a:solidFill>
                  <a:srgbClr val="FF3300"/>
                </a:solidFill>
                <a:latin typeface="华文新魏" panose="02010800040101010101" pitchFamily="2" charset="-122"/>
                <a:ea typeface="华文新魏" panose="02010800040101010101" pitchFamily="2" charset="-122"/>
              </a:rPr>
              <a:t>CROWD</a:t>
            </a:r>
            <a:r>
              <a:rPr lang="zh-CN" altLang="en-US" sz="1800" b="1" dirty="0">
                <a:solidFill>
                  <a:srgbClr val="FF3300"/>
                </a:solidFill>
                <a:latin typeface="华文新魏" panose="02010800040101010101" pitchFamily="2" charset="-122"/>
                <a:ea typeface="华文新魏" panose="02010800040101010101" pitchFamily="2" charset="-122"/>
              </a:rPr>
              <a:t>无对象时访问静态成员</a:t>
            </a:r>
            <a:endParaRPr lang="zh-CN" altLang="en-US" sz="1800" b="1" dirty="0">
              <a:latin typeface="华文新魏" panose="02010800040101010101" pitchFamily="2" charset="-122"/>
              <a:ea typeface="华文新魏" panose="02010800040101010101" pitchFamily="2" charset="-122"/>
            </a:endParaRPr>
          </a:p>
          <a:p>
            <a:pPr>
              <a:spcBef>
                <a:spcPct val="10000"/>
              </a:spcBef>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a:t>
            </a:r>
            <a:r>
              <a:rPr lang="en-US" altLang="zh-CN" sz="1800" b="1" dirty="0" err="1">
                <a:latin typeface="华文新魏" panose="02010800040101010101" pitchFamily="2" charset="-122"/>
                <a:ea typeface="华文新魏" panose="02010800040101010101" pitchFamily="2" charset="-122"/>
              </a:rPr>
              <a:t>cout</a:t>
            </a:r>
            <a:r>
              <a:rPr lang="en-US" altLang="zh-CN" sz="1800" b="1" dirty="0">
                <a:latin typeface="华文新魏" panose="02010800040101010101" pitchFamily="2" charset="-122"/>
                <a:ea typeface="华文新魏" panose="02010800040101010101" pitchFamily="2" charset="-122"/>
              </a:rPr>
              <a:t>&lt;&lt;“\</a:t>
            </a:r>
            <a:r>
              <a:rPr lang="en-US" altLang="zh-CN" sz="1800" b="1" dirty="0" err="1">
                <a:latin typeface="华文新魏" panose="02010800040101010101" pitchFamily="2" charset="-122"/>
                <a:ea typeface="华文新魏" panose="02010800040101010101" pitchFamily="2" charset="-122"/>
              </a:rPr>
              <a:t>nCrowd</a:t>
            </a:r>
            <a:r>
              <a:rPr lang="en-US" altLang="zh-CN" sz="1800" b="1" dirty="0">
                <a:latin typeface="华文新魏" panose="02010800040101010101" pitchFamily="2" charset="-122"/>
                <a:ea typeface="华文新魏" panose="02010800040101010101" pitchFamily="2" charset="-122"/>
              </a:rPr>
              <a:t> number=”&lt;&lt;*d;  //</a:t>
            </a:r>
            <a:r>
              <a:rPr lang="zh-CN" altLang="en-US" sz="1800" b="1" dirty="0">
                <a:latin typeface="华文新魏" panose="02010800040101010101" pitchFamily="2" charset="-122"/>
                <a:ea typeface="华文新魏" panose="02010800040101010101" pitchFamily="2" charset="-122"/>
              </a:rPr>
              <a:t>输出</a:t>
            </a:r>
            <a:r>
              <a:rPr lang="en-US" altLang="zh-CN" sz="1800" b="1" dirty="0">
                <a:latin typeface="华文新魏" panose="02010800040101010101" pitchFamily="2" charset="-122"/>
                <a:ea typeface="华文新魏" panose="02010800040101010101" pitchFamily="2" charset="-122"/>
              </a:rPr>
              <a:t>0</a:t>
            </a:r>
          </a:p>
          <a:p>
            <a:pPr algn="just" fontAlgn="t">
              <a:spcBef>
                <a:spcPct val="10000"/>
              </a:spcBef>
              <a:buClr>
                <a:schemeClr val="tx1"/>
              </a:buClr>
              <a:buSzPct val="75000"/>
              <a:buFont typeface="Wingdings" panose="05000000000000000000" pitchFamily="2" charset="2"/>
              <a:buNone/>
            </a:pPr>
            <a:r>
              <a:rPr lang="en-US" altLang="zh-CN" sz="1800" b="1" dirty="0">
                <a:solidFill>
                  <a:srgbClr val="FF3300"/>
                </a:solidFill>
                <a:latin typeface="华文新魏" panose="02010800040101010101" pitchFamily="2" charset="-122"/>
                <a:ea typeface="华文新魏" panose="02010800040101010101" pitchFamily="2" charset="-122"/>
              </a:rPr>
              <a:t>    </a:t>
            </a:r>
            <a:endParaRPr lang="zh-CN" altLang="en-US" sz="1800" b="1" dirty="0">
              <a:latin typeface="华文新魏" panose="02010800040101010101" pitchFamily="2" charset="-122"/>
              <a:ea typeface="华文新魏" panose="02010800040101010101" pitchFamily="2" charset="-122"/>
            </a:endParaRPr>
          </a:p>
          <a:p>
            <a:pPr>
              <a:spcBef>
                <a:spcPct val="10000"/>
              </a:spcBef>
              <a:buFont typeface="Wingdings" panose="05000000000000000000" pitchFamily="2" charset="2"/>
              <a:buNone/>
            </a:pPr>
            <a:r>
              <a:rPr lang="zh-CN" altLang="en-US" sz="1800" b="1" dirty="0">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CROWD </a:t>
            </a:r>
            <a:r>
              <a:rPr lang="en-US" altLang="zh-CN" sz="1800" b="1" dirty="0" err="1">
                <a:latin typeface="华文新魏" panose="02010800040101010101" pitchFamily="2" charset="-122"/>
                <a:ea typeface="华文新魏" panose="02010800040101010101" pitchFamily="2" charset="-122"/>
              </a:rPr>
              <a:t>zan</a:t>
            </a:r>
            <a:r>
              <a:rPr lang="en-US" altLang="zh-CN" sz="1800" b="1" dirty="0">
                <a:latin typeface="华文新魏" panose="02010800040101010101" pitchFamily="2" charset="-122"/>
                <a:ea typeface="华文新魏" panose="02010800040101010101" pitchFamily="2" charset="-122"/>
              </a:rPr>
              <a:t>("</a:t>
            </a:r>
            <a:r>
              <a:rPr lang="en-US" altLang="zh-CN" sz="1800" b="1" dirty="0" err="1">
                <a:latin typeface="华文新魏" panose="02010800040101010101" pitchFamily="2" charset="-122"/>
                <a:ea typeface="华文新魏" panose="02010800040101010101" pitchFamily="2" charset="-122"/>
              </a:rPr>
              <a:t>zan</a:t>
            </a:r>
            <a:r>
              <a:rPr lang="en-US" altLang="zh-CN" sz="1800" b="1" dirty="0">
                <a:latin typeface="华文新魏" panose="02010800040101010101" pitchFamily="2" charset="-122"/>
                <a:ea typeface="华文新魏" panose="02010800040101010101" pitchFamily="2" charset="-122"/>
              </a:rPr>
              <a:t>", 20);</a:t>
            </a:r>
          </a:p>
          <a:p>
            <a:pPr>
              <a:spcBef>
                <a:spcPct val="10000"/>
              </a:spcBef>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a:t>
            </a:r>
            <a:r>
              <a:rPr lang="en-US" altLang="zh-CN" sz="1800" b="1" dirty="0">
                <a:solidFill>
                  <a:schemeClr val="hlink"/>
                </a:solidFill>
                <a:latin typeface="华文新魏" panose="02010800040101010101" pitchFamily="2" charset="-122"/>
                <a:ea typeface="华文新魏" panose="02010800040101010101" pitchFamily="2" charset="-122"/>
              </a:rPr>
              <a:t>d=&amp;</a:t>
            </a:r>
            <a:r>
              <a:rPr lang="en-US" altLang="zh-CN" sz="1800" b="1" dirty="0" err="1">
                <a:solidFill>
                  <a:schemeClr val="hlink"/>
                </a:solidFill>
                <a:latin typeface="华文新魏" panose="02010800040101010101" pitchFamily="2" charset="-122"/>
                <a:ea typeface="华文新魏" panose="02010800040101010101" pitchFamily="2" charset="-122"/>
              </a:rPr>
              <a:t>zan.number</a:t>
            </a:r>
            <a:r>
              <a:rPr lang="en-US" altLang="zh-CN" sz="1800" b="1" dirty="0">
                <a:solidFill>
                  <a:schemeClr val="hlink"/>
                </a:solidFill>
                <a:latin typeface="华文新魏" panose="02010800040101010101" pitchFamily="2" charset="-122"/>
                <a:ea typeface="华文新魏" panose="02010800040101010101" pitchFamily="2" charset="-122"/>
              </a:rPr>
              <a:t>;  </a:t>
            </a:r>
            <a:r>
              <a:rPr lang="zh-CN" altLang="en-US" sz="1800" b="1" dirty="0">
                <a:solidFill>
                  <a:schemeClr val="hlink"/>
                </a:solidFill>
                <a:latin typeface="华文新魏" panose="02010800040101010101" pitchFamily="2" charset="-122"/>
                <a:ea typeface="华文新魏" panose="02010800040101010101" pitchFamily="2" charset="-122"/>
              </a:rPr>
              <a:t>等价于如下</a:t>
            </a:r>
          </a:p>
          <a:p>
            <a:pPr>
              <a:spcBef>
                <a:spcPct val="10000"/>
              </a:spcBef>
              <a:buFont typeface="Wingdings" panose="05000000000000000000" pitchFamily="2" charset="2"/>
              <a:buNone/>
            </a:pPr>
            <a:r>
              <a:rPr lang="zh-CN" altLang="en-US" sz="1800" b="1" dirty="0">
                <a:solidFill>
                  <a:schemeClr val="hlink"/>
                </a:solidFill>
                <a:latin typeface="华文新魏" panose="02010800040101010101" pitchFamily="2" charset="-122"/>
                <a:ea typeface="华文新魏" panose="02010800040101010101" pitchFamily="2" charset="-122"/>
              </a:rPr>
              <a:t>    </a:t>
            </a:r>
            <a:r>
              <a:rPr lang="en-US" altLang="zh-CN" sz="1800" b="1" dirty="0">
                <a:solidFill>
                  <a:schemeClr val="bg2"/>
                </a:solidFill>
                <a:latin typeface="华文新魏" panose="02010800040101010101" pitchFamily="2" charset="-122"/>
                <a:ea typeface="华文新魏" panose="02010800040101010101" pitchFamily="2" charset="-122"/>
              </a:rPr>
              <a:t>//</a:t>
            </a:r>
            <a:r>
              <a:rPr lang="en-US" altLang="zh-CN" sz="1800" b="1" dirty="0">
                <a:solidFill>
                  <a:schemeClr val="hlink"/>
                </a:solidFill>
                <a:latin typeface="华文新魏" panose="02010800040101010101" pitchFamily="2" charset="-122"/>
                <a:ea typeface="华文新魏" panose="02010800040101010101" pitchFamily="2" charset="-122"/>
              </a:rPr>
              <a:t>d=&amp;CROWD::number;</a:t>
            </a:r>
          </a:p>
          <a:p>
            <a:pPr>
              <a:spcBef>
                <a:spcPct val="10000"/>
              </a:spcBef>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a:t>
            </a:r>
            <a:r>
              <a:rPr lang="en-US" altLang="zh-CN" sz="1800" b="1" dirty="0" err="1">
                <a:latin typeface="华文新魏" panose="02010800040101010101" pitchFamily="2" charset="-122"/>
                <a:ea typeface="华文新魏" panose="02010800040101010101" pitchFamily="2" charset="-122"/>
              </a:rPr>
              <a:t>cout</a:t>
            </a:r>
            <a:r>
              <a:rPr lang="en-US" altLang="zh-CN" sz="1800" b="1" dirty="0">
                <a:latin typeface="华文新魏" panose="02010800040101010101" pitchFamily="2" charset="-122"/>
                <a:ea typeface="华文新魏" panose="02010800040101010101" pitchFamily="2" charset="-122"/>
              </a:rPr>
              <a:t>&lt;&lt;“\</a:t>
            </a:r>
            <a:r>
              <a:rPr lang="en-US" altLang="zh-CN" sz="1800" b="1" dirty="0" err="1">
                <a:latin typeface="华文新魏" panose="02010800040101010101" pitchFamily="2" charset="-122"/>
                <a:ea typeface="华文新魏" panose="02010800040101010101" pitchFamily="2" charset="-122"/>
              </a:rPr>
              <a:t>nCrowd</a:t>
            </a:r>
            <a:r>
              <a:rPr lang="en-US" altLang="zh-CN" sz="1800" b="1" dirty="0">
                <a:latin typeface="华文新魏" panose="02010800040101010101" pitchFamily="2" charset="-122"/>
                <a:ea typeface="华文新魏" panose="02010800040101010101" pitchFamily="2" charset="-122"/>
              </a:rPr>
              <a:t> number=”&lt;&lt;*d;	//</a:t>
            </a:r>
            <a:r>
              <a:rPr lang="zh-CN" altLang="en-US" sz="1800" b="1" dirty="0">
                <a:latin typeface="华文新魏" panose="02010800040101010101" pitchFamily="2" charset="-122"/>
                <a:ea typeface="华文新魏" panose="02010800040101010101" pitchFamily="2" charset="-122"/>
              </a:rPr>
              <a:t>输出</a:t>
            </a:r>
            <a:r>
              <a:rPr lang="en-US" altLang="zh-CN" sz="1800" b="1" dirty="0">
                <a:latin typeface="华文新魏" panose="02010800040101010101" pitchFamily="2" charset="-122"/>
                <a:ea typeface="华文新魏" panose="02010800040101010101" pitchFamily="2" charset="-122"/>
              </a:rPr>
              <a:t>1</a:t>
            </a:r>
          </a:p>
          <a:p>
            <a:pPr>
              <a:spcBef>
                <a:spcPct val="10000"/>
              </a:spcBef>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CROWD tan("tan", 21);</a:t>
            </a:r>
          </a:p>
          <a:p>
            <a:pPr>
              <a:spcBef>
                <a:spcPct val="10000"/>
              </a:spcBef>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    </a:t>
            </a:r>
            <a:r>
              <a:rPr lang="en-US" altLang="zh-CN" sz="1800" b="1" dirty="0" err="1">
                <a:latin typeface="华文新魏" panose="02010800040101010101" pitchFamily="2" charset="-122"/>
                <a:ea typeface="华文新魏" panose="02010800040101010101" pitchFamily="2" charset="-122"/>
              </a:rPr>
              <a:t>cout</a:t>
            </a:r>
            <a:r>
              <a:rPr lang="en-US" altLang="zh-CN" sz="1800" b="1" dirty="0">
                <a:latin typeface="华文新魏" panose="02010800040101010101" pitchFamily="2" charset="-122"/>
                <a:ea typeface="华文新魏" panose="02010800040101010101" pitchFamily="2" charset="-122"/>
              </a:rPr>
              <a:t>&lt;&lt;“\</a:t>
            </a:r>
            <a:r>
              <a:rPr lang="en-US" altLang="zh-CN" sz="1800" b="1" dirty="0" err="1">
                <a:latin typeface="华文新魏" panose="02010800040101010101" pitchFamily="2" charset="-122"/>
                <a:ea typeface="华文新魏" panose="02010800040101010101" pitchFamily="2" charset="-122"/>
              </a:rPr>
              <a:t>nCrowd</a:t>
            </a:r>
            <a:r>
              <a:rPr lang="en-US" altLang="zh-CN" sz="1800" b="1" dirty="0">
                <a:latin typeface="华文新魏" panose="02010800040101010101" pitchFamily="2" charset="-122"/>
                <a:ea typeface="华文新魏" panose="02010800040101010101" pitchFamily="2" charset="-122"/>
              </a:rPr>
              <a:t> number=”&lt;&lt;(*f)( );    //</a:t>
            </a:r>
            <a:r>
              <a:rPr lang="zh-CN" altLang="en-US" sz="1800" b="1" dirty="0">
                <a:latin typeface="华文新魏" panose="02010800040101010101" pitchFamily="2" charset="-122"/>
                <a:ea typeface="华文新魏" panose="02010800040101010101" pitchFamily="2" charset="-122"/>
              </a:rPr>
              <a:t>输出</a:t>
            </a:r>
            <a:r>
              <a:rPr lang="en-US" altLang="zh-CN" sz="1800" b="1" dirty="0">
                <a:latin typeface="华文新魏" panose="02010800040101010101" pitchFamily="2" charset="-122"/>
                <a:ea typeface="华文新魏" panose="02010800040101010101" pitchFamily="2" charset="-122"/>
              </a:rPr>
              <a:t>2</a:t>
            </a:r>
          </a:p>
          <a:p>
            <a:pPr>
              <a:spcBef>
                <a:spcPct val="10000"/>
              </a:spcBef>
              <a:buFont typeface="Wingdings" panose="05000000000000000000" pitchFamily="2" charset="2"/>
              <a:buNone/>
            </a:pPr>
            <a:r>
              <a:rPr lang="en-US" altLang="zh-CN" sz="1800" b="1" dirty="0">
                <a:latin typeface="华文新魏" panose="02010800040101010101" pitchFamily="2" charset="-122"/>
                <a:ea typeface="华文新魏" panose="02010800040101010101" pitchFamily="2" charset="-122"/>
              </a:rPr>
              <a:t>}</a:t>
            </a:r>
          </a:p>
        </p:txBody>
      </p:sp>
      <p:sp>
        <p:nvSpPr>
          <p:cNvPr id="9" name="Text Box 5">
            <a:extLst>
              <a:ext uri="{FF2B5EF4-FFF2-40B4-BE49-F238E27FC236}">
                <a16:creationId xmlns:a16="http://schemas.microsoft.com/office/drawing/2014/main" id="{F45C8E93-082C-4972-B695-59C68EC1D91B}"/>
              </a:ext>
            </a:extLst>
          </p:cNvPr>
          <p:cNvSpPr txBox="1">
            <a:spLocks noChangeArrowheads="1"/>
          </p:cNvSpPr>
          <p:nvPr/>
        </p:nvSpPr>
        <p:spPr bwMode="auto">
          <a:xfrm>
            <a:off x="352198" y="1857703"/>
            <a:ext cx="555152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例</a:t>
            </a:r>
            <a:r>
              <a:rPr lang="en-US" altLang="zh-CN" b="1" dirty="0">
                <a:latin typeface="华文新魏" panose="02010800040101010101" pitchFamily="2" charset="-122"/>
                <a:ea typeface="华文新魏" panose="02010800040101010101" pitchFamily="2" charset="-122"/>
              </a:rPr>
              <a:t>5.15】</a:t>
            </a:r>
            <a:r>
              <a:rPr lang="zh-CN" altLang="en-US" b="1" dirty="0">
                <a:latin typeface="华文新魏" panose="02010800040101010101" pitchFamily="2" charset="-122"/>
                <a:ea typeface="华文新魏" panose="02010800040101010101" pitchFamily="2" charset="-122"/>
              </a:rPr>
              <a:t>定义群众类，使每个群众共享人数信息。</a:t>
            </a:r>
          </a:p>
        </p:txBody>
      </p:sp>
      <p:cxnSp>
        <p:nvCxnSpPr>
          <p:cNvPr id="12" name="直接连接符 11">
            <a:extLst>
              <a:ext uri="{FF2B5EF4-FFF2-40B4-BE49-F238E27FC236}">
                <a16:creationId xmlns:a16="http://schemas.microsoft.com/office/drawing/2014/main" id="{7EA3C3F8-A44C-4B30-93CA-ACC53D438536}"/>
              </a:ext>
            </a:extLst>
          </p:cNvPr>
          <p:cNvCxnSpPr/>
          <p:nvPr/>
        </p:nvCxnSpPr>
        <p:spPr>
          <a:xfrm>
            <a:off x="4390798" y="2297425"/>
            <a:ext cx="0" cy="34982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12855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灯片编号占位符 5"/>
          <p:cNvSpPr>
            <a:spLocks noGrp="1"/>
          </p:cNvSpPr>
          <p:nvPr>
            <p:ph type="sldNum" sz="quarter" idx="12"/>
          </p:nvPr>
        </p:nvSpPr>
        <p:spPr>
          <a:noFill/>
        </p:spPr>
        <p:txBody>
          <a:bodyPr/>
          <a:lstStyle/>
          <a:p>
            <a:fld id="{ED9492EC-5541-4D5C-B766-CBE8ADCF4E0D}" type="slidenum">
              <a:rPr lang="en-US" altLang="zh-CN" smtClean="0"/>
              <a:pPr/>
              <a:t>34</a:t>
            </a:fld>
            <a:endParaRPr lang="en-US" altLang="zh-CN"/>
          </a:p>
        </p:txBody>
      </p:sp>
      <p:sp>
        <p:nvSpPr>
          <p:cNvPr id="148483" name="Rectangle 2"/>
          <p:cNvSpPr>
            <a:spLocks noGrp="1" noChangeArrowheads="1"/>
          </p:cNvSpPr>
          <p:nvPr>
            <p:ph type="title"/>
          </p:nvPr>
        </p:nvSpPr>
        <p:spPr>
          <a:xfrm>
            <a:off x="2209800" y="260648"/>
            <a:ext cx="7772400" cy="731838"/>
          </a:xfrm>
        </p:spPr>
        <p:txBody>
          <a:bodyPr/>
          <a:lstStyle/>
          <a:p>
            <a:pPr eaLnBrk="1" hangingPunct="1"/>
            <a:r>
              <a:rPr lang="zh-CN" altLang="en-US" sz="2800" b="1" dirty="0">
                <a:solidFill>
                  <a:srgbClr val="FF0000"/>
                </a:solidFill>
                <a:latin typeface="微软雅黑" panose="020B0503020204020204" pitchFamily="34" charset="-122"/>
                <a:ea typeface="微软雅黑" panose="020B0503020204020204" pitchFamily="34" charset="-122"/>
              </a:rPr>
              <a:t>静态函数成员指针与普通函数成员指针的区别</a:t>
            </a:r>
          </a:p>
        </p:txBody>
      </p:sp>
      <p:sp>
        <p:nvSpPr>
          <p:cNvPr id="148484" name="Rectangle 3"/>
          <p:cNvSpPr>
            <a:spLocks noGrp="1" noChangeArrowheads="1"/>
          </p:cNvSpPr>
          <p:nvPr>
            <p:ph type="body" idx="1"/>
          </p:nvPr>
        </p:nvSpPr>
        <p:spPr>
          <a:xfrm>
            <a:off x="1558926" y="1196975"/>
            <a:ext cx="8893175" cy="4464050"/>
          </a:xfrm>
        </p:spPr>
        <p:txBody>
          <a:bodyPr>
            <a:normAutofit lnSpcReduction="10000"/>
          </a:bodyPr>
          <a:lstStyle/>
          <a:p>
            <a:pPr eaLnBrk="1" hangingPunct="1"/>
            <a:r>
              <a:rPr lang="zh-CN" altLang="en-US" sz="2400" dirty="0">
                <a:latin typeface="华文新魏" panose="02010800040101010101" pitchFamily="2" charset="-122"/>
                <a:ea typeface="华文新魏" panose="02010800040101010101" pitchFamily="2" charset="-122"/>
              </a:rPr>
              <a:t>对于一个全局函数，我们可以声明一个指向该函数的指针（普通函数指针），如</a:t>
            </a:r>
          </a:p>
          <a:p>
            <a:pPr lvl="1" eaLnBrk="1" hangingPunct="1">
              <a:buFontTx/>
              <a:buNone/>
            </a:pPr>
            <a:r>
              <a:rPr lang="en-US" altLang="zh-CN" dirty="0">
                <a:latin typeface="华文新魏" panose="02010800040101010101" pitchFamily="2" charset="-122"/>
                <a:ea typeface="华文新魏" panose="02010800040101010101" pitchFamily="2" charset="-122"/>
              </a:rPr>
              <a:t>int sum( int x, int y) { return x + y;}</a:t>
            </a:r>
          </a:p>
          <a:p>
            <a:pPr lvl="1" eaLnBrk="1" hangingPunct="1">
              <a:buFontTx/>
              <a:buNone/>
            </a:pPr>
            <a:r>
              <a:rPr lang="en-US" altLang="zh-CN" dirty="0">
                <a:latin typeface="华文新魏" panose="02010800040101010101" pitchFamily="2" charset="-122"/>
                <a:ea typeface="华文新魏" panose="02010800040101010101" pitchFamily="2" charset="-122"/>
              </a:rPr>
              <a:t>int (*pf)(int, int) = &amp;sum; //&amp;</a:t>
            </a:r>
            <a:r>
              <a:rPr lang="zh-CN" altLang="en-US" dirty="0">
                <a:latin typeface="华文新魏" panose="02010800040101010101" pitchFamily="2" charset="-122"/>
                <a:ea typeface="华文新魏" panose="02010800040101010101" pitchFamily="2" charset="-122"/>
              </a:rPr>
              <a:t>可省略</a:t>
            </a:r>
          </a:p>
          <a:p>
            <a:pPr lvl="1" eaLnBrk="1" hangingPunct="1">
              <a:buFontTx/>
              <a:buNone/>
            </a:pPr>
            <a:r>
              <a:rPr lang="en-US" altLang="zh-CN" dirty="0">
                <a:latin typeface="华文新魏" panose="02010800040101010101" pitchFamily="2" charset="-122"/>
                <a:ea typeface="华文新魏" panose="02010800040101010101" pitchFamily="2" charset="-122"/>
              </a:rPr>
              <a:t>int s = pf(2,3); //</a:t>
            </a:r>
            <a:r>
              <a:rPr lang="zh-CN" altLang="en-US" dirty="0">
                <a:latin typeface="华文新魏" panose="02010800040101010101" pitchFamily="2" charset="-122"/>
                <a:ea typeface="华文新魏" panose="02010800040101010101" pitchFamily="2" charset="-122"/>
              </a:rPr>
              <a:t>通过普通函数指针调用函数，或</a:t>
            </a:r>
            <a:r>
              <a:rPr lang="en-US" altLang="zh-CN" dirty="0">
                <a:latin typeface="华文新魏" panose="02010800040101010101" pitchFamily="2" charset="-122"/>
                <a:ea typeface="华文新魏" panose="02010800040101010101" pitchFamily="2" charset="-122"/>
              </a:rPr>
              <a:t>int s = (*pf)(2,3)</a:t>
            </a:r>
          </a:p>
          <a:p>
            <a:pPr eaLnBrk="1" hangingPunct="1"/>
            <a:r>
              <a:rPr lang="zh-CN" altLang="en-US" sz="2400" dirty="0">
                <a:latin typeface="华文新魏" panose="02010800040101010101" pitchFamily="2" charset="-122"/>
                <a:ea typeface="华文新魏" panose="02010800040101010101" pitchFamily="2" charset="-122"/>
              </a:rPr>
              <a:t>对于类的静态函数，</a:t>
            </a:r>
            <a:r>
              <a:rPr lang="zh-CN" altLang="en-US" sz="2400" dirty="0">
                <a:solidFill>
                  <a:srgbClr val="FF0000"/>
                </a:solidFill>
                <a:latin typeface="华文新魏" panose="02010800040101010101" pitchFamily="2" charset="-122"/>
                <a:ea typeface="华文新魏" panose="02010800040101010101" pitchFamily="2" charset="-122"/>
              </a:rPr>
              <a:t>静态函数成员指针就是普通函数指针</a:t>
            </a:r>
            <a:r>
              <a:rPr lang="zh-CN" altLang="en-US" sz="2400" dirty="0">
                <a:latin typeface="华文新魏" panose="02010800040101010101" pitchFamily="2" charset="-122"/>
                <a:ea typeface="华文新魏" panose="02010800040101010101" pitchFamily="2" charset="-122"/>
              </a:rPr>
              <a:t>，如：</a:t>
            </a:r>
          </a:p>
          <a:p>
            <a:pPr eaLnBrk="1" hangingPunct="1">
              <a:buFontTx/>
              <a:buNone/>
            </a:pPr>
            <a:r>
              <a:rPr lang="zh-CN" altLang="en-US" sz="2400" dirty="0">
                <a:latin typeface="华文新魏" panose="02010800040101010101" pitchFamily="2" charset="-122"/>
                <a:ea typeface="华文新魏" panose="02010800040101010101" pitchFamily="2" charset="-122"/>
              </a:rPr>
              <a:t>	</a:t>
            </a:r>
            <a:r>
              <a:rPr lang="en-US" altLang="zh-CN" sz="2400" dirty="0">
                <a:latin typeface="华文新魏" panose="02010800040101010101" pitchFamily="2" charset="-122"/>
                <a:ea typeface="华文新魏" panose="02010800040101010101" pitchFamily="2" charset="-122"/>
              </a:rPr>
              <a:t>class A { public: static int sum(int x, int y);};</a:t>
            </a:r>
          </a:p>
          <a:p>
            <a:pPr eaLnBrk="1" hangingPunct="1">
              <a:buFontTx/>
              <a:buNone/>
            </a:pPr>
            <a:r>
              <a:rPr lang="en-US" altLang="zh-CN" sz="2400" dirty="0">
                <a:latin typeface="华文新魏" panose="02010800040101010101" pitchFamily="2" charset="-122"/>
                <a:ea typeface="华文新魏" panose="02010800040101010101" pitchFamily="2" charset="-122"/>
              </a:rPr>
              <a:t>	int A::sum(int x, int y) { return x + y;}</a:t>
            </a:r>
          </a:p>
          <a:p>
            <a:pPr eaLnBrk="1" hangingPunct="1">
              <a:buFontTx/>
              <a:buNone/>
            </a:pPr>
            <a:r>
              <a:rPr lang="en-US" altLang="zh-CN" sz="2400" dirty="0">
                <a:latin typeface="华文新魏" panose="02010800040101010101" pitchFamily="2" charset="-122"/>
                <a:ea typeface="华文新魏" panose="02010800040101010101" pitchFamily="2" charset="-122"/>
              </a:rPr>
              <a:t>	int  (*</a:t>
            </a:r>
            <a:r>
              <a:rPr lang="en-US" altLang="zh-CN" sz="2400" dirty="0" err="1">
                <a:latin typeface="华文新魏" panose="02010800040101010101" pitchFamily="2" charset="-122"/>
                <a:ea typeface="华文新魏" panose="02010800040101010101" pitchFamily="2" charset="-122"/>
              </a:rPr>
              <a:t>pf_A</a:t>
            </a:r>
            <a:r>
              <a:rPr lang="en-US" altLang="zh-CN" sz="2400" dirty="0">
                <a:latin typeface="华文新魏" panose="02010800040101010101" pitchFamily="2" charset="-122"/>
                <a:ea typeface="华文新魏" panose="02010800040101010101" pitchFamily="2" charset="-122"/>
              </a:rPr>
              <a:t>)(</a:t>
            </a:r>
            <a:r>
              <a:rPr lang="en-US" altLang="zh-CN" sz="2400" dirty="0" err="1">
                <a:latin typeface="华文新魏" panose="02010800040101010101" pitchFamily="2" charset="-122"/>
                <a:ea typeface="华文新魏" panose="02010800040101010101" pitchFamily="2" charset="-122"/>
              </a:rPr>
              <a:t>int,int</a:t>
            </a:r>
            <a:r>
              <a:rPr lang="en-US" altLang="zh-CN" sz="2400" dirty="0">
                <a:latin typeface="华文新魏" panose="02010800040101010101" pitchFamily="2" charset="-122"/>
                <a:ea typeface="华文新魏" panose="02010800040101010101" pitchFamily="2" charset="-122"/>
              </a:rPr>
              <a:t>) = &amp;A::sum 	//</a:t>
            </a:r>
            <a:r>
              <a:rPr lang="zh-CN" altLang="en-US" sz="2400" dirty="0">
                <a:latin typeface="华文新魏" panose="02010800040101010101" pitchFamily="2" charset="-122"/>
                <a:ea typeface="华文新魏" panose="02010800040101010101" pitchFamily="2" charset="-122"/>
              </a:rPr>
              <a:t>普通函数指针， </a:t>
            </a:r>
            <a:r>
              <a:rPr lang="en-US" altLang="zh-CN" sz="2400" dirty="0">
                <a:latin typeface="华文新魏" panose="02010800040101010101" pitchFamily="2" charset="-122"/>
                <a:ea typeface="华文新魏" panose="02010800040101010101" pitchFamily="2" charset="-122"/>
              </a:rPr>
              <a:t>&amp;</a:t>
            </a:r>
            <a:r>
              <a:rPr lang="zh-CN" altLang="en-US" sz="2400" dirty="0">
                <a:latin typeface="华文新魏" panose="02010800040101010101" pitchFamily="2" charset="-122"/>
                <a:ea typeface="华文新魏" panose="02010800040101010101" pitchFamily="2" charset="-122"/>
              </a:rPr>
              <a:t>可省略</a:t>
            </a:r>
          </a:p>
          <a:p>
            <a:pPr eaLnBrk="1" hangingPunct="1">
              <a:buFontTx/>
              <a:buNone/>
            </a:pPr>
            <a:r>
              <a:rPr lang="zh-CN" altLang="en-US" sz="2400" dirty="0">
                <a:latin typeface="华文新魏" panose="02010800040101010101" pitchFamily="2" charset="-122"/>
                <a:ea typeface="华文新魏" panose="02010800040101010101" pitchFamily="2" charset="-122"/>
              </a:rPr>
              <a:t>	</a:t>
            </a:r>
            <a:r>
              <a:rPr lang="en-US" altLang="zh-CN" sz="2400" dirty="0">
                <a:latin typeface="华文新魏" panose="02010800040101010101" pitchFamily="2" charset="-122"/>
                <a:ea typeface="华文新魏" panose="02010800040101010101" pitchFamily="2" charset="-122"/>
              </a:rPr>
              <a:t>int s = </a:t>
            </a:r>
            <a:r>
              <a:rPr lang="en-US" altLang="zh-CN" sz="2400" dirty="0" err="1">
                <a:latin typeface="华文新魏" panose="02010800040101010101" pitchFamily="2" charset="-122"/>
                <a:ea typeface="华文新魏" panose="02010800040101010101" pitchFamily="2" charset="-122"/>
              </a:rPr>
              <a:t>pf_A</a:t>
            </a:r>
            <a:r>
              <a:rPr lang="en-US" altLang="zh-CN" sz="2400" dirty="0">
                <a:latin typeface="华文新魏" panose="02010800040101010101" pitchFamily="2" charset="-122"/>
                <a:ea typeface="华文新魏" panose="02010800040101010101" pitchFamily="2" charset="-122"/>
              </a:rPr>
              <a:t>(2,3); //</a:t>
            </a:r>
            <a:r>
              <a:rPr lang="zh-CN" altLang="en-US" sz="2400" dirty="0">
                <a:latin typeface="华文新魏" panose="02010800040101010101" pitchFamily="2" charset="-122"/>
                <a:ea typeface="华文新魏" panose="02010800040101010101" pitchFamily="2" charset="-122"/>
              </a:rPr>
              <a:t>或 </a:t>
            </a:r>
            <a:r>
              <a:rPr lang="en-US" altLang="zh-CN" sz="2400" dirty="0">
                <a:latin typeface="华文新魏" panose="02010800040101010101" pitchFamily="2" charset="-122"/>
                <a:ea typeface="华文新魏" panose="02010800040101010101" pitchFamily="2" charset="-122"/>
              </a:rPr>
              <a:t>(*</a:t>
            </a:r>
            <a:r>
              <a:rPr lang="en-US" altLang="zh-CN" sz="2400" dirty="0" err="1">
                <a:latin typeface="华文新魏" panose="02010800040101010101" pitchFamily="2" charset="-122"/>
                <a:ea typeface="华文新魏" panose="02010800040101010101" pitchFamily="2" charset="-122"/>
              </a:rPr>
              <a:t>pf_A</a:t>
            </a:r>
            <a:r>
              <a:rPr lang="en-US" altLang="zh-CN" sz="2400" dirty="0">
                <a:latin typeface="华文新魏" panose="02010800040101010101" pitchFamily="2" charset="-122"/>
                <a:ea typeface="华文新魏" panose="02010800040101010101" pitchFamily="2" charset="-122"/>
              </a:rPr>
              <a:t>)(2,3);</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灯片编号占位符 5"/>
          <p:cNvSpPr>
            <a:spLocks noGrp="1"/>
          </p:cNvSpPr>
          <p:nvPr>
            <p:ph type="sldNum" sz="quarter" idx="12"/>
          </p:nvPr>
        </p:nvSpPr>
        <p:spPr>
          <a:noFill/>
        </p:spPr>
        <p:txBody>
          <a:bodyPr/>
          <a:lstStyle/>
          <a:p>
            <a:fld id="{44DDB84F-DE62-462B-88DA-9EE6EAFF1BAA}" type="slidenum">
              <a:rPr lang="en-US" altLang="zh-CN" smtClean="0"/>
              <a:pPr/>
              <a:t>35</a:t>
            </a:fld>
            <a:endParaRPr lang="en-US" altLang="zh-CN"/>
          </a:p>
        </p:txBody>
      </p:sp>
      <p:sp>
        <p:nvSpPr>
          <p:cNvPr id="149507" name="Rectangle 2"/>
          <p:cNvSpPr>
            <a:spLocks noGrp="1" noChangeArrowheads="1"/>
          </p:cNvSpPr>
          <p:nvPr>
            <p:ph type="title"/>
          </p:nvPr>
        </p:nvSpPr>
        <p:spPr>
          <a:xfrm>
            <a:off x="2209800" y="476250"/>
            <a:ext cx="7772400" cy="731838"/>
          </a:xfrm>
        </p:spPr>
        <p:txBody>
          <a:bodyPr>
            <a:normAutofit/>
          </a:bodyPr>
          <a:lstStyle/>
          <a:p>
            <a:pPr eaLnBrk="1" hangingPunct="1"/>
            <a:r>
              <a:rPr lang="zh-CN" altLang="en-US" sz="2800" b="1" dirty="0">
                <a:solidFill>
                  <a:srgbClr val="FF0000"/>
                </a:solidFill>
                <a:latin typeface="微软雅黑" panose="020B0503020204020204" pitchFamily="34" charset="-122"/>
                <a:ea typeface="微软雅黑" panose="020B0503020204020204" pitchFamily="34" charset="-122"/>
              </a:rPr>
              <a:t>静态函数成员指针与普通函数成员指针的区别</a:t>
            </a:r>
          </a:p>
        </p:txBody>
      </p:sp>
      <p:sp>
        <p:nvSpPr>
          <p:cNvPr id="149508" name="Rectangle 3"/>
          <p:cNvSpPr>
            <a:spLocks noGrp="1" noChangeArrowheads="1"/>
          </p:cNvSpPr>
          <p:nvPr>
            <p:ph type="body" idx="1"/>
          </p:nvPr>
        </p:nvSpPr>
        <p:spPr>
          <a:xfrm>
            <a:off x="2135189" y="1196976"/>
            <a:ext cx="7921625" cy="5040313"/>
          </a:xfrm>
        </p:spPr>
        <p:txBody>
          <a:bodyPr/>
          <a:lstStyle/>
          <a:p>
            <a:pPr eaLnBrk="1" hangingPunct="1"/>
            <a:r>
              <a:rPr lang="zh-CN" altLang="en-US" sz="2400" dirty="0">
                <a:latin typeface="华文新魏" panose="02010800040101010101" pitchFamily="2" charset="-122"/>
                <a:ea typeface="华文新魏" panose="02010800040101010101" pitchFamily="2" charset="-122"/>
              </a:rPr>
              <a:t>但指向类的普通函数成员的指针该怎么声明呢？如果用普通函数指针来声明会怎样？</a:t>
            </a:r>
          </a:p>
          <a:p>
            <a:pPr eaLnBrk="1" hangingPunct="1">
              <a:buFontTx/>
              <a:buNone/>
            </a:pPr>
            <a:r>
              <a:rPr lang="zh-CN" altLang="en-US" sz="2000" dirty="0">
                <a:latin typeface="华文新魏" panose="02010800040101010101" pitchFamily="2" charset="-122"/>
                <a:ea typeface="华文新魏" panose="02010800040101010101" pitchFamily="2" charset="-122"/>
              </a:rPr>
              <a:t>	</a:t>
            </a:r>
            <a:r>
              <a:rPr lang="en-US" altLang="zh-CN" sz="2000" dirty="0">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class A { public:  int sum(int x, int y); };</a:t>
            </a:r>
          </a:p>
          <a:p>
            <a:pPr eaLnBrk="1" hangingPunct="1">
              <a:buFontTx/>
              <a:buNone/>
            </a:pPr>
            <a:r>
              <a:rPr lang="en-US" altLang="zh-CN" sz="1800" b="1" dirty="0">
                <a:latin typeface="华文新魏" panose="02010800040101010101" pitchFamily="2" charset="-122"/>
                <a:ea typeface="华文新魏" panose="02010800040101010101" pitchFamily="2" charset="-122"/>
              </a:rPr>
              <a:t>		int A::sum(int x, int y) { return x + y;}</a:t>
            </a:r>
          </a:p>
          <a:p>
            <a:pPr eaLnBrk="1" hangingPunct="1">
              <a:buFontTx/>
              <a:buNone/>
            </a:pPr>
            <a:r>
              <a:rPr lang="en-US" altLang="zh-CN" sz="1800" b="1" dirty="0">
                <a:latin typeface="华文新魏" panose="02010800040101010101" pitchFamily="2" charset="-122"/>
                <a:ea typeface="华文新魏" panose="02010800040101010101" pitchFamily="2" charset="-122"/>
              </a:rPr>
              <a:t>		int  (*</a:t>
            </a:r>
            <a:r>
              <a:rPr lang="en-US" altLang="zh-CN" sz="1800" b="1" dirty="0" err="1">
                <a:latin typeface="华文新魏" panose="02010800040101010101" pitchFamily="2" charset="-122"/>
                <a:ea typeface="华文新魏" panose="02010800040101010101" pitchFamily="2" charset="-122"/>
              </a:rPr>
              <a:t>pf_A</a:t>
            </a:r>
            <a:r>
              <a:rPr lang="en-US" altLang="zh-CN" sz="1800" b="1" dirty="0">
                <a:latin typeface="华文新魏" panose="02010800040101010101" pitchFamily="2" charset="-122"/>
                <a:ea typeface="华文新魏" panose="02010800040101010101" pitchFamily="2" charset="-122"/>
              </a:rPr>
              <a:t>)(</a:t>
            </a:r>
            <a:r>
              <a:rPr lang="en-US" altLang="zh-CN" sz="1800" b="1" dirty="0" err="1">
                <a:latin typeface="华文新魏" panose="02010800040101010101" pitchFamily="2" charset="-122"/>
                <a:ea typeface="华文新魏" panose="02010800040101010101" pitchFamily="2" charset="-122"/>
              </a:rPr>
              <a:t>int,int</a:t>
            </a:r>
            <a:r>
              <a:rPr lang="en-US" altLang="zh-CN" sz="1800" b="1" dirty="0">
                <a:latin typeface="华文新魏" panose="02010800040101010101" pitchFamily="2" charset="-122"/>
                <a:ea typeface="华文新魏" panose="02010800040101010101" pitchFamily="2" charset="-122"/>
              </a:rPr>
              <a:t>) = &amp;A::sum  //</a:t>
            </a:r>
            <a:r>
              <a:rPr lang="zh-CN" altLang="en-US" sz="1800" b="1" dirty="0">
                <a:latin typeface="华文新魏" panose="02010800040101010101" pitchFamily="2" charset="-122"/>
                <a:ea typeface="华文新魏" panose="02010800040101010101" pitchFamily="2" charset="-122"/>
              </a:rPr>
              <a:t>这样可以吗？错误</a:t>
            </a:r>
          </a:p>
          <a:p>
            <a:pPr eaLnBrk="1" hangingPunct="1"/>
            <a:r>
              <a:rPr lang="zh-CN" altLang="en-US" sz="2400" dirty="0">
                <a:latin typeface="华文新魏" panose="02010800040101010101" pitchFamily="2" charset="-122"/>
                <a:ea typeface="华文新魏" panose="02010800040101010101" pitchFamily="2" charset="-122"/>
              </a:rPr>
              <a:t>因为类的普通函数成员除了函数返回类型及参数列表这两个重要特性外，还有第三个重要特性：所属的类类型。类的普通成员函数必通过一个对象来调用（</a:t>
            </a:r>
            <a:r>
              <a:rPr lang="en-US" altLang="zh-CN" sz="2400" dirty="0">
                <a:latin typeface="华文新魏" panose="02010800040101010101" pitchFamily="2" charset="-122"/>
                <a:ea typeface="华文新魏" panose="02010800040101010101" pitchFamily="2" charset="-122"/>
              </a:rPr>
              <a:t>this</a:t>
            </a:r>
            <a:r>
              <a:rPr lang="zh-CN" altLang="en-US" sz="2400" dirty="0">
                <a:latin typeface="华文新魏" panose="02010800040101010101" pitchFamily="2" charset="-122"/>
                <a:ea typeface="华文新魏" panose="02010800040101010101" pitchFamily="2" charset="-122"/>
              </a:rPr>
              <a:t>指针就是指向这个对象）。</a:t>
            </a:r>
          </a:p>
          <a:p>
            <a:pPr eaLnBrk="1" hangingPunct="1"/>
            <a:r>
              <a:rPr lang="zh-CN" altLang="en-US" sz="2400" dirty="0">
                <a:latin typeface="华文新魏" panose="02010800040101010101" pitchFamily="2" charset="-122"/>
                <a:ea typeface="华文新魏" panose="02010800040101010101" pitchFamily="2" charset="-122"/>
              </a:rPr>
              <a:t>而普通函数指针无法匹配类的普通函数成员第三个特征：类类型</a:t>
            </a:r>
          </a:p>
          <a:p>
            <a:pPr eaLnBrk="1" hangingPunct="1"/>
            <a:r>
              <a:rPr lang="zh-CN" altLang="en-US" sz="2400" dirty="0">
                <a:solidFill>
                  <a:srgbClr val="FF0000"/>
                </a:solidFill>
                <a:latin typeface="华文新魏" panose="02010800040101010101" pitchFamily="2" charset="-122"/>
                <a:ea typeface="华文新魏" panose="02010800040101010101" pitchFamily="2" charset="-122"/>
              </a:rPr>
              <a:t>所以类的普通函数成员必须用成员指针来指向。</a:t>
            </a:r>
          </a:p>
          <a:p>
            <a:pPr eaLnBrk="1" hangingPunct="1">
              <a:buFontTx/>
              <a:buNone/>
            </a:pPr>
            <a:r>
              <a:rPr lang="zh-CN" altLang="en-US" sz="2000" dirty="0">
                <a:solidFill>
                  <a:srgbClr val="FF0000"/>
                </a:solidFill>
                <a:latin typeface="华文新魏" panose="02010800040101010101" pitchFamily="2" charset="-122"/>
                <a:ea typeface="华文新魏" panose="02010800040101010101" pitchFamily="2" charset="-122"/>
              </a:rPr>
              <a:t>	</a:t>
            </a:r>
            <a:r>
              <a:rPr lang="en-US" altLang="zh-CN" sz="2000" dirty="0">
                <a:solidFill>
                  <a:srgbClr val="FF0000"/>
                </a:solidFill>
                <a:latin typeface="华文新魏" panose="02010800040101010101" pitchFamily="2" charset="-122"/>
                <a:ea typeface="华文新魏" panose="02010800040101010101" pitchFamily="2" charset="-122"/>
              </a:rPr>
              <a:t>	int (A::*</a:t>
            </a:r>
            <a:r>
              <a:rPr lang="en-US" altLang="zh-CN" sz="2000" dirty="0" err="1">
                <a:solidFill>
                  <a:srgbClr val="FF0000"/>
                </a:solidFill>
                <a:latin typeface="华文新魏" panose="02010800040101010101" pitchFamily="2" charset="-122"/>
                <a:ea typeface="华文新魏" panose="02010800040101010101" pitchFamily="2" charset="-122"/>
              </a:rPr>
              <a:t>pf_A</a:t>
            </a:r>
            <a:r>
              <a:rPr lang="en-US" altLang="zh-CN" sz="2000" dirty="0">
                <a:solidFill>
                  <a:srgbClr val="FF0000"/>
                </a:solidFill>
                <a:latin typeface="华文新魏" panose="02010800040101010101" pitchFamily="2" charset="-122"/>
                <a:ea typeface="华文新魏" panose="02010800040101010101" pitchFamily="2" charset="-122"/>
              </a:rPr>
              <a:t>)(</a:t>
            </a:r>
            <a:r>
              <a:rPr lang="en-US" altLang="zh-CN" sz="2000" dirty="0" err="1">
                <a:solidFill>
                  <a:srgbClr val="FF0000"/>
                </a:solidFill>
                <a:latin typeface="华文新魏" panose="02010800040101010101" pitchFamily="2" charset="-122"/>
                <a:ea typeface="华文新魏" panose="02010800040101010101" pitchFamily="2" charset="-122"/>
              </a:rPr>
              <a:t>int,int</a:t>
            </a:r>
            <a:r>
              <a:rPr lang="en-US" altLang="zh-CN" sz="2000" dirty="0">
                <a:solidFill>
                  <a:srgbClr val="FF0000"/>
                </a:solidFill>
                <a:latin typeface="华文新魏" panose="02010800040101010101" pitchFamily="2" charset="-122"/>
                <a:ea typeface="华文新魏" panose="02010800040101010101" pitchFamily="2" charset="-122"/>
              </a:rPr>
              <a:t>) = &amp;A::sum;</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5</a:t>
            </a:r>
            <a:r>
              <a:rPr lang="zh-CN" altLang="en-US" b="1" dirty="0">
                <a:latin typeface="隶书" panose="02010509060101010101" pitchFamily="49" charset="-122"/>
                <a:ea typeface="隶书" panose="02010509060101010101" pitchFamily="49" charset="-122"/>
              </a:rPr>
              <a:t>章 </a:t>
            </a:r>
            <a:r>
              <a:rPr lang="zh-CN" altLang="zh-CN" b="1" dirty="0">
                <a:latin typeface="隶书" panose="02010509060101010101" pitchFamily="49" charset="-122"/>
                <a:ea typeface="隶书" panose="02010509060101010101" pitchFamily="49" charset="-122"/>
              </a:rPr>
              <a:t>成员及成员指针</a:t>
            </a:r>
            <a:endParaRPr lang="zh-CN" altLang="en-US" b="1" dirty="0">
              <a:latin typeface="隶书" panose="02010509060101010101" pitchFamily="49" charset="-122"/>
              <a:ea typeface="隶书" panose="02010509060101010101" pitchFamily="49" charset="-122"/>
            </a:endParaRP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838200" y="1414634"/>
            <a:ext cx="10515600" cy="588119"/>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5.5  </a:t>
            </a:r>
            <a:r>
              <a:rPr lang="zh-CN" altLang="en-US" dirty="0">
                <a:latin typeface="华文新魏" panose="02010800040101010101" pitchFamily="2" charset="-122"/>
                <a:ea typeface="华文新魏" panose="02010800040101010101" pitchFamily="2" charset="-122"/>
              </a:rPr>
              <a:t>静态成员指针</a:t>
            </a:r>
          </a:p>
        </p:txBody>
      </p:sp>
      <p:sp>
        <p:nvSpPr>
          <p:cNvPr id="6" name="文本框 5">
            <a:extLst>
              <a:ext uri="{FF2B5EF4-FFF2-40B4-BE49-F238E27FC236}">
                <a16:creationId xmlns:a16="http://schemas.microsoft.com/office/drawing/2014/main" id="{2845B5B1-E0D9-48D9-A8B5-77F96D442EE8}"/>
              </a:ext>
            </a:extLst>
          </p:cNvPr>
          <p:cNvSpPr txBox="1"/>
          <p:nvPr/>
        </p:nvSpPr>
        <p:spPr>
          <a:xfrm>
            <a:off x="423505" y="2085131"/>
            <a:ext cx="10930295" cy="1089529"/>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静态成员指针与普通成员指针有很大区别。静态成员指针存放成员地址，普通成员指针存放成员偏移；静态成员指针可以移动，普通成员指针不能移动；静态成员指针可以强制转换类型，普通成员指针不能强制转换类型。</a:t>
            </a:r>
          </a:p>
        </p:txBody>
      </p:sp>
      <p:grpSp>
        <p:nvGrpSpPr>
          <p:cNvPr id="7" name="Group 8">
            <a:extLst>
              <a:ext uri="{FF2B5EF4-FFF2-40B4-BE49-F238E27FC236}">
                <a16:creationId xmlns:a16="http://schemas.microsoft.com/office/drawing/2014/main" id="{3CD50BEE-50CA-4A3E-8E43-22B6B0FDA736}"/>
              </a:ext>
            </a:extLst>
          </p:cNvPr>
          <p:cNvGrpSpPr>
            <a:grpSpLocks/>
          </p:cNvGrpSpPr>
          <p:nvPr/>
        </p:nvGrpSpPr>
        <p:grpSpPr bwMode="auto">
          <a:xfrm>
            <a:off x="545634" y="3544714"/>
            <a:ext cx="11100732" cy="3048000"/>
            <a:chOff x="624" y="2304"/>
            <a:chExt cx="4750" cy="1776"/>
          </a:xfrm>
        </p:grpSpPr>
        <p:sp>
          <p:nvSpPr>
            <p:cNvPr id="8" name="Rectangle 4">
              <a:extLst>
                <a:ext uri="{FF2B5EF4-FFF2-40B4-BE49-F238E27FC236}">
                  <a16:creationId xmlns:a16="http://schemas.microsoft.com/office/drawing/2014/main" id="{42ED53DF-86E6-4046-A5B3-B98C6502B66F}"/>
                </a:ext>
              </a:extLst>
            </p:cNvPr>
            <p:cNvSpPr>
              <a:spLocks noChangeArrowheads="1"/>
            </p:cNvSpPr>
            <p:nvPr/>
          </p:nvSpPr>
          <p:spPr bwMode="auto">
            <a:xfrm>
              <a:off x="624" y="2304"/>
              <a:ext cx="2256" cy="1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struct A{</a:t>
              </a:r>
            </a:p>
            <a:p>
              <a:pPr>
                <a:lnSpc>
                  <a:spcPct val="90000"/>
                </a:lnSpc>
                <a:spcBef>
                  <a:spcPct val="20000"/>
                </a:spcBef>
                <a:buClr>
                  <a:schemeClr val="folHlink"/>
                </a:buCl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int a, *b;</a:t>
              </a:r>
            </a:p>
            <a:p>
              <a:pPr>
                <a:lnSpc>
                  <a:spcPct val="90000"/>
                </a:lnSpc>
                <a:spcBef>
                  <a:spcPct val="20000"/>
                </a:spcBef>
                <a:buClr>
                  <a:schemeClr val="folHlink"/>
                </a:buCl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int A::*u;   int A::*A::*x;</a:t>
              </a:r>
            </a:p>
            <a:p>
              <a:pPr>
                <a:lnSpc>
                  <a:spcPct val="90000"/>
                </a:lnSpc>
                <a:spcBef>
                  <a:spcPct val="20000"/>
                </a:spcBef>
                <a:buClr>
                  <a:schemeClr val="folHlink"/>
                </a:buCl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int A::**y; int *A::*z;</a:t>
              </a:r>
            </a:p>
            <a:p>
              <a:pPr>
                <a:lnSpc>
                  <a:spcPct val="90000"/>
                </a:lnSpc>
                <a:spcBef>
                  <a:spcPct val="20000"/>
                </a:spcBef>
                <a:buClr>
                  <a:schemeClr val="folHlink"/>
                </a:buCl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static int c, A::*d;</a:t>
              </a:r>
            </a:p>
            <a:p>
              <a:pPr>
                <a:lnSpc>
                  <a:spcPct val="90000"/>
                </a:lnSpc>
                <a:spcBef>
                  <a:spcPct val="20000"/>
                </a:spcBef>
                <a:buClr>
                  <a:schemeClr val="folHlink"/>
                </a:buCl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}z;</a:t>
              </a:r>
            </a:p>
            <a:p>
              <a:pPr>
                <a:lnSpc>
                  <a:spcPct val="90000"/>
                </a:lnSpc>
                <a:spcBef>
                  <a:spcPct val="20000"/>
                </a:spcBef>
                <a:buClr>
                  <a:schemeClr val="folHlink"/>
                </a:buCl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int </a:t>
              </a:r>
              <a:r>
                <a:rPr lang="en-US" altLang="zh-CN" sz="2000" b="1" dirty="0">
                  <a:solidFill>
                    <a:schemeClr val="hlink"/>
                  </a:solidFill>
                  <a:latin typeface="华文新魏" panose="02010800040101010101" pitchFamily="2" charset="-122"/>
                  <a:ea typeface="华文新魏" panose="02010800040101010101" pitchFamily="2" charset="-122"/>
                </a:rPr>
                <a:t>A::c</a:t>
              </a:r>
              <a:r>
                <a:rPr lang="en-US" altLang="zh-CN" sz="2000" b="1" dirty="0">
                  <a:latin typeface="华文新魏" panose="02010800040101010101" pitchFamily="2" charset="-122"/>
                  <a:ea typeface="华文新魏" panose="02010800040101010101" pitchFamily="2" charset="-122"/>
                </a:rPr>
                <a:t>=0;</a:t>
              </a:r>
            </a:p>
            <a:p>
              <a:pPr>
                <a:lnSpc>
                  <a:spcPct val="90000"/>
                </a:lnSpc>
                <a:spcBef>
                  <a:spcPct val="20000"/>
                </a:spcBef>
                <a:buClr>
                  <a:schemeClr val="folHlink"/>
                </a:buCl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int A::* </a:t>
              </a:r>
              <a:r>
                <a:rPr lang="en-US" altLang="zh-CN" sz="2000" b="1" dirty="0">
                  <a:solidFill>
                    <a:schemeClr val="hlink"/>
                  </a:solidFill>
                  <a:latin typeface="华文新魏" panose="02010800040101010101" pitchFamily="2" charset="-122"/>
                  <a:ea typeface="华文新魏" panose="02010800040101010101" pitchFamily="2" charset="-122"/>
                </a:rPr>
                <a:t>A::d</a:t>
              </a:r>
              <a:r>
                <a:rPr lang="en-US" altLang="zh-CN" sz="2000" b="1" dirty="0">
                  <a:latin typeface="华文新魏" panose="02010800040101010101" pitchFamily="2" charset="-122"/>
                  <a:ea typeface="华文新魏" panose="02010800040101010101" pitchFamily="2" charset="-122"/>
                </a:rPr>
                <a:t>=&amp;A::a;</a:t>
              </a:r>
            </a:p>
            <a:p>
              <a:pPr>
                <a:lnSpc>
                  <a:spcPct val="90000"/>
                </a:lnSpc>
                <a:spcBef>
                  <a:spcPct val="20000"/>
                </a:spcBef>
                <a:buClr>
                  <a:schemeClr val="folHlink"/>
                </a:buCl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void main(void){</a:t>
              </a:r>
            </a:p>
          </p:txBody>
        </p:sp>
        <p:sp>
          <p:nvSpPr>
            <p:cNvPr id="9" name="Rectangle 5">
              <a:extLst>
                <a:ext uri="{FF2B5EF4-FFF2-40B4-BE49-F238E27FC236}">
                  <a16:creationId xmlns:a16="http://schemas.microsoft.com/office/drawing/2014/main" id="{E4A333AB-8410-41EA-8FF2-6D77BBEB26FA}"/>
                </a:ext>
              </a:extLst>
            </p:cNvPr>
            <p:cNvSpPr>
              <a:spLocks noChangeArrowheads="1"/>
            </p:cNvSpPr>
            <p:nvPr/>
          </p:nvSpPr>
          <p:spPr bwMode="auto">
            <a:xfrm>
              <a:off x="2523" y="2304"/>
              <a:ext cx="2851" cy="1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folHlink"/>
                </a:buCl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int i, A::**m;</a:t>
              </a:r>
              <a:endParaRPr lang="en-US" altLang="zh-CN" sz="1800" dirty="0">
                <a:latin typeface="华文新魏" panose="02010800040101010101" pitchFamily="2" charset="-122"/>
                <a:ea typeface="华文新魏" panose="02010800040101010101" pitchFamily="2" charset="-122"/>
              </a:endParaRPr>
            </a:p>
            <a:p>
              <a:pPr>
                <a:lnSpc>
                  <a:spcPct val="90000"/>
                </a:lnSpc>
                <a:spcBef>
                  <a:spcPct val="20000"/>
                </a:spcBef>
                <a:buClr>
                  <a:schemeClr val="folHlink"/>
                </a:buCl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z.a</a:t>
              </a:r>
              <a:r>
                <a:rPr lang="en-US" altLang="zh-CN" sz="2000" b="1" dirty="0">
                  <a:latin typeface="华文新魏" panose="02010800040101010101" pitchFamily="2" charset="-122"/>
                  <a:ea typeface="华文新魏" panose="02010800040101010101" pitchFamily="2" charset="-122"/>
                </a:rPr>
                <a:t>=5;</a:t>
              </a:r>
              <a:r>
                <a:rPr lang="en-US" altLang="zh-CN" sz="1800"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z.u</a:t>
              </a:r>
              <a:r>
                <a:rPr lang="en-US" altLang="zh-CN" sz="2000" b="1" dirty="0">
                  <a:latin typeface="华文新魏" panose="02010800040101010101" pitchFamily="2" charset="-122"/>
                  <a:ea typeface="华文新魏" panose="02010800040101010101" pitchFamily="2" charset="-122"/>
                </a:rPr>
                <a:t>=&amp;A::a;</a:t>
              </a:r>
              <a:r>
                <a:rPr lang="en-US" altLang="zh-CN" sz="2000" b="1" dirty="0">
                  <a:solidFill>
                    <a:schemeClr val="hlink"/>
                  </a:solidFill>
                  <a:latin typeface="华文新魏" panose="02010800040101010101" pitchFamily="2" charset="-122"/>
                  <a:ea typeface="华文新魏" panose="02010800040101010101" pitchFamily="2" charset="-122"/>
                </a:rPr>
                <a:t>   i=z.*</a:t>
              </a:r>
              <a:r>
                <a:rPr lang="en-US" altLang="zh-CN" sz="2000" b="1" dirty="0" err="1">
                  <a:solidFill>
                    <a:schemeClr val="hlink"/>
                  </a:solidFill>
                  <a:latin typeface="华文新魏" panose="02010800040101010101" pitchFamily="2" charset="-122"/>
                  <a:ea typeface="华文新魏" panose="02010800040101010101" pitchFamily="2" charset="-122"/>
                </a:rPr>
                <a:t>z.u</a:t>
              </a:r>
              <a:r>
                <a:rPr lang="en-US" altLang="zh-CN" sz="2000" b="1" dirty="0">
                  <a:solidFill>
                    <a:schemeClr val="hlink"/>
                  </a:solidFill>
                  <a:latin typeface="华文新魏" panose="02010800040101010101" pitchFamily="2" charset="-122"/>
                  <a:ea typeface="华文新魏" panose="02010800040101010101" pitchFamily="2" charset="-122"/>
                </a:rPr>
                <a:t> = </a:t>
              </a:r>
              <a:r>
                <a:rPr lang="en-US" altLang="zh-CN" sz="2000" b="1" dirty="0" err="1">
                  <a:solidFill>
                    <a:schemeClr val="hlink"/>
                  </a:solidFill>
                  <a:latin typeface="华文新魏" panose="02010800040101010101" pitchFamily="2" charset="-122"/>
                  <a:ea typeface="华文新魏" panose="02010800040101010101" pitchFamily="2" charset="-122"/>
                </a:rPr>
                <a:t>z.a</a:t>
              </a:r>
              <a:r>
                <a:rPr lang="en-US" altLang="zh-CN" sz="2000" b="1" dirty="0">
                  <a:solidFill>
                    <a:schemeClr val="hlink"/>
                  </a:solidFill>
                  <a:latin typeface="华文新魏" panose="02010800040101010101" pitchFamily="2" charset="-122"/>
                  <a:ea typeface="华文新魏" panose="02010800040101010101" pitchFamily="2" charset="-122"/>
                </a:rPr>
                <a:t>;</a:t>
              </a:r>
            </a:p>
            <a:p>
              <a:pPr>
                <a:lnSpc>
                  <a:spcPct val="90000"/>
                </a:lnSpc>
                <a:spcBef>
                  <a:spcPct val="20000"/>
                </a:spcBef>
                <a:buClr>
                  <a:schemeClr val="folHlink"/>
                </a:buCl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z.x</a:t>
              </a:r>
              <a:r>
                <a:rPr lang="en-US" altLang="zh-CN" sz="2000" b="1" dirty="0">
                  <a:latin typeface="华文新魏" panose="02010800040101010101" pitchFamily="2" charset="-122"/>
                  <a:ea typeface="华文新魏" panose="02010800040101010101" pitchFamily="2" charset="-122"/>
                </a:rPr>
                <a:t>=&amp;A::u;</a:t>
              </a:r>
              <a:r>
                <a:rPr lang="en-US" altLang="zh-CN" sz="2000" b="1" dirty="0">
                  <a:solidFill>
                    <a:schemeClr val="hlink"/>
                  </a:solidFill>
                  <a:latin typeface="华文新魏" panose="02010800040101010101" pitchFamily="2" charset="-122"/>
                  <a:ea typeface="华文新魏" panose="02010800040101010101" pitchFamily="2" charset="-122"/>
                </a:rPr>
                <a:t>   	 i=z.*(z.*</a:t>
              </a:r>
              <a:r>
                <a:rPr lang="en-US" altLang="zh-CN" sz="2000" b="1" dirty="0" err="1">
                  <a:solidFill>
                    <a:schemeClr val="hlink"/>
                  </a:solidFill>
                  <a:latin typeface="华文新魏" panose="02010800040101010101" pitchFamily="2" charset="-122"/>
                  <a:ea typeface="华文新魏" panose="02010800040101010101" pitchFamily="2" charset="-122"/>
                </a:rPr>
                <a:t>z.x</a:t>
              </a:r>
              <a:r>
                <a:rPr lang="en-US" altLang="zh-CN" sz="2000" b="1" dirty="0">
                  <a:solidFill>
                    <a:schemeClr val="hlink"/>
                  </a:solidFill>
                  <a:latin typeface="华文新魏" panose="02010800040101010101" pitchFamily="2" charset="-122"/>
                  <a:ea typeface="华文新魏" panose="02010800040101010101" pitchFamily="2" charset="-122"/>
                </a:rPr>
                <a:t>)=z.</a:t>
              </a:r>
              <a:r>
                <a:rPr lang="zh-CN" altLang="en-US" sz="2000" b="1" dirty="0">
                  <a:solidFill>
                    <a:schemeClr val="hlink"/>
                  </a:solidFill>
                  <a:latin typeface="华文新魏" panose="02010800040101010101" pitchFamily="2" charset="-122"/>
                  <a:ea typeface="华文新魏" panose="02010800040101010101" pitchFamily="2" charset="-122"/>
                </a:rPr>
                <a:t>*</a:t>
              </a:r>
              <a:r>
                <a:rPr lang="en-US" altLang="zh-CN" sz="2000" b="1" dirty="0" err="1">
                  <a:solidFill>
                    <a:schemeClr val="hlink"/>
                  </a:solidFill>
                  <a:latin typeface="华文新魏" panose="02010800040101010101" pitchFamily="2" charset="-122"/>
                  <a:ea typeface="华文新魏" panose="02010800040101010101" pitchFamily="2" charset="-122"/>
                </a:rPr>
                <a:t>z.u</a:t>
              </a:r>
              <a:r>
                <a:rPr lang="en-US" altLang="zh-CN" sz="2000" b="1" dirty="0">
                  <a:solidFill>
                    <a:schemeClr val="hlink"/>
                  </a:solidFill>
                  <a:latin typeface="华文新魏" panose="02010800040101010101" pitchFamily="2" charset="-122"/>
                  <a:ea typeface="华文新魏" panose="02010800040101010101" pitchFamily="2" charset="-122"/>
                </a:rPr>
                <a:t> = </a:t>
              </a:r>
              <a:r>
                <a:rPr lang="en-US" altLang="zh-CN" sz="2000" b="1" dirty="0" err="1">
                  <a:solidFill>
                    <a:schemeClr val="hlink"/>
                  </a:solidFill>
                  <a:latin typeface="华文新魏" panose="02010800040101010101" pitchFamily="2" charset="-122"/>
                  <a:ea typeface="华文新魏" panose="02010800040101010101" pitchFamily="2" charset="-122"/>
                </a:rPr>
                <a:t>z.a</a:t>
              </a:r>
              <a:r>
                <a:rPr lang="en-US" altLang="zh-CN" sz="2000" b="1" dirty="0">
                  <a:solidFill>
                    <a:schemeClr val="hlink"/>
                  </a:solidFill>
                  <a:latin typeface="华文新魏" panose="02010800040101010101" pitchFamily="2" charset="-122"/>
                  <a:ea typeface="华文新魏" panose="02010800040101010101" pitchFamily="2" charset="-122"/>
                </a:rPr>
                <a:t>;</a:t>
              </a:r>
            </a:p>
            <a:p>
              <a:pPr>
                <a:lnSpc>
                  <a:spcPct val="90000"/>
                </a:lnSpc>
                <a:spcBef>
                  <a:spcPct val="20000"/>
                </a:spcBef>
                <a:buClr>
                  <a:schemeClr val="folHlink"/>
                </a:buClr>
                <a:buFont typeface="Wingdings" panose="05000000000000000000" pitchFamily="2" charset="2"/>
                <a:buNone/>
              </a:pPr>
              <a:r>
                <a:rPr lang="en-US" altLang="zh-CN" sz="2000" b="1" dirty="0">
                  <a:solidFill>
                    <a:schemeClr val="hlink"/>
                  </a:solidFill>
                  <a:latin typeface="华文新魏" panose="02010800040101010101" pitchFamily="2" charset="-122"/>
                  <a:ea typeface="华文新魏" panose="02010800040101010101" pitchFamily="2" charset="-122"/>
                </a:rPr>
                <a:t>    m=&amp;A::d;</a:t>
              </a:r>
            </a:p>
            <a:p>
              <a:pPr>
                <a:lnSpc>
                  <a:spcPct val="90000"/>
                </a:lnSpc>
                <a:spcBef>
                  <a:spcPct val="20000"/>
                </a:spcBef>
                <a:buClr>
                  <a:schemeClr val="folHlink"/>
                </a:buCl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m=&amp;</a:t>
              </a:r>
              <a:r>
                <a:rPr lang="en-US" altLang="zh-CN" sz="2000" b="1" dirty="0" err="1">
                  <a:solidFill>
                    <a:srgbClr val="FF0000"/>
                  </a:solidFill>
                  <a:latin typeface="华文新魏" panose="02010800040101010101" pitchFamily="2" charset="-122"/>
                  <a:ea typeface="华文新魏" panose="02010800040101010101" pitchFamily="2" charset="-122"/>
                </a:rPr>
                <a:t>z</a:t>
              </a:r>
              <a:r>
                <a:rPr lang="en-US" altLang="zh-CN" sz="2000" b="1" dirty="0" err="1">
                  <a:latin typeface="华文新魏" panose="02010800040101010101" pitchFamily="2" charset="-122"/>
                  <a:ea typeface="华文新魏" panose="02010800040101010101" pitchFamily="2" charset="-122"/>
                </a:rPr>
                <a:t>.u</a:t>
              </a:r>
              <a:r>
                <a:rPr lang="en-US" altLang="zh-CN" sz="2000" b="1" dirty="0">
                  <a:latin typeface="华文新魏" panose="02010800040101010101" pitchFamily="2" charset="-122"/>
                  <a:ea typeface="华文新魏" panose="02010800040101010101" pitchFamily="2" charset="-122"/>
                </a:rPr>
                <a:t>;      	 </a:t>
              </a:r>
              <a:r>
                <a:rPr lang="en-US" altLang="zh-CN" sz="2000" b="1" dirty="0">
                  <a:solidFill>
                    <a:schemeClr val="hlink"/>
                  </a:solidFill>
                  <a:latin typeface="华文新魏" panose="02010800040101010101" pitchFamily="2" charset="-122"/>
                  <a:ea typeface="华文新魏" panose="02010800040101010101" pitchFamily="2" charset="-122"/>
                </a:rPr>
                <a:t>i=z.**m = z.*</a:t>
              </a:r>
              <a:r>
                <a:rPr lang="en-US" altLang="zh-CN" sz="2000" b="1" dirty="0" err="1">
                  <a:solidFill>
                    <a:schemeClr val="hlink"/>
                  </a:solidFill>
                  <a:latin typeface="华文新魏" panose="02010800040101010101" pitchFamily="2" charset="-122"/>
                  <a:ea typeface="华文新魏" panose="02010800040101010101" pitchFamily="2" charset="-122"/>
                </a:rPr>
                <a:t>z.u</a:t>
              </a:r>
              <a:r>
                <a:rPr lang="en-US" altLang="zh-CN" sz="2000" b="1" dirty="0">
                  <a:solidFill>
                    <a:schemeClr val="hlink"/>
                  </a:solidFill>
                  <a:latin typeface="华文新魏" panose="02010800040101010101" pitchFamily="2" charset="-122"/>
                  <a:ea typeface="华文新魏" panose="02010800040101010101" pitchFamily="2" charset="-122"/>
                </a:rPr>
                <a:t> = </a:t>
              </a:r>
              <a:r>
                <a:rPr lang="en-US" altLang="zh-CN" sz="2000" b="1" dirty="0" err="1">
                  <a:solidFill>
                    <a:schemeClr val="hlink"/>
                  </a:solidFill>
                  <a:latin typeface="华文新魏" panose="02010800040101010101" pitchFamily="2" charset="-122"/>
                  <a:ea typeface="华文新魏" panose="02010800040101010101" pitchFamily="2" charset="-122"/>
                </a:rPr>
                <a:t>z.a</a:t>
              </a:r>
              <a:r>
                <a:rPr lang="en-US" altLang="zh-CN" sz="2000" b="1" dirty="0">
                  <a:solidFill>
                    <a:schemeClr val="hlink"/>
                  </a:solidFill>
                  <a:latin typeface="华文新魏" panose="02010800040101010101" pitchFamily="2" charset="-122"/>
                  <a:ea typeface="华文新魏" panose="02010800040101010101" pitchFamily="2" charset="-122"/>
                </a:rPr>
                <a:t>;</a:t>
              </a:r>
            </a:p>
            <a:p>
              <a:pPr>
                <a:lnSpc>
                  <a:spcPct val="90000"/>
                </a:lnSpc>
                <a:spcBef>
                  <a:spcPct val="20000"/>
                </a:spcBef>
                <a:buClr>
                  <a:schemeClr val="folHlink"/>
                </a:buClr>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z.y</a:t>
              </a:r>
              <a:r>
                <a:rPr lang="en-US" altLang="zh-CN" sz="2000" b="1" dirty="0">
                  <a:latin typeface="华文新魏" panose="02010800040101010101" pitchFamily="2" charset="-122"/>
                  <a:ea typeface="华文新魏" panose="02010800040101010101" pitchFamily="2" charset="-122"/>
                </a:rPr>
                <a:t>=&amp;</a:t>
              </a:r>
              <a:r>
                <a:rPr lang="en-US" altLang="zh-CN" sz="2000" b="1" dirty="0" err="1">
                  <a:latin typeface="华文新魏" panose="02010800040101010101" pitchFamily="2" charset="-122"/>
                  <a:ea typeface="华文新魏" panose="02010800040101010101" pitchFamily="2" charset="-122"/>
                </a:rPr>
                <a:t>z.u</a:t>
              </a:r>
              <a:r>
                <a:rPr lang="en-US" altLang="zh-CN" sz="2000" b="1" dirty="0">
                  <a:latin typeface="华文新魏" panose="02010800040101010101" pitchFamily="2" charset="-122"/>
                  <a:ea typeface="华文新魏" panose="02010800040101010101" pitchFamily="2" charset="-122"/>
                </a:rPr>
                <a:t>;   </a:t>
              </a:r>
              <a:r>
                <a:rPr lang="en-US" altLang="zh-CN" sz="2000" b="1" dirty="0">
                  <a:solidFill>
                    <a:schemeClr val="hlink"/>
                  </a:solidFill>
                  <a:latin typeface="华文新魏" panose="02010800040101010101" pitchFamily="2" charset="-122"/>
                  <a:ea typeface="华文新魏" panose="02010800040101010101" pitchFamily="2" charset="-122"/>
                </a:rPr>
                <a:t>  	 i=z.**</a:t>
              </a:r>
              <a:r>
                <a:rPr lang="en-US" altLang="zh-CN" sz="2000" b="1" dirty="0" err="1">
                  <a:solidFill>
                    <a:schemeClr val="hlink"/>
                  </a:solidFill>
                  <a:latin typeface="华文新魏" panose="02010800040101010101" pitchFamily="2" charset="-122"/>
                  <a:ea typeface="华文新魏" panose="02010800040101010101" pitchFamily="2" charset="-122"/>
                </a:rPr>
                <a:t>z.y</a:t>
              </a:r>
              <a:r>
                <a:rPr lang="en-US" altLang="zh-CN" sz="2000" b="1" dirty="0">
                  <a:solidFill>
                    <a:schemeClr val="hlink"/>
                  </a:solidFill>
                  <a:latin typeface="华文新魏" panose="02010800040101010101" pitchFamily="2" charset="-122"/>
                  <a:ea typeface="华文新魏" panose="02010800040101010101" pitchFamily="2" charset="-122"/>
                </a:rPr>
                <a:t>= z.*</a:t>
              </a:r>
              <a:r>
                <a:rPr lang="en-US" altLang="zh-CN" sz="2000" b="1" dirty="0" err="1">
                  <a:solidFill>
                    <a:schemeClr val="hlink"/>
                  </a:solidFill>
                  <a:latin typeface="华文新魏" panose="02010800040101010101" pitchFamily="2" charset="-122"/>
                  <a:ea typeface="华文新魏" panose="02010800040101010101" pitchFamily="2" charset="-122"/>
                </a:rPr>
                <a:t>z.u</a:t>
              </a:r>
              <a:r>
                <a:rPr lang="en-US" altLang="zh-CN" sz="2000" b="1" dirty="0">
                  <a:solidFill>
                    <a:schemeClr val="hlink"/>
                  </a:solidFill>
                  <a:latin typeface="华文新魏" panose="02010800040101010101" pitchFamily="2" charset="-122"/>
                  <a:ea typeface="华文新魏" panose="02010800040101010101" pitchFamily="2" charset="-122"/>
                </a:rPr>
                <a:t> = </a:t>
              </a:r>
              <a:r>
                <a:rPr lang="en-US" altLang="zh-CN" sz="2000" b="1" dirty="0" err="1">
                  <a:solidFill>
                    <a:schemeClr val="hlink"/>
                  </a:solidFill>
                  <a:latin typeface="华文新魏" panose="02010800040101010101" pitchFamily="2" charset="-122"/>
                  <a:ea typeface="华文新魏" panose="02010800040101010101" pitchFamily="2" charset="-122"/>
                </a:rPr>
                <a:t>z.a</a:t>
              </a:r>
              <a:r>
                <a:rPr lang="en-US" altLang="zh-CN" sz="2000" b="1" dirty="0">
                  <a:solidFill>
                    <a:schemeClr val="hlink"/>
                  </a:solidFill>
                  <a:latin typeface="华文新魏" panose="02010800040101010101" pitchFamily="2" charset="-122"/>
                  <a:ea typeface="华文新魏" panose="02010800040101010101" pitchFamily="2" charset="-122"/>
                </a:rPr>
                <a:t>;</a:t>
              </a:r>
            </a:p>
            <a:p>
              <a:pPr>
                <a:lnSpc>
                  <a:spcPct val="90000"/>
                </a:lnSpc>
                <a:spcBef>
                  <a:spcPct val="20000"/>
                </a:spcBef>
                <a:buClr>
                  <a:schemeClr val="folHlink"/>
                </a:buCl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z.b</a:t>
              </a:r>
              <a:r>
                <a:rPr lang="en-US" altLang="zh-CN" sz="2000" b="1" dirty="0">
                  <a:latin typeface="华文新魏" panose="02010800040101010101" pitchFamily="2" charset="-122"/>
                  <a:ea typeface="华文新魏" panose="02010800040101010101" pitchFamily="2" charset="-122"/>
                </a:rPr>
                <a:t>=&amp;</a:t>
              </a:r>
              <a:r>
                <a:rPr lang="en-US" altLang="zh-CN" sz="2000" b="1" dirty="0" err="1">
                  <a:latin typeface="华文新魏" panose="02010800040101010101" pitchFamily="2" charset="-122"/>
                  <a:ea typeface="华文新魏" panose="02010800040101010101" pitchFamily="2" charset="-122"/>
                </a:rPr>
                <a:t>z.a</a:t>
              </a:r>
              <a:r>
                <a:rPr lang="en-US" altLang="zh-CN" sz="2000" b="1" dirty="0">
                  <a:latin typeface="华文新魏" panose="02010800040101010101" pitchFamily="2" charset="-122"/>
                  <a:ea typeface="华文新魏" panose="02010800040101010101" pitchFamily="2" charset="-122"/>
                </a:rPr>
                <a:t>;	 </a:t>
              </a:r>
            </a:p>
            <a:p>
              <a:pPr>
                <a:lnSpc>
                  <a:spcPct val="90000"/>
                </a:lnSpc>
                <a:spcBef>
                  <a:spcPct val="20000"/>
                </a:spcBef>
                <a:buClr>
                  <a:schemeClr val="folHlink"/>
                </a:buCl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z.z</a:t>
              </a:r>
              <a:r>
                <a:rPr lang="en-US" altLang="zh-CN" sz="2000" b="1" dirty="0">
                  <a:latin typeface="华文新魏" panose="02010800040101010101" pitchFamily="2" charset="-122"/>
                  <a:ea typeface="华文新魏" panose="02010800040101010101" pitchFamily="2" charset="-122"/>
                </a:rPr>
                <a:t>=&amp;A::b;</a:t>
              </a:r>
              <a:r>
                <a:rPr lang="en-US" altLang="zh-CN" sz="2000" b="1" dirty="0">
                  <a:solidFill>
                    <a:schemeClr val="hlink"/>
                  </a:solidFill>
                  <a:latin typeface="华文新魏" panose="02010800040101010101" pitchFamily="2" charset="-122"/>
                  <a:ea typeface="华文新魏" panose="02010800040101010101" pitchFamily="2" charset="-122"/>
                </a:rPr>
                <a:t>   	 i=*(z.*</a:t>
              </a:r>
              <a:r>
                <a:rPr lang="en-US" altLang="zh-CN" sz="2000" b="1" dirty="0" err="1">
                  <a:solidFill>
                    <a:schemeClr val="hlink"/>
                  </a:solidFill>
                  <a:latin typeface="华文新魏" panose="02010800040101010101" pitchFamily="2" charset="-122"/>
                  <a:ea typeface="华文新魏" panose="02010800040101010101" pitchFamily="2" charset="-122"/>
                </a:rPr>
                <a:t>z.z</a:t>
              </a:r>
              <a:r>
                <a:rPr lang="en-US" altLang="zh-CN" sz="2000" b="1" dirty="0">
                  <a:solidFill>
                    <a:schemeClr val="hlink"/>
                  </a:solidFill>
                  <a:latin typeface="华文新魏" panose="02010800040101010101" pitchFamily="2" charset="-122"/>
                  <a:ea typeface="华文新魏" panose="02010800040101010101" pitchFamily="2" charset="-122"/>
                </a:rPr>
                <a:t>) = *(</a:t>
              </a:r>
              <a:r>
                <a:rPr lang="en-US" altLang="zh-CN" sz="2000" b="1" dirty="0" err="1">
                  <a:solidFill>
                    <a:schemeClr val="hlink"/>
                  </a:solidFill>
                  <a:latin typeface="华文新魏" panose="02010800040101010101" pitchFamily="2" charset="-122"/>
                  <a:ea typeface="华文新魏" panose="02010800040101010101" pitchFamily="2" charset="-122"/>
                </a:rPr>
                <a:t>z.b</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 </a:t>
              </a:r>
              <a:r>
                <a:rPr lang="en-US" altLang="zh-CN" sz="2000" b="1" dirty="0">
                  <a:solidFill>
                    <a:schemeClr val="hlink"/>
                  </a:solidFill>
                  <a:latin typeface="华文新魏" panose="02010800040101010101" pitchFamily="2" charset="-122"/>
                  <a:ea typeface="华文新魏" panose="02010800040101010101" pitchFamily="2" charset="-122"/>
                </a:rPr>
                <a:t>=</a:t>
              </a:r>
              <a:r>
                <a:rPr lang="zh-CN" altLang="en-US" sz="2000" b="1" dirty="0">
                  <a:solidFill>
                    <a:schemeClr val="hlink"/>
                  </a:solidFill>
                  <a:latin typeface="华文新魏" panose="02010800040101010101" pitchFamily="2" charset="-122"/>
                  <a:ea typeface="华文新魏" panose="02010800040101010101" pitchFamily="2" charset="-122"/>
                </a:rPr>
                <a:t> </a:t>
              </a:r>
              <a:r>
                <a:rPr lang="en-US" altLang="zh-CN" sz="2000" b="1" dirty="0">
                  <a:solidFill>
                    <a:schemeClr val="hlink"/>
                  </a:solidFill>
                  <a:latin typeface="华文新魏" panose="02010800040101010101" pitchFamily="2" charset="-122"/>
                  <a:ea typeface="华文新魏" panose="02010800040101010101" pitchFamily="2" charset="-122"/>
                </a:rPr>
                <a:t>*(&amp;</a:t>
              </a:r>
              <a:r>
                <a:rPr lang="en-US" altLang="zh-CN" sz="2000" b="1" dirty="0" err="1">
                  <a:solidFill>
                    <a:schemeClr val="hlink"/>
                  </a:solidFill>
                  <a:latin typeface="华文新魏" panose="02010800040101010101" pitchFamily="2" charset="-122"/>
                  <a:ea typeface="华文新魏" panose="02010800040101010101" pitchFamily="2" charset="-122"/>
                </a:rPr>
                <a:t>z.a</a:t>
              </a:r>
              <a:r>
                <a:rPr lang="en-US" altLang="zh-CN" sz="2000" b="1" dirty="0">
                  <a:solidFill>
                    <a:schemeClr val="hlink"/>
                  </a:solidFill>
                  <a:latin typeface="华文新魏" panose="02010800040101010101" pitchFamily="2" charset="-122"/>
                  <a:ea typeface="华文新魏" panose="02010800040101010101" pitchFamily="2" charset="-122"/>
                </a:rPr>
                <a:t>)=</a:t>
              </a:r>
              <a:r>
                <a:rPr lang="en-US" altLang="zh-CN" sz="2000" b="1" dirty="0" err="1">
                  <a:solidFill>
                    <a:schemeClr val="hlink"/>
                  </a:solidFill>
                  <a:latin typeface="华文新魏" panose="02010800040101010101" pitchFamily="2" charset="-122"/>
                  <a:ea typeface="华文新魏" panose="02010800040101010101" pitchFamily="2" charset="-122"/>
                </a:rPr>
                <a:t>z.a</a:t>
              </a:r>
              <a:r>
                <a:rPr lang="en-US" altLang="zh-CN" sz="2000" b="1" dirty="0">
                  <a:solidFill>
                    <a:schemeClr val="hlink"/>
                  </a:solidFill>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	</a:t>
              </a:r>
            </a:p>
            <a:p>
              <a:pPr>
                <a:lnSpc>
                  <a:spcPct val="90000"/>
                </a:lnSpc>
                <a:spcBef>
                  <a:spcPct val="20000"/>
                </a:spcBef>
                <a:buClr>
                  <a:schemeClr val="folHlink"/>
                </a:buClr>
                <a:buFont typeface="Wingdings" panose="05000000000000000000" pitchFamily="2" charset="2"/>
                <a:buNone/>
              </a:pPr>
              <a:r>
                <a:rPr lang="en-US" altLang="zh-CN" sz="2000" b="1" dirty="0">
                  <a:latin typeface="华文新魏" panose="02010800040101010101" pitchFamily="2" charset="-122"/>
                  <a:ea typeface="华文新魏" panose="02010800040101010101" pitchFamily="2" charset="-122"/>
                </a:rPr>
                <a:t>}</a:t>
              </a:r>
            </a:p>
          </p:txBody>
        </p:sp>
        <p:sp>
          <p:nvSpPr>
            <p:cNvPr id="10" name="Line 6">
              <a:extLst>
                <a:ext uri="{FF2B5EF4-FFF2-40B4-BE49-F238E27FC236}">
                  <a16:creationId xmlns:a16="http://schemas.microsoft.com/office/drawing/2014/main" id="{3F72B21A-D4B1-45AD-B5A5-EEE259E438EC}"/>
                </a:ext>
              </a:extLst>
            </p:cNvPr>
            <p:cNvSpPr>
              <a:spLocks noChangeShapeType="1"/>
            </p:cNvSpPr>
            <p:nvPr/>
          </p:nvSpPr>
          <p:spPr bwMode="auto">
            <a:xfrm>
              <a:off x="2461" y="2352"/>
              <a:ext cx="0" cy="1728"/>
            </a:xfrm>
            <a:prstGeom prst="line">
              <a:avLst/>
            </a:prstGeom>
            <a:noFill/>
            <a:ln w="9525">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latin typeface="华文新魏" panose="02010800040101010101" pitchFamily="2" charset="-122"/>
                <a:ea typeface="华文新魏" panose="02010800040101010101" pitchFamily="2" charset="-122"/>
              </a:endParaRPr>
            </a:p>
          </p:txBody>
        </p:sp>
      </p:grpSp>
    </p:spTree>
    <p:extLst>
      <p:ext uri="{BB962C8B-B14F-4D97-AF65-F5344CB8AC3E}">
        <p14:creationId xmlns:p14="http://schemas.microsoft.com/office/powerpoint/2010/main" val="2973075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2921</TotalTime>
  <Words>5798</Words>
  <Application>Microsoft Office PowerPoint</Application>
  <PresentationFormat>宽屏</PresentationFormat>
  <Paragraphs>485</Paragraphs>
  <Slides>36</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36</vt:i4>
      </vt:variant>
    </vt:vector>
  </HeadingPairs>
  <TitlesOfParts>
    <vt:vector size="46" baseType="lpstr">
      <vt:lpstr>Wingdings</vt:lpstr>
      <vt:lpstr>华文新魏</vt:lpstr>
      <vt:lpstr>Tahoma</vt:lpstr>
      <vt:lpstr>Arial</vt:lpstr>
      <vt:lpstr>隶书</vt:lpstr>
      <vt:lpstr>Times New Roman</vt:lpstr>
      <vt:lpstr>等线</vt:lpstr>
      <vt:lpstr>等线 Light</vt:lpstr>
      <vt:lpstr>微软雅黑</vt:lpstr>
      <vt:lpstr>Office 主题​​</vt:lpstr>
      <vt:lpstr>PowerPoint 演示文稿</vt:lpstr>
      <vt:lpstr>第5章 成员及成员指针</vt:lpstr>
      <vt:lpstr>第5章 成员及成员指针</vt:lpstr>
      <vt:lpstr>第5章 成员及成员指针</vt:lpstr>
      <vt:lpstr>实例数据成员指针 </vt:lpstr>
      <vt:lpstr>第5章 成员及成员指针</vt:lpstr>
      <vt:lpstr>第5章 成员及成员指针</vt:lpstr>
      <vt:lpstr>第5章 成员及成员指针</vt:lpstr>
      <vt:lpstr>第5章 成员及成员指针</vt:lpstr>
      <vt:lpstr>第5章 成员及成员指针</vt:lpstr>
      <vt:lpstr>第5章 成员及成员指针</vt:lpstr>
      <vt:lpstr>第5章 成员及成员指针</vt:lpstr>
      <vt:lpstr>第5章 成员及成员指针</vt:lpstr>
      <vt:lpstr>const、volatile和mutable </vt:lpstr>
      <vt:lpstr>第5章 成员及成员指针</vt:lpstr>
      <vt:lpstr>第5章 成员及成员指针</vt:lpstr>
      <vt:lpstr>左值引用对象</vt:lpstr>
      <vt:lpstr>第5章 成员及成员指针</vt:lpstr>
      <vt:lpstr>第5章 成员及成员指针</vt:lpstr>
      <vt:lpstr>第5章 成员及成员指针</vt:lpstr>
      <vt:lpstr>PowerPoint 演示文稿</vt:lpstr>
      <vt:lpstr>PowerPoint 演示文稿</vt:lpstr>
      <vt:lpstr>静态数据成员</vt:lpstr>
      <vt:lpstr>静态数据成员的初始化-非const、非inline成员</vt:lpstr>
      <vt:lpstr>静态数据成员的初始化-非const、非inline成员</vt:lpstr>
      <vt:lpstr>静态数据成员的初始化-const成员</vt:lpstr>
      <vt:lpstr>静态数据成员的初始化-inline成员（17 标准）</vt:lpstr>
      <vt:lpstr>第5章 成员及成员指针</vt:lpstr>
      <vt:lpstr>第5章 成员及成员指针</vt:lpstr>
      <vt:lpstr>第5章 成员及成员指针</vt:lpstr>
      <vt:lpstr>第5章 成员及成员指针</vt:lpstr>
      <vt:lpstr>静态成员指针</vt:lpstr>
      <vt:lpstr>第5章 成员及成员指针</vt:lpstr>
      <vt:lpstr>静态函数成员指针与普通函数成员指针的区别</vt:lpstr>
      <vt:lpstr>静态函数成员指针与普通函数成员指针的区别</vt:lpstr>
      <vt:lpstr>第5章 成员及成员指针</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guangzhi ma</dc:creator>
  <cp:lastModifiedBy>希武 辜</cp:lastModifiedBy>
  <cp:revision>365</cp:revision>
  <dcterms:created xsi:type="dcterms:W3CDTF">2020-04-22T10:23:54Z</dcterms:created>
  <dcterms:modified xsi:type="dcterms:W3CDTF">2024-10-31T16:30:25Z</dcterms:modified>
</cp:coreProperties>
</file>