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99" r:id="rId2"/>
    <p:sldId id="308" r:id="rId3"/>
    <p:sldId id="326" r:id="rId4"/>
    <p:sldId id="282" r:id="rId5"/>
    <p:sldId id="327" r:id="rId6"/>
    <p:sldId id="284" r:id="rId7"/>
    <p:sldId id="285" r:id="rId8"/>
    <p:sldId id="328" r:id="rId9"/>
    <p:sldId id="286" r:id="rId10"/>
    <p:sldId id="283" r:id="rId11"/>
    <p:sldId id="287" r:id="rId12"/>
    <p:sldId id="288" r:id="rId13"/>
    <p:sldId id="289" r:id="rId14"/>
    <p:sldId id="290" r:id="rId15"/>
    <p:sldId id="291" r:id="rId16"/>
    <p:sldId id="329" r:id="rId17"/>
    <p:sldId id="292" r:id="rId18"/>
    <p:sldId id="293" r:id="rId19"/>
    <p:sldId id="294" r:id="rId20"/>
    <p:sldId id="295" r:id="rId21"/>
    <p:sldId id="296" r:id="rId22"/>
    <p:sldId id="297" r:id="rId23"/>
    <p:sldId id="330" r:id="rId24"/>
    <p:sldId id="392" r:id="rId25"/>
    <p:sldId id="316" r:id="rId26"/>
    <p:sldId id="317" r:id="rId27"/>
    <p:sldId id="318" r:id="rId28"/>
    <p:sldId id="387" r:id="rId29"/>
    <p:sldId id="319" r:id="rId30"/>
    <p:sldId id="388" r:id="rId31"/>
    <p:sldId id="320" r:id="rId32"/>
    <p:sldId id="400" r:id="rId33"/>
    <p:sldId id="321" r:id="rId34"/>
    <p:sldId id="389" r:id="rId35"/>
    <p:sldId id="322" r:id="rId36"/>
    <p:sldId id="300" r:id="rId37"/>
    <p:sldId id="301" r:id="rId38"/>
    <p:sldId id="302" r:id="rId39"/>
    <p:sldId id="303" r:id="rId40"/>
    <p:sldId id="304" r:id="rId41"/>
    <p:sldId id="305" r:id="rId42"/>
    <p:sldId id="323" r:id="rId43"/>
    <p:sldId id="324" r:id="rId44"/>
    <p:sldId id="309" r:id="rId45"/>
    <p:sldId id="313" r:id="rId46"/>
    <p:sldId id="314" r:id="rId47"/>
    <p:sldId id="315" r:id="rId48"/>
    <p:sldId id="390" r:id="rId49"/>
    <p:sldId id="391" r:id="rId50"/>
    <p:sldId id="386" r:id="rId5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69B3F1"/>
    <a:srgbClr val="A5002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3" autoAdjust="0"/>
    <p:restoredTop sz="92819" autoAdjust="0"/>
  </p:normalViewPr>
  <p:slideViewPr>
    <p:cSldViewPr>
      <p:cViewPr varScale="1">
        <p:scale>
          <a:sx n="107" d="100"/>
          <a:sy n="107" d="100"/>
        </p:scale>
        <p:origin x="732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5C7C03-B8DB-444D-B846-64B4DA1DB2C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.1608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5-04-22T07:39:33.8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21996 10478 0,'0'17'93,"17"1"-77,54 52 15,17 19-15,-53-54 0,1-18-16,-1 19 15,88 52 16,-52-35-15,-1-18 0,-52 0-1,17-17 17,-17 0-17,35 17 1,-18 0 15,-17-17-15,0 17-1,-1-17 1,18 17 15,-17-17-15,17-1-1,1 19 1,-19-19 15,1 19-15,17-19 0,-17 18 15,-1 1-16,36 17 1,-35-18 0,0-17 15,-1-1-15,1 1-1,0 17 16,-1-17 1,-17-1-17,18-17 17,-18 18-17</inkml:trace>
  <inkml:trace contextRef="#ctx0" brushRef="#br0" timeOffset="1435.87">20796 11800 0,'0'18'47,"0"0"-31,18-1-1,17 1 1,36 53 0,52 87 15,-35-70-15,36 36-1,-1-18 1,-70-36 15,-17-34-15,-19-19-1,1 19 17,17-1-17,-17-35 1,-1 17-1,1 1 17,0 0-17,-1-1 1,1 19 15,70 52-15,-35-35-1,-18-36 1,-17 19 15,17-19-15,-17 1 15,0-18 94</inkml:trace>
  <inkml:trace contextRef="#ctx0" brushRef="#br0" timeOffset="5282.054">19473 10037 0,'0'-18'31,"-17"18"47,-1 0-62,0-18-1,-17 18 1,-71 0 0,-70 0 15,35 18-15,-36-18-1,89 0 1,-18 0 15,53 0-15,1 0-1,16 0 17,19 0-32,-19 0 15,1 0 1,17 0 15,-17 0-15,0 0-1,0-18 1,-1 18 15,19 0-15,-19-17-1,19-1 1,-18 0 15,17 1-15,-17-1 0,-1 18 15,19 0-16,-1-18 1,-17 18 0,17 0 15,0-17-15,-17 17-1,18-18 32,-1 18-16,0 0 47,1 0-46,-1 0-17,0 0 1,1 0 15,-1 18-15,0-18-16,1 17 15,-18-17 17,17 0-17,-17 18 1,17-18 0,0 0 62</inkml:trace>
  <inkml:trace contextRef="#ctx0" brushRef="#br0" timeOffset="7007.326">17798 13353 0,'35'17'125,"0"1"-109,230 17 0,-36 18-1,212 18 16,-106-18-15,-194-18 0,-52-18-1,-19-17 17,-35 0-17,-4092 0 1,8167 0-1,-8167 0 17,8167 0-17,-4092 0 1,17 0 15,0 0-15,-17 0-1,0 0 1,17 0 15,-17 0-15,-1-17 0,18 17 15,-17-18-16,0 18 1,17 0 31,-17-17 0</inkml:trace>
  <inkml:trace contextRef="#ctx0" brushRef="#br0" timeOffset="17976.028">16686 11765 0,'36'0'203,"17"35"-187,-18-35-16,0 18 31,-17 0-31,-1-1 16,19 19-1,-19 34 1,36 124 15,-35-123-15,35 52 0,-18-52 15,-17-54-16,-18 19 1,0-19 0,17 19 15,-17-19-15,36 19-1,-19 16 16,36 37 1,-53-72-32,18 19 15,-1-1 17,1 0-17,17 18 1,-17 0-1,0-35 17,-1-1-17,-17 19 1,36-19 15,-36 1-15,0-1-1,17 1 1,-17 0 15,0-1 16,18-17-31,-18 18-1,0 0 1,17-1 15,1 1-15,-18 0 0,18-1-1,-1-17 16,-17 18-15,18-1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CBE670-A03B-4613-ABA3-8FF5B5DF041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F83E34-CE06-4370-A9E0-903B0940968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525C67-CF24-42D6-8C99-06343AF63DA5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28155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525C67-CF24-42D6-8C99-06343AF63DA5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525C67-CF24-42D6-8C99-06343AF63DA5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87111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56A730-4ED9-480E-8F6C-B035E81783B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A2C231-40D3-423C-9EA7-3F2F34ABA4F3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525C67-CF24-42D6-8C99-06343AF63DA5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76230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8DC0F-A830-4C02-ACB6-9582F0EA8E31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A43715-99DD-4CE0-9A6E-2DED107BCC02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413387-01FB-408A-A234-242754BC360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D429B6-4DD6-40FB-864D-2B55775EAAF7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370008-7E30-43F6-BDAD-ECFC68173BAC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464211-93C4-47BB-871F-6205F8B77FFD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FD57F5-037E-4905-950F-7DCC45F4D61E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D429B6-4DD6-40FB-864D-2B55775EAAF7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0001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841AE-11BE-47D3-9435-0E6836DC4915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D6F34F-E42D-4FBC-89DA-92F4AA9EDE02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449F74-4626-4A46-84AE-196837B33830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729110-649B-4396-9CD2-761C9CEF9B20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1A13C-2271-470B-B374-353C7680909B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F02B68-23A5-4763-A1D8-B0CB6B157473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F1CDC6-8B06-49DD-B854-FE92751E9DA2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飞机</a:t>
            </a:r>
            <a:r>
              <a:rPr lang="en-US" altLang="zh-CN" dirty="0"/>
              <a:t>-</a:t>
            </a:r>
            <a:r>
              <a:rPr lang="zh-CN" altLang="en-US" dirty="0"/>
              <a:t>节点，飞机过站时间重叠</a:t>
            </a:r>
            <a:r>
              <a:rPr lang="en-US" altLang="zh-CN" dirty="0"/>
              <a:t>-</a:t>
            </a:r>
            <a:r>
              <a:rPr lang="zh-CN" altLang="en-US" dirty="0"/>
              <a:t>边，停机位</a:t>
            </a:r>
            <a:r>
              <a:rPr lang="en-US" altLang="zh-CN" dirty="0"/>
              <a:t>-</a:t>
            </a:r>
            <a:r>
              <a:rPr lang="zh-CN" altLang="en-US" dirty="0"/>
              <a:t>颜色</a:t>
            </a:r>
            <a:endParaRPr lang="en-US" altLang="zh-CN" dirty="0"/>
          </a:p>
          <a:p>
            <a:r>
              <a:rPr lang="zh-CN" altLang="en-US" dirty="0"/>
              <a:t>传输业务</a:t>
            </a:r>
            <a:r>
              <a:rPr lang="en-US" altLang="zh-CN" dirty="0"/>
              <a:t>-</a:t>
            </a:r>
            <a:r>
              <a:rPr lang="zh-CN" altLang="en-US" dirty="0"/>
              <a:t>节点，业务路径交叉</a:t>
            </a:r>
            <a:r>
              <a:rPr lang="en-US" altLang="zh-CN" dirty="0"/>
              <a:t>-</a:t>
            </a:r>
            <a:r>
              <a:rPr lang="zh-CN" altLang="en-US" dirty="0"/>
              <a:t>边，波长</a:t>
            </a:r>
            <a:r>
              <a:rPr lang="en-US" altLang="zh-CN" dirty="0"/>
              <a:t>-</a:t>
            </a:r>
            <a:r>
              <a:rPr lang="zh-CN" altLang="en-US" dirty="0"/>
              <a:t>颜色</a:t>
            </a:r>
            <a:endParaRPr lang="en-US" altLang="zh-CN" dirty="0"/>
          </a:p>
          <a:p>
            <a:r>
              <a:rPr lang="zh-CN" altLang="en-US" dirty="0"/>
              <a:t>学生</a:t>
            </a:r>
            <a:r>
              <a:rPr lang="en-US" altLang="zh-CN" dirty="0"/>
              <a:t>-</a:t>
            </a:r>
            <a:r>
              <a:rPr lang="zh-CN" altLang="en-US" dirty="0"/>
              <a:t>左侧节点，老师</a:t>
            </a:r>
            <a:r>
              <a:rPr lang="en-US" altLang="zh-CN" dirty="0"/>
              <a:t>-</a:t>
            </a:r>
            <a:r>
              <a:rPr lang="zh-CN" altLang="en-US" dirty="0"/>
              <a:t>右侧节点，老师给学生上课</a:t>
            </a:r>
            <a:r>
              <a:rPr lang="en-US" altLang="zh-CN" dirty="0"/>
              <a:t>-</a:t>
            </a:r>
            <a:r>
              <a:rPr lang="zh-CN" altLang="en-US" dirty="0"/>
              <a:t>边，上课时段</a:t>
            </a:r>
            <a:r>
              <a:rPr lang="en-US" altLang="zh-CN" dirty="0"/>
              <a:t>-</a:t>
            </a:r>
            <a:r>
              <a:rPr lang="zh-CN" altLang="en-US" dirty="0"/>
              <a:t>颜色</a:t>
            </a:r>
            <a:endParaRPr lang="en-US" altLang="zh-CN" dirty="0"/>
          </a:p>
          <a:p>
            <a:r>
              <a:rPr lang="zh-CN" altLang="en-US" dirty="0"/>
              <a:t>行政区</a:t>
            </a:r>
            <a:r>
              <a:rPr lang="en-US" altLang="zh-CN" dirty="0"/>
              <a:t>-</a:t>
            </a:r>
            <a:r>
              <a:rPr lang="zh-CN" altLang="en-US" dirty="0"/>
              <a:t>节点，行政区接壤</a:t>
            </a:r>
            <a:r>
              <a:rPr lang="en-US" altLang="zh-CN" dirty="0"/>
              <a:t>-</a:t>
            </a:r>
            <a:r>
              <a:rPr lang="zh-CN" altLang="en-US" dirty="0"/>
              <a:t>边，颜色</a:t>
            </a:r>
            <a:r>
              <a:rPr lang="en-US" altLang="zh-CN" dirty="0"/>
              <a:t>-</a:t>
            </a:r>
            <a:r>
              <a:rPr lang="zh-CN" altLang="en-US" dirty="0"/>
              <a:t>颜色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795322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525C67-CF24-42D6-8C99-06343AF63DA5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972095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F1CDC6-8B06-49DD-B854-FE92751E9DA2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kai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5ED4E8-D7FF-45BC-A373-CBDF44FC6559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3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C1A9F6-5DEF-404D-85D2-F94536EC0787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3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思路</a:t>
            </a:r>
            <a:r>
              <a:rPr lang="en-US" altLang="zh-CN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：一个</a:t>
            </a:r>
            <a:r>
              <a:rPr lang="el-GR" altLang="zh-CN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12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阶非奇数阶圈的正则图，每个节点必然有两个邻居可以染相同颜色</a:t>
            </a:r>
            <a:endParaRPr lang="en-US" altLang="zh-CN" sz="12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12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（假设邻居颜色均不同，如何调整？）</a:t>
            </a:r>
            <a:endParaRPr lang="en-US" altLang="zh-CN" sz="12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思路</a:t>
            </a:r>
            <a:r>
              <a:rPr lang="en-US" altLang="zh-CN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：非正则图直接以度最小的点为根深度优先搜索，按倒序依次贪心染色；正则图有无割点分情况讨论</a:t>
            </a:r>
            <a:endParaRPr lang="en-US" altLang="zh-CN" sz="12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C1A9F6-5DEF-404D-85D2-F94536EC0787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3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5365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29D5B3-425F-4FD1-BD36-CCBDD056B2C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43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F74AD-F9B8-4DD6-A1B2-29094801827E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954480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F74AD-F9B8-4DD6-A1B2-29094801827E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F74AD-F9B8-4DD6-A1B2-29094801827E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424376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184D40-6853-4B10-84EB-9F460498E331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184D40-6853-4B10-84EB-9F460498E331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459527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3C98CE-F523-4CEA-B891-CB47D2ECCC38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BD91DE-C581-4AB4-A21D-6745BF9AD550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742FEA-903C-4896-AF3C-223F833AEF6D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7ED2F2-D503-4207-AED1-972A0E0AEFC7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D51952-9A0A-442F-98ED-57F61765DB8A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F77AE2-7865-4945-890B-CB49ECAB3AAF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9919CF-D33E-48D0-8899-A2DAFC5FCC09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DA95D4-0C50-4056-BF7D-26C0321D203F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16DAD7-A89D-4C6A-9BFB-73AFFBF8D381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F17AD8-EC24-483A-B924-0F64B9BEA8FA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D2AD20-AFE0-4DCB-87C0-EDF83E7520BB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F2344-B2DB-492A-90D7-70A26A7111E5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ED0615-0A55-4BAE-8CCE-DB9024AC0191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F2344-B2DB-492A-90D7-70A26A7111E5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657626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F2344-B2DB-492A-90D7-70A26A7111E5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8205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C4AC0-EFBD-4E06-AD32-FDC7363C65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038713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57D6C-4008-4D60-87E7-49D852E036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6843137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E0D164-84C4-499E-812F-CAD661D8ED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4205612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0C6DCC-3F8B-4CCF-BC6A-235A7E5204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62305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BBD0C-29F6-403B-9EBD-288E00BD3B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18459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A1C15-A0CC-4017-95A1-5975A8AC7E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75806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C28B6-6B62-4A6C-A9B6-DC357F4D4F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565105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39566-B4B2-4CA9-8BDD-719E1D7203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97376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AB38F-64EE-4658-A74D-109270E5ED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5382881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6E778-1AD3-4063-9F36-E10365B1F1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2440934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D01B-0021-42A1-A8AB-DC3DD8712A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134935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8E1F6AC-6460-4A40-87B7-7E454E1F0D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02299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BEE60A-DD77-4930-8E1E-028FB43358A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24.wmf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6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2025-04-23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1A7F1-9057-4936-8231-C862A170EE0D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974753447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lang="en-US" altLang="zh-CN" sz="2000" b="1" dirty="0">
                <a:solidFill>
                  <a:prstClr val="black"/>
                </a:solidFill>
                <a:latin typeface="Calibri"/>
              </a:rPr>
              <a:t>OO778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40926-980D-4159-BDB5-8C2C2785030A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96365125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3DAA-F222-4C7A-80FF-430DCAEB11D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/>
              <a:t>第十八章支配集、独立集、覆盖集、匹配与着色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边着色</a:t>
            </a:r>
          </a:p>
          <a:p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2C49-3B41-433C-BB5E-F92F73C56120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支配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集</a:t>
            </a:r>
          </a:p>
        </p:txBody>
      </p:sp>
      <p:sp>
        <p:nvSpPr>
          <p:cNvPr id="3174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1  </a:t>
            </a:r>
            <a:r>
              <a:rPr lang="zh-CN" altLang="en-US" dirty="0">
                <a:latin typeface="Times New Roman" panose="02020603050405020304" pitchFamily="18" charset="0"/>
              </a:rPr>
              <a:t>在一个路口安装监控相机可以监控该路口及相邻路口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要覆盖所有路口至少需安装几个摄像头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8AC37D-3C2E-47FD-93DE-A1DA744E728D}"/>
              </a:ext>
            </a:extLst>
          </p:cNvPr>
          <p:cNvSpPr txBox="1"/>
          <p:nvPr/>
        </p:nvSpPr>
        <p:spPr>
          <a:xfrm>
            <a:off x="-1" y="6452617"/>
            <a:ext cx="914400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节点覆盖节点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0F9B6F-99D4-4D68-989E-DCC6E58DD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31" y="2817055"/>
            <a:ext cx="2380952" cy="2961905"/>
          </a:xfrm>
          <a:prstGeom prst="rect">
            <a:avLst/>
          </a:prstGeom>
        </p:spPr>
      </p:pic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3A9D3FF7-2BDE-4508-A6CC-1C4ED7292F59}"/>
              </a:ext>
            </a:extLst>
          </p:cNvPr>
          <p:cNvGrpSpPr/>
          <p:nvPr/>
        </p:nvGrpSpPr>
        <p:grpSpPr>
          <a:xfrm>
            <a:off x="707078" y="2906181"/>
            <a:ext cx="4923394" cy="2860961"/>
            <a:chOff x="1187624" y="3384264"/>
            <a:chExt cx="3532187" cy="2052537"/>
          </a:xfrm>
        </p:grpSpPr>
        <p:grpSp>
          <p:nvGrpSpPr>
            <p:cNvPr id="2" name="组合 1"/>
            <p:cNvGrpSpPr/>
            <p:nvPr/>
          </p:nvGrpSpPr>
          <p:grpSpPr>
            <a:xfrm>
              <a:off x="1187624" y="3384264"/>
              <a:ext cx="3532187" cy="1976438"/>
              <a:chOff x="395536" y="4066889"/>
              <a:chExt cx="3532187" cy="1976438"/>
            </a:xfrm>
          </p:grpSpPr>
          <p:grpSp>
            <p:nvGrpSpPr>
              <p:cNvPr id="8" name="Group 349"/>
              <p:cNvGrpSpPr>
                <a:grpSpLocks/>
              </p:cNvGrpSpPr>
              <p:nvPr/>
            </p:nvGrpSpPr>
            <p:grpSpPr bwMode="auto">
              <a:xfrm>
                <a:off x="395536" y="4084352"/>
                <a:ext cx="3532187" cy="1958975"/>
                <a:chOff x="1673" y="1497"/>
                <a:chExt cx="2225" cy="1234"/>
              </a:xfrm>
            </p:grpSpPr>
            <p:cxnSp>
              <p:nvCxnSpPr>
                <p:cNvPr id="9" name="AutoShape 104"/>
                <p:cNvCxnSpPr>
                  <a:cxnSpLocks noChangeAspect="1" noChangeShapeType="1"/>
                  <a:stCxn id="67" idx="0"/>
                  <a:endCxn id="68" idx="4"/>
                </p:cNvCxnSpPr>
                <p:nvPr/>
              </p:nvCxnSpPr>
              <p:spPr bwMode="auto">
                <a:xfrm>
                  <a:off x="3219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" name="AutoShape 105"/>
                <p:cNvCxnSpPr>
                  <a:cxnSpLocks noChangeAspect="1" noChangeShapeType="1"/>
                  <a:stCxn id="79" idx="2"/>
                  <a:endCxn id="72" idx="6"/>
                </p:cNvCxnSpPr>
                <p:nvPr/>
              </p:nvCxnSpPr>
              <p:spPr bwMode="auto">
                <a:xfrm flipH="1">
                  <a:off x="3248" y="2703"/>
                  <a:ext cx="593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" name="AutoShape 106"/>
                <p:cNvCxnSpPr>
                  <a:cxnSpLocks noChangeAspect="1" noChangeShapeType="1"/>
                  <a:stCxn id="68" idx="0"/>
                  <a:endCxn id="69" idx="4"/>
                </p:cNvCxnSpPr>
                <p:nvPr/>
              </p:nvCxnSpPr>
              <p:spPr bwMode="auto">
                <a:xfrm>
                  <a:off x="3219" y="1947"/>
                  <a:ext cx="0" cy="3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" name="AutoShape 107"/>
                <p:cNvCxnSpPr>
                  <a:cxnSpLocks noChangeAspect="1" noChangeShapeType="1"/>
                  <a:stCxn id="69" idx="0"/>
                  <a:endCxn id="70" idx="4"/>
                </p:cNvCxnSpPr>
                <p:nvPr/>
              </p:nvCxnSpPr>
              <p:spPr bwMode="auto">
                <a:xfrm>
                  <a:off x="3219" y="2342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" name="AutoShape 108"/>
                <p:cNvCxnSpPr>
                  <a:cxnSpLocks noChangeAspect="1" noChangeShapeType="1"/>
                  <a:stCxn id="70" idx="0"/>
                  <a:endCxn id="72" idx="4"/>
                </p:cNvCxnSpPr>
                <p:nvPr/>
              </p:nvCxnSpPr>
              <p:spPr bwMode="auto">
                <a:xfrm>
                  <a:off x="3219" y="2537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" name="AutoShape 109"/>
                <p:cNvCxnSpPr>
                  <a:cxnSpLocks noChangeAspect="1" noChangeShapeType="1"/>
                  <a:stCxn id="67" idx="6"/>
                  <a:endCxn id="73" idx="2"/>
                </p:cNvCxnSpPr>
                <p:nvPr/>
              </p:nvCxnSpPr>
              <p:spPr bwMode="auto">
                <a:xfrm>
                  <a:off x="3248" y="1722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" name="AutoShape 110"/>
                <p:cNvCxnSpPr>
                  <a:cxnSpLocks noChangeAspect="1" noChangeShapeType="1"/>
                  <a:stCxn id="76" idx="0"/>
                  <a:endCxn id="79" idx="4"/>
                </p:cNvCxnSpPr>
                <p:nvPr/>
              </p:nvCxnSpPr>
              <p:spPr bwMode="auto">
                <a:xfrm>
                  <a:off x="3869" y="1555"/>
                  <a:ext cx="0" cy="112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" name="AutoShape 111"/>
                <p:cNvCxnSpPr>
                  <a:cxnSpLocks noChangeAspect="1" noChangeShapeType="1"/>
                  <a:stCxn id="68" idx="6"/>
                  <a:endCxn id="74" idx="2"/>
                </p:cNvCxnSpPr>
                <p:nvPr/>
              </p:nvCxnSpPr>
              <p:spPr bwMode="auto">
                <a:xfrm>
                  <a:off x="3248" y="1918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" name="AutoShape 112"/>
                <p:cNvCxnSpPr>
                  <a:cxnSpLocks noChangeAspect="1" noChangeShapeType="1"/>
                  <a:stCxn id="73" idx="0"/>
                  <a:endCxn id="74" idx="4"/>
                </p:cNvCxnSpPr>
                <p:nvPr/>
              </p:nvCxnSpPr>
              <p:spPr bwMode="auto">
                <a:xfrm>
                  <a:off x="3435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AutoShape 113"/>
                <p:cNvCxnSpPr>
                  <a:cxnSpLocks noChangeAspect="1" noChangeShapeType="1"/>
                  <a:stCxn id="73" idx="6"/>
                  <a:endCxn id="75" idx="2"/>
                </p:cNvCxnSpPr>
                <p:nvPr/>
              </p:nvCxnSpPr>
              <p:spPr bwMode="auto">
                <a:xfrm>
                  <a:off x="3464" y="1722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" name="AutoShape 114"/>
                <p:cNvCxnSpPr>
                  <a:cxnSpLocks noChangeAspect="1" noChangeShapeType="1"/>
                  <a:stCxn id="75" idx="5"/>
                  <a:endCxn id="76" idx="1"/>
                </p:cNvCxnSpPr>
                <p:nvPr/>
              </p:nvCxnSpPr>
              <p:spPr bwMode="auto">
                <a:xfrm flipV="1">
                  <a:off x="3672" y="1546"/>
                  <a:ext cx="177" cy="15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" name="AutoShape 115"/>
                <p:cNvCxnSpPr>
                  <a:cxnSpLocks noChangeAspect="1" noChangeShapeType="1"/>
                  <a:stCxn id="69" idx="6"/>
                  <a:endCxn id="71" idx="2"/>
                </p:cNvCxnSpPr>
                <p:nvPr/>
              </p:nvCxnSpPr>
              <p:spPr bwMode="auto">
                <a:xfrm flipV="1">
                  <a:off x="3248" y="2311"/>
                  <a:ext cx="159" cy="2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1" name="AutoShape 116"/>
                <p:cNvCxnSpPr>
                  <a:cxnSpLocks noChangeAspect="1" noChangeShapeType="1"/>
                  <a:stCxn id="71" idx="0"/>
                  <a:endCxn id="80" idx="4"/>
                </p:cNvCxnSpPr>
                <p:nvPr/>
              </p:nvCxnSpPr>
              <p:spPr bwMode="auto">
                <a:xfrm>
                  <a:off x="3435" y="2340"/>
                  <a:ext cx="1" cy="14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2" name="AutoShape 117"/>
                <p:cNvCxnSpPr>
                  <a:cxnSpLocks noChangeAspect="1" noChangeShapeType="1"/>
                  <a:stCxn id="80" idx="6"/>
                  <a:endCxn id="78" idx="2"/>
                </p:cNvCxnSpPr>
                <p:nvPr/>
              </p:nvCxnSpPr>
              <p:spPr bwMode="auto">
                <a:xfrm>
                  <a:off x="3465" y="2508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3" name="AutoShape 118"/>
                <p:cNvCxnSpPr>
                  <a:cxnSpLocks noChangeAspect="1" noChangeShapeType="1"/>
                  <a:stCxn id="78" idx="7"/>
                  <a:endCxn id="79" idx="3"/>
                </p:cNvCxnSpPr>
                <p:nvPr/>
              </p:nvCxnSpPr>
              <p:spPr bwMode="auto">
                <a:xfrm>
                  <a:off x="3672" y="2528"/>
                  <a:ext cx="177" cy="155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4" name="AutoShape 119"/>
                <p:cNvCxnSpPr>
                  <a:cxnSpLocks noChangeAspect="1" noChangeShapeType="1"/>
                  <a:stCxn id="77" idx="6"/>
                  <a:endCxn id="81" idx="2"/>
                </p:cNvCxnSpPr>
                <p:nvPr/>
              </p:nvCxnSpPr>
              <p:spPr bwMode="auto">
                <a:xfrm>
                  <a:off x="3464" y="2115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5" name="AutoShape 120"/>
                <p:cNvCxnSpPr>
                  <a:cxnSpLocks noChangeAspect="1" noChangeShapeType="1"/>
                  <a:stCxn id="77" idx="0"/>
                  <a:endCxn id="71" idx="4"/>
                </p:cNvCxnSpPr>
                <p:nvPr/>
              </p:nvCxnSpPr>
              <p:spPr bwMode="auto">
                <a:xfrm>
                  <a:off x="3435" y="2144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6" name="AutoShape 121"/>
                <p:cNvCxnSpPr>
                  <a:cxnSpLocks noChangeAspect="1" noChangeShapeType="1"/>
                  <a:stCxn id="70" idx="6"/>
                  <a:endCxn id="80" idx="2"/>
                </p:cNvCxnSpPr>
                <p:nvPr/>
              </p:nvCxnSpPr>
              <p:spPr bwMode="auto">
                <a:xfrm>
                  <a:off x="3248" y="2508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AutoShape 122"/>
                <p:cNvCxnSpPr>
                  <a:cxnSpLocks noChangeAspect="1" noChangeShapeType="1"/>
                  <a:stCxn id="78" idx="4"/>
                  <a:endCxn id="81" idx="0"/>
                </p:cNvCxnSpPr>
                <p:nvPr/>
              </p:nvCxnSpPr>
              <p:spPr bwMode="auto">
                <a:xfrm flipV="1">
                  <a:off x="3652" y="2144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8" name="AutoShape 123"/>
                <p:cNvCxnSpPr>
                  <a:cxnSpLocks noChangeAspect="1" noChangeShapeType="1"/>
                  <a:stCxn id="74" idx="0"/>
                  <a:endCxn id="77" idx="4"/>
                </p:cNvCxnSpPr>
                <p:nvPr/>
              </p:nvCxnSpPr>
              <p:spPr bwMode="auto">
                <a:xfrm>
                  <a:off x="3435" y="1947"/>
                  <a:ext cx="0" cy="14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9" name="AutoShape 124"/>
                <p:cNvCxnSpPr>
                  <a:cxnSpLocks noChangeAspect="1" noChangeShapeType="1"/>
                  <a:stCxn id="81" idx="4"/>
                  <a:endCxn id="75" idx="0"/>
                </p:cNvCxnSpPr>
                <p:nvPr/>
              </p:nvCxnSpPr>
              <p:spPr bwMode="auto">
                <a:xfrm flipV="1">
                  <a:off x="3652" y="1751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0" name="AutoShape 125"/>
                <p:cNvCxnSpPr>
                  <a:cxnSpLocks noChangeAspect="1" noChangeShapeType="1"/>
                  <a:stCxn id="72" idx="2"/>
                  <a:endCxn id="83" idx="6"/>
                </p:cNvCxnSpPr>
                <p:nvPr/>
              </p:nvCxnSpPr>
              <p:spPr bwMode="auto">
                <a:xfrm flipH="1">
                  <a:off x="3032" y="2703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" name="AutoShape 126"/>
                <p:cNvCxnSpPr>
                  <a:cxnSpLocks noChangeAspect="1" noChangeShapeType="1"/>
                  <a:stCxn id="67" idx="2"/>
                  <a:endCxn id="87" idx="6"/>
                </p:cNvCxnSpPr>
                <p:nvPr/>
              </p:nvCxnSpPr>
              <p:spPr bwMode="auto">
                <a:xfrm flipH="1">
                  <a:off x="3032" y="1722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" name="AutoShape 127"/>
                <p:cNvCxnSpPr>
                  <a:cxnSpLocks noChangeAspect="1" noChangeShapeType="1"/>
                  <a:stCxn id="85" idx="2"/>
                  <a:endCxn id="90" idx="2"/>
                </p:cNvCxnSpPr>
                <p:nvPr/>
              </p:nvCxnSpPr>
              <p:spPr bwMode="auto">
                <a:xfrm flipH="1">
                  <a:off x="2381" y="1722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3" name="AutoShape 128"/>
                <p:cNvCxnSpPr>
                  <a:cxnSpLocks noChangeAspect="1" noChangeShapeType="1"/>
                  <a:stCxn id="82" idx="2"/>
                  <a:endCxn id="95" idx="2"/>
                </p:cNvCxnSpPr>
                <p:nvPr/>
              </p:nvCxnSpPr>
              <p:spPr bwMode="auto">
                <a:xfrm flipH="1">
                  <a:off x="2381" y="2703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AutoShape 129"/>
                <p:cNvCxnSpPr>
                  <a:cxnSpLocks noChangeAspect="1" noChangeShapeType="1"/>
                  <a:stCxn id="88" idx="2"/>
                  <a:endCxn id="99" idx="2"/>
                </p:cNvCxnSpPr>
                <p:nvPr/>
              </p:nvCxnSpPr>
              <p:spPr bwMode="auto">
                <a:xfrm flipH="1">
                  <a:off x="1731" y="1526"/>
                  <a:ext cx="1026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AutoShape 130"/>
                <p:cNvCxnSpPr>
                  <a:cxnSpLocks noChangeAspect="1" noChangeShapeType="1"/>
                  <a:stCxn id="76" idx="2"/>
                  <a:endCxn id="88" idx="6"/>
                </p:cNvCxnSpPr>
                <p:nvPr/>
              </p:nvCxnSpPr>
              <p:spPr bwMode="auto">
                <a:xfrm flipH="1">
                  <a:off x="2814" y="1526"/>
                  <a:ext cx="1027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AutoShape 131"/>
                <p:cNvCxnSpPr>
                  <a:cxnSpLocks noChangeAspect="1" noChangeShapeType="1"/>
                  <a:stCxn id="82" idx="6"/>
                  <a:endCxn id="83" idx="2"/>
                </p:cNvCxnSpPr>
                <p:nvPr/>
              </p:nvCxnSpPr>
              <p:spPr bwMode="auto">
                <a:xfrm>
                  <a:off x="2597" y="2703"/>
                  <a:ext cx="37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AutoShape 132"/>
                <p:cNvCxnSpPr>
                  <a:cxnSpLocks noChangeAspect="1" noChangeShapeType="1"/>
                  <a:stCxn id="86" idx="4"/>
                  <a:endCxn id="87" idx="0"/>
                </p:cNvCxnSpPr>
                <p:nvPr/>
              </p:nvCxnSpPr>
              <p:spPr bwMode="auto">
                <a:xfrm flipV="1">
                  <a:off x="3003" y="1751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AutoShape 133"/>
                <p:cNvCxnSpPr>
                  <a:cxnSpLocks noChangeAspect="1" noChangeShapeType="1"/>
                  <a:stCxn id="83" idx="4"/>
                  <a:endCxn id="86" idx="0"/>
                </p:cNvCxnSpPr>
                <p:nvPr/>
              </p:nvCxnSpPr>
              <p:spPr bwMode="auto">
                <a:xfrm flipV="1">
                  <a:off x="3003" y="2144"/>
                  <a:ext cx="0" cy="5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" name="AutoShape 134"/>
                <p:cNvCxnSpPr>
                  <a:cxnSpLocks noChangeAspect="1" noChangeShapeType="1"/>
                  <a:stCxn id="82" idx="4"/>
                  <a:endCxn id="84" idx="0"/>
                </p:cNvCxnSpPr>
                <p:nvPr/>
              </p:nvCxnSpPr>
              <p:spPr bwMode="auto">
                <a:xfrm flipV="1">
                  <a:off x="2568" y="2144"/>
                  <a:ext cx="0" cy="5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0" name="AutoShape 135"/>
                <p:cNvCxnSpPr>
                  <a:cxnSpLocks noChangeAspect="1" noChangeShapeType="1"/>
                  <a:stCxn id="89" idx="6"/>
                  <a:endCxn id="87" idx="2"/>
                </p:cNvCxnSpPr>
                <p:nvPr/>
              </p:nvCxnSpPr>
              <p:spPr bwMode="auto">
                <a:xfrm>
                  <a:off x="2814" y="1722"/>
                  <a:ext cx="161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" name="AutoShape 136"/>
                <p:cNvCxnSpPr>
                  <a:cxnSpLocks noChangeAspect="1" noChangeShapeType="1"/>
                  <a:stCxn id="84" idx="4"/>
                  <a:endCxn id="85" idx="0"/>
                </p:cNvCxnSpPr>
                <p:nvPr/>
              </p:nvCxnSpPr>
              <p:spPr bwMode="auto">
                <a:xfrm flipV="1">
                  <a:off x="2568" y="1751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2" name="AutoShape 137"/>
                <p:cNvCxnSpPr>
                  <a:cxnSpLocks noChangeAspect="1" noChangeShapeType="1"/>
                  <a:stCxn id="84" idx="6"/>
                  <a:endCxn id="86" idx="2"/>
                </p:cNvCxnSpPr>
                <p:nvPr/>
              </p:nvCxnSpPr>
              <p:spPr bwMode="auto">
                <a:xfrm>
                  <a:off x="2597" y="2115"/>
                  <a:ext cx="37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3" name="AutoShape 138"/>
                <p:cNvCxnSpPr>
                  <a:cxnSpLocks noChangeAspect="1" noChangeShapeType="1"/>
                  <a:stCxn id="89" idx="2"/>
                  <a:endCxn id="85" idx="6"/>
                </p:cNvCxnSpPr>
                <p:nvPr/>
              </p:nvCxnSpPr>
              <p:spPr bwMode="auto">
                <a:xfrm flipH="1">
                  <a:off x="2597" y="1722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4" name="AutoShape 139"/>
                <p:cNvCxnSpPr>
                  <a:cxnSpLocks noChangeAspect="1" noChangeShapeType="1"/>
                  <a:stCxn id="88" idx="0"/>
                  <a:endCxn id="89" idx="4"/>
                </p:cNvCxnSpPr>
                <p:nvPr/>
              </p:nvCxnSpPr>
              <p:spPr bwMode="auto">
                <a:xfrm>
                  <a:off x="2785" y="1555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5" name="AutoShape 140"/>
                <p:cNvCxnSpPr>
                  <a:cxnSpLocks noChangeAspect="1" noChangeShapeType="1"/>
                  <a:stCxn id="90" idx="0"/>
                  <a:endCxn id="91" idx="4"/>
                </p:cNvCxnSpPr>
                <p:nvPr/>
              </p:nvCxnSpPr>
              <p:spPr bwMode="auto">
                <a:xfrm>
                  <a:off x="2352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6" name="AutoShape 141"/>
                <p:cNvCxnSpPr>
                  <a:cxnSpLocks noChangeAspect="1" noChangeShapeType="1"/>
                  <a:stCxn id="102" idx="2"/>
                  <a:endCxn id="95" idx="6"/>
                </p:cNvCxnSpPr>
                <p:nvPr/>
              </p:nvCxnSpPr>
              <p:spPr bwMode="auto">
                <a:xfrm>
                  <a:off x="1731" y="2703"/>
                  <a:ext cx="593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" name="AutoShape 142"/>
                <p:cNvCxnSpPr>
                  <a:cxnSpLocks noChangeAspect="1" noChangeShapeType="1"/>
                  <a:stCxn id="91" idx="0"/>
                  <a:endCxn id="92" idx="4"/>
                </p:cNvCxnSpPr>
                <p:nvPr/>
              </p:nvCxnSpPr>
              <p:spPr bwMode="auto">
                <a:xfrm>
                  <a:off x="2352" y="1947"/>
                  <a:ext cx="0" cy="3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8" name="AutoShape 143"/>
                <p:cNvCxnSpPr>
                  <a:cxnSpLocks noChangeAspect="1" noChangeShapeType="1"/>
                  <a:stCxn id="92" idx="0"/>
                  <a:endCxn id="93" idx="4"/>
                </p:cNvCxnSpPr>
                <p:nvPr/>
              </p:nvCxnSpPr>
              <p:spPr bwMode="auto">
                <a:xfrm>
                  <a:off x="2352" y="2342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9" name="AutoShape 144"/>
                <p:cNvCxnSpPr>
                  <a:cxnSpLocks noChangeAspect="1" noChangeShapeType="1"/>
                  <a:stCxn id="93" idx="0"/>
                  <a:endCxn id="95" idx="4"/>
                </p:cNvCxnSpPr>
                <p:nvPr/>
              </p:nvCxnSpPr>
              <p:spPr bwMode="auto">
                <a:xfrm>
                  <a:off x="2352" y="2537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0" name="AutoShape 145"/>
                <p:cNvCxnSpPr>
                  <a:cxnSpLocks noChangeAspect="1" noChangeShapeType="1"/>
                  <a:stCxn id="90" idx="6"/>
                  <a:endCxn id="96" idx="2"/>
                </p:cNvCxnSpPr>
                <p:nvPr/>
              </p:nvCxnSpPr>
              <p:spPr bwMode="auto">
                <a:xfrm flipH="1">
                  <a:off x="2164" y="1722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1" name="AutoShape 146"/>
                <p:cNvCxnSpPr>
                  <a:cxnSpLocks noChangeAspect="1" noChangeShapeType="1"/>
                  <a:stCxn id="99" idx="0"/>
                  <a:endCxn id="102" idx="4"/>
                </p:cNvCxnSpPr>
                <p:nvPr/>
              </p:nvCxnSpPr>
              <p:spPr bwMode="auto">
                <a:xfrm>
                  <a:off x="1702" y="1555"/>
                  <a:ext cx="0" cy="112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2" name="AutoShape 147"/>
                <p:cNvCxnSpPr>
                  <a:cxnSpLocks noChangeAspect="1" noChangeShapeType="1"/>
                  <a:stCxn id="91" idx="6"/>
                  <a:endCxn id="97" idx="2"/>
                </p:cNvCxnSpPr>
                <p:nvPr/>
              </p:nvCxnSpPr>
              <p:spPr bwMode="auto">
                <a:xfrm flipH="1">
                  <a:off x="2164" y="1918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3" name="AutoShape 148"/>
                <p:cNvCxnSpPr>
                  <a:cxnSpLocks noChangeAspect="1" noChangeShapeType="1"/>
                  <a:stCxn id="96" idx="0"/>
                  <a:endCxn id="97" idx="4"/>
                </p:cNvCxnSpPr>
                <p:nvPr/>
              </p:nvCxnSpPr>
              <p:spPr bwMode="auto">
                <a:xfrm>
                  <a:off x="2135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4" name="AutoShape 149"/>
                <p:cNvCxnSpPr>
                  <a:cxnSpLocks noChangeAspect="1" noChangeShapeType="1"/>
                  <a:stCxn id="96" idx="6"/>
                  <a:endCxn id="98" idx="2"/>
                </p:cNvCxnSpPr>
                <p:nvPr/>
              </p:nvCxnSpPr>
              <p:spPr bwMode="auto">
                <a:xfrm flipH="1">
                  <a:off x="1949" y="1722"/>
                  <a:ext cx="15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5" name="AutoShape 150"/>
                <p:cNvCxnSpPr>
                  <a:cxnSpLocks noChangeAspect="1" noChangeShapeType="1"/>
                  <a:stCxn id="98" idx="5"/>
                  <a:endCxn id="99" idx="1"/>
                </p:cNvCxnSpPr>
                <p:nvPr/>
              </p:nvCxnSpPr>
              <p:spPr bwMode="auto">
                <a:xfrm flipH="1" flipV="1">
                  <a:off x="1722" y="1546"/>
                  <a:ext cx="178" cy="15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" name="AutoShape 151"/>
                <p:cNvCxnSpPr>
                  <a:cxnSpLocks noChangeAspect="1" noChangeShapeType="1"/>
                  <a:stCxn id="92" idx="6"/>
                  <a:endCxn id="94" idx="2"/>
                </p:cNvCxnSpPr>
                <p:nvPr/>
              </p:nvCxnSpPr>
              <p:spPr bwMode="auto">
                <a:xfrm flipH="1" flipV="1">
                  <a:off x="2164" y="2311"/>
                  <a:ext cx="160" cy="2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7" name="AutoShape 152"/>
                <p:cNvCxnSpPr>
                  <a:cxnSpLocks noChangeAspect="1" noChangeShapeType="1"/>
                  <a:stCxn id="94" idx="0"/>
                  <a:endCxn id="103" idx="4"/>
                </p:cNvCxnSpPr>
                <p:nvPr/>
              </p:nvCxnSpPr>
              <p:spPr bwMode="auto">
                <a:xfrm>
                  <a:off x="2135" y="2340"/>
                  <a:ext cx="0" cy="14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8" name="AutoShape 153"/>
                <p:cNvCxnSpPr>
                  <a:cxnSpLocks noChangeAspect="1" noChangeShapeType="1"/>
                  <a:stCxn id="103" idx="6"/>
                  <a:endCxn id="101" idx="2"/>
                </p:cNvCxnSpPr>
                <p:nvPr/>
              </p:nvCxnSpPr>
              <p:spPr bwMode="auto">
                <a:xfrm flipH="1">
                  <a:off x="1949" y="2508"/>
                  <a:ext cx="15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9" name="AutoShape 154"/>
                <p:cNvCxnSpPr>
                  <a:cxnSpLocks noChangeAspect="1" noChangeShapeType="1"/>
                  <a:stCxn id="101" idx="7"/>
                  <a:endCxn id="102" idx="3"/>
                </p:cNvCxnSpPr>
                <p:nvPr/>
              </p:nvCxnSpPr>
              <p:spPr bwMode="auto">
                <a:xfrm flipH="1">
                  <a:off x="1722" y="2528"/>
                  <a:ext cx="178" cy="155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0" name="AutoShape 155"/>
                <p:cNvCxnSpPr>
                  <a:cxnSpLocks noChangeAspect="1" noChangeShapeType="1"/>
                  <a:stCxn id="100" idx="6"/>
                  <a:endCxn id="104" idx="2"/>
                </p:cNvCxnSpPr>
                <p:nvPr/>
              </p:nvCxnSpPr>
              <p:spPr bwMode="auto">
                <a:xfrm flipH="1">
                  <a:off x="1949" y="2112"/>
                  <a:ext cx="15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1" name="AutoShape 156"/>
                <p:cNvCxnSpPr>
                  <a:cxnSpLocks noChangeAspect="1" noChangeShapeType="1"/>
                  <a:stCxn id="100" idx="0"/>
                  <a:endCxn id="94" idx="4"/>
                </p:cNvCxnSpPr>
                <p:nvPr/>
              </p:nvCxnSpPr>
              <p:spPr bwMode="auto">
                <a:xfrm>
                  <a:off x="2135" y="2141"/>
                  <a:ext cx="0" cy="142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2" name="AutoShape 157"/>
                <p:cNvCxnSpPr>
                  <a:cxnSpLocks noChangeAspect="1" noChangeShapeType="1"/>
                  <a:stCxn id="93" idx="6"/>
                  <a:endCxn id="103" idx="2"/>
                </p:cNvCxnSpPr>
                <p:nvPr/>
              </p:nvCxnSpPr>
              <p:spPr bwMode="auto">
                <a:xfrm flipH="1">
                  <a:off x="2164" y="2508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3" name="AutoShape 158"/>
                <p:cNvCxnSpPr>
                  <a:cxnSpLocks noChangeAspect="1" noChangeShapeType="1"/>
                  <a:stCxn id="101" idx="4"/>
                  <a:endCxn id="104" idx="0"/>
                </p:cNvCxnSpPr>
                <p:nvPr/>
              </p:nvCxnSpPr>
              <p:spPr bwMode="auto">
                <a:xfrm flipV="1">
                  <a:off x="1920" y="2141"/>
                  <a:ext cx="0" cy="3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4" name="AutoShape 159"/>
                <p:cNvCxnSpPr>
                  <a:cxnSpLocks noChangeAspect="1" noChangeShapeType="1"/>
                  <a:stCxn id="97" idx="0"/>
                  <a:endCxn id="100" idx="4"/>
                </p:cNvCxnSpPr>
                <p:nvPr/>
              </p:nvCxnSpPr>
              <p:spPr bwMode="auto">
                <a:xfrm>
                  <a:off x="2135" y="1947"/>
                  <a:ext cx="0" cy="137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5" name="AutoShape 160"/>
                <p:cNvCxnSpPr>
                  <a:cxnSpLocks noChangeAspect="1" noChangeShapeType="1"/>
                  <a:stCxn id="104" idx="4"/>
                  <a:endCxn id="98" idx="0"/>
                </p:cNvCxnSpPr>
                <p:nvPr/>
              </p:nvCxnSpPr>
              <p:spPr bwMode="auto">
                <a:xfrm flipV="1">
                  <a:off x="1920" y="1751"/>
                  <a:ext cx="0" cy="333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66" name="Group 348"/>
                <p:cNvGrpSpPr>
                  <a:grpSpLocks/>
                </p:cNvGrpSpPr>
                <p:nvPr/>
              </p:nvGrpSpPr>
              <p:grpSpPr bwMode="auto">
                <a:xfrm>
                  <a:off x="1673" y="1497"/>
                  <a:ext cx="2225" cy="1234"/>
                  <a:chOff x="1673" y="1497"/>
                  <a:chExt cx="2225" cy="1234"/>
                </a:xfrm>
              </p:grpSpPr>
              <p:sp>
                <p:nvSpPr>
                  <p:cNvPr id="67" name="Oval 16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68" name="Oval 16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69" name="Oval 16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228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0" name="Oval 16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1" name="Oval 16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2282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2" name="Oval 16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3" name="Oval 16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4" name="Oval 16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5" name="Oval 17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624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6" name="Oval 17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841" y="1497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7" name="Oval 17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8" name="Oval 17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624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9" name="Oval 17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841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0" name="Oval 17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8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1" name="Oval 17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624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2" name="Oval 17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540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3" name="Oval 17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5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4" name="Oval 17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540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5" name="Oval 18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540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6" name="Oval 18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5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7" name="Oval 18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5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8" name="Oval 18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757" y="1497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9" name="Oval 18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757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0" name="Oval 185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1" name="Oval 186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2" name="Oval 187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228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3" name="Oval 188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4" name="Oval 189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2282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5" name="Oval 190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6" name="Oval 191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7" name="Oval 192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8" name="Oval 193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891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9" name="Oval 194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673" y="1497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0" name="Oval 195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208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1" name="Oval 196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891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2" name="Oval 197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673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3" name="Oval 198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4" name="Oval 199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891" y="208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</p:grpSp>
          </p:grpSp>
          <p:grpSp>
            <p:nvGrpSpPr>
              <p:cNvPr id="105" name="Group 347"/>
              <p:cNvGrpSpPr>
                <a:grpSpLocks/>
              </p:cNvGrpSpPr>
              <p:nvPr/>
            </p:nvGrpSpPr>
            <p:grpSpPr bwMode="auto">
              <a:xfrm>
                <a:off x="395536" y="4084352"/>
                <a:ext cx="3532187" cy="1958975"/>
                <a:chOff x="1673" y="1497"/>
                <a:chExt cx="2225" cy="1234"/>
              </a:xfrm>
            </p:grpSpPr>
            <p:sp>
              <p:nvSpPr>
                <p:cNvPr id="106" name="Oval 2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191" y="267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07" name="Oval 2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407" y="188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08" name="Oval 2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624" y="2086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09" name="Oval 230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106" y="188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0" name="Oval 2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191" y="169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1" name="Oval 2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191" y="228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2" name="Oval 2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841" y="1497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3" name="Oval 2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408" y="247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4" name="Oval 2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540" y="267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5" name="Oval 2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5" y="2086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6" name="Oval 2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757" y="169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7" name="Oval 228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323" y="169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8" name="Oval 229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323" y="228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9" name="Oval 231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1673" y="267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0" name="Oval 232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106" y="247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1" name="Oval 233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1891" y="208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</p:grpSp>
          <p:grpSp>
            <p:nvGrpSpPr>
              <p:cNvPr id="122" name="Group 331"/>
              <p:cNvGrpSpPr>
                <a:grpSpLocks/>
              </p:cNvGrpSpPr>
              <p:nvPr/>
            </p:nvGrpSpPr>
            <p:grpSpPr bwMode="auto">
              <a:xfrm>
                <a:off x="736848" y="4066889"/>
                <a:ext cx="2859088" cy="1976438"/>
                <a:chOff x="3467" y="588"/>
                <a:chExt cx="1801" cy="1245"/>
              </a:xfrm>
            </p:grpSpPr>
            <p:sp>
              <p:nvSpPr>
                <p:cNvPr id="123" name="Oval 3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983" y="1373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4" name="Oval 3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767" y="1765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5" name="Oval 3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983" y="980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6" name="Oval 3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5200" y="1177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7" name="Oval 3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116" y="784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8" name="Oval 3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551" y="784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9" name="Oval 3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333" y="588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0" name="Oval 339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682" y="1373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1" name="Oval 340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899" y="1765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2" name="Oval 341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682" y="980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3" name="Oval 342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467" y="1174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</p:grpSp>
        </p:grp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F721A2AF-EE92-4B0E-B927-257C27CB7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5036" y="4444974"/>
              <a:ext cx="0" cy="784226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1085A178-355F-4A9D-B2A2-72E31553F038}"/>
                </a:ext>
              </a:extLst>
            </p:cNvPr>
            <p:cNvCxnSpPr>
              <a:cxnSpLocks/>
              <a:stCxn id="175" idx="5"/>
            </p:cNvCxnSpPr>
            <p:nvPr/>
          </p:nvCxnSpPr>
          <p:spPr>
            <a:xfrm flipV="1">
              <a:off x="3383978" y="5405155"/>
              <a:ext cx="270621" cy="740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CD50F8BA-61C1-444B-9182-BDC708FC9B10}"/>
                </a:ext>
              </a:extLst>
            </p:cNvPr>
            <p:cNvCxnSpPr>
              <a:cxnSpLocks/>
              <a:stCxn id="175" idx="3"/>
            </p:cNvCxnSpPr>
            <p:nvPr/>
          </p:nvCxnSpPr>
          <p:spPr>
            <a:xfrm flipH="1" flipV="1">
              <a:off x="2608436" y="5405155"/>
              <a:ext cx="626318" cy="740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E1C9E1A2-7B78-4FB4-9DD5-557F3712CB05}"/>
                </a:ext>
              </a:extLst>
            </p:cNvPr>
            <p:cNvSpPr/>
            <p:nvPr/>
          </p:nvSpPr>
          <p:spPr>
            <a:xfrm>
              <a:off x="3203848" y="5225765"/>
              <a:ext cx="211036" cy="211036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EFD2B263-4079-481B-836A-73915B8FBCED}"/>
              </a:ext>
            </a:extLst>
          </p:cNvPr>
          <p:cNvSpPr txBox="1"/>
          <p:nvPr/>
        </p:nvSpPr>
        <p:spPr>
          <a:xfrm>
            <a:off x="486905" y="1879861"/>
            <a:ext cx="584612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最少要多少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节点的闭邻域的并集才能得到节点全集？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07922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2C49-3B41-433C-BB5E-F92F73C56120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支配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集与支配数</a:t>
            </a:r>
          </a:p>
        </p:txBody>
      </p:sp>
      <p:sp>
        <p:nvSpPr>
          <p:cNvPr id="3174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marL="457200" indent="-457200"/>
            <a:r>
              <a:rPr lang="zh-CN" altLang="en-US" dirty="0"/>
              <a:t>支配集与支配数</a:t>
            </a:r>
          </a:p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极小支配集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的真子集不是支配集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最小支配集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元素最少的支配集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支配数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最小支配集中的元素个数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F8AC37D-3C2E-47FD-93DE-A1DA744E728D}"/>
              </a:ext>
            </a:extLst>
          </p:cNvPr>
          <p:cNvSpPr txBox="1"/>
          <p:nvPr/>
        </p:nvSpPr>
        <p:spPr>
          <a:xfrm>
            <a:off x="4892957" y="1700808"/>
            <a:ext cx="41311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选中节点闭邻域的并集为节点全集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" name="Rectangle 5"/>
          <p:cNvSpPr>
            <a:spLocks noChangeArrowheads="1"/>
          </p:cNvSpPr>
          <p:nvPr/>
        </p:nvSpPr>
        <p:spPr bwMode="auto">
          <a:xfrm>
            <a:off x="5065551" y="4754894"/>
            <a:ext cx="3987519" cy="11387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极小支配集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</a:t>
            </a:r>
            <a:r>
              <a:rPr kumimoji="0"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</a:t>
            </a:r>
            <a:r>
              <a:rPr kumimoji="0"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...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.</a:t>
            </a:r>
          </a:p>
          <a:p>
            <a:pPr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最小支配集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</a:t>
            </a:r>
            <a:r>
              <a:rPr kumimoji="0"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</a:t>
            </a:r>
            <a:r>
              <a:rPr kumimoji="0"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c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f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  <a:sym typeface="Symbol" panose="05050102010706020507" pitchFamily="18" charset="2"/>
              </a:rPr>
              <a:t></a:t>
            </a:r>
            <a:r>
              <a:rPr kumimoji="0"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0 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=</a:t>
            </a:r>
            <a:r>
              <a:rPr kumimoji="0"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 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2.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51355" y="3880717"/>
            <a:ext cx="2609850" cy="2619375"/>
            <a:chOff x="4419180" y="3658771"/>
            <a:chExt cx="2609850" cy="2619375"/>
          </a:xfrm>
        </p:grpSpPr>
        <p:grpSp>
          <p:nvGrpSpPr>
            <p:cNvPr id="138" name="Group 6"/>
            <p:cNvGrpSpPr>
              <a:grpSpLocks/>
            </p:cNvGrpSpPr>
            <p:nvPr/>
          </p:nvGrpSpPr>
          <p:grpSpPr bwMode="auto">
            <a:xfrm>
              <a:off x="4419180" y="3658771"/>
              <a:ext cx="2609850" cy="2619375"/>
              <a:chOff x="1181" y="1532"/>
              <a:chExt cx="1644" cy="1650"/>
            </a:xfrm>
          </p:grpSpPr>
          <p:grpSp>
            <p:nvGrpSpPr>
              <p:cNvPr id="139" name="Group 7"/>
              <p:cNvGrpSpPr>
                <a:grpSpLocks/>
              </p:cNvGrpSpPr>
              <p:nvPr/>
            </p:nvGrpSpPr>
            <p:grpSpPr bwMode="auto">
              <a:xfrm>
                <a:off x="1446" y="1881"/>
                <a:ext cx="1167" cy="1219"/>
                <a:chOff x="1446" y="1881"/>
                <a:chExt cx="1167" cy="1219"/>
              </a:xfrm>
            </p:grpSpPr>
            <p:sp>
              <p:nvSpPr>
                <p:cNvPr id="147" name="AutoShape 8"/>
                <p:cNvSpPr>
                  <a:spLocks noChangeArrowheads="1"/>
                </p:cNvSpPr>
                <p:nvPr/>
              </p:nvSpPr>
              <p:spPr bwMode="auto">
                <a:xfrm>
                  <a:off x="1446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48" name="AutoShape 9"/>
                <p:cNvSpPr>
                  <a:spLocks noChangeArrowheads="1"/>
                </p:cNvSpPr>
                <p:nvPr/>
              </p:nvSpPr>
              <p:spPr bwMode="auto">
                <a:xfrm>
                  <a:off x="1993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49" name="AutoShape 10"/>
                <p:cNvSpPr>
                  <a:spLocks noChangeArrowheads="1"/>
                </p:cNvSpPr>
                <p:nvPr/>
              </p:nvSpPr>
              <p:spPr bwMode="auto">
                <a:xfrm>
                  <a:off x="2540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50" name="AutoShape 11"/>
                <p:cNvSpPr>
                  <a:spLocks noChangeArrowheads="1"/>
                </p:cNvSpPr>
                <p:nvPr/>
              </p:nvSpPr>
              <p:spPr bwMode="auto">
                <a:xfrm>
                  <a:off x="1993" y="1881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51" name="AutoShape 12"/>
                <p:cNvSpPr>
                  <a:spLocks noChangeArrowheads="1"/>
                </p:cNvSpPr>
                <p:nvPr/>
              </p:nvSpPr>
              <p:spPr bwMode="auto">
                <a:xfrm>
                  <a:off x="1993" y="2645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52" name="AutoShape 13"/>
                <p:cNvSpPr>
                  <a:spLocks noChangeArrowheads="1"/>
                </p:cNvSpPr>
                <p:nvPr/>
              </p:nvSpPr>
              <p:spPr bwMode="auto">
                <a:xfrm>
                  <a:off x="1446" y="3027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53" name="AutoShape 14"/>
                <p:cNvSpPr>
                  <a:spLocks noChangeArrowheads="1"/>
                </p:cNvSpPr>
                <p:nvPr/>
              </p:nvSpPr>
              <p:spPr bwMode="auto">
                <a:xfrm>
                  <a:off x="2540" y="3027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cxnSp>
              <p:nvCxnSpPr>
                <p:cNvPr id="154" name="AutoShape 15"/>
                <p:cNvCxnSpPr>
                  <a:cxnSpLocks noChangeShapeType="1"/>
                  <a:stCxn id="147" idx="7"/>
                  <a:endCxn id="150" idx="3"/>
                </p:cNvCxnSpPr>
                <p:nvPr/>
              </p:nvCxnSpPr>
              <p:spPr bwMode="auto">
                <a:xfrm flipV="1">
                  <a:off x="1508" y="1943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5" name="AutoShape 16"/>
                <p:cNvCxnSpPr>
                  <a:cxnSpLocks noChangeShapeType="1"/>
                  <a:stCxn id="147" idx="5"/>
                  <a:endCxn id="151" idx="1"/>
                </p:cNvCxnSpPr>
                <p:nvPr/>
              </p:nvCxnSpPr>
              <p:spPr bwMode="auto">
                <a:xfrm>
                  <a:off x="1508" y="2325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6" name="AutoShape 17"/>
                <p:cNvCxnSpPr>
                  <a:cxnSpLocks noChangeShapeType="1"/>
                  <a:stCxn id="150" idx="5"/>
                  <a:endCxn id="149" idx="1"/>
                </p:cNvCxnSpPr>
                <p:nvPr/>
              </p:nvCxnSpPr>
              <p:spPr bwMode="auto">
                <a:xfrm>
                  <a:off x="2055" y="1943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7" name="AutoShape 18"/>
                <p:cNvCxnSpPr>
                  <a:cxnSpLocks noChangeShapeType="1"/>
                  <a:stCxn id="151" idx="7"/>
                  <a:endCxn id="149" idx="3"/>
                </p:cNvCxnSpPr>
                <p:nvPr/>
              </p:nvCxnSpPr>
              <p:spPr bwMode="auto">
                <a:xfrm flipV="1">
                  <a:off x="2055" y="2325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8" name="AutoShape 19"/>
                <p:cNvCxnSpPr>
                  <a:cxnSpLocks noChangeShapeType="1"/>
                  <a:stCxn id="152" idx="7"/>
                  <a:endCxn id="151" idx="3"/>
                </p:cNvCxnSpPr>
                <p:nvPr/>
              </p:nvCxnSpPr>
              <p:spPr bwMode="auto">
                <a:xfrm flipV="1">
                  <a:off x="1508" y="2707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9" name="AutoShape 20"/>
                <p:cNvCxnSpPr>
                  <a:cxnSpLocks noChangeShapeType="1"/>
                  <a:stCxn id="151" idx="5"/>
                  <a:endCxn id="153" idx="1"/>
                </p:cNvCxnSpPr>
                <p:nvPr/>
              </p:nvCxnSpPr>
              <p:spPr bwMode="auto">
                <a:xfrm>
                  <a:off x="2055" y="2707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0" name="AutoShape 21"/>
                <p:cNvCxnSpPr>
                  <a:cxnSpLocks noChangeShapeType="1"/>
                  <a:stCxn id="152" idx="6"/>
                  <a:endCxn id="153" idx="2"/>
                </p:cNvCxnSpPr>
                <p:nvPr/>
              </p:nvCxnSpPr>
              <p:spPr bwMode="auto">
                <a:xfrm>
                  <a:off x="1519" y="3064"/>
                  <a:ext cx="1021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1" name="AutoShape 22"/>
                <p:cNvCxnSpPr>
                  <a:cxnSpLocks noChangeShapeType="1"/>
                  <a:stCxn id="147" idx="6"/>
                  <a:endCxn id="148" idx="2"/>
                </p:cNvCxnSpPr>
                <p:nvPr/>
              </p:nvCxnSpPr>
              <p:spPr bwMode="auto">
                <a:xfrm>
                  <a:off x="1519" y="2300"/>
                  <a:ext cx="474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2" name="AutoShape 23"/>
                <p:cNvCxnSpPr>
                  <a:cxnSpLocks noChangeShapeType="1"/>
                  <a:stCxn id="148" idx="6"/>
                  <a:endCxn id="149" idx="2"/>
                </p:cNvCxnSpPr>
                <p:nvPr/>
              </p:nvCxnSpPr>
              <p:spPr bwMode="auto">
                <a:xfrm>
                  <a:off x="2066" y="2300"/>
                  <a:ext cx="474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3" name="AutoShape 24"/>
                <p:cNvCxnSpPr>
                  <a:cxnSpLocks noChangeShapeType="1"/>
                  <a:stCxn id="148" idx="0"/>
                  <a:endCxn id="150" idx="4"/>
                </p:cNvCxnSpPr>
                <p:nvPr/>
              </p:nvCxnSpPr>
              <p:spPr bwMode="auto">
                <a:xfrm flipV="1">
                  <a:off x="2030" y="1954"/>
                  <a:ext cx="0" cy="30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4" name="AutoShape 25"/>
                <p:cNvCxnSpPr>
                  <a:cxnSpLocks noChangeShapeType="1"/>
                  <a:stCxn id="151" idx="0"/>
                  <a:endCxn id="148" idx="4"/>
                </p:cNvCxnSpPr>
                <p:nvPr/>
              </p:nvCxnSpPr>
              <p:spPr bwMode="auto">
                <a:xfrm flipV="1">
                  <a:off x="2030" y="2336"/>
                  <a:ext cx="0" cy="30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40" name="Rectangle 26"/>
              <p:cNvSpPr>
                <a:spLocks noChangeArrowheads="1"/>
              </p:cNvSpPr>
              <p:nvPr/>
            </p:nvSpPr>
            <p:spPr bwMode="auto">
              <a:xfrm>
                <a:off x="1897" y="15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 dirty="0">
                    <a:effectLst/>
                  </a:rPr>
                  <a:t>a</a:t>
                </a:r>
                <a:endParaRPr kumimoji="0" lang="en-US" altLang="zh-CN" sz="2400" dirty="0">
                  <a:effectLst/>
                </a:endParaRPr>
              </a:p>
            </p:txBody>
          </p:sp>
          <p:sp>
            <p:nvSpPr>
              <p:cNvPr id="141" name="Rectangle 27"/>
              <p:cNvSpPr>
                <a:spLocks noChangeArrowheads="1"/>
              </p:cNvSpPr>
              <p:nvPr/>
            </p:nvSpPr>
            <p:spPr bwMode="auto">
              <a:xfrm>
                <a:off x="1181" y="211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b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142" name="Rectangle 28"/>
              <p:cNvSpPr>
                <a:spLocks noChangeArrowheads="1"/>
              </p:cNvSpPr>
              <p:nvPr/>
            </p:nvSpPr>
            <p:spPr bwMode="auto">
              <a:xfrm>
                <a:off x="2048" y="1985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 dirty="0">
                    <a:effectLst/>
                  </a:rPr>
                  <a:t>c</a:t>
                </a:r>
                <a:endParaRPr kumimoji="0" lang="en-US" altLang="zh-CN" sz="2400" dirty="0">
                  <a:effectLst/>
                </a:endParaRPr>
              </a:p>
            </p:txBody>
          </p:sp>
          <p:sp>
            <p:nvSpPr>
              <p:cNvPr id="143" name="Rectangle 29"/>
              <p:cNvSpPr>
                <a:spLocks noChangeArrowheads="1"/>
              </p:cNvSpPr>
              <p:nvPr/>
            </p:nvSpPr>
            <p:spPr bwMode="auto">
              <a:xfrm>
                <a:off x="2613" y="211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d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144" name="Rectangle 30"/>
              <p:cNvSpPr>
                <a:spLocks noChangeArrowheads="1"/>
              </p:cNvSpPr>
              <p:nvPr/>
            </p:nvSpPr>
            <p:spPr bwMode="auto">
              <a:xfrm>
                <a:off x="2086" y="251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e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145" name="Rectangle 31"/>
              <p:cNvSpPr>
                <a:spLocks noChangeArrowheads="1"/>
              </p:cNvSpPr>
              <p:nvPr/>
            </p:nvSpPr>
            <p:spPr bwMode="auto">
              <a:xfrm>
                <a:off x="1181" y="2894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f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146" name="Rectangle 32"/>
              <p:cNvSpPr>
                <a:spLocks noChangeArrowheads="1"/>
              </p:cNvSpPr>
              <p:nvPr/>
            </p:nvSpPr>
            <p:spPr bwMode="auto">
              <a:xfrm>
                <a:off x="2613" y="289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g</a:t>
                </a:r>
                <a:endParaRPr kumimoji="0" lang="en-US" altLang="zh-CN" sz="2400">
                  <a:effectLst/>
                </a:endParaRPr>
              </a:p>
            </p:txBody>
          </p:sp>
        </p:grpSp>
        <p:sp>
          <p:nvSpPr>
            <p:cNvPr id="165" name="AutoShape 33"/>
            <p:cNvSpPr>
              <a:spLocks noChangeArrowheads="1"/>
            </p:cNvSpPr>
            <p:nvPr/>
          </p:nvSpPr>
          <p:spPr bwMode="auto">
            <a:xfrm>
              <a:off x="5676480" y="4181058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66" name="AutoShape 34"/>
            <p:cNvSpPr>
              <a:spLocks noChangeArrowheads="1"/>
            </p:cNvSpPr>
            <p:nvPr/>
          </p:nvSpPr>
          <p:spPr bwMode="auto">
            <a:xfrm>
              <a:off x="5676480" y="5420966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23B2BA14-348F-4247-B024-E374A9BD6F5B}"/>
              </a:ext>
            </a:extLst>
          </p:cNvPr>
          <p:cNvSpPr txBox="1"/>
          <p:nvPr/>
        </p:nvSpPr>
        <p:spPr>
          <a:xfrm>
            <a:off x="9144000" y="0"/>
            <a:ext cx="1905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</a:rPr>
              <a:t>易考：</a:t>
            </a:r>
            <a:endParaRPr lang="en-US" altLang="zh-CN" sz="2000" b="0" dirty="0">
              <a:solidFill>
                <a:srgbClr val="FF9900"/>
              </a:solidFill>
            </a:endParaRPr>
          </a:p>
          <a:p>
            <a:r>
              <a:rPr lang="zh-CN" altLang="en-US" sz="2000" b="0" dirty="0">
                <a:solidFill>
                  <a:srgbClr val="FF9900"/>
                </a:solidFill>
              </a:rPr>
              <a:t>（结合实际应用、图的表示）</a:t>
            </a:r>
            <a:endParaRPr lang="en-US" altLang="zh-CN" sz="2000" b="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求支配数、点独立数、点覆盖数等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b="0" dirty="0">
                <a:solidFill>
                  <a:srgbClr val="FF9900"/>
                </a:solidFill>
              </a:rPr>
              <a:t>各类图特征值间的恒等或互补关系</a:t>
            </a:r>
            <a:endParaRPr lang="en-US" altLang="zh-CN" sz="2000" b="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2C49-3B41-433C-BB5E-F92F73C56120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点独立集</a:t>
            </a:r>
          </a:p>
        </p:txBody>
      </p:sp>
      <p:sp>
        <p:nvSpPr>
          <p:cNvPr id="3174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2 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个实验室一起预订同一间会议室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他们的组会时间如下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</a:rPr>
              <a:t>周一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周二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周四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周四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周五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周二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周六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周日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周四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周六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周五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周日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要求同天不能有两个实验室一起开组会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问该会议室最多供几个实验室使用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8AC37D-3C2E-47FD-93DE-A1DA744E728D}"/>
              </a:ext>
            </a:extLst>
          </p:cNvPr>
          <p:cNvSpPr txBox="1"/>
          <p:nvPr/>
        </p:nvSpPr>
        <p:spPr>
          <a:xfrm>
            <a:off x="-1" y="6452617"/>
            <a:ext cx="914400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节点排斥节点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" name="Rectangle 10">
            <a:extLst>
              <a:ext uri="{FF2B5EF4-FFF2-40B4-BE49-F238E27FC236}">
                <a16:creationId xmlns:a16="http://schemas.microsoft.com/office/drawing/2014/main" id="{C794FDDF-3608-4BC3-AD4C-6EC34DFE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255" y="2956421"/>
            <a:ext cx="2622617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anchorCtr="1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dist" eaLnBrk="1" hangingPunct="1">
              <a:defRPr/>
            </a:pPr>
            <a:r>
              <a:rPr kumimoji="0" lang="en-US" altLang="zh-CN" sz="2000" i="1">
                <a:effectLst/>
              </a:rPr>
              <a:t>abcdef</a:t>
            </a:r>
            <a:endParaRPr kumimoji="0" lang="en-US" altLang="zh-CN" sz="2000">
              <a:effectLst/>
            </a:endParaRPr>
          </a:p>
        </p:txBody>
      </p:sp>
      <p:sp>
        <p:nvSpPr>
          <p:cNvPr id="140" name="Rectangle 11">
            <a:extLst>
              <a:ext uri="{FF2B5EF4-FFF2-40B4-BE49-F238E27FC236}">
                <a16:creationId xmlns:a16="http://schemas.microsoft.com/office/drawing/2014/main" id="{43948692-97B9-4114-B334-0E1AB4A57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936034"/>
            <a:ext cx="365359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anchorCtr="1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dist" eaLnBrk="1" hangingPunct="1">
              <a:defRPr/>
            </a:pPr>
            <a:r>
              <a:rPr kumimoji="0" lang="zh-CN" altLang="en-US" sz="2000" dirty="0">
                <a:effectLst/>
              </a:rPr>
              <a:t>一二三四五六日</a:t>
            </a:r>
          </a:p>
        </p:txBody>
      </p:sp>
      <p:grpSp>
        <p:nvGrpSpPr>
          <p:cNvPr id="141" name="Group 52">
            <a:extLst>
              <a:ext uri="{FF2B5EF4-FFF2-40B4-BE49-F238E27FC236}">
                <a16:creationId xmlns:a16="http://schemas.microsoft.com/office/drawing/2014/main" id="{AD763329-C46F-46CB-9B81-1381A7910DC6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3396159"/>
            <a:ext cx="3499013" cy="1366837"/>
            <a:chOff x="384" y="2642"/>
            <a:chExt cx="1492" cy="861"/>
          </a:xfrm>
        </p:grpSpPr>
        <p:grpSp>
          <p:nvGrpSpPr>
            <p:cNvPr id="142" name="Group 19">
              <a:extLst>
                <a:ext uri="{FF2B5EF4-FFF2-40B4-BE49-F238E27FC236}">
                  <a16:creationId xmlns:a16="http://schemas.microsoft.com/office/drawing/2014/main" id="{3E935E14-25EC-42E2-8825-078D65ACC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" y="2642"/>
              <a:ext cx="1089" cy="68"/>
              <a:chOff x="1576" y="2614"/>
              <a:chExt cx="1089" cy="68"/>
            </a:xfrm>
          </p:grpSpPr>
          <p:sp>
            <p:nvSpPr>
              <p:cNvPr id="166" name="AutoShape 4">
                <a:extLst>
                  <a:ext uri="{FF2B5EF4-FFF2-40B4-BE49-F238E27FC236}">
                    <a16:creationId xmlns:a16="http://schemas.microsoft.com/office/drawing/2014/main" id="{2F160A9D-C15C-471E-B47B-67C174F23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6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7" name="AutoShape 5">
                <a:extLst>
                  <a:ext uri="{FF2B5EF4-FFF2-40B4-BE49-F238E27FC236}">
                    <a16:creationId xmlns:a16="http://schemas.microsoft.com/office/drawing/2014/main" id="{83602393-D388-4963-B894-6D1F6C559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0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8" name="AutoShape 6">
                <a:extLst>
                  <a:ext uri="{FF2B5EF4-FFF2-40B4-BE49-F238E27FC236}">
                    <a16:creationId xmlns:a16="http://schemas.microsoft.com/office/drawing/2014/main" id="{45EB4443-0AAD-4C0B-AD2B-B166D6396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4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9" name="AutoShape 7">
                <a:extLst>
                  <a:ext uri="{FF2B5EF4-FFF2-40B4-BE49-F238E27FC236}">
                    <a16:creationId xmlns:a16="http://schemas.microsoft.com/office/drawing/2014/main" id="{D0738A33-9A8B-4A30-9CF1-B8FA4B18B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70" name="AutoShape 8">
                <a:extLst>
                  <a:ext uri="{FF2B5EF4-FFF2-40B4-BE49-F238E27FC236}">
                    <a16:creationId xmlns:a16="http://schemas.microsoft.com/office/drawing/2014/main" id="{AAD3E7E4-9B86-405F-9ACF-478755C03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2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72" name="AutoShape 9">
                <a:extLst>
                  <a:ext uri="{FF2B5EF4-FFF2-40B4-BE49-F238E27FC236}">
                    <a16:creationId xmlns:a16="http://schemas.microsoft.com/office/drawing/2014/main" id="{FD1CDFD6-266B-4F8F-BE51-A6FCEF12B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7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  <p:grpSp>
          <p:nvGrpSpPr>
            <p:cNvPr id="143" name="Group 20">
              <a:extLst>
                <a:ext uri="{FF2B5EF4-FFF2-40B4-BE49-F238E27FC236}">
                  <a16:creationId xmlns:a16="http://schemas.microsoft.com/office/drawing/2014/main" id="{DE4B2A00-6A0F-4359-B1BF-92EBCF27B4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435"/>
              <a:ext cx="1492" cy="68"/>
              <a:chOff x="1368" y="3407"/>
              <a:chExt cx="1492" cy="68"/>
            </a:xfrm>
          </p:grpSpPr>
          <p:sp>
            <p:nvSpPr>
              <p:cNvPr id="159" name="AutoShape 12">
                <a:extLst>
                  <a:ext uri="{FF2B5EF4-FFF2-40B4-BE49-F238E27FC236}">
                    <a16:creationId xmlns:a16="http://schemas.microsoft.com/office/drawing/2014/main" id="{B0527FE0-F763-4ED6-9FD0-4F238B387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0" name="AutoShape 13">
                <a:extLst>
                  <a:ext uri="{FF2B5EF4-FFF2-40B4-BE49-F238E27FC236}">
                    <a16:creationId xmlns:a16="http://schemas.microsoft.com/office/drawing/2014/main" id="{EC7AFDF8-263E-411A-B266-48CFC6072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5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1" name="AutoShape 14">
                <a:extLst>
                  <a:ext uri="{FF2B5EF4-FFF2-40B4-BE49-F238E27FC236}">
                    <a16:creationId xmlns:a16="http://schemas.microsoft.com/office/drawing/2014/main" id="{61F94A52-2310-49B7-8D7D-A38F027D6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2" name="AutoShape 15">
                <a:extLst>
                  <a:ext uri="{FF2B5EF4-FFF2-40B4-BE49-F238E27FC236}">
                    <a16:creationId xmlns:a16="http://schemas.microsoft.com/office/drawing/2014/main" id="{ADE30DCD-BDAA-45E6-B109-82B36E91A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3" name="AutoShape 16">
                <a:extLst>
                  <a:ext uri="{FF2B5EF4-FFF2-40B4-BE49-F238E27FC236}">
                    <a16:creationId xmlns:a16="http://schemas.microsoft.com/office/drawing/2014/main" id="{91FF4887-1121-4376-96AB-A5C776F2F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4" name="AutoShape 17">
                <a:extLst>
                  <a:ext uri="{FF2B5EF4-FFF2-40B4-BE49-F238E27FC236}">
                    <a16:creationId xmlns:a16="http://schemas.microsoft.com/office/drawing/2014/main" id="{A8CFBCFE-D755-422F-8FB7-54102E4F5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4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5" name="AutoShape 18">
                <a:extLst>
                  <a:ext uri="{FF2B5EF4-FFF2-40B4-BE49-F238E27FC236}">
                    <a16:creationId xmlns:a16="http://schemas.microsoft.com/office/drawing/2014/main" id="{657F5FDA-C1AF-4700-8F68-8D5E280F4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2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  <p:cxnSp>
          <p:nvCxnSpPr>
            <p:cNvPr id="144" name="AutoShape 21">
              <a:extLst>
                <a:ext uri="{FF2B5EF4-FFF2-40B4-BE49-F238E27FC236}">
                  <a16:creationId xmlns:a16="http://schemas.microsoft.com/office/drawing/2014/main" id="{3F0176AE-7CC0-43B6-B5FB-F6C35BAC005B}"/>
                </a:ext>
              </a:extLst>
            </p:cNvPr>
            <p:cNvCxnSpPr>
              <a:cxnSpLocks noChangeShapeType="1"/>
              <a:stCxn id="166" idx="4"/>
              <a:endCxn id="159" idx="0"/>
            </p:cNvCxnSpPr>
            <p:nvPr/>
          </p:nvCxnSpPr>
          <p:spPr bwMode="auto">
            <a:xfrm flipH="1">
              <a:off x="418" y="2710"/>
              <a:ext cx="202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AutoShape 22">
              <a:extLst>
                <a:ext uri="{FF2B5EF4-FFF2-40B4-BE49-F238E27FC236}">
                  <a16:creationId xmlns:a16="http://schemas.microsoft.com/office/drawing/2014/main" id="{D2FF33DA-F24A-4C68-B6D2-81054D9AC8DE}"/>
                </a:ext>
              </a:extLst>
            </p:cNvPr>
            <p:cNvCxnSpPr>
              <a:cxnSpLocks noChangeShapeType="1"/>
              <a:stCxn id="166" idx="4"/>
              <a:endCxn id="160" idx="0"/>
            </p:cNvCxnSpPr>
            <p:nvPr/>
          </p:nvCxnSpPr>
          <p:spPr bwMode="auto">
            <a:xfrm>
              <a:off x="620" y="2710"/>
              <a:ext cx="35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AutoShape 23">
              <a:extLst>
                <a:ext uri="{FF2B5EF4-FFF2-40B4-BE49-F238E27FC236}">
                  <a16:creationId xmlns:a16="http://schemas.microsoft.com/office/drawing/2014/main" id="{A2393D53-3C96-4FEB-9E75-D19ED3237FBB}"/>
                </a:ext>
              </a:extLst>
            </p:cNvPr>
            <p:cNvCxnSpPr>
              <a:cxnSpLocks noChangeShapeType="1"/>
              <a:stCxn id="166" idx="4"/>
              <a:endCxn id="161" idx="0"/>
            </p:cNvCxnSpPr>
            <p:nvPr/>
          </p:nvCxnSpPr>
          <p:spPr bwMode="auto">
            <a:xfrm>
              <a:off x="620" y="2710"/>
              <a:ext cx="272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7" name="AutoShape 24">
              <a:extLst>
                <a:ext uri="{FF2B5EF4-FFF2-40B4-BE49-F238E27FC236}">
                  <a16:creationId xmlns:a16="http://schemas.microsoft.com/office/drawing/2014/main" id="{7D421DF9-63D6-4A2B-8404-385DE51C6D53}"/>
                </a:ext>
              </a:extLst>
            </p:cNvPr>
            <p:cNvCxnSpPr>
              <a:cxnSpLocks noChangeShapeType="1"/>
              <a:stCxn id="167" idx="4"/>
              <a:endCxn id="162" idx="0"/>
            </p:cNvCxnSpPr>
            <p:nvPr/>
          </p:nvCxnSpPr>
          <p:spPr bwMode="auto">
            <a:xfrm>
              <a:off x="824" y="2710"/>
              <a:ext cx="306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8" name="AutoShape 25">
              <a:extLst>
                <a:ext uri="{FF2B5EF4-FFF2-40B4-BE49-F238E27FC236}">
                  <a16:creationId xmlns:a16="http://schemas.microsoft.com/office/drawing/2014/main" id="{4E8F7B1E-3B3A-4A2D-9489-A37D4C92FBFA}"/>
                </a:ext>
              </a:extLst>
            </p:cNvPr>
            <p:cNvCxnSpPr>
              <a:cxnSpLocks noChangeShapeType="1"/>
              <a:stCxn id="167" idx="4"/>
              <a:endCxn id="161" idx="0"/>
            </p:cNvCxnSpPr>
            <p:nvPr/>
          </p:nvCxnSpPr>
          <p:spPr bwMode="auto">
            <a:xfrm>
              <a:off x="824" y="2710"/>
              <a:ext cx="68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9" name="AutoShape 26">
              <a:extLst>
                <a:ext uri="{FF2B5EF4-FFF2-40B4-BE49-F238E27FC236}">
                  <a16:creationId xmlns:a16="http://schemas.microsoft.com/office/drawing/2014/main" id="{00F40A7C-D978-4C84-A9A8-51FBD2E53E75}"/>
                </a:ext>
              </a:extLst>
            </p:cNvPr>
            <p:cNvCxnSpPr>
              <a:cxnSpLocks noChangeShapeType="1"/>
              <a:stCxn id="167" idx="4"/>
              <a:endCxn id="163" idx="0"/>
            </p:cNvCxnSpPr>
            <p:nvPr/>
          </p:nvCxnSpPr>
          <p:spPr bwMode="auto">
            <a:xfrm>
              <a:off x="824" y="2710"/>
              <a:ext cx="543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0" name="AutoShape 27">
              <a:extLst>
                <a:ext uri="{FF2B5EF4-FFF2-40B4-BE49-F238E27FC236}">
                  <a16:creationId xmlns:a16="http://schemas.microsoft.com/office/drawing/2014/main" id="{B6F6045D-270D-49DC-8042-5AF1BA5036B1}"/>
                </a:ext>
              </a:extLst>
            </p:cNvPr>
            <p:cNvCxnSpPr>
              <a:cxnSpLocks noChangeShapeType="1"/>
              <a:stCxn id="168" idx="4"/>
              <a:endCxn id="160" idx="0"/>
            </p:cNvCxnSpPr>
            <p:nvPr/>
          </p:nvCxnSpPr>
          <p:spPr bwMode="auto">
            <a:xfrm flipH="1">
              <a:off x="655" y="2710"/>
              <a:ext cx="373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1" name="AutoShape 28">
              <a:extLst>
                <a:ext uri="{FF2B5EF4-FFF2-40B4-BE49-F238E27FC236}">
                  <a16:creationId xmlns:a16="http://schemas.microsoft.com/office/drawing/2014/main" id="{44B7D5E9-7315-4161-86B3-ADDF35D85BA3}"/>
                </a:ext>
              </a:extLst>
            </p:cNvPr>
            <p:cNvCxnSpPr>
              <a:cxnSpLocks noChangeShapeType="1"/>
              <a:stCxn id="168" idx="4"/>
              <a:endCxn id="164" idx="0"/>
            </p:cNvCxnSpPr>
            <p:nvPr/>
          </p:nvCxnSpPr>
          <p:spPr bwMode="auto">
            <a:xfrm>
              <a:off x="1028" y="2710"/>
              <a:ext cx="576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2" name="AutoShape 29">
              <a:extLst>
                <a:ext uri="{FF2B5EF4-FFF2-40B4-BE49-F238E27FC236}">
                  <a16:creationId xmlns:a16="http://schemas.microsoft.com/office/drawing/2014/main" id="{F0E5A38F-3955-405F-A307-6D898478DBE8}"/>
                </a:ext>
              </a:extLst>
            </p:cNvPr>
            <p:cNvCxnSpPr>
              <a:cxnSpLocks noChangeShapeType="1"/>
              <a:stCxn id="169" idx="4"/>
              <a:endCxn id="159" idx="0"/>
            </p:cNvCxnSpPr>
            <p:nvPr/>
          </p:nvCxnSpPr>
          <p:spPr bwMode="auto">
            <a:xfrm flipH="1">
              <a:off x="418" y="2710"/>
              <a:ext cx="814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" name="AutoShape 30">
              <a:extLst>
                <a:ext uri="{FF2B5EF4-FFF2-40B4-BE49-F238E27FC236}">
                  <a16:creationId xmlns:a16="http://schemas.microsoft.com/office/drawing/2014/main" id="{D864FCE5-6DC6-4791-9213-B0AE47BCE3D3}"/>
                </a:ext>
              </a:extLst>
            </p:cNvPr>
            <p:cNvCxnSpPr>
              <a:cxnSpLocks noChangeShapeType="1"/>
              <a:stCxn id="169" idx="4"/>
              <a:endCxn id="165" idx="0"/>
            </p:cNvCxnSpPr>
            <p:nvPr/>
          </p:nvCxnSpPr>
          <p:spPr bwMode="auto">
            <a:xfrm>
              <a:off x="1232" y="2710"/>
              <a:ext cx="610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4" name="AutoShape 31">
              <a:extLst>
                <a:ext uri="{FF2B5EF4-FFF2-40B4-BE49-F238E27FC236}">
                  <a16:creationId xmlns:a16="http://schemas.microsoft.com/office/drawing/2014/main" id="{E1AF88A0-973E-46EC-A97A-4EBF8B6170EE}"/>
                </a:ext>
              </a:extLst>
            </p:cNvPr>
            <p:cNvCxnSpPr>
              <a:cxnSpLocks noChangeShapeType="1"/>
              <a:stCxn id="170" idx="4"/>
              <a:endCxn id="162" idx="0"/>
            </p:cNvCxnSpPr>
            <p:nvPr/>
          </p:nvCxnSpPr>
          <p:spPr bwMode="auto">
            <a:xfrm flipH="1">
              <a:off x="1130" y="2710"/>
              <a:ext cx="306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5" name="AutoShape 32">
              <a:extLst>
                <a:ext uri="{FF2B5EF4-FFF2-40B4-BE49-F238E27FC236}">
                  <a16:creationId xmlns:a16="http://schemas.microsoft.com/office/drawing/2014/main" id="{F44F9D90-1EC0-4015-AA15-8410A3BB688E}"/>
                </a:ext>
              </a:extLst>
            </p:cNvPr>
            <p:cNvCxnSpPr>
              <a:cxnSpLocks noChangeShapeType="1"/>
              <a:stCxn id="170" idx="4"/>
              <a:endCxn id="164" idx="0"/>
            </p:cNvCxnSpPr>
            <p:nvPr/>
          </p:nvCxnSpPr>
          <p:spPr bwMode="auto">
            <a:xfrm>
              <a:off x="1436" y="2710"/>
              <a:ext cx="168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6" name="AutoShape 33">
              <a:extLst>
                <a:ext uri="{FF2B5EF4-FFF2-40B4-BE49-F238E27FC236}">
                  <a16:creationId xmlns:a16="http://schemas.microsoft.com/office/drawing/2014/main" id="{51B0C52F-F34A-4E4A-8D76-FD7E207C5679}"/>
                </a:ext>
              </a:extLst>
            </p:cNvPr>
            <p:cNvCxnSpPr>
              <a:cxnSpLocks noChangeShapeType="1"/>
              <a:stCxn id="172" idx="4"/>
              <a:endCxn id="163" idx="0"/>
            </p:cNvCxnSpPr>
            <p:nvPr/>
          </p:nvCxnSpPr>
          <p:spPr bwMode="auto">
            <a:xfrm flipH="1">
              <a:off x="1367" y="2710"/>
              <a:ext cx="274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7" name="AutoShape 34">
              <a:extLst>
                <a:ext uri="{FF2B5EF4-FFF2-40B4-BE49-F238E27FC236}">
                  <a16:creationId xmlns:a16="http://schemas.microsoft.com/office/drawing/2014/main" id="{C76B96E6-27C7-44F6-A027-D6E4499CC949}"/>
                </a:ext>
              </a:extLst>
            </p:cNvPr>
            <p:cNvCxnSpPr>
              <a:cxnSpLocks noChangeShapeType="1"/>
              <a:stCxn id="172" idx="4"/>
              <a:endCxn id="165" idx="0"/>
            </p:cNvCxnSpPr>
            <p:nvPr/>
          </p:nvCxnSpPr>
          <p:spPr bwMode="auto">
            <a:xfrm>
              <a:off x="1641" y="2710"/>
              <a:ext cx="201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8" name="AutoShape 51">
              <a:extLst>
                <a:ext uri="{FF2B5EF4-FFF2-40B4-BE49-F238E27FC236}">
                  <a16:creationId xmlns:a16="http://schemas.microsoft.com/office/drawing/2014/main" id="{CA8B61A5-D608-4213-B8C4-C4167643E355}"/>
                </a:ext>
              </a:extLst>
            </p:cNvPr>
            <p:cNvCxnSpPr>
              <a:cxnSpLocks noChangeShapeType="1"/>
              <a:stCxn id="166" idx="4"/>
              <a:endCxn id="162" idx="0"/>
            </p:cNvCxnSpPr>
            <p:nvPr/>
          </p:nvCxnSpPr>
          <p:spPr bwMode="auto">
            <a:xfrm>
              <a:off x="620" y="2710"/>
              <a:ext cx="510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3" name="Group 57">
            <a:extLst>
              <a:ext uri="{FF2B5EF4-FFF2-40B4-BE49-F238E27FC236}">
                <a16:creationId xmlns:a16="http://schemas.microsoft.com/office/drawing/2014/main" id="{4843EB77-AA08-48FF-A243-473521C9A0A2}"/>
              </a:ext>
            </a:extLst>
          </p:cNvPr>
          <p:cNvGrpSpPr>
            <a:grpSpLocks/>
          </p:cNvGrpSpPr>
          <p:nvPr/>
        </p:nvGrpSpPr>
        <p:grpSpPr bwMode="auto">
          <a:xfrm>
            <a:off x="5208447" y="3396159"/>
            <a:ext cx="2879725" cy="1439862"/>
            <a:chOff x="2421" y="2802"/>
            <a:chExt cx="1814" cy="907"/>
          </a:xfrm>
        </p:grpSpPr>
        <p:sp>
          <p:nvSpPr>
            <p:cNvPr id="176" name="AutoShape 37">
              <a:extLst>
                <a:ext uri="{FF2B5EF4-FFF2-40B4-BE49-F238E27FC236}">
                  <a16:creationId xmlns:a16="http://schemas.microsoft.com/office/drawing/2014/main" id="{C8254F01-3DCF-4C62-9E2D-729631EC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2802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77" name="AutoShape 38">
              <a:extLst>
                <a:ext uri="{FF2B5EF4-FFF2-40B4-BE49-F238E27FC236}">
                  <a16:creationId xmlns:a16="http://schemas.microsoft.com/office/drawing/2014/main" id="{B7AF5E44-C21C-4D6E-A556-980CDFFEE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3641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78" name="AutoShape 39">
              <a:extLst>
                <a:ext uri="{FF2B5EF4-FFF2-40B4-BE49-F238E27FC236}">
                  <a16:creationId xmlns:a16="http://schemas.microsoft.com/office/drawing/2014/main" id="{84B276A7-6164-4E0A-9FFF-71B88539D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802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79" name="AutoShape 40">
              <a:extLst>
                <a:ext uri="{FF2B5EF4-FFF2-40B4-BE49-F238E27FC236}">
                  <a16:creationId xmlns:a16="http://schemas.microsoft.com/office/drawing/2014/main" id="{72F2F78E-93B5-4105-8A0E-98CD816BC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2802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80" name="AutoShape 41">
              <a:extLst>
                <a:ext uri="{FF2B5EF4-FFF2-40B4-BE49-F238E27FC236}">
                  <a16:creationId xmlns:a16="http://schemas.microsoft.com/office/drawing/2014/main" id="{067F4F8E-3743-467C-B562-24EC441FB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3641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82" name="AutoShape 42">
              <a:extLst>
                <a:ext uri="{FF2B5EF4-FFF2-40B4-BE49-F238E27FC236}">
                  <a16:creationId xmlns:a16="http://schemas.microsoft.com/office/drawing/2014/main" id="{3A8E518E-A950-4FD2-BD30-C098357E2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3641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cxnSp>
          <p:nvCxnSpPr>
            <p:cNvPr id="183" name="AutoShape 43">
              <a:extLst>
                <a:ext uri="{FF2B5EF4-FFF2-40B4-BE49-F238E27FC236}">
                  <a16:creationId xmlns:a16="http://schemas.microsoft.com/office/drawing/2014/main" id="{DD33035C-E3C4-43D1-BEAD-949F276B5CED}"/>
                </a:ext>
              </a:extLst>
            </p:cNvPr>
            <p:cNvCxnSpPr>
              <a:cxnSpLocks noChangeShapeType="1"/>
              <a:stCxn id="176" idx="2"/>
              <a:endCxn id="179" idx="6"/>
            </p:cNvCxnSpPr>
            <p:nvPr/>
          </p:nvCxnSpPr>
          <p:spPr bwMode="auto">
            <a:xfrm flipH="1">
              <a:off x="2489" y="2836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" name="AutoShape 44">
              <a:extLst>
                <a:ext uri="{FF2B5EF4-FFF2-40B4-BE49-F238E27FC236}">
                  <a16:creationId xmlns:a16="http://schemas.microsoft.com/office/drawing/2014/main" id="{B4C3C1AB-508C-433A-A5B6-26AD18E1002E}"/>
                </a:ext>
              </a:extLst>
            </p:cNvPr>
            <p:cNvCxnSpPr>
              <a:cxnSpLocks noChangeShapeType="1"/>
              <a:stCxn id="176" idx="6"/>
              <a:endCxn id="178" idx="2"/>
            </p:cNvCxnSpPr>
            <p:nvPr/>
          </p:nvCxnSpPr>
          <p:spPr bwMode="auto">
            <a:xfrm>
              <a:off x="3362" y="2836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" name="AutoShape 45">
              <a:extLst>
                <a:ext uri="{FF2B5EF4-FFF2-40B4-BE49-F238E27FC236}">
                  <a16:creationId xmlns:a16="http://schemas.microsoft.com/office/drawing/2014/main" id="{E87894DB-24FD-4A3D-98E3-A5E2A57ED285}"/>
                </a:ext>
              </a:extLst>
            </p:cNvPr>
            <p:cNvCxnSpPr>
              <a:cxnSpLocks noChangeShapeType="1"/>
              <a:stCxn id="176" idx="4"/>
              <a:endCxn id="177" idx="0"/>
            </p:cNvCxnSpPr>
            <p:nvPr/>
          </p:nvCxnSpPr>
          <p:spPr bwMode="auto">
            <a:xfrm>
              <a:off x="3328" y="2870"/>
              <a:ext cx="0" cy="77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AutoShape 46">
              <a:extLst>
                <a:ext uri="{FF2B5EF4-FFF2-40B4-BE49-F238E27FC236}">
                  <a16:creationId xmlns:a16="http://schemas.microsoft.com/office/drawing/2014/main" id="{C693BAC0-D16D-4C2F-A2FC-B965AE7183AC}"/>
                </a:ext>
              </a:extLst>
            </p:cNvPr>
            <p:cNvCxnSpPr>
              <a:cxnSpLocks noChangeShapeType="1"/>
              <a:stCxn id="177" idx="6"/>
              <a:endCxn id="180" idx="2"/>
            </p:cNvCxnSpPr>
            <p:nvPr/>
          </p:nvCxnSpPr>
          <p:spPr bwMode="auto">
            <a:xfrm>
              <a:off x="3362" y="3675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7" name="AutoShape 47">
              <a:extLst>
                <a:ext uri="{FF2B5EF4-FFF2-40B4-BE49-F238E27FC236}">
                  <a16:creationId xmlns:a16="http://schemas.microsoft.com/office/drawing/2014/main" id="{0924578A-B340-4BC9-AC5D-23C0B72C0D93}"/>
                </a:ext>
              </a:extLst>
            </p:cNvPr>
            <p:cNvCxnSpPr>
              <a:cxnSpLocks noChangeShapeType="1"/>
              <a:stCxn id="177" idx="2"/>
              <a:endCxn id="182" idx="6"/>
            </p:cNvCxnSpPr>
            <p:nvPr/>
          </p:nvCxnSpPr>
          <p:spPr bwMode="auto">
            <a:xfrm flipH="1">
              <a:off x="2489" y="3675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8" name="AutoShape 48">
              <a:extLst>
                <a:ext uri="{FF2B5EF4-FFF2-40B4-BE49-F238E27FC236}">
                  <a16:creationId xmlns:a16="http://schemas.microsoft.com/office/drawing/2014/main" id="{63035FD5-575C-4821-BCE9-6F99063728AD}"/>
                </a:ext>
              </a:extLst>
            </p:cNvPr>
            <p:cNvCxnSpPr>
              <a:cxnSpLocks noChangeShapeType="1"/>
              <a:stCxn id="178" idx="4"/>
              <a:endCxn id="180" idx="0"/>
            </p:cNvCxnSpPr>
            <p:nvPr/>
          </p:nvCxnSpPr>
          <p:spPr bwMode="auto">
            <a:xfrm>
              <a:off x="4201" y="2870"/>
              <a:ext cx="0" cy="77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AutoShape 49">
              <a:extLst>
                <a:ext uri="{FF2B5EF4-FFF2-40B4-BE49-F238E27FC236}">
                  <a16:creationId xmlns:a16="http://schemas.microsoft.com/office/drawing/2014/main" id="{3C215DBB-0062-45D6-92D5-B29857EE690E}"/>
                </a:ext>
              </a:extLst>
            </p:cNvPr>
            <p:cNvCxnSpPr>
              <a:cxnSpLocks noChangeShapeType="1"/>
              <a:stCxn id="179" idx="4"/>
              <a:endCxn id="182" idx="0"/>
            </p:cNvCxnSpPr>
            <p:nvPr/>
          </p:nvCxnSpPr>
          <p:spPr bwMode="auto">
            <a:xfrm>
              <a:off x="2455" y="2870"/>
              <a:ext cx="0" cy="77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0" name="AutoShape 53">
              <a:extLst>
                <a:ext uri="{FF2B5EF4-FFF2-40B4-BE49-F238E27FC236}">
                  <a16:creationId xmlns:a16="http://schemas.microsoft.com/office/drawing/2014/main" id="{DE44BCD6-C910-4A5C-A95F-9C348946542B}"/>
                </a:ext>
              </a:extLst>
            </p:cNvPr>
            <p:cNvCxnSpPr>
              <a:cxnSpLocks noChangeShapeType="1"/>
              <a:stCxn id="176" idx="5"/>
              <a:endCxn id="180" idx="1"/>
            </p:cNvCxnSpPr>
            <p:nvPr/>
          </p:nvCxnSpPr>
          <p:spPr bwMode="auto">
            <a:xfrm>
              <a:off x="3352" y="2860"/>
              <a:ext cx="825" cy="79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1" name="Group 63">
            <a:extLst>
              <a:ext uri="{FF2B5EF4-FFF2-40B4-BE49-F238E27FC236}">
                <a16:creationId xmlns:a16="http://schemas.microsoft.com/office/drawing/2014/main" id="{137C2367-135D-4BAC-BE46-C802B9461977}"/>
              </a:ext>
            </a:extLst>
          </p:cNvPr>
          <p:cNvGrpSpPr>
            <a:grpSpLocks/>
          </p:cNvGrpSpPr>
          <p:nvPr/>
        </p:nvGrpSpPr>
        <p:grpSpPr bwMode="auto">
          <a:xfrm>
            <a:off x="5178284" y="3015160"/>
            <a:ext cx="2911474" cy="2154239"/>
            <a:chOff x="2402" y="2562"/>
            <a:chExt cx="1834" cy="1357"/>
          </a:xfrm>
        </p:grpSpPr>
        <p:sp>
          <p:nvSpPr>
            <p:cNvPr id="192" name="Rectangle 50">
              <a:extLst>
                <a:ext uri="{FF2B5EF4-FFF2-40B4-BE49-F238E27FC236}">
                  <a16:creationId xmlns:a16="http://schemas.microsoft.com/office/drawing/2014/main" id="{D62F9650-6EB3-4424-86E7-C2D3B196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2563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 dirty="0">
                  <a:effectLst/>
                </a:rPr>
                <a:t>a</a:t>
              </a:r>
              <a:endParaRPr kumimoji="0" lang="en-US" altLang="zh-CN" sz="2000" dirty="0">
                <a:effectLst/>
              </a:endParaRPr>
            </a:p>
          </p:txBody>
        </p:sp>
        <p:sp>
          <p:nvSpPr>
            <p:cNvPr id="193" name="Rectangle 58">
              <a:extLst>
                <a:ext uri="{FF2B5EF4-FFF2-40B4-BE49-F238E27FC236}">
                  <a16:creationId xmlns:a16="http://schemas.microsoft.com/office/drawing/2014/main" id="{3DD7D575-C8DB-4414-9C1F-A105BA5B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3726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b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4" name="Rectangle 59">
              <a:extLst>
                <a:ext uri="{FF2B5EF4-FFF2-40B4-BE49-F238E27FC236}">
                  <a16:creationId xmlns:a16="http://schemas.microsoft.com/office/drawing/2014/main" id="{942AC432-6E0A-413A-B325-C529F14A5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" y="2562"/>
              <a:ext cx="72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c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5" name="Rectangle 60">
              <a:extLst>
                <a:ext uri="{FF2B5EF4-FFF2-40B4-BE49-F238E27FC236}">
                  <a16:creationId xmlns:a16="http://schemas.microsoft.com/office/drawing/2014/main" id="{B16442D6-7E9E-4376-B968-11D0E1F08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2" y="3725"/>
              <a:ext cx="54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f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6" name="Rectangle 61">
              <a:extLst>
                <a:ext uri="{FF2B5EF4-FFF2-40B4-BE49-F238E27FC236}">
                  <a16:creationId xmlns:a16="http://schemas.microsoft.com/office/drawing/2014/main" id="{C54E0527-9340-4C4E-A1A2-65D8E6F4B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2563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d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7" name="Rectangle 62">
              <a:extLst>
                <a:ext uri="{FF2B5EF4-FFF2-40B4-BE49-F238E27FC236}">
                  <a16:creationId xmlns:a16="http://schemas.microsoft.com/office/drawing/2014/main" id="{76A6FB47-B70E-49F5-A4BC-7B9B5BDD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3725"/>
              <a:ext cx="72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e</a:t>
              </a:r>
              <a:endParaRPr kumimoji="0" lang="en-US" altLang="zh-CN" sz="2000">
                <a:effectLst/>
              </a:endParaRPr>
            </a:p>
          </p:txBody>
        </p:sp>
      </p:grpSp>
      <p:grpSp>
        <p:nvGrpSpPr>
          <p:cNvPr id="198" name="Group 81">
            <a:extLst>
              <a:ext uri="{FF2B5EF4-FFF2-40B4-BE49-F238E27FC236}">
                <a16:creationId xmlns:a16="http://schemas.microsoft.com/office/drawing/2014/main" id="{2D91D168-53D3-42E9-832B-88EA55A3614F}"/>
              </a:ext>
            </a:extLst>
          </p:cNvPr>
          <p:cNvGrpSpPr>
            <a:grpSpLocks/>
          </p:cNvGrpSpPr>
          <p:nvPr/>
        </p:nvGrpSpPr>
        <p:grpSpPr bwMode="auto">
          <a:xfrm>
            <a:off x="5208447" y="3396159"/>
            <a:ext cx="2879725" cy="1439862"/>
            <a:chOff x="3787" y="1496"/>
            <a:chExt cx="1814" cy="907"/>
          </a:xfrm>
        </p:grpSpPr>
        <p:sp>
          <p:nvSpPr>
            <p:cNvPr id="199" name="AutoShape 82">
              <a:extLst>
                <a:ext uri="{FF2B5EF4-FFF2-40B4-BE49-F238E27FC236}">
                  <a16:creationId xmlns:a16="http://schemas.microsoft.com/office/drawing/2014/main" id="{EAB0FB00-8A05-43B7-B121-AF217B1BC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35"/>
              <a:ext cx="68" cy="68"/>
            </a:xfrm>
            <a:prstGeom prst="flowChartConnector">
              <a:avLst/>
            </a:prstGeom>
            <a:solidFill>
              <a:schemeClr val="hlink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200" name="AutoShape 83">
              <a:extLst>
                <a:ext uri="{FF2B5EF4-FFF2-40B4-BE49-F238E27FC236}">
                  <a16:creationId xmlns:a16="http://schemas.microsoft.com/office/drawing/2014/main" id="{32C52C34-7ED6-4B16-9705-8128D93E6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1496"/>
              <a:ext cx="68" cy="68"/>
            </a:xfrm>
            <a:prstGeom prst="flowChartConnector">
              <a:avLst/>
            </a:prstGeom>
            <a:solidFill>
              <a:schemeClr val="hlink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201" name="AutoShape 84">
              <a:extLst>
                <a:ext uri="{FF2B5EF4-FFF2-40B4-BE49-F238E27FC236}">
                  <a16:creationId xmlns:a16="http://schemas.microsoft.com/office/drawing/2014/main" id="{795571F2-326A-4454-AB0B-77FE7957F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496"/>
              <a:ext cx="68" cy="68"/>
            </a:xfrm>
            <a:prstGeom prst="flowChartConnector">
              <a:avLst/>
            </a:prstGeom>
            <a:solidFill>
              <a:schemeClr val="hlink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202" name="Rectangle 5">
            <a:extLst>
              <a:ext uri="{FF2B5EF4-FFF2-40B4-BE49-F238E27FC236}">
                <a16:creationId xmlns:a16="http://schemas.microsoft.com/office/drawing/2014/main" id="{B7647DD5-57CC-4CD7-AEB6-BB99C94C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05" y="5395863"/>
            <a:ext cx="398751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实验室与星期的开会关系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  <a:p>
            <a:pPr algn="ctr" eaLnBrk="1" hangingPunct="1">
              <a:defRPr/>
            </a:pP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R=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{&lt;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w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&gt; | 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在星期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w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开会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</a:t>
            </a:r>
          </a:p>
        </p:txBody>
      </p:sp>
      <p:sp>
        <p:nvSpPr>
          <p:cNvPr id="203" name="Rectangle 5">
            <a:extLst>
              <a:ext uri="{FF2B5EF4-FFF2-40B4-BE49-F238E27FC236}">
                <a16:creationId xmlns:a16="http://schemas.microsoft.com/office/drawing/2014/main" id="{71ABAFBE-A960-4235-B635-71C4947B2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5395863"/>
            <a:ext cx="5019676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实验室与实验室的同天开会关系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  <a:p>
            <a:pPr algn="ctr" eaLnBrk="1" hangingPunct="1">
              <a:defRPr/>
            </a:pP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R</a:t>
            </a:r>
            <a:r>
              <a:rPr lang="as-IN" altLang="zh-CN" sz="2000" b="0" dirty="0">
                <a:solidFill>
                  <a:srgbClr val="FF9900"/>
                </a:solidFill>
                <a:effectLst/>
                <a:ea typeface="+mn-ea"/>
              </a:rPr>
              <a:t>৹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R</a:t>
            </a:r>
            <a:r>
              <a:rPr lang="en-US" altLang="zh-CN" sz="2000" b="0" baseline="30000" dirty="0">
                <a:solidFill>
                  <a:srgbClr val="FF9900"/>
                </a:solidFill>
                <a:effectLst/>
                <a:ea typeface="+mn-ea"/>
              </a:rPr>
              <a:t>−1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=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{&lt;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&gt; | 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和实验室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同天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开会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</a:t>
            </a:r>
          </a:p>
        </p:txBody>
      </p:sp>
      <p:sp>
        <p:nvSpPr>
          <p:cNvPr id="213" name="Rectangle 5">
            <a:extLst>
              <a:ext uri="{FF2B5EF4-FFF2-40B4-BE49-F238E27FC236}">
                <a16:creationId xmlns:a16="http://schemas.microsoft.com/office/drawing/2014/main" id="{448A92DA-0527-4204-887B-E209160A3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5" y="2591268"/>
            <a:ext cx="3987519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最多有多少个互不相邻的节点？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239900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005E6-1001-497F-A15F-5F51EF0D920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点独立集与点独立数</a:t>
            </a:r>
          </a:p>
        </p:txBody>
      </p:sp>
      <p:sp>
        <p:nvSpPr>
          <p:cNvPr id="32154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26638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点独立集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中顶点彼此不相邻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极大点独立集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中再加入任何顶点就不是点独立集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最大点独立集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元素最多的点独立集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1F15A4-4810-4690-B149-FB31E9AF0661}"/>
              </a:ext>
            </a:extLst>
          </p:cNvPr>
          <p:cNvSpPr txBox="1"/>
          <p:nvPr/>
        </p:nvSpPr>
        <p:spPr>
          <a:xfrm>
            <a:off x="-1" y="6452617"/>
            <a:ext cx="914400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很少讨论边独立集，一般说独立集即点独立集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118BF6D-CC4C-42F8-A6AE-C2081A902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876" y="4591209"/>
            <a:ext cx="3888432" cy="11387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极大独立集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c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f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最大独立集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f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el-GR" altLang="zh-CN" sz="2000" b="0" dirty="0">
                <a:solidFill>
                  <a:srgbClr val="FF9900"/>
                </a:solidFill>
                <a:effectLst/>
                <a:ea typeface="+mn-ea"/>
              </a:rPr>
              <a:t>β</a:t>
            </a:r>
            <a:r>
              <a:rPr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0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 = 3.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9D954FA-D320-4DBC-AF4F-782881236F35}"/>
              </a:ext>
            </a:extLst>
          </p:cNvPr>
          <p:cNvGrpSpPr/>
          <p:nvPr/>
        </p:nvGrpSpPr>
        <p:grpSpPr>
          <a:xfrm>
            <a:off x="1691680" y="3717032"/>
            <a:ext cx="2609850" cy="2619375"/>
            <a:chOff x="4419180" y="3658771"/>
            <a:chExt cx="2609850" cy="2619375"/>
          </a:xfrm>
        </p:grpSpPr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3F69E55B-EB13-428D-8496-80C34183E4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9180" y="3658771"/>
              <a:ext cx="2609850" cy="2619375"/>
              <a:chOff x="1181" y="1532"/>
              <a:chExt cx="1644" cy="1650"/>
            </a:xfrm>
          </p:grpSpPr>
          <p:grpSp>
            <p:nvGrpSpPr>
              <p:cNvPr id="19" name="Group 7">
                <a:extLst>
                  <a:ext uri="{FF2B5EF4-FFF2-40B4-BE49-F238E27FC236}">
                    <a16:creationId xmlns:a16="http://schemas.microsoft.com/office/drawing/2014/main" id="{29948DB3-68D7-4F7E-9674-A5185B0191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6" y="1881"/>
                <a:ext cx="1167" cy="1219"/>
                <a:chOff x="1446" y="1881"/>
                <a:chExt cx="1167" cy="1219"/>
              </a:xfrm>
            </p:grpSpPr>
            <p:sp>
              <p:nvSpPr>
                <p:cNvPr id="27" name="AutoShape 8">
                  <a:extLst>
                    <a:ext uri="{FF2B5EF4-FFF2-40B4-BE49-F238E27FC236}">
                      <a16:creationId xmlns:a16="http://schemas.microsoft.com/office/drawing/2014/main" id="{0E81B005-A411-40F8-9B99-A0735B5905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6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8" name="AutoShape 9">
                  <a:extLst>
                    <a:ext uri="{FF2B5EF4-FFF2-40B4-BE49-F238E27FC236}">
                      <a16:creationId xmlns:a16="http://schemas.microsoft.com/office/drawing/2014/main" id="{AF82CAB0-3E47-4090-BBC1-948A643809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3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9" name="AutoShape 10">
                  <a:extLst>
                    <a:ext uri="{FF2B5EF4-FFF2-40B4-BE49-F238E27FC236}">
                      <a16:creationId xmlns:a16="http://schemas.microsoft.com/office/drawing/2014/main" id="{820BFEEC-229A-403A-8AA1-59E6FBE63B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0" name="AutoShape 11">
                  <a:extLst>
                    <a:ext uri="{FF2B5EF4-FFF2-40B4-BE49-F238E27FC236}">
                      <a16:creationId xmlns:a16="http://schemas.microsoft.com/office/drawing/2014/main" id="{7F1A799C-2573-4A7F-9A6C-99AFC9418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3" y="1881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1" name="AutoShape 12">
                  <a:extLst>
                    <a:ext uri="{FF2B5EF4-FFF2-40B4-BE49-F238E27FC236}">
                      <a16:creationId xmlns:a16="http://schemas.microsoft.com/office/drawing/2014/main" id="{2538BF4C-324E-4425-9774-E839F92CB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3" y="2645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2" name="AutoShape 13">
                  <a:extLst>
                    <a:ext uri="{FF2B5EF4-FFF2-40B4-BE49-F238E27FC236}">
                      <a16:creationId xmlns:a16="http://schemas.microsoft.com/office/drawing/2014/main" id="{B94180E3-1979-46D8-9E5F-F08913536D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6" y="3027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3" name="AutoShape 14">
                  <a:extLst>
                    <a:ext uri="{FF2B5EF4-FFF2-40B4-BE49-F238E27FC236}">
                      <a16:creationId xmlns:a16="http://schemas.microsoft.com/office/drawing/2014/main" id="{BAE0D452-E911-4002-B782-2289A3D5F3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" y="3027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cxnSp>
              <p:nvCxnSpPr>
                <p:cNvPr id="34" name="AutoShape 15">
                  <a:extLst>
                    <a:ext uri="{FF2B5EF4-FFF2-40B4-BE49-F238E27FC236}">
                      <a16:creationId xmlns:a16="http://schemas.microsoft.com/office/drawing/2014/main" id="{3A44CE31-C5E2-4B7D-9DE4-71A063183CBD}"/>
                    </a:ext>
                  </a:extLst>
                </p:cNvPr>
                <p:cNvCxnSpPr>
                  <a:cxnSpLocks noChangeShapeType="1"/>
                  <a:stCxn id="27" idx="7"/>
                  <a:endCxn id="30" idx="3"/>
                </p:cNvCxnSpPr>
                <p:nvPr/>
              </p:nvCxnSpPr>
              <p:spPr bwMode="auto">
                <a:xfrm flipV="1">
                  <a:off x="1508" y="1943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AutoShape 16">
                  <a:extLst>
                    <a:ext uri="{FF2B5EF4-FFF2-40B4-BE49-F238E27FC236}">
                      <a16:creationId xmlns:a16="http://schemas.microsoft.com/office/drawing/2014/main" id="{927557BA-A605-48F0-BBB6-536343C5184C}"/>
                    </a:ext>
                  </a:extLst>
                </p:cNvPr>
                <p:cNvCxnSpPr>
                  <a:cxnSpLocks noChangeShapeType="1"/>
                  <a:stCxn id="27" idx="5"/>
                  <a:endCxn id="31" idx="1"/>
                </p:cNvCxnSpPr>
                <p:nvPr/>
              </p:nvCxnSpPr>
              <p:spPr bwMode="auto">
                <a:xfrm>
                  <a:off x="1508" y="2325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AutoShape 17">
                  <a:extLst>
                    <a:ext uri="{FF2B5EF4-FFF2-40B4-BE49-F238E27FC236}">
                      <a16:creationId xmlns:a16="http://schemas.microsoft.com/office/drawing/2014/main" id="{FCC632D1-9DBE-403D-8825-CBC63C6144D2}"/>
                    </a:ext>
                  </a:extLst>
                </p:cNvPr>
                <p:cNvCxnSpPr>
                  <a:cxnSpLocks noChangeShapeType="1"/>
                  <a:stCxn id="30" idx="5"/>
                  <a:endCxn id="29" idx="1"/>
                </p:cNvCxnSpPr>
                <p:nvPr/>
              </p:nvCxnSpPr>
              <p:spPr bwMode="auto">
                <a:xfrm>
                  <a:off x="2055" y="1943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AutoShape 18">
                  <a:extLst>
                    <a:ext uri="{FF2B5EF4-FFF2-40B4-BE49-F238E27FC236}">
                      <a16:creationId xmlns:a16="http://schemas.microsoft.com/office/drawing/2014/main" id="{E444893B-3977-47EB-885F-448B19CCDD43}"/>
                    </a:ext>
                  </a:extLst>
                </p:cNvPr>
                <p:cNvCxnSpPr>
                  <a:cxnSpLocks noChangeShapeType="1"/>
                  <a:stCxn id="31" idx="7"/>
                  <a:endCxn id="29" idx="3"/>
                </p:cNvCxnSpPr>
                <p:nvPr/>
              </p:nvCxnSpPr>
              <p:spPr bwMode="auto">
                <a:xfrm flipV="1">
                  <a:off x="2055" y="2325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AutoShape 19">
                  <a:extLst>
                    <a:ext uri="{FF2B5EF4-FFF2-40B4-BE49-F238E27FC236}">
                      <a16:creationId xmlns:a16="http://schemas.microsoft.com/office/drawing/2014/main" id="{AC20FAB1-7041-4964-B77F-F00AD009ACC9}"/>
                    </a:ext>
                  </a:extLst>
                </p:cNvPr>
                <p:cNvCxnSpPr>
                  <a:cxnSpLocks noChangeShapeType="1"/>
                  <a:stCxn id="32" idx="7"/>
                  <a:endCxn id="31" idx="3"/>
                </p:cNvCxnSpPr>
                <p:nvPr/>
              </p:nvCxnSpPr>
              <p:spPr bwMode="auto">
                <a:xfrm flipV="1">
                  <a:off x="1508" y="2707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" name="AutoShape 20">
                  <a:extLst>
                    <a:ext uri="{FF2B5EF4-FFF2-40B4-BE49-F238E27FC236}">
                      <a16:creationId xmlns:a16="http://schemas.microsoft.com/office/drawing/2014/main" id="{2F3017ED-B4D5-471E-8365-6E37304E74EE}"/>
                    </a:ext>
                  </a:extLst>
                </p:cNvPr>
                <p:cNvCxnSpPr>
                  <a:cxnSpLocks noChangeShapeType="1"/>
                  <a:stCxn id="31" idx="5"/>
                  <a:endCxn id="33" idx="1"/>
                </p:cNvCxnSpPr>
                <p:nvPr/>
              </p:nvCxnSpPr>
              <p:spPr bwMode="auto">
                <a:xfrm>
                  <a:off x="2055" y="2707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0" name="AutoShape 21">
                  <a:extLst>
                    <a:ext uri="{FF2B5EF4-FFF2-40B4-BE49-F238E27FC236}">
                      <a16:creationId xmlns:a16="http://schemas.microsoft.com/office/drawing/2014/main" id="{D02F944C-7EEB-4966-9F08-36B2D4EC993A}"/>
                    </a:ext>
                  </a:extLst>
                </p:cNvPr>
                <p:cNvCxnSpPr>
                  <a:cxnSpLocks noChangeShapeType="1"/>
                  <a:stCxn id="32" idx="6"/>
                  <a:endCxn id="33" idx="2"/>
                </p:cNvCxnSpPr>
                <p:nvPr/>
              </p:nvCxnSpPr>
              <p:spPr bwMode="auto">
                <a:xfrm>
                  <a:off x="1519" y="3064"/>
                  <a:ext cx="1021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" name="AutoShape 22">
                  <a:extLst>
                    <a:ext uri="{FF2B5EF4-FFF2-40B4-BE49-F238E27FC236}">
                      <a16:creationId xmlns:a16="http://schemas.microsoft.com/office/drawing/2014/main" id="{7A9E668F-64A6-4913-86FC-853E814BC28E}"/>
                    </a:ext>
                  </a:extLst>
                </p:cNvPr>
                <p:cNvCxnSpPr>
                  <a:cxnSpLocks noChangeShapeType="1"/>
                  <a:stCxn id="27" idx="6"/>
                  <a:endCxn id="28" idx="2"/>
                </p:cNvCxnSpPr>
                <p:nvPr/>
              </p:nvCxnSpPr>
              <p:spPr bwMode="auto">
                <a:xfrm>
                  <a:off x="1519" y="2300"/>
                  <a:ext cx="474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2" name="AutoShape 23">
                  <a:extLst>
                    <a:ext uri="{FF2B5EF4-FFF2-40B4-BE49-F238E27FC236}">
                      <a16:creationId xmlns:a16="http://schemas.microsoft.com/office/drawing/2014/main" id="{A40ADAC5-024D-427D-85F1-B2826B79781A}"/>
                    </a:ext>
                  </a:extLst>
                </p:cNvPr>
                <p:cNvCxnSpPr>
                  <a:cxnSpLocks noChangeShapeType="1"/>
                  <a:stCxn id="28" idx="6"/>
                  <a:endCxn id="29" idx="2"/>
                </p:cNvCxnSpPr>
                <p:nvPr/>
              </p:nvCxnSpPr>
              <p:spPr bwMode="auto">
                <a:xfrm>
                  <a:off x="2066" y="2300"/>
                  <a:ext cx="474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3" name="AutoShape 24">
                  <a:extLst>
                    <a:ext uri="{FF2B5EF4-FFF2-40B4-BE49-F238E27FC236}">
                      <a16:creationId xmlns:a16="http://schemas.microsoft.com/office/drawing/2014/main" id="{A47A2517-8A2E-4CB0-904A-45362873FA04}"/>
                    </a:ext>
                  </a:extLst>
                </p:cNvPr>
                <p:cNvCxnSpPr>
                  <a:cxnSpLocks noChangeShapeType="1"/>
                  <a:stCxn id="28" idx="0"/>
                  <a:endCxn id="30" idx="4"/>
                </p:cNvCxnSpPr>
                <p:nvPr/>
              </p:nvCxnSpPr>
              <p:spPr bwMode="auto">
                <a:xfrm flipV="1">
                  <a:off x="2030" y="1954"/>
                  <a:ext cx="0" cy="30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4" name="AutoShape 25">
                  <a:extLst>
                    <a:ext uri="{FF2B5EF4-FFF2-40B4-BE49-F238E27FC236}">
                      <a16:creationId xmlns:a16="http://schemas.microsoft.com/office/drawing/2014/main" id="{4A456832-A72E-4F9F-B4DD-4F352C7534CB}"/>
                    </a:ext>
                  </a:extLst>
                </p:cNvPr>
                <p:cNvCxnSpPr>
                  <a:cxnSpLocks noChangeShapeType="1"/>
                  <a:stCxn id="31" idx="0"/>
                  <a:endCxn id="28" idx="4"/>
                </p:cNvCxnSpPr>
                <p:nvPr/>
              </p:nvCxnSpPr>
              <p:spPr bwMode="auto">
                <a:xfrm flipV="1">
                  <a:off x="2030" y="2336"/>
                  <a:ext cx="0" cy="30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0" name="Rectangle 26">
                <a:extLst>
                  <a:ext uri="{FF2B5EF4-FFF2-40B4-BE49-F238E27FC236}">
                    <a16:creationId xmlns:a16="http://schemas.microsoft.com/office/drawing/2014/main" id="{4BD7516D-62EB-4927-80D9-4E06B6ED8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5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 dirty="0">
                    <a:effectLst/>
                  </a:rPr>
                  <a:t>a</a:t>
                </a:r>
                <a:endParaRPr kumimoji="0" lang="en-US" altLang="zh-CN" sz="2400" dirty="0">
                  <a:effectLst/>
                </a:endParaRPr>
              </a:p>
            </p:txBody>
          </p:sp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FC1A5CE2-772A-4656-8FCF-4DEE65BE9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211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b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2" name="Rectangle 28">
                <a:extLst>
                  <a:ext uri="{FF2B5EF4-FFF2-40B4-BE49-F238E27FC236}">
                    <a16:creationId xmlns:a16="http://schemas.microsoft.com/office/drawing/2014/main" id="{3E705620-83F1-401A-B897-8DD79341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8" y="1985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 dirty="0">
                    <a:effectLst/>
                  </a:rPr>
                  <a:t>c</a:t>
                </a:r>
                <a:endParaRPr kumimoji="0" lang="en-US" altLang="zh-CN" sz="2400" dirty="0">
                  <a:effectLst/>
                </a:endParaRPr>
              </a:p>
            </p:txBody>
          </p:sp>
          <p:sp>
            <p:nvSpPr>
              <p:cNvPr id="23" name="Rectangle 29">
                <a:extLst>
                  <a:ext uri="{FF2B5EF4-FFF2-40B4-BE49-F238E27FC236}">
                    <a16:creationId xmlns:a16="http://schemas.microsoft.com/office/drawing/2014/main" id="{6F97EFD6-45BF-4FEF-938B-04DB972A5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3" y="211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d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4" name="Rectangle 30">
                <a:extLst>
                  <a:ext uri="{FF2B5EF4-FFF2-40B4-BE49-F238E27FC236}">
                    <a16:creationId xmlns:a16="http://schemas.microsoft.com/office/drawing/2014/main" id="{44FC5C7D-C7A0-482C-BDA2-0B93A6856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6" y="251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e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5" name="Rectangle 31">
                <a:extLst>
                  <a:ext uri="{FF2B5EF4-FFF2-40B4-BE49-F238E27FC236}">
                    <a16:creationId xmlns:a16="http://schemas.microsoft.com/office/drawing/2014/main" id="{29390D80-129C-460C-BE0F-C1F318E3D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2894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f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6" name="Rectangle 32">
                <a:extLst>
                  <a:ext uri="{FF2B5EF4-FFF2-40B4-BE49-F238E27FC236}">
                    <a16:creationId xmlns:a16="http://schemas.microsoft.com/office/drawing/2014/main" id="{44DBC2EA-01E9-4B41-8CCF-E3425BA66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3" y="289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g</a:t>
                </a:r>
                <a:endParaRPr kumimoji="0" lang="en-US" altLang="zh-CN" sz="2400">
                  <a:effectLst/>
                </a:endParaRPr>
              </a:p>
            </p:txBody>
          </p:sp>
        </p:grpSp>
        <p:sp>
          <p:nvSpPr>
            <p:cNvPr id="17" name="AutoShape 33">
              <a:extLst>
                <a:ext uri="{FF2B5EF4-FFF2-40B4-BE49-F238E27FC236}">
                  <a16:creationId xmlns:a16="http://schemas.microsoft.com/office/drawing/2014/main" id="{00B6EFDB-5CCB-48CA-9E3D-49A41A460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480" y="4181058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8" name="AutoShape 34">
              <a:extLst>
                <a:ext uri="{FF2B5EF4-FFF2-40B4-BE49-F238E27FC236}">
                  <a16:creationId xmlns:a16="http://schemas.microsoft.com/office/drawing/2014/main" id="{E32E8392-EE2C-44DD-802C-E5EC55EE7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480" y="5420966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F3F99B6C-B8A4-44A4-8CB2-514116C0BE63}"/>
              </a:ext>
            </a:extLst>
          </p:cNvPr>
          <p:cNvSpPr txBox="1"/>
          <p:nvPr/>
        </p:nvSpPr>
        <p:spPr>
          <a:xfrm>
            <a:off x="5012831" y="1208549"/>
            <a:ext cx="41311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选中节点的关联边集两两无交集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B8657-3E75-404C-A53F-24C206EB8C56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235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极大独立集与极小支配集</a:t>
            </a:r>
          </a:p>
        </p:txBody>
      </p:sp>
      <p:sp>
        <p:nvSpPr>
          <p:cNvPr id="32359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08962" cy="10080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中无孤立点，则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的极大点独立集都是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极小支配集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23593" name="Rectangle 9"/>
          <p:cNvSpPr>
            <a:spLocks noChangeArrowheads="1"/>
          </p:cNvSpPr>
          <p:nvPr/>
        </p:nvSpPr>
        <p:spPr bwMode="auto">
          <a:xfrm>
            <a:off x="468313" y="2492375"/>
            <a:ext cx="7848600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证明线索：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的极大点独立集，证明它也是支配集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，必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，否则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不与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中任何顶点相邻，则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⋃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仍为点独立集，这与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是极大点独立集矛盾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是极小支配集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只需证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的真子集不是支配集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23594" name="Rectangle 10"/>
          <p:cNvSpPr>
            <a:spLocks noChangeArrowheads="1"/>
          </p:cNvSpPr>
          <p:nvPr/>
        </p:nvSpPr>
        <p:spPr bwMode="auto">
          <a:xfrm>
            <a:off x="539750" y="5300663"/>
            <a:ext cx="7632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特别注意，</a:t>
            </a:r>
            <a:r>
              <a:rPr lang="zh-CN" altLang="en-US" b="1" dirty="0"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Times New Roman" panose="02020603050405020304" pitchFamily="18" charset="0"/>
              </a:rPr>
              <a:t>18.1</a:t>
            </a:r>
            <a:r>
              <a:rPr lang="zh-CN" altLang="en-US" b="1" dirty="0"/>
              <a:t>其逆不真</a:t>
            </a:r>
            <a:r>
              <a:rPr lang="en-US" altLang="zh-CN" b="1" dirty="0"/>
              <a:t>.</a:t>
            </a:r>
            <a:r>
              <a:rPr lang="en-US" altLang="zh-CN" dirty="0"/>
              <a:t>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29B2A4B-ACF1-47E4-9F16-3580343D7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85" y="2591268"/>
            <a:ext cx="596031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若有节点不与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V*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中任何点相邻则可扩大独立集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37384FF-8679-4580-AEB7-9E2CA7AC8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394" y="4854983"/>
            <a:ext cx="772029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任意删除一个节点，由于不与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V*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中任何其他点相邻，该点未被覆盖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8384A6-29E9-4425-A380-23094CBB08E1}"/>
              </a:ext>
            </a:extLst>
          </p:cNvPr>
          <p:cNvSpPr txBox="1"/>
          <p:nvPr/>
        </p:nvSpPr>
        <p:spPr>
          <a:xfrm>
            <a:off x="-1" y="6465530"/>
            <a:ext cx="5220073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拓展：最大独立集是最小支配集吗？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显然不是（星形图）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2C49-3B41-433C-BB5E-F92F73C56120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点覆盖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集</a:t>
            </a:r>
          </a:p>
        </p:txBody>
      </p:sp>
      <p:sp>
        <p:nvSpPr>
          <p:cNvPr id="3174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3*  </a:t>
            </a:r>
            <a:r>
              <a:rPr lang="zh-CN" altLang="en-US" dirty="0">
                <a:latin typeface="Times New Roman" panose="02020603050405020304" pitchFamily="18" charset="0"/>
              </a:rPr>
              <a:t>在一个路口安装监控相机可以监控该路口及相邻路口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要覆盖所有街道至少需安装几个摄像头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8AC37D-3C2E-47FD-93DE-A1DA744E728D}"/>
              </a:ext>
            </a:extLst>
          </p:cNvPr>
          <p:cNvSpPr txBox="1"/>
          <p:nvPr/>
        </p:nvSpPr>
        <p:spPr>
          <a:xfrm>
            <a:off x="-1" y="6452617"/>
            <a:ext cx="914400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节点覆盖边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0F9B6F-99D4-4D68-989E-DCC6E58DD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31" y="2817055"/>
            <a:ext cx="2380952" cy="2961905"/>
          </a:xfrm>
          <a:prstGeom prst="rect">
            <a:avLst/>
          </a:prstGeom>
        </p:spPr>
      </p:pic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3A9D3FF7-2BDE-4508-A6CC-1C4ED7292F59}"/>
              </a:ext>
            </a:extLst>
          </p:cNvPr>
          <p:cNvGrpSpPr/>
          <p:nvPr/>
        </p:nvGrpSpPr>
        <p:grpSpPr>
          <a:xfrm>
            <a:off x="707078" y="2906181"/>
            <a:ext cx="4923394" cy="2860961"/>
            <a:chOff x="1187624" y="3384264"/>
            <a:chExt cx="3532187" cy="2052537"/>
          </a:xfrm>
        </p:grpSpPr>
        <p:grpSp>
          <p:nvGrpSpPr>
            <p:cNvPr id="2" name="组合 1"/>
            <p:cNvGrpSpPr/>
            <p:nvPr/>
          </p:nvGrpSpPr>
          <p:grpSpPr>
            <a:xfrm>
              <a:off x="1187624" y="3384264"/>
              <a:ext cx="3532187" cy="1976438"/>
              <a:chOff x="395536" y="4066889"/>
              <a:chExt cx="3532187" cy="1976438"/>
            </a:xfrm>
          </p:grpSpPr>
          <p:grpSp>
            <p:nvGrpSpPr>
              <p:cNvPr id="8" name="Group 349"/>
              <p:cNvGrpSpPr>
                <a:grpSpLocks/>
              </p:cNvGrpSpPr>
              <p:nvPr/>
            </p:nvGrpSpPr>
            <p:grpSpPr bwMode="auto">
              <a:xfrm>
                <a:off x="395536" y="4084352"/>
                <a:ext cx="3532187" cy="1958975"/>
                <a:chOff x="1673" y="1497"/>
                <a:chExt cx="2225" cy="1234"/>
              </a:xfrm>
            </p:grpSpPr>
            <p:cxnSp>
              <p:nvCxnSpPr>
                <p:cNvPr id="9" name="AutoShape 104"/>
                <p:cNvCxnSpPr>
                  <a:cxnSpLocks noChangeAspect="1" noChangeShapeType="1"/>
                  <a:stCxn id="67" idx="0"/>
                  <a:endCxn id="68" idx="4"/>
                </p:cNvCxnSpPr>
                <p:nvPr/>
              </p:nvCxnSpPr>
              <p:spPr bwMode="auto">
                <a:xfrm>
                  <a:off x="3219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" name="AutoShape 105"/>
                <p:cNvCxnSpPr>
                  <a:cxnSpLocks noChangeAspect="1" noChangeShapeType="1"/>
                  <a:stCxn id="79" idx="2"/>
                  <a:endCxn id="72" idx="6"/>
                </p:cNvCxnSpPr>
                <p:nvPr/>
              </p:nvCxnSpPr>
              <p:spPr bwMode="auto">
                <a:xfrm flipH="1">
                  <a:off x="3248" y="2703"/>
                  <a:ext cx="593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" name="AutoShape 106"/>
                <p:cNvCxnSpPr>
                  <a:cxnSpLocks noChangeAspect="1" noChangeShapeType="1"/>
                  <a:stCxn id="68" idx="0"/>
                  <a:endCxn id="69" idx="4"/>
                </p:cNvCxnSpPr>
                <p:nvPr/>
              </p:nvCxnSpPr>
              <p:spPr bwMode="auto">
                <a:xfrm>
                  <a:off x="3219" y="1947"/>
                  <a:ext cx="0" cy="3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" name="AutoShape 107"/>
                <p:cNvCxnSpPr>
                  <a:cxnSpLocks noChangeAspect="1" noChangeShapeType="1"/>
                  <a:stCxn id="69" idx="0"/>
                  <a:endCxn id="70" idx="4"/>
                </p:cNvCxnSpPr>
                <p:nvPr/>
              </p:nvCxnSpPr>
              <p:spPr bwMode="auto">
                <a:xfrm>
                  <a:off x="3219" y="2342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" name="AutoShape 108"/>
                <p:cNvCxnSpPr>
                  <a:cxnSpLocks noChangeAspect="1" noChangeShapeType="1"/>
                  <a:stCxn id="70" idx="0"/>
                  <a:endCxn id="72" idx="4"/>
                </p:cNvCxnSpPr>
                <p:nvPr/>
              </p:nvCxnSpPr>
              <p:spPr bwMode="auto">
                <a:xfrm>
                  <a:off x="3219" y="2537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" name="AutoShape 109"/>
                <p:cNvCxnSpPr>
                  <a:cxnSpLocks noChangeAspect="1" noChangeShapeType="1"/>
                  <a:stCxn id="67" idx="6"/>
                  <a:endCxn id="73" idx="2"/>
                </p:cNvCxnSpPr>
                <p:nvPr/>
              </p:nvCxnSpPr>
              <p:spPr bwMode="auto">
                <a:xfrm>
                  <a:off x="3248" y="1722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" name="AutoShape 110"/>
                <p:cNvCxnSpPr>
                  <a:cxnSpLocks noChangeAspect="1" noChangeShapeType="1"/>
                  <a:stCxn id="76" idx="0"/>
                  <a:endCxn id="79" idx="4"/>
                </p:cNvCxnSpPr>
                <p:nvPr/>
              </p:nvCxnSpPr>
              <p:spPr bwMode="auto">
                <a:xfrm>
                  <a:off x="3869" y="1555"/>
                  <a:ext cx="0" cy="112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" name="AutoShape 111"/>
                <p:cNvCxnSpPr>
                  <a:cxnSpLocks noChangeAspect="1" noChangeShapeType="1"/>
                  <a:stCxn id="68" idx="6"/>
                  <a:endCxn id="74" idx="2"/>
                </p:cNvCxnSpPr>
                <p:nvPr/>
              </p:nvCxnSpPr>
              <p:spPr bwMode="auto">
                <a:xfrm>
                  <a:off x="3248" y="1918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" name="AutoShape 112"/>
                <p:cNvCxnSpPr>
                  <a:cxnSpLocks noChangeAspect="1" noChangeShapeType="1"/>
                  <a:stCxn id="73" idx="0"/>
                  <a:endCxn id="74" idx="4"/>
                </p:cNvCxnSpPr>
                <p:nvPr/>
              </p:nvCxnSpPr>
              <p:spPr bwMode="auto">
                <a:xfrm>
                  <a:off x="3435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AutoShape 113"/>
                <p:cNvCxnSpPr>
                  <a:cxnSpLocks noChangeAspect="1" noChangeShapeType="1"/>
                  <a:stCxn id="73" idx="6"/>
                  <a:endCxn id="75" idx="2"/>
                </p:cNvCxnSpPr>
                <p:nvPr/>
              </p:nvCxnSpPr>
              <p:spPr bwMode="auto">
                <a:xfrm>
                  <a:off x="3464" y="1722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" name="AutoShape 114"/>
                <p:cNvCxnSpPr>
                  <a:cxnSpLocks noChangeAspect="1" noChangeShapeType="1"/>
                  <a:stCxn id="75" idx="5"/>
                  <a:endCxn id="76" idx="1"/>
                </p:cNvCxnSpPr>
                <p:nvPr/>
              </p:nvCxnSpPr>
              <p:spPr bwMode="auto">
                <a:xfrm flipV="1">
                  <a:off x="3672" y="1546"/>
                  <a:ext cx="177" cy="15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" name="AutoShape 115"/>
                <p:cNvCxnSpPr>
                  <a:cxnSpLocks noChangeAspect="1" noChangeShapeType="1"/>
                  <a:stCxn id="69" idx="6"/>
                  <a:endCxn id="71" idx="2"/>
                </p:cNvCxnSpPr>
                <p:nvPr/>
              </p:nvCxnSpPr>
              <p:spPr bwMode="auto">
                <a:xfrm flipV="1">
                  <a:off x="3248" y="2311"/>
                  <a:ext cx="159" cy="2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1" name="AutoShape 116"/>
                <p:cNvCxnSpPr>
                  <a:cxnSpLocks noChangeAspect="1" noChangeShapeType="1"/>
                  <a:stCxn id="71" idx="0"/>
                  <a:endCxn id="80" idx="4"/>
                </p:cNvCxnSpPr>
                <p:nvPr/>
              </p:nvCxnSpPr>
              <p:spPr bwMode="auto">
                <a:xfrm>
                  <a:off x="3435" y="2340"/>
                  <a:ext cx="1" cy="14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2" name="AutoShape 117"/>
                <p:cNvCxnSpPr>
                  <a:cxnSpLocks noChangeAspect="1" noChangeShapeType="1"/>
                  <a:stCxn id="80" idx="6"/>
                  <a:endCxn id="78" idx="2"/>
                </p:cNvCxnSpPr>
                <p:nvPr/>
              </p:nvCxnSpPr>
              <p:spPr bwMode="auto">
                <a:xfrm>
                  <a:off x="3465" y="2508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3" name="AutoShape 118"/>
                <p:cNvCxnSpPr>
                  <a:cxnSpLocks noChangeAspect="1" noChangeShapeType="1"/>
                  <a:stCxn id="78" idx="7"/>
                  <a:endCxn id="79" idx="3"/>
                </p:cNvCxnSpPr>
                <p:nvPr/>
              </p:nvCxnSpPr>
              <p:spPr bwMode="auto">
                <a:xfrm>
                  <a:off x="3672" y="2528"/>
                  <a:ext cx="177" cy="155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4" name="AutoShape 119"/>
                <p:cNvCxnSpPr>
                  <a:cxnSpLocks noChangeAspect="1" noChangeShapeType="1"/>
                  <a:stCxn id="77" idx="6"/>
                  <a:endCxn id="81" idx="2"/>
                </p:cNvCxnSpPr>
                <p:nvPr/>
              </p:nvCxnSpPr>
              <p:spPr bwMode="auto">
                <a:xfrm>
                  <a:off x="3464" y="2115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5" name="AutoShape 120"/>
                <p:cNvCxnSpPr>
                  <a:cxnSpLocks noChangeAspect="1" noChangeShapeType="1"/>
                  <a:stCxn id="77" idx="0"/>
                  <a:endCxn id="71" idx="4"/>
                </p:cNvCxnSpPr>
                <p:nvPr/>
              </p:nvCxnSpPr>
              <p:spPr bwMode="auto">
                <a:xfrm>
                  <a:off x="3435" y="2144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6" name="AutoShape 121"/>
                <p:cNvCxnSpPr>
                  <a:cxnSpLocks noChangeAspect="1" noChangeShapeType="1"/>
                  <a:stCxn id="70" idx="6"/>
                  <a:endCxn id="80" idx="2"/>
                </p:cNvCxnSpPr>
                <p:nvPr/>
              </p:nvCxnSpPr>
              <p:spPr bwMode="auto">
                <a:xfrm>
                  <a:off x="3248" y="2508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AutoShape 122"/>
                <p:cNvCxnSpPr>
                  <a:cxnSpLocks noChangeAspect="1" noChangeShapeType="1"/>
                  <a:stCxn id="78" idx="4"/>
                  <a:endCxn id="81" idx="0"/>
                </p:cNvCxnSpPr>
                <p:nvPr/>
              </p:nvCxnSpPr>
              <p:spPr bwMode="auto">
                <a:xfrm flipV="1">
                  <a:off x="3652" y="2144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8" name="AutoShape 123"/>
                <p:cNvCxnSpPr>
                  <a:cxnSpLocks noChangeAspect="1" noChangeShapeType="1"/>
                  <a:stCxn id="74" idx="0"/>
                  <a:endCxn id="77" idx="4"/>
                </p:cNvCxnSpPr>
                <p:nvPr/>
              </p:nvCxnSpPr>
              <p:spPr bwMode="auto">
                <a:xfrm>
                  <a:off x="3435" y="1947"/>
                  <a:ext cx="0" cy="14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9" name="AutoShape 124"/>
                <p:cNvCxnSpPr>
                  <a:cxnSpLocks noChangeAspect="1" noChangeShapeType="1"/>
                  <a:stCxn id="81" idx="4"/>
                  <a:endCxn id="75" idx="0"/>
                </p:cNvCxnSpPr>
                <p:nvPr/>
              </p:nvCxnSpPr>
              <p:spPr bwMode="auto">
                <a:xfrm flipV="1">
                  <a:off x="3652" y="1751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0" name="AutoShape 125"/>
                <p:cNvCxnSpPr>
                  <a:cxnSpLocks noChangeAspect="1" noChangeShapeType="1"/>
                  <a:stCxn id="72" idx="2"/>
                  <a:endCxn id="83" idx="6"/>
                </p:cNvCxnSpPr>
                <p:nvPr/>
              </p:nvCxnSpPr>
              <p:spPr bwMode="auto">
                <a:xfrm flipH="1">
                  <a:off x="3032" y="2703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" name="AutoShape 126"/>
                <p:cNvCxnSpPr>
                  <a:cxnSpLocks noChangeAspect="1" noChangeShapeType="1"/>
                  <a:stCxn id="67" idx="2"/>
                  <a:endCxn id="87" idx="6"/>
                </p:cNvCxnSpPr>
                <p:nvPr/>
              </p:nvCxnSpPr>
              <p:spPr bwMode="auto">
                <a:xfrm flipH="1">
                  <a:off x="3032" y="1722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" name="AutoShape 127"/>
                <p:cNvCxnSpPr>
                  <a:cxnSpLocks noChangeAspect="1" noChangeShapeType="1"/>
                  <a:stCxn id="85" idx="2"/>
                  <a:endCxn id="90" idx="2"/>
                </p:cNvCxnSpPr>
                <p:nvPr/>
              </p:nvCxnSpPr>
              <p:spPr bwMode="auto">
                <a:xfrm flipH="1">
                  <a:off x="2381" y="1722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3" name="AutoShape 128"/>
                <p:cNvCxnSpPr>
                  <a:cxnSpLocks noChangeAspect="1" noChangeShapeType="1"/>
                  <a:stCxn id="82" idx="2"/>
                  <a:endCxn id="95" idx="2"/>
                </p:cNvCxnSpPr>
                <p:nvPr/>
              </p:nvCxnSpPr>
              <p:spPr bwMode="auto">
                <a:xfrm flipH="1">
                  <a:off x="2381" y="2703"/>
                  <a:ext cx="159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AutoShape 129"/>
                <p:cNvCxnSpPr>
                  <a:cxnSpLocks noChangeAspect="1" noChangeShapeType="1"/>
                  <a:stCxn id="88" idx="2"/>
                  <a:endCxn id="99" idx="2"/>
                </p:cNvCxnSpPr>
                <p:nvPr/>
              </p:nvCxnSpPr>
              <p:spPr bwMode="auto">
                <a:xfrm flipH="1">
                  <a:off x="1731" y="1526"/>
                  <a:ext cx="1026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AutoShape 130"/>
                <p:cNvCxnSpPr>
                  <a:cxnSpLocks noChangeAspect="1" noChangeShapeType="1"/>
                  <a:stCxn id="76" idx="2"/>
                  <a:endCxn id="88" idx="6"/>
                </p:cNvCxnSpPr>
                <p:nvPr/>
              </p:nvCxnSpPr>
              <p:spPr bwMode="auto">
                <a:xfrm flipH="1">
                  <a:off x="2814" y="1526"/>
                  <a:ext cx="1027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AutoShape 131"/>
                <p:cNvCxnSpPr>
                  <a:cxnSpLocks noChangeAspect="1" noChangeShapeType="1"/>
                  <a:stCxn id="82" idx="6"/>
                  <a:endCxn id="83" idx="2"/>
                </p:cNvCxnSpPr>
                <p:nvPr/>
              </p:nvCxnSpPr>
              <p:spPr bwMode="auto">
                <a:xfrm>
                  <a:off x="2597" y="2703"/>
                  <a:ext cx="37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AutoShape 132"/>
                <p:cNvCxnSpPr>
                  <a:cxnSpLocks noChangeAspect="1" noChangeShapeType="1"/>
                  <a:stCxn id="86" idx="4"/>
                  <a:endCxn id="87" idx="0"/>
                </p:cNvCxnSpPr>
                <p:nvPr/>
              </p:nvCxnSpPr>
              <p:spPr bwMode="auto">
                <a:xfrm flipV="1">
                  <a:off x="3003" y="1751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AutoShape 133"/>
                <p:cNvCxnSpPr>
                  <a:cxnSpLocks noChangeAspect="1" noChangeShapeType="1"/>
                  <a:stCxn id="83" idx="4"/>
                  <a:endCxn id="86" idx="0"/>
                </p:cNvCxnSpPr>
                <p:nvPr/>
              </p:nvCxnSpPr>
              <p:spPr bwMode="auto">
                <a:xfrm flipV="1">
                  <a:off x="3003" y="2144"/>
                  <a:ext cx="0" cy="5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" name="AutoShape 134"/>
                <p:cNvCxnSpPr>
                  <a:cxnSpLocks noChangeAspect="1" noChangeShapeType="1"/>
                  <a:stCxn id="82" idx="4"/>
                  <a:endCxn id="84" idx="0"/>
                </p:cNvCxnSpPr>
                <p:nvPr/>
              </p:nvCxnSpPr>
              <p:spPr bwMode="auto">
                <a:xfrm flipV="1">
                  <a:off x="2568" y="2144"/>
                  <a:ext cx="0" cy="5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0" name="AutoShape 135"/>
                <p:cNvCxnSpPr>
                  <a:cxnSpLocks noChangeAspect="1" noChangeShapeType="1"/>
                  <a:stCxn id="89" idx="6"/>
                  <a:endCxn id="87" idx="2"/>
                </p:cNvCxnSpPr>
                <p:nvPr/>
              </p:nvCxnSpPr>
              <p:spPr bwMode="auto">
                <a:xfrm>
                  <a:off x="2814" y="1722"/>
                  <a:ext cx="161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" name="AutoShape 136"/>
                <p:cNvCxnSpPr>
                  <a:cxnSpLocks noChangeAspect="1" noChangeShapeType="1"/>
                  <a:stCxn id="84" idx="4"/>
                  <a:endCxn id="85" idx="0"/>
                </p:cNvCxnSpPr>
                <p:nvPr/>
              </p:nvCxnSpPr>
              <p:spPr bwMode="auto">
                <a:xfrm flipV="1">
                  <a:off x="2568" y="1751"/>
                  <a:ext cx="0" cy="33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2" name="AutoShape 137"/>
                <p:cNvCxnSpPr>
                  <a:cxnSpLocks noChangeAspect="1" noChangeShapeType="1"/>
                  <a:stCxn id="84" idx="6"/>
                  <a:endCxn id="86" idx="2"/>
                </p:cNvCxnSpPr>
                <p:nvPr/>
              </p:nvCxnSpPr>
              <p:spPr bwMode="auto">
                <a:xfrm>
                  <a:off x="2597" y="2115"/>
                  <a:ext cx="37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3" name="AutoShape 138"/>
                <p:cNvCxnSpPr>
                  <a:cxnSpLocks noChangeAspect="1" noChangeShapeType="1"/>
                  <a:stCxn id="89" idx="2"/>
                  <a:endCxn id="85" idx="6"/>
                </p:cNvCxnSpPr>
                <p:nvPr/>
              </p:nvCxnSpPr>
              <p:spPr bwMode="auto">
                <a:xfrm flipH="1">
                  <a:off x="2597" y="1722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4" name="AutoShape 139"/>
                <p:cNvCxnSpPr>
                  <a:cxnSpLocks noChangeAspect="1" noChangeShapeType="1"/>
                  <a:stCxn id="88" idx="0"/>
                  <a:endCxn id="89" idx="4"/>
                </p:cNvCxnSpPr>
                <p:nvPr/>
              </p:nvCxnSpPr>
              <p:spPr bwMode="auto">
                <a:xfrm>
                  <a:off x="2785" y="1555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5" name="AutoShape 140"/>
                <p:cNvCxnSpPr>
                  <a:cxnSpLocks noChangeAspect="1" noChangeShapeType="1"/>
                  <a:stCxn id="90" idx="0"/>
                  <a:endCxn id="91" idx="4"/>
                </p:cNvCxnSpPr>
                <p:nvPr/>
              </p:nvCxnSpPr>
              <p:spPr bwMode="auto">
                <a:xfrm>
                  <a:off x="2352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6" name="AutoShape 141"/>
                <p:cNvCxnSpPr>
                  <a:cxnSpLocks noChangeAspect="1" noChangeShapeType="1"/>
                  <a:stCxn id="102" idx="2"/>
                  <a:endCxn id="95" idx="6"/>
                </p:cNvCxnSpPr>
                <p:nvPr/>
              </p:nvCxnSpPr>
              <p:spPr bwMode="auto">
                <a:xfrm>
                  <a:off x="1731" y="2703"/>
                  <a:ext cx="593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" name="AutoShape 142"/>
                <p:cNvCxnSpPr>
                  <a:cxnSpLocks noChangeAspect="1" noChangeShapeType="1"/>
                  <a:stCxn id="91" idx="0"/>
                  <a:endCxn id="92" idx="4"/>
                </p:cNvCxnSpPr>
                <p:nvPr/>
              </p:nvCxnSpPr>
              <p:spPr bwMode="auto">
                <a:xfrm>
                  <a:off x="2352" y="1947"/>
                  <a:ext cx="0" cy="3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8" name="AutoShape 143"/>
                <p:cNvCxnSpPr>
                  <a:cxnSpLocks noChangeAspect="1" noChangeShapeType="1"/>
                  <a:stCxn id="92" idx="0"/>
                  <a:endCxn id="93" idx="4"/>
                </p:cNvCxnSpPr>
                <p:nvPr/>
              </p:nvCxnSpPr>
              <p:spPr bwMode="auto">
                <a:xfrm>
                  <a:off x="2352" y="2342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9" name="AutoShape 144"/>
                <p:cNvCxnSpPr>
                  <a:cxnSpLocks noChangeAspect="1" noChangeShapeType="1"/>
                  <a:stCxn id="93" idx="0"/>
                  <a:endCxn id="95" idx="4"/>
                </p:cNvCxnSpPr>
                <p:nvPr/>
              </p:nvCxnSpPr>
              <p:spPr bwMode="auto">
                <a:xfrm>
                  <a:off x="2352" y="2537"/>
                  <a:ext cx="0" cy="138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0" name="AutoShape 145"/>
                <p:cNvCxnSpPr>
                  <a:cxnSpLocks noChangeAspect="1" noChangeShapeType="1"/>
                  <a:stCxn id="90" idx="6"/>
                  <a:endCxn id="96" idx="2"/>
                </p:cNvCxnSpPr>
                <p:nvPr/>
              </p:nvCxnSpPr>
              <p:spPr bwMode="auto">
                <a:xfrm flipH="1">
                  <a:off x="2164" y="1722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1" name="AutoShape 146"/>
                <p:cNvCxnSpPr>
                  <a:cxnSpLocks noChangeAspect="1" noChangeShapeType="1"/>
                  <a:stCxn id="99" idx="0"/>
                  <a:endCxn id="102" idx="4"/>
                </p:cNvCxnSpPr>
                <p:nvPr/>
              </p:nvCxnSpPr>
              <p:spPr bwMode="auto">
                <a:xfrm>
                  <a:off x="1702" y="1555"/>
                  <a:ext cx="0" cy="112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2" name="AutoShape 147"/>
                <p:cNvCxnSpPr>
                  <a:cxnSpLocks noChangeAspect="1" noChangeShapeType="1"/>
                  <a:stCxn id="91" idx="6"/>
                  <a:endCxn id="97" idx="2"/>
                </p:cNvCxnSpPr>
                <p:nvPr/>
              </p:nvCxnSpPr>
              <p:spPr bwMode="auto">
                <a:xfrm flipH="1">
                  <a:off x="2164" y="1918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3" name="AutoShape 148"/>
                <p:cNvCxnSpPr>
                  <a:cxnSpLocks noChangeAspect="1" noChangeShapeType="1"/>
                  <a:stCxn id="96" idx="0"/>
                  <a:endCxn id="97" idx="4"/>
                </p:cNvCxnSpPr>
                <p:nvPr/>
              </p:nvCxnSpPr>
              <p:spPr bwMode="auto">
                <a:xfrm>
                  <a:off x="2135" y="1751"/>
                  <a:ext cx="0" cy="1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4" name="AutoShape 149"/>
                <p:cNvCxnSpPr>
                  <a:cxnSpLocks noChangeAspect="1" noChangeShapeType="1"/>
                  <a:stCxn id="96" idx="6"/>
                  <a:endCxn id="98" idx="2"/>
                </p:cNvCxnSpPr>
                <p:nvPr/>
              </p:nvCxnSpPr>
              <p:spPr bwMode="auto">
                <a:xfrm flipH="1">
                  <a:off x="1949" y="1722"/>
                  <a:ext cx="15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5" name="AutoShape 150"/>
                <p:cNvCxnSpPr>
                  <a:cxnSpLocks noChangeAspect="1" noChangeShapeType="1"/>
                  <a:stCxn id="98" idx="5"/>
                  <a:endCxn id="99" idx="1"/>
                </p:cNvCxnSpPr>
                <p:nvPr/>
              </p:nvCxnSpPr>
              <p:spPr bwMode="auto">
                <a:xfrm flipH="1" flipV="1">
                  <a:off x="1722" y="1546"/>
                  <a:ext cx="178" cy="156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" name="AutoShape 151"/>
                <p:cNvCxnSpPr>
                  <a:cxnSpLocks noChangeAspect="1" noChangeShapeType="1"/>
                  <a:stCxn id="92" idx="6"/>
                  <a:endCxn id="94" idx="2"/>
                </p:cNvCxnSpPr>
                <p:nvPr/>
              </p:nvCxnSpPr>
              <p:spPr bwMode="auto">
                <a:xfrm flipH="1" flipV="1">
                  <a:off x="2164" y="2311"/>
                  <a:ext cx="160" cy="2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7" name="AutoShape 152"/>
                <p:cNvCxnSpPr>
                  <a:cxnSpLocks noChangeAspect="1" noChangeShapeType="1"/>
                  <a:stCxn id="94" idx="0"/>
                  <a:endCxn id="103" idx="4"/>
                </p:cNvCxnSpPr>
                <p:nvPr/>
              </p:nvCxnSpPr>
              <p:spPr bwMode="auto">
                <a:xfrm>
                  <a:off x="2135" y="2340"/>
                  <a:ext cx="0" cy="14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8" name="AutoShape 153"/>
                <p:cNvCxnSpPr>
                  <a:cxnSpLocks noChangeAspect="1" noChangeShapeType="1"/>
                  <a:stCxn id="103" idx="6"/>
                  <a:endCxn id="101" idx="2"/>
                </p:cNvCxnSpPr>
                <p:nvPr/>
              </p:nvCxnSpPr>
              <p:spPr bwMode="auto">
                <a:xfrm flipH="1">
                  <a:off x="1949" y="2508"/>
                  <a:ext cx="15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9" name="AutoShape 154"/>
                <p:cNvCxnSpPr>
                  <a:cxnSpLocks noChangeAspect="1" noChangeShapeType="1"/>
                  <a:stCxn id="101" idx="7"/>
                  <a:endCxn id="102" idx="3"/>
                </p:cNvCxnSpPr>
                <p:nvPr/>
              </p:nvCxnSpPr>
              <p:spPr bwMode="auto">
                <a:xfrm flipH="1">
                  <a:off x="1722" y="2528"/>
                  <a:ext cx="178" cy="155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0" name="AutoShape 155"/>
                <p:cNvCxnSpPr>
                  <a:cxnSpLocks noChangeAspect="1" noChangeShapeType="1"/>
                  <a:stCxn id="100" idx="6"/>
                  <a:endCxn id="104" idx="2"/>
                </p:cNvCxnSpPr>
                <p:nvPr/>
              </p:nvCxnSpPr>
              <p:spPr bwMode="auto">
                <a:xfrm flipH="1">
                  <a:off x="1949" y="2112"/>
                  <a:ext cx="158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1" name="AutoShape 156"/>
                <p:cNvCxnSpPr>
                  <a:cxnSpLocks noChangeAspect="1" noChangeShapeType="1"/>
                  <a:stCxn id="100" idx="0"/>
                  <a:endCxn id="94" idx="4"/>
                </p:cNvCxnSpPr>
                <p:nvPr/>
              </p:nvCxnSpPr>
              <p:spPr bwMode="auto">
                <a:xfrm>
                  <a:off x="2135" y="2141"/>
                  <a:ext cx="0" cy="142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2" name="AutoShape 157"/>
                <p:cNvCxnSpPr>
                  <a:cxnSpLocks noChangeAspect="1" noChangeShapeType="1"/>
                  <a:stCxn id="93" idx="6"/>
                  <a:endCxn id="103" idx="2"/>
                </p:cNvCxnSpPr>
                <p:nvPr/>
              </p:nvCxnSpPr>
              <p:spPr bwMode="auto">
                <a:xfrm flipH="1">
                  <a:off x="2164" y="2508"/>
                  <a:ext cx="160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3" name="AutoShape 158"/>
                <p:cNvCxnSpPr>
                  <a:cxnSpLocks noChangeAspect="1" noChangeShapeType="1"/>
                  <a:stCxn id="101" idx="4"/>
                  <a:endCxn id="104" idx="0"/>
                </p:cNvCxnSpPr>
                <p:nvPr/>
              </p:nvCxnSpPr>
              <p:spPr bwMode="auto">
                <a:xfrm flipV="1">
                  <a:off x="1920" y="2141"/>
                  <a:ext cx="0" cy="33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4" name="AutoShape 159"/>
                <p:cNvCxnSpPr>
                  <a:cxnSpLocks noChangeAspect="1" noChangeShapeType="1"/>
                  <a:stCxn id="97" idx="0"/>
                  <a:endCxn id="100" idx="4"/>
                </p:cNvCxnSpPr>
                <p:nvPr/>
              </p:nvCxnSpPr>
              <p:spPr bwMode="auto">
                <a:xfrm>
                  <a:off x="2135" y="1947"/>
                  <a:ext cx="0" cy="137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5" name="AutoShape 160"/>
                <p:cNvCxnSpPr>
                  <a:cxnSpLocks noChangeAspect="1" noChangeShapeType="1"/>
                  <a:stCxn id="104" idx="4"/>
                  <a:endCxn id="98" idx="0"/>
                </p:cNvCxnSpPr>
                <p:nvPr/>
              </p:nvCxnSpPr>
              <p:spPr bwMode="auto">
                <a:xfrm flipV="1">
                  <a:off x="1920" y="1751"/>
                  <a:ext cx="0" cy="333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66" name="Group 348"/>
                <p:cNvGrpSpPr>
                  <a:grpSpLocks/>
                </p:cNvGrpSpPr>
                <p:nvPr/>
              </p:nvGrpSpPr>
              <p:grpSpPr bwMode="auto">
                <a:xfrm>
                  <a:off x="1673" y="1497"/>
                  <a:ext cx="2225" cy="1234"/>
                  <a:chOff x="1673" y="1497"/>
                  <a:chExt cx="2225" cy="1234"/>
                </a:xfrm>
              </p:grpSpPr>
              <p:sp>
                <p:nvSpPr>
                  <p:cNvPr id="67" name="Oval 16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68" name="Oval 16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69" name="Oval 16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228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0" name="Oval 16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1" name="Oval 16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2282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2" name="Oval 16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191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3" name="Oval 16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4" name="Oval 16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5" name="Oval 17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624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6" name="Oval 17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841" y="1497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7" name="Oval 17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7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8" name="Oval 17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624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79" name="Oval 17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841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0" name="Oval 17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408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1" name="Oval 17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624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2" name="Oval 17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540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3" name="Oval 17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5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4" name="Oval 17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540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5" name="Oval 18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540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6" name="Oval 18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5" y="2086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7" name="Oval 18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5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8" name="Oval 18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757" y="1497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89" name="Oval 18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757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0" name="Oval 185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1" name="Oval 186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2" name="Oval 187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228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3" name="Oval 188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4" name="Oval 189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2282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5" name="Oval 190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323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6" name="Oval 191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7" name="Oval 192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188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8" name="Oval 193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891" y="169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99" name="Oval 194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673" y="1497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0" name="Oval 195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208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1" name="Oval 196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891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2" name="Oval 197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673" y="2674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3" name="Oval 198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2106" y="2479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  <p:sp>
                <p:nvSpPr>
                  <p:cNvPr id="104" name="Oval 199"/>
                  <p:cNvSpPr>
                    <a:spLocks noChangeAspect="1" noChangeArrowheads="1"/>
                  </p:cNvSpPr>
                  <p:nvPr/>
                </p:nvSpPr>
                <p:spPr bwMode="auto">
                  <a:xfrm flipH="1" flipV="1">
                    <a:off x="1891" y="2083"/>
                    <a:ext cx="57" cy="57"/>
                  </a:xfrm>
                  <a:prstGeom prst="ellipse">
                    <a:avLst/>
                  </a:prstGeom>
                  <a:solidFill>
                    <a:srgbClr val="A886E0">
                      <a:alpha val="50195"/>
                    </a:srgbClr>
                  </a:solidFill>
                  <a:ln w="635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6FFFF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0000"/>
                      <a:buFont typeface="Wingdings" panose="05000000000000000000" pitchFamily="2" charset="2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/>
                  </a:p>
                </p:txBody>
              </p:sp>
            </p:grpSp>
          </p:grpSp>
          <p:grpSp>
            <p:nvGrpSpPr>
              <p:cNvPr id="105" name="Group 347"/>
              <p:cNvGrpSpPr>
                <a:grpSpLocks/>
              </p:cNvGrpSpPr>
              <p:nvPr/>
            </p:nvGrpSpPr>
            <p:grpSpPr bwMode="auto">
              <a:xfrm>
                <a:off x="395536" y="4084352"/>
                <a:ext cx="3532187" cy="1958975"/>
                <a:chOff x="1673" y="1497"/>
                <a:chExt cx="2225" cy="1234"/>
              </a:xfrm>
            </p:grpSpPr>
            <p:sp>
              <p:nvSpPr>
                <p:cNvPr id="106" name="Oval 2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191" y="267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07" name="Oval 2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407" y="188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08" name="Oval 2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624" y="2086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09" name="Oval 230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106" y="188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0" name="Oval 2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191" y="169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1" name="Oval 2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191" y="228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2" name="Oval 2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841" y="1497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3" name="Oval 2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408" y="247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4" name="Oval 2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540" y="267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5" name="Oval 2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5" y="2086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6" name="Oval 2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757" y="169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7" name="Oval 228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323" y="169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8" name="Oval 229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323" y="228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19" name="Oval 231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1673" y="2674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0" name="Oval 232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2106" y="2479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1" name="Oval 233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1891" y="2083"/>
                  <a:ext cx="57" cy="57"/>
                </a:xfrm>
                <a:prstGeom prst="ellipse">
                  <a:avLst/>
                </a:prstGeom>
                <a:solidFill>
                  <a:srgbClr val="FF99FF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</p:grpSp>
          <p:grpSp>
            <p:nvGrpSpPr>
              <p:cNvPr id="122" name="Group 331"/>
              <p:cNvGrpSpPr>
                <a:grpSpLocks/>
              </p:cNvGrpSpPr>
              <p:nvPr/>
            </p:nvGrpSpPr>
            <p:grpSpPr bwMode="auto">
              <a:xfrm>
                <a:off x="736848" y="4066889"/>
                <a:ext cx="2859088" cy="1976438"/>
                <a:chOff x="3467" y="588"/>
                <a:chExt cx="1801" cy="1245"/>
              </a:xfrm>
            </p:grpSpPr>
            <p:sp>
              <p:nvSpPr>
                <p:cNvPr id="123" name="Oval 3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983" y="1373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4" name="Oval 3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767" y="1765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5" name="Oval 3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983" y="980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6" name="Oval 3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5200" y="1177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7" name="Oval 3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116" y="784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8" name="Oval 3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551" y="784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29" name="Oval 3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333" y="588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0" name="Oval 339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682" y="1373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1" name="Oval 340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899" y="1765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2" name="Oval 341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682" y="980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133" name="Oval 342"/>
                <p:cNvSpPr>
                  <a:spLocks noChangeAspect="1" noChangeArrowheads="1"/>
                </p:cNvSpPr>
                <p:nvPr/>
              </p:nvSpPr>
              <p:spPr bwMode="auto">
                <a:xfrm flipH="1" flipV="1">
                  <a:off x="3467" y="1174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</p:grpSp>
        </p:grp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F721A2AF-EE92-4B0E-B927-257C27CB7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5036" y="4444974"/>
              <a:ext cx="0" cy="784226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1085A178-355F-4A9D-B2A2-72E31553F038}"/>
                </a:ext>
              </a:extLst>
            </p:cNvPr>
            <p:cNvCxnSpPr>
              <a:cxnSpLocks/>
              <a:stCxn id="175" idx="5"/>
            </p:cNvCxnSpPr>
            <p:nvPr/>
          </p:nvCxnSpPr>
          <p:spPr>
            <a:xfrm flipV="1">
              <a:off x="3383978" y="5405155"/>
              <a:ext cx="270621" cy="740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CD50F8BA-61C1-444B-9182-BDC708FC9B10}"/>
                </a:ext>
              </a:extLst>
            </p:cNvPr>
            <p:cNvCxnSpPr>
              <a:cxnSpLocks/>
              <a:stCxn id="175" idx="3"/>
            </p:cNvCxnSpPr>
            <p:nvPr/>
          </p:nvCxnSpPr>
          <p:spPr>
            <a:xfrm flipH="1" flipV="1">
              <a:off x="2608436" y="5405155"/>
              <a:ext cx="626318" cy="740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E1C9E1A2-7B78-4FB4-9DD5-557F3712CB05}"/>
                </a:ext>
              </a:extLst>
            </p:cNvPr>
            <p:cNvSpPr/>
            <p:nvPr/>
          </p:nvSpPr>
          <p:spPr>
            <a:xfrm>
              <a:off x="3203848" y="5225765"/>
              <a:ext cx="211036" cy="211036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EFD2B263-4079-481B-836A-73915B8FBCED}"/>
              </a:ext>
            </a:extLst>
          </p:cNvPr>
          <p:cNvSpPr txBox="1"/>
          <p:nvPr/>
        </p:nvSpPr>
        <p:spPr>
          <a:xfrm>
            <a:off x="486905" y="1879861"/>
            <a:ext cx="584612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最少要多少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节点的关联边的并集才能得到边全集？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FCFBBDEE-893E-433C-95F8-C555B15CE76D}"/>
              </a:ext>
            </a:extLst>
          </p:cNvPr>
          <p:cNvSpPr txBox="1"/>
          <p:nvPr/>
        </p:nvSpPr>
        <p:spPr>
          <a:xfrm>
            <a:off x="369858" y="6174630"/>
            <a:ext cx="584612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只选中支配集中的点，该边无法覆盖到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F6FD53DB-C8A6-48C4-B3A1-4BE4350DC76C}"/>
              </a:ext>
            </a:extLst>
          </p:cNvPr>
          <p:cNvCxnSpPr>
            <a:cxnSpLocks/>
          </p:cNvCxnSpPr>
          <p:nvPr/>
        </p:nvCxnSpPr>
        <p:spPr>
          <a:xfrm flipH="1" flipV="1">
            <a:off x="1012439" y="5383368"/>
            <a:ext cx="1950098" cy="872934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29654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4F1C-D482-4F9D-867D-4094E2DAC392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2564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点覆盖集与点覆盖数</a:t>
            </a:r>
          </a:p>
        </p:txBody>
      </p:sp>
      <p:sp>
        <p:nvSpPr>
          <p:cNvPr id="32564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07375" cy="2305050"/>
          </a:xfrm>
        </p:spPr>
        <p:txBody>
          <a:bodyPr/>
          <a:lstStyle/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极小点覆盖集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的任何真子集都不是点覆盖集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最小点覆盖集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或最小点覆盖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顶点数最少的点覆盖集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4DD8B9D-8BE2-4753-A6B5-40323127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4385330"/>
            <a:ext cx="4536504" cy="11387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极小点覆盖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c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c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f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最小点覆盖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c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el-GR" altLang="zh-CN" sz="2000" b="0" dirty="0">
                <a:solidFill>
                  <a:srgbClr val="FF9900"/>
                </a:solidFill>
                <a:effectLst/>
                <a:ea typeface="+mn-ea"/>
              </a:rPr>
              <a:t>α</a:t>
            </a:r>
            <a:r>
              <a:rPr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0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 = 4.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C1F8DC-9E5B-49EB-8416-147AB5F126F0}"/>
              </a:ext>
            </a:extLst>
          </p:cNvPr>
          <p:cNvGrpSpPr/>
          <p:nvPr/>
        </p:nvGrpSpPr>
        <p:grpSpPr>
          <a:xfrm>
            <a:off x="1613788" y="3511153"/>
            <a:ext cx="2609850" cy="2619375"/>
            <a:chOff x="4419180" y="3658771"/>
            <a:chExt cx="2609850" cy="2619375"/>
          </a:xfrm>
        </p:grpSpPr>
        <p:grpSp>
          <p:nvGrpSpPr>
            <p:cNvPr id="13" name="Group 6">
              <a:extLst>
                <a:ext uri="{FF2B5EF4-FFF2-40B4-BE49-F238E27FC236}">
                  <a16:creationId xmlns:a16="http://schemas.microsoft.com/office/drawing/2014/main" id="{2D3DF292-9BD1-4A78-9810-7AF7A68F6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9180" y="3658771"/>
              <a:ext cx="2609850" cy="2619375"/>
              <a:chOff x="1181" y="1532"/>
              <a:chExt cx="1644" cy="1650"/>
            </a:xfrm>
          </p:grpSpPr>
          <p:grpSp>
            <p:nvGrpSpPr>
              <p:cNvPr id="16" name="Group 7">
                <a:extLst>
                  <a:ext uri="{FF2B5EF4-FFF2-40B4-BE49-F238E27FC236}">
                    <a16:creationId xmlns:a16="http://schemas.microsoft.com/office/drawing/2014/main" id="{A412105F-9E65-4939-A72B-D7F48B35E6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6" y="1881"/>
                <a:ext cx="1167" cy="1219"/>
                <a:chOff x="1446" y="1881"/>
                <a:chExt cx="1167" cy="1219"/>
              </a:xfrm>
            </p:grpSpPr>
            <p:sp>
              <p:nvSpPr>
                <p:cNvPr id="24" name="AutoShape 8">
                  <a:extLst>
                    <a:ext uri="{FF2B5EF4-FFF2-40B4-BE49-F238E27FC236}">
                      <a16:creationId xmlns:a16="http://schemas.microsoft.com/office/drawing/2014/main" id="{AFB0EB4A-E832-4A7F-925E-741C58C551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6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5" name="AutoShape 9">
                  <a:extLst>
                    <a:ext uri="{FF2B5EF4-FFF2-40B4-BE49-F238E27FC236}">
                      <a16:creationId xmlns:a16="http://schemas.microsoft.com/office/drawing/2014/main" id="{0F8A8C2A-35AF-4D72-A5CA-FAEE1C42A5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3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6" name="AutoShape 10">
                  <a:extLst>
                    <a:ext uri="{FF2B5EF4-FFF2-40B4-BE49-F238E27FC236}">
                      <a16:creationId xmlns:a16="http://schemas.microsoft.com/office/drawing/2014/main" id="{E9D97BD0-DE58-466D-A0E4-DAC19C9559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" y="2263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7" name="AutoShape 11">
                  <a:extLst>
                    <a:ext uri="{FF2B5EF4-FFF2-40B4-BE49-F238E27FC236}">
                      <a16:creationId xmlns:a16="http://schemas.microsoft.com/office/drawing/2014/main" id="{1F4038A4-04DA-4539-8D55-117B02737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3" y="1881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8" name="AutoShape 12">
                  <a:extLst>
                    <a:ext uri="{FF2B5EF4-FFF2-40B4-BE49-F238E27FC236}">
                      <a16:creationId xmlns:a16="http://schemas.microsoft.com/office/drawing/2014/main" id="{024B5987-4F4D-4C5C-AE80-B3CEDE577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3" y="2645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29" name="AutoShape 13">
                  <a:extLst>
                    <a:ext uri="{FF2B5EF4-FFF2-40B4-BE49-F238E27FC236}">
                      <a16:creationId xmlns:a16="http://schemas.microsoft.com/office/drawing/2014/main" id="{150CDD26-A527-4BFC-9D8F-7B600249E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6" y="3027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0" name="AutoShape 14">
                  <a:extLst>
                    <a:ext uri="{FF2B5EF4-FFF2-40B4-BE49-F238E27FC236}">
                      <a16:creationId xmlns:a16="http://schemas.microsoft.com/office/drawing/2014/main" id="{43AD2E3D-7915-44C5-BA9B-C4EE218334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" y="3027"/>
                  <a:ext cx="73" cy="73"/>
                </a:xfrm>
                <a:prstGeom prst="flowChartConnector">
                  <a:avLst/>
                </a:prstGeom>
                <a:solidFill>
                  <a:srgbClr val="FFFF00"/>
                </a:solidFill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66FFFF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cxnSp>
              <p:nvCxnSpPr>
                <p:cNvPr id="31" name="AutoShape 15">
                  <a:extLst>
                    <a:ext uri="{FF2B5EF4-FFF2-40B4-BE49-F238E27FC236}">
                      <a16:creationId xmlns:a16="http://schemas.microsoft.com/office/drawing/2014/main" id="{041CEF95-EF1F-4A85-B12D-897ACE1FF89A}"/>
                    </a:ext>
                  </a:extLst>
                </p:cNvPr>
                <p:cNvCxnSpPr>
                  <a:cxnSpLocks noChangeShapeType="1"/>
                  <a:stCxn id="24" idx="7"/>
                  <a:endCxn id="27" idx="3"/>
                </p:cNvCxnSpPr>
                <p:nvPr/>
              </p:nvCxnSpPr>
              <p:spPr bwMode="auto">
                <a:xfrm flipV="1">
                  <a:off x="1508" y="1943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" name="AutoShape 16">
                  <a:extLst>
                    <a:ext uri="{FF2B5EF4-FFF2-40B4-BE49-F238E27FC236}">
                      <a16:creationId xmlns:a16="http://schemas.microsoft.com/office/drawing/2014/main" id="{89C5D13E-ED51-40A0-86DA-14B4EFDE70C2}"/>
                    </a:ext>
                  </a:extLst>
                </p:cNvPr>
                <p:cNvCxnSpPr>
                  <a:cxnSpLocks noChangeShapeType="1"/>
                  <a:stCxn id="24" idx="5"/>
                  <a:endCxn id="28" idx="1"/>
                </p:cNvCxnSpPr>
                <p:nvPr/>
              </p:nvCxnSpPr>
              <p:spPr bwMode="auto">
                <a:xfrm>
                  <a:off x="1508" y="2325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3" name="AutoShape 17">
                  <a:extLst>
                    <a:ext uri="{FF2B5EF4-FFF2-40B4-BE49-F238E27FC236}">
                      <a16:creationId xmlns:a16="http://schemas.microsoft.com/office/drawing/2014/main" id="{2A320228-3E71-44FE-A7AF-6D12B652B8B0}"/>
                    </a:ext>
                  </a:extLst>
                </p:cNvPr>
                <p:cNvCxnSpPr>
                  <a:cxnSpLocks noChangeShapeType="1"/>
                  <a:stCxn id="27" idx="5"/>
                  <a:endCxn id="26" idx="1"/>
                </p:cNvCxnSpPr>
                <p:nvPr/>
              </p:nvCxnSpPr>
              <p:spPr bwMode="auto">
                <a:xfrm>
                  <a:off x="2055" y="1943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AutoShape 18">
                  <a:extLst>
                    <a:ext uri="{FF2B5EF4-FFF2-40B4-BE49-F238E27FC236}">
                      <a16:creationId xmlns:a16="http://schemas.microsoft.com/office/drawing/2014/main" id="{98026409-0D50-4B7A-843B-456A0FFC8697}"/>
                    </a:ext>
                  </a:extLst>
                </p:cNvPr>
                <p:cNvCxnSpPr>
                  <a:cxnSpLocks noChangeShapeType="1"/>
                  <a:stCxn id="28" idx="7"/>
                  <a:endCxn id="26" idx="3"/>
                </p:cNvCxnSpPr>
                <p:nvPr/>
              </p:nvCxnSpPr>
              <p:spPr bwMode="auto">
                <a:xfrm flipV="1">
                  <a:off x="2055" y="2325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AutoShape 19">
                  <a:extLst>
                    <a:ext uri="{FF2B5EF4-FFF2-40B4-BE49-F238E27FC236}">
                      <a16:creationId xmlns:a16="http://schemas.microsoft.com/office/drawing/2014/main" id="{629E46BA-C6D5-4DEE-B46F-BB17A3E8B7AA}"/>
                    </a:ext>
                  </a:extLst>
                </p:cNvPr>
                <p:cNvCxnSpPr>
                  <a:cxnSpLocks noChangeShapeType="1"/>
                  <a:stCxn id="29" idx="7"/>
                  <a:endCxn id="28" idx="3"/>
                </p:cNvCxnSpPr>
                <p:nvPr/>
              </p:nvCxnSpPr>
              <p:spPr bwMode="auto">
                <a:xfrm flipV="1">
                  <a:off x="1508" y="2707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AutoShape 20">
                  <a:extLst>
                    <a:ext uri="{FF2B5EF4-FFF2-40B4-BE49-F238E27FC236}">
                      <a16:creationId xmlns:a16="http://schemas.microsoft.com/office/drawing/2014/main" id="{93AE2CE2-4C0C-4DE1-90E2-BCBA711ECA99}"/>
                    </a:ext>
                  </a:extLst>
                </p:cNvPr>
                <p:cNvCxnSpPr>
                  <a:cxnSpLocks noChangeShapeType="1"/>
                  <a:stCxn id="28" idx="5"/>
                  <a:endCxn id="30" idx="1"/>
                </p:cNvCxnSpPr>
                <p:nvPr/>
              </p:nvCxnSpPr>
              <p:spPr bwMode="auto">
                <a:xfrm>
                  <a:off x="2055" y="2707"/>
                  <a:ext cx="496" cy="331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AutoShape 21">
                  <a:extLst>
                    <a:ext uri="{FF2B5EF4-FFF2-40B4-BE49-F238E27FC236}">
                      <a16:creationId xmlns:a16="http://schemas.microsoft.com/office/drawing/2014/main" id="{76F1121D-8E2C-4A08-BB39-8434435536BB}"/>
                    </a:ext>
                  </a:extLst>
                </p:cNvPr>
                <p:cNvCxnSpPr>
                  <a:cxnSpLocks noChangeShapeType="1"/>
                  <a:stCxn id="29" idx="6"/>
                  <a:endCxn id="30" idx="2"/>
                </p:cNvCxnSpPr>
                <p:nvPr/>
              </p:nvCxnSpPr>
              <p:spPr bwMode="auto">
                <a:xfrm>
                  <a:off x="1519" y="3064"/>
                  <a:ext cx="1021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AutoShape 22">
                  <a:extLst>
                    <a:ext uri="{FF2B5EF4-FFF2-40B4-BE49-F238E27FC236}">
                      <a16:creationId xmlns:a16="http://schemas.microsoft.com/office/drawing/2014/main" id="{2EEE5723-E920-46B7-AECE-ED2854B2F996}"/>
                    </a:ext>
                  </a:extLst>
                </p:cNvPr>
                <p:cNvCxnSpPr>
                  <a:cxnSpLocks noChangeShapeType="1"/>
                  <a:stCxn id="24" idx="6"/>
                  <a:endCxn id="25" idx="2"/>
                </p:cNvCxnSpPr>
                <p:nvPr/>
              </p:nvCxnSpPr>
              <p:spPr bwMode="auto">
                <a:xfrm>
                  <a:off x="1519" y="2300"/>
                  <a:ext cx="474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" name="AutoShape 23">
                  <a:extLst>
                    <a:ext uri="{FF2B5EF4-FFF2-40B4-BE49-F238E27FC236}">
                      <a16:creationId xmlns:a16="http://schemas.microsoft.com/office/drawing/2014/main" id="{29D855BA-A7B7-4B4D-AF8D-32E09F787119}"/>
                    </a:ext>
                  </a:extLst>
                </p:cNvPr>
                <p:cNvCxnSpPr>
                  <a:cxnSpLocks noChangeShapeType="1"/>
                  <a:stCxn id="25" idx="6"/>
                  <a:endCxn id="26" idx="2"/>
                </p:cNvCxnSpPr>
                <p:nvPr/>
              </p:nvCxnSpPr>
              <p:spPr bwMode="auto">
                <a:xfrm>
                  <a:off x="2066" y="2300"/>
                  <a:ext cx="474" cy="0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0" name="AutoShape 24">
                  <a:extLst>
                    <a:ext uri="{FF2B5EF4-FFF2-40B4-BE49-F238E27FC236}">
                      <a16:creationId xmlns:a16="http://schemas.microsoft.com/office/drawing/2014/main" id="{727FDA2E-EA76-4C01-BB60-3AA3D15263B2}"/>
                    </a:ext>
                  </a:extLst>
                </p:cNvPr>
                <p:cNvCxnSpPr>
                  <a:cxnSpLocks noChangeShapeType="1"/>
                  <a:stCxn id="25" idx="0"/>
                  <a:endCxn id="27" idx="4"/>
                </p:cNvCxnSpPr>
                <p:nvPr/>
              </p:nvCxnSpPr>
              <p:spPr bwMode="auto">
                <a:xfrm flipV="1">
                  <a:off x="2030" y="1954"/>
                  <a:ext cx="0" cy="30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" name="AutoShape 25">
                  <a:extLst>
                    <a:ext uri="{FF2B5EF4-FFF2-40B4-BE49-F238E27FC236}">
                      <a16:creationId xmlns:a16="http://schemas.microsoft.com/office/drawing/2014/main" id="{9B032ABD-335D-4B07-BE59-9A1B3D48F94F}"/>
                    </a:ext>
                  </a:extLst>
                </p:cNvPr>
                <p:cNvCxnSpPr>
                  <a:cxnSpLocks noChangeShapeType="1"/>
                  <a:stCxn id="28" idx="0"/>
                  <a:endCxn id="25" idx="4"/>
                </p:cNvCxnSpPr>
                <p:nvPr/>
              </p:nvCxnSpPr>
              <p:spPr bwMode="auto">
                <a:xfrm flipV="1">
                  <a:off x="2030" y="2336"/>
                  <a:ext cx="0" cy="309"/>
                </a:xfrm>
                <a:prstGeom prst="straightConnector1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7" name="Rectangle 26">
                <a:extLst>
                  <a:ext uri="{FF2B5EF4-FFF2-40B4-BE49-F238E27FC236}">
                    <a16:creationId xmlns:a16="http://schemas.microsoft.com/office/drawing/2014/main" id="{857CDC3F-E8E3-4BB2-8025-6DE601672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5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 dirty="0">
                    <a:effectLst/>
                  </a:rPr>
                  <a:t>a</a:t>
                </a:r>
                <a:endParaRPr kumimoji="0" lang="en-US" altLang="zh-CN" sz="2400" dirty="0">
                  <a:effectLst/>
                </a:endParaRPr>
              </a:p>
            </p:txBody>
          </p:sp>
          <p:sp>
            <p:nvSpPr>
              <p:cNvPr id="18" name="Rectangle 27">
                <a:extLst>
                  <a:ext uri="{FF2B5EF4-FFF2-40B4-BE49-F238E27FC236}">
                    <a16:creationId xmlns:a16="http://schemas.microsoft.com/office/drawing/2014/main" id="{E9B52E6F-B462-4FA1-9D8A-24FA6D6E7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211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b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19" name="Rectangle 28">
                <a:extLst>
                  <a:ext uri="{FF2B5EF4-FFF2-40B4-BE49-F238E27FC236}">
                    <a16:creationId xmlns:a16="http://schemas.microsoft.com/office/drawing/2014/main" id="{FC56139A-441B-45C9-9D55-26D6FD38E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8" y="1985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 dirty="0">
                    <a:effectLst/>
                  </a:rPr>
                  <a:t>c</a:t>
                </a:r>
                <a:endParaRPr kumimoji="0" lang="en-US" altLang="zh-CN" sz="2400" dirty="0">
                  <a:effectLst/>
                </a:endParaRPr>
              </a:p>
            </p:txBody>
          </p:sp>
          <p:sp>
            <p:nvSpPr>
              <p:cNvPr id="20" name="Rectangle 29">
                <a:extLst>
                  <a:ext uri="{FF2B5EF4-FFF2-40B4-BE49-F238E27FC236}">
                    <a16:creationId xmlns:a16="http://schemas.microsoft.com/office/drawing/2014/main" id="{E501094B-D89F-41D0-BEF0-07ABD6AA7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3" y="211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d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1" name="Rectangle 30">
                <a:extLst>
                  <a:ext uri="{FF2B5EF4-FFF2-40B4-BE49-F238E27FC236}">
                    <a16:creationId xmlns:a16="http://schemas.microsoft.com/office/drawing/2014/main" id="{9BC7DDD6-FA3D-48B0-916B-9E8D6956C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6" y="251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e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2" name="Rectangle 31">
                <a:extLst>
                  <a:ext uri="{FF2B5EF4-FFF2-40B4-BE49-F238E27FC236}">
                    <a16:creationId xmlns:a16="http://schemas.microsoft.com/office/drawing/2014/main" id="{EA8E584D-7379-4ABD-BE02-F3896CD08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2894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f</a:t>
                </a:r>
                <a:endParaRPr kumimoji="0" lang="en-US" altLang="zh-CN" sz="2400">
                  <a:effectLst/>
                </a:endParaRPr>
              </a:p>
            </p:txBody>
          </p:sp>
          <p:sp>
            <p:nvSpPr>
              <p:cNvPr id="23" name="Rectangle 32">
                <a:extLst>
                  <a:ext uri="{FF2B5EF4-FFF2-40B4-BE49-F238E27FC236}">
                    <a16:creationId xmlns:a16="http://schemas.microsoft.com/office/drawing/2014/main" id="{D4648777-72F9-4B1D-AA84-0288085A2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3" y="289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zh-CN" sz="2400" i="1">
                    <a:effectLst/>
                  </a:rPr>
                  <a:t>g</a:t>
                </a:r>
                <a:endParaRPr kumimoji="0" lang="en-US" altLang="zh-CN" sz="2400">
                  <a:effectLst/>
                </a:endParaRPr>
              </a:p>
            </p:txBody>
          </p:sp>
        </p:grpSp>
        <p:sp>
          <p:nvSpPr>
            <p:cNvPr id="14" name="AutoShape 33">
              <a:extLst>
                <a:ext uri="{FF2B5EF4-FFF2-40B4-BE49-F238E27FC236}">
                  <a16:creationId xmlns:a16="http://schemas.microsoft.com/office/drawing/2014/main" id="{02250FBF-9ED8-42E7-861B-42B1FABA6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480" y="4181058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5" name="AutoShape 34">
              <a:extLst>
                <a:ext uri="{FF2B5EF4-FFF2-40B4-BE49-F238E27FC236}">
                  <a16:creationId xmlns:a16="http://schemas.microsoft.com/office/drawing/2014/main" id="{BAA172C3-89EF-4C1A-8E2E-3F938281B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480" y="5420966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3" name="AutoShape 33">
              <a:extLst>
                <a:ext uri="{FF2B5EF4-FFF2-40B4-BE49-F238E27FC236}">
                  <a16:creationId xmlns:a16="http://schemas.microsoft.com/office/drawing/2014/main" id="{FAADE284-F884-4546-913E-5BA33B1D0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5211" y="4790745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4" name="AutoShape 33">
              <a:extLst>
                <a:ext uri="{FF2B5EF4-FFF2-40B4-BE49-F238E27FC236}">
                  <a16:creationId xmlns:a16="http://schemas.microsoft.com/office/drawing/2014/main" id="{A93C797C-7BBA-44C2-B16F-61AD7750D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9932" y="5992725"/>
              <a:ext cx="179388" cy="179388"/>
            </a:xfrm>
            <a:prstGeom prst="flowChartConnector">
              <a:avLst/>
            </a:prstGeom>
            <a:solidFill>
              <a:srgbClr val="CC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8BCD34C3-F95C-4E9B-86F6-23A7368510BF}"/>
              </a:ext>
            </a:extLst>
          </p:cNvPr>
          <p:cNvSpPr txBox="1"/>
          <p:nvPr/>
        </p:nvSpPr>
        <p:spPr>
          <a:xfrm>
            <a:off x="5796136" y="6452617"/>
            <a:ext cx="334786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一般称为顶点覆盖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A1BC224-A951-4651-B7B5-D75EC7D37BA4}"/>
              </a:ext>
            </a:extLst>
          </p:cNvPr>
          <p:cNvSpPr txBox="1"/>
          <p:nvPr/>
        </p:nvSpPr>
        <p:spPr>
          <a:xfrm>
            <a:off x="4788024" y="1333897"/>
            <a:ext cx="435597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选中节点的关联边集的并集为边全集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99E5D22-F2C8-4CCC-BC09-B8AA12F41C7A}"/>
              </a:ext>
            </a:extLst>
          </p:cNvPr>
          <p:cNvSpPr txBox="1"/>
          <p:nvPr/>
        </p:nvSpPr>
        <p:spPr>
          <a:xfrm>
            <a:off x="-1" y="6452617"/>
            <a:ext cx="5220073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集合覆盖：每个元素恰好出现在两个集合中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A366-00F0-4329-9BA8-EA5576232734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1949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支配集、独立集、覆盖集举例</a:t>
            </a:r>
          </a:p>
        </p:txBody>
      </p:sp>
      <p:sp>
        <p:nvSpPr>
          <p:cNvPr id="31949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151130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最小支配集为极小支配集，但反之不真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另外，极小支配集与最小支配集都可能不唯一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又易知完全图、轮图、星形图的支配数均是</a:t>
            </a:r>
            <a:r>
              <a:rPr lang="en-US" altLang="zh-CN" dirty="0">
                <a:latin typeface="Times New Roman" panose="02020603050405020304" pitchFamily="18" charset="0"/>
              </a:rPr>
              <a:t>1. 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19507" name="Rectangle 19"/>
          <p:cNvSpPr>
            <a:spLocks noChangeArrowheads="1"/>
          </p:cNvSpPr>
          <p:nvPr/>
        </p:nvSpPr>
        <p:spPr bwMode="auto">
          <a:xfrm>
            <a:off x="808038" y="5186599"/>
            <a:ext cx="7508875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图中</a:t>
            </a:r>
            <a:r>
              <a:rPr lang="en-US" altLang="zh-CN" b="1" dirty="0">
                <a:latin typeface="Times New Roman" panose="02020603050405020304" pitchFamily="18" charset="0"/>
              </a:rPr>
              <a:t>, (1), (2), (3)(</a:t>
            </a:r>
            <a:r>
              <a:rPr lang="zh-CN" altLang="en-US" b="1" dirty="0">
                <a:latin typeface="Times New Roman" panose="02020603050405020304" pitchFamily="18" charset="0"/>
              </a:rPr>
              <a:t>彼得松图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的支配数分别为</a:t>
            </a:r>
            <a:r>
              <a:rPr lang="en-US" altLang="zh-CN" b="1" dirty="0">
                <a:latin typeface="Times New Roman" panose="02020603050405020304" pitchFamily="18" charset="0"/>
              </a:rPr>
              <a:t>1, 2, 3. </a:t>
            </a:r>
          </a:p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点独立数依次为</a:t>
            </a:r>
            <a:r>
              <a:rPr lang="en-US" altLang="zh-CN" b="1" dirty="0">
                <a:latin typeface="Times New Roman" panose="02020603050405020304" pitchFamily="18" charset="0"/>
              </a:rPr>
              <a:t>2, 2, 4. </a:t>
            </a:r>
          </a:p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点覆盖数依次为</a:t>
            </a:r>
            <a:r>
              <a:rPr lang="en-US" altLang="zh-CN" b="1" dirty="0">
                <a:latin typeface="Times New Roman" panose="02020603050405020304" pitchFamily="18" charset="0"/>
              </a:rPr>
              <a:t>3, 4, 6.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319510" name="Group 22"/>
          <p:cNvGrpSpPr>
            <a:grpSpLocks/>
          </p:cNvGrpSpPr>
          <p:nvPr/>
        </p:nvGrpSpPr>
        <p:grpSpPr bwMode="auto">
          <a:xfrm>
            <a:off x="755650" y="2708275"/>
            <a:ext cx="7343775" cy="2493963"/>
            <a:chOff x="476" y="1706"/>
            <a:chExt cx="4626" cy="1571"/>
          </a:xfrm>
        </p:grpSpPr>
        <p:grpSp>
          <p:nvGrpSpPr>
            <p:cNvPr id="319508" name="Group 20"/>
            <p:cNvGrpSpPr>
              <a:grpSpLocks/>
            </p:cNvGrpSpPr>
            <p:nvPr/>
          </p:nvGrpSpPr>
          <p:grpSpPr bwMode="auto">
            <a:xfrm>
              <a:off x="476" y="1706"/>
              <a:ext cx="4626" cy="1339"/>
              <a:chOff x="521" y="1888"/>
              <a:chExt cx="4626" cy="1339"/>
            </a:xfrm>
          </p:grpSpPr>
          <p:pic>
            <p:nvPicPr>
              <p:cNvPr id="319504" name="Picture 16" descr="18-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070"/>
              <a:stretch>
                <a:fillRect/>
              </a:stretch>
            </p:blipFill>
            <p:spPr bwMode="auto">
              <a:xfrm>
                <a:off x="3787" y="1888"/>
                <a:ext cx="1360" cy="1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505" name="Picture 17" descr="18-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810"/>
              <a:stretch>
                <a:fillRect/>
              </a:stretch>
            </p:blipFill>
            <p:spPr bwMode="auto">
              <a:xfrm>
                <a:off x="521" y="2024"/>
                <a:ext cx="1588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506" name="Picture 18" descr="18-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229" r="35100"/>
              <a:stretch>
                <a:fillRect/>
              </a:stretch>
            </p:blipFill>
            <p:spPr bwMode="auto">
              <a:xfrm>
                <a:off x="2200" y="1979"/>
                <a:ext cx="1361" cy="1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9509" name="Text Box 21"/>
            <p:cNvSpPr txBox="1">
              <a:spLocks noChangeArrowheads="1"/>
            </p:cNvSpPr>
            <p:nvPr/>
          </p:nvSpPr>
          <p:spPr bwMode="auto">
            <a:xfrm>
              <a:off x="962" y="2989"/>
              <a:ext cx="39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 (2)                              (3)</a:t>
              </a:r>
              <a:r>
                <a:rPr lang="en-US" altLang="zh-CN"/>
                <a:t>   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E3116A4-965B-4D1E-BD35-91DB352C22E1}"/>
              </a:ext>
            </a:extLst>
          </p:cNvPr>
          <p:cNvSpPr txBox="1"/>
          <p:nvPr/>
        </p:nvSpPr>
        <p:spPr>
          <a:xfrm>
            <a:off x="4879083" y="5985821"/>
            <a:ext cx="2276305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求和等于节点数？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FABE4A0-60A4-46B2-8B89-624E7B67CAE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923928" y="6185876"/>
            <a:ext cx="955155" cy="200055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A85CC05-5931-46A0-80E1-1CFF05FE8BC6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923928" y="5983658"/>
            <a:ext cx="955155" cy="202218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8E4-B603-4212-8ABA-44CE891A940B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点覆盖集与点独立集的关系</a:t>
            </a:r>
          </a:p>
        </p:txBody>
      </p:sp>
      <p:sp>
        <p:nvSpPr>
          <p:cNvPr id="32768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208963" cy="1079500"/>
          </a:xfrm>
        </p:spPr>
        <p:txBody>
          <a:bodyPr/>
          <a:lstStyle/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无孤立点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是点覆盖当且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仅当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−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为点独立集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689" name="Rectangle 9"/>
          <p:cNvSpPr>
            <a:spLocks noChangeArrowheads="1"/>
          </p:cNvSpPr>
          <p:nvPr/>
        </p:nvSpPr>
        <p:spPr bwMode="auto">
          <a:xfrm>
            <a:off x="395288" y="2420938"/>
            <a:ext cx="8424862" cy="187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</a:rPr>
              <a:t>证  必要性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>
                <a:latin typeface="Times New Roman" panose="02020603050405020304" pitchFamily="18" charset="0"/>
              </a:rPr>
              <a:t>相邻，即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zh-CN" altLang="en-US">
                <a:latin typeface="Times New Roman" panose="02020603050405020304" pitchFamily="18" charset="0"/>
              </a:rPr>
              <a:t>，则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</a:rPr>
              <a:t>*</a:t>
            </a:r>
            <a:r>
              <a:rPr lang="zh-CN" altLang="en-US">
                <a:latin typeface="Times New Roman" panose="02020603050405020304" pitchFamily="18" charset="0"/>
              </a:rPr>
              <a:t>中顶点不能覆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盖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，这是矛盾的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充分性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由于是点独立集，因而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zh-CN" altLang="en-US">
                <a:latin typeface="Times New Roman" panose="02020603050405020304" pitchFamily="18" charset="0"/>
              </a:rPr>
              <a:t>的两个端点至少一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个在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</a:rPr>
              <a:t>*</a:t>
            </a:r>
            <a:r>
              <a:rPr lang="zh-CN" altLang="en-US">
                <a:latin typeface="Times New Roman" panose="02020603050405020304" pitchFamily="18" charset="0"/>
              </a:rPr>
              <a:t>中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27690" name="Rectangle 10"/>
          <p:cNvSpPr>
            <a:spLocks noChangeArrowheads="1"/>
          </p:cNvSpPr>
          <p:nvPr/>
        </p:nvSpPr>
        <p:spPr bwMode="auto">
          <a:xfrm>
            <a:off x="395288" y="4398963"/>
            <a:ext cx="80645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A50021"/>
                </a:solidFill>
                <a:latin typeface="Times New Roman" panose="02020603050405020304" pitchFamily="18" charset="0"/>
              </a:rPr>
              <a:t>推论 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阶无孤立顶点图，则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>
                <a:latin typeface="Times New Roman" panose="02020603050405020304" pitchFamily="18" charset="0"/>
              </a:rPr>
              <a:t>*</a:t>
            </a:r>
            <a:r>
              <a:rPr lang="zh-CN" altLang="en-US" b="1">
                <a:latin typeface="Times New Roman" panose="02020603050405020304" pitchFamily="18" charset="0"/>
              </a:rPr>
              <a:t>是极小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</a:rPr>
              <a:t>最小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点覆盖当且仅当是极大（最大）点独立集，从而有</a:t>
            </a: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                            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</a:rPr>
              <a:t>+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4CE658-7C46-4ACC-A95B-9BE90DA378D9}"/>
              </a:ext>
            </a:extLst>
          </p:cNvPr>
          <p:cNvSpPr txBox="1"/>
          <p:nvPr/>
        </p:nvSpPr>
        <p:spPr>
          <a:xfrm>
            <a:off x="1619721" y="6245225"/>
            <a:ext cx="590455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极（最）小点覆盖与极（最）大点独立集互为补集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09D195-38C1-4737-833A-6B41658A532A}"/>
              </a:ext>
            </a:extLst>
          </p:cNvPr>
          <p:cNvSpPr txBox="1"/>
          <p:nvPr/>
        </p:nvSpPr>
        <p:spPr>
          <a:xfrm>
            <a:off x="2879811" y="1960253"/>
            <a:ext cx="338437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点覆盖与点独立集互为补集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FF99C-590D-45FB-8A2E-33A3AC0A004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29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边覆盖集与匹配</a:t>
            </a:r>
          </a:p>
        </p:txBody>
      </p:sp>
      <p:sp>
        <p:nvSpPr>
          <p:cNvPr id="32973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064500" cy="2232025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zh-CN" altLang="en-US" dirty="0"/>
              <a:t>边覆盖集与边覆盖数</a:t>
            </a:r>
          </a:p>
          <a:p>
            <a:pPr marL="609600" indent="-609600">
              <a:lnSpc>
                <a:spcPct val="8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极小边覆盖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的真子集不是边覆盖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最小边覆盖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边数最少的边覆盖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最小边覆盖中元素个数</a:t>
            </a:r>
          </a:p>
          <a:p>
            <a:pPr marL="609600" indent="-609600"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CD511E-73FC-4E4E-9795-B49954BE83C8}"/>
              </a:ext>
            </a:extLst>
          </p:cNvPr>
          <p:cNvSpPr txBox="1"/>
          <p:nvPr/>
        </p:nvSpPr>
        <p:spPr>
          <a:xfrm>
            <a:off x="-1" y="6452617"/>
            <a:ext cx="5220073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集合覆盖：每个集合恰好覆盖两个元素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32418-24A7-41E8-828E-8ECEC4AF03A3}"/>
              </a:ext>
            </a:extLst>
          </p:cNvPr>
          <p:cNvSpPr txBox="1"/>
          <p:nvPr/>
        </p:nvSpPr>
        <p:spPr>
          <a:xfrm>
            <a:off x="4788023" y="1390620"/>
            <a:ext cx="435597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选中边的端点集的并集为节点全集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31">
            <a:extLst>
              <a:ext uri="{FF2B5EF4-FFF2-40B4-BE49-F238E27FC236}">
                <a16:creationId xmlns:a16="http://schemas.microsoft.com/office/drawing/2014/main" id="{F12AC5C5-D9BA-4F16-B377-104159A08125}"/>
              </a:ext>
            </a:extLst>
          </p:cNvPr>
          <p:cNvGrpSpPr>
            <a:grpSpLocks/>
          </p:cNvGrpSpPr>
          <p:nvPr/>
        </p:nvGrpSpPr>
        <p:grpSpPr bwMode="auto">
          <a:xfrm>
            <a:off x="755576" y="3500438"/>
            <a:ext cx="3484563" cy="2436813"/>
            <a:chOff x="292" y="2496"/>
            <a:chExt cx="2195" cy="1535"/>
          </a:xfrm>
        </p:grpSpPr>
        <p:grpSp>
          <p:nvGrpSpPr>
            <p:cNvPr id="12" name="Group 6">
              <a:extLst>
                <a:ext uri="{FF2B5EF4-FFF2-40B4-BE49-F238E27FC236}">
                  <a16:creationId xmlns:a16="http://schemas.microsoft.com/office/drawing/2014/main" id="{E9965A34-97D4-4547-B714-A5318EF35C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" y="2632"/>
              <a:ext cx="1980" cy="1333"/>
              <a:chOff x="2147" y="822"/>
              <a:chExt cx="1980" cy="1333"/>
            </a:xfrm>
          </p:grpSpPr>
          <p:sp>
            <p:nvSpPr>
              <p:cNvPr id="20" name="AutoShape 7">
                <a:extLst>
                  <a:ext uri="{FF2B5EF4-FFF2-40B4-BE49-F238E27FC236}">
                    <a16:creationId xmlns:a16="http://schemas.microsoft.com/office/drawing/2014/main" id="{D2AFFDFB-D7E9-4522-BA1F-97AAF0F9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7" y="1095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1" name="AutoShape 8">
                <a:extLst>
                  <a:ext uri="{FF2B5EF4-FFF2-40B4-BE49-F238E27FC236}">
                    <a16:creationId xmlns:a16="http://schemas.microsoft.com/office/drawing/2014/main" id="{0D207912-04A1-4E2C-A803-7EB4E4342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4" y="1435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2" name="AutoShape 9">
                <a:extLst>
                  <a:ext uri="{FF2B5EF4-FFF2-40B4-BE49-F238E27FC236}">
                    <a16:creationId xmlns:a16="http://schemas.microsoft.com/office/drawing/2014/main" id="{C51C1D6F-CCF3-4C1B-B9EC-F119F2655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1" y="1435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3" name="AutoShape 10">
                <a:extLst>
                  <a:ext uri="{FF2B5EF4-FFF2-40B4-BE49-F238E27FC236}">
                    <a16:creationId xmlns:a16="http://schemas.microsoft.com/office/drawing/2014/main" id="{57D41E7E-9D63-4F65-818E-DBF3590A5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1" y="822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4" name="AutoShape 11">
                <a:extLst>
                  <a:ext uri="{FF2B5EF4-FFF2-40B4-BE49-F238E27FC236}">
                    <a16:creationId xmlns:a16="http://schemas.microsoft.com/office/drawing/2014/main" id="{807E4B65-2430-45CA-BC9F-3D49DEF74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" y="1878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5" name="AutoShape 12">
                <a:extLst>
                  <a:ext uri="{FF2B5EF4-FFF2-40B4-BE49-F238E27FC236}">
                    <a16:creationId xmlns:a16="http://schemas.microsoft.com/office/drawing/2014/main" id="{FE9C1DA2-D8E4-47DD-A51E-F3196E09A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2082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cxnSp>
            <p:nvCxnSpPr>
              <p:cNvPr id="26" name="AutoShape 13">
                <a:extLst>
                  <a:ext uri="{FF2B5EF4-FFF2-40B4-BE49-F238E27FC236}">
                    <a16:creationId xmlns:a16="http://schemas.microsoft.com/office/drawing/2014/main" id="{9413469E-AFAF-4D2D-8237-73A380250E02}"/>
                  </a:ext>
                </a:extLst>
              </p:cNvPr>
              <p:cNvCxnSpPr>
                <a:cxnSpLocks noChangeShapeType="1"/>
                <a:stCxn id="21" idx="2"/>
                <a:endCxn id="22" idx="6"/>
              </p:cNvCxnSpPr>
              <p:nvPr/>
            </p:nvCxnSpPr>
            <p:spPr bwMode="auto">
              <a:xfrm flipH="1">
                <a:off x="3434" y="1472"/>
                <a:ext cx="620" cy="0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AutoShape 14">
                <a:extLst>
                  <a:ext uri="{FF2B5EF4-FFF2-40B4-BE49-F238E27FC236}">
                    <a16:creationId xmlns:a16="http://schemas.microsoft.com/office/drawing/2014/main" id="{BEA60F3F-6EFB-4492-B6AE-6FBDDE90511B}"/>
                  </a:ext>
                </a:extLst>
              </p:cNvPr>
              <p:cNvCxnSpPr>
                <a:cxnSpLocks noChangeShapeType="1"/>
                <a:stCxn id="24" idx="7"/>
                <a:endCxn id="23" idx="3"/>
              </p:cNvCxnSpPr>
              <p:nvPr/>
            </p:nvCxnSpPr>
            <p:spPr bwMode="auto">
              <a:xfrm flipV="1">
                <a:off x="2259" y="884"/>
                <a:ext cx="633" cy="1005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AutoShape 15">
                <a:extLst>
                  <a:ext uri="{FF2B5EF4-FFF2-40B4-BE49-F238E27FC236}">
                    <a16:creationId xmlns:a16="http://schemas.microsoft.com/office/drawing/2014/main" id="{C5879B3B-3D8A-4329-96DB-1862ACF5CC95}"/>
                  </a:ext>
                </a:extLst>
              </p:cNvPr>
              <p:cNvCxnSpPr>
                <a:cxnSpLocks noChangeShapeType="1"/>
                <a:stCxn id="23" idx="5"/>
                <a:endCxn id="22" idx="1"/>
              </p:cNvCxnSpPr>
              <p:nvPr/>
            </p:nvCxnSpPr>
            <p:spPr bwMode="auto">
              <a:xfrm>
                <a:off x="2943" y="884"/>
                <a:ext cx="429" cy="562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AutoShape 16">
                <a:extLst>
                  <a:ext uri="{FF2B5EF4-FFF2-40B4-BE49-F238E27FC236}">
                    <a16:creationId xmlns:a16="http://schemas.microsoft.com/office/drawing/2014/main" id="{E31FD743-DB0F-48CE-8227-E0CD0A1B06F5}"/>
                  </a:ext>
                </a:extLst>
              </p:cNvPr>
              <p:cNvCxnSpPr>
                <a:cxnSpLocks noChangeShapeType="1"/>
                <a:stCxn id="25" idx="7"/>
                <a:endCxn id="22" idx="3"/>
              </p:cNvCxnSpPr>
              <p:nvPr/>
            </p:nvCxnSpPr>
            <p:spPr bwMode="auto">
              <a:xfrm flipV="1">
                <a:off x="2984" y="1497"/>
                <a:ext cx="388" cy="596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AutoShape 17">
                <a:extLst>
                  <a:ext uri="{FF2B5EF4-FFF2-40B4-BE49-F238E27FC236}">
                    <a16:creationId xmlns:a16="http://schemas.microsoft.com/office/drawing/2014/main" id="{CA96BC64-1430-4A3E-A777-863A79B81DD4}"/>
                  </a:ext>
                </a:extLst>
              </p:cNvPr>
              <p:cNvCxnSpPr>
                <a:cxnSpLocks noChangeShapeType="1"/>
                <a:stCxn id="20" idx="4"/>
                <a:endCxn id="24" idx="0"/>
              </p:cNvCxnSpPr>
              <p:nvPr/>
            </p:nvCxnSpPr>
            <p:spPr bwMode="auto">
              <a:xfrm>
                <a:off x="2184" y="1168"/>
                <a:ext cx="50" cy="710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AutoShape 18">
                <a:extLst>
                  <a:ext uri="{FF2B5EF4-FFF2-40B4-BE49-F238E27FC236}">
                    <a16:creationId xmlns:a16="http://schemas.microsoft.com/office/drawing/2014/main" id="{82A0D0FB-ECA5-4568-A195-3C886C5F6078}"/>
                  </a:ext>
                </a:extLst>
              </p:cNvPr>
              <p:cNvCxnSpPr>
                <a:cxnSpLocks noChangeShapeType="1"/>
                <a:stCxn id="24" idx="6"/>
                <a:endCxn id="25" idx="2"/>
              </p:cNvCxnSpPr>
              <p:nvPr/>
            </p:nvCxnSpPr>
            <p:spPr bwMode="auto">
              <a:xfrm>
                <a:off x="2270" y="1915"/>
                <a:ext cx="652" cy="204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" name="AutoShape 19">
                <a:extLst>
                  <a:ext uri="{FF2B5EF4-FFF2-40B4-BE49-F238E27FC236}">
                    <a16:creationId xmlns:a16="http://schemas.microsoft.com/office/drawing/2014/main" id="{09EE9C6E-F1FE-4941-9D8D-D8EF212CE6E7}"/>
                  </a:ext>
                </a:extLst>
              </p:cNvPr>
              <p:cNvCxnSpPr>
                <a:cxnSpLocks noChangeShapeType="1"/>
                <a:stCxn id="23" idx="2"/>
                <a:endCxn id="20" idx="6"/>
              </p:cNvCxnSpPr>
              <p:nvPr/>
            </p:nvCxnSpPr>
            <p:spPr bwMode="auto">
              <a:xfrm flipH="1">
                <a:off x="2220" y="859"/>
                <a:ext cx="661" cy="273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78F6CEB3-BB06-4583-900D-1A1A5BC9F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 dirty="0">
                  <a:effectLst/>
                </a:rPr>
                <a:t>a</a:t>
              </a:r>
              <a:endParaRPr kumimoji="0" lang="en-US" altLang="zh-CN" sz="2400" dirty="0">
                <a:effectLst/>
              </a:endParaRPr>
            </a:p>
          </p:txBody>
        </p:sp>
        <p:sp>
          <p:nvSpPr>
            <p:cNvPr id="14" name="Rectangle 21">
              <a:extLst>
                <a:ext uri="{FF2B5EF4-FFF2-40B4-BE49-F238E27FC236}">
                  <a16:creationId xmlns:a16="http://schemas.microsoft.com/office/drawing/2014/main" id="{AFB95F19-A22D-46CD-9CAA-692C5C804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2708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 dirty="0">
                  <a:effectLst/>
                </a:rPr>
                <a:t>f</a:t>
              </a:r>
              <a:endParaRPr kumimoji="0" lang="en-US" altLang="zh-CN" sz="2400" dirty="0">
                <a:effectLst/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47E19B0D-2DCC-439F-BC03-713FC95EE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" y="37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d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4E181B66-2EF2-4893-A783-5327CA712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13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c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7" name="Rectangle 24">
              <a:extLst>
                <a:ext uri="{FF2B5EF4-FFF2-40B4-BE49-F238E27FC236}">
                  <a16:creationId xmlns:a16="http://schemas.microsoft.com/office/drawing/2014/main" id="{69125753-3F1B-4BDB-8B55-F34518E06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" y="347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e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32B2F89B-D9A1-4E52-87C5-AFC36B8DA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31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b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9" name="Rectangle 26">
              <a:extLst>
                <a:ext uri="{FF2B5EF4-FFF2-40B4-BE49-F238E27FC236}">
                  <a16:creationId xmlns:a16="http://schemas.microsoft.com/office/drawing/2014/main" id="{4BED14B6-DE85-44F2-AEEC-90FFE207C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32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g</a:t>
              </a:r>
              <a:endParaRPr kumimoji="0" lang="en-US" altLang="zh-CN" sz="2400">
                <a:effectLst/>
              </a:endParaRPr>
            </a:p>
          </p:txBody>
        </p:sp>
      </p:grpSp>
      <p:grpSp>
        <p:nvGrpSpPr>
          <p:cNvPr id="33" name="Group 27">
            <a:extLst>
              <a:ext uri="{FF2B5EF4-FFF2-40B4-BE49-F238E27FC236}">
                <a16:creationId xmlns:a16="http://schemas.microsoft.com/office/drawing/2014/main" id="{203B10E7-FF33-4CF2-8759-942318D9BA2D}"/>
              </a:ext>
            </a:extLst>
          </p:cNvPr>
          <p:cNvGrpSpPr>
            <a:grpSpLocks/>
          </p:cNvGrpSpPr>
          <p:nvPr/>
        </p:nvGrpSpPr>
        <p:grpSpPr bwMode="auto">
          <a:xfrm>
            <a:off x="1214364" y="3773488"/>
            <a:ext cx="2911475" cy="2000250"/>
            <a:chOff x="25" y="1509"/>
            <a:chExt cx="1834" cy="1260"/>
          </a:xfrm>
        </p:grpSpPr>
        <p:cxnSp>
          <p:nvCxnSpPr>
            <p:cNvPr id="34" name="AutoShape 28">
              <a:extLst>
                <a:ext uri="{FF2B5EF4-FFF2-40B4-BE49-F238E27FC236}">
                  <a16:creationId xmlns:a16="http://schemas.microsoft.com/office/drawing/2014/main" id="{81C91D04-143B-4C16-801D-D93E3F7F14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39" y="2122"/>
              <a:ext cx="620" cy="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29">
              <a:extLst>
                <a:ext uri="{FF2B5EF4-FFF2-40B4-BE49-F238E27FC236}">
                  <a16:creationId xmlns:a16="http://schemas.microsoft.com/office/drawing/2014/main" id="{5FD35BDC-2BCE-4AAA-9C2D-6A2CC51F22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" y="2565"/>
              <a:ext cx="652" cy="20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30">
              <a:extLst>
                <a:ext uri="{FF2B5EF4-FFF2-40B4-BE49-F238E27FC236}">
                  <a16:creationId xmlns:a16="http://schemas.microsoft.com/office/drawing/2014/main" id="{60DD3D4E-95C3-42E5-BF27-D605E6FACC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" y="1509"/>
              <a:ext cx="661" cy="27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" name="Rectangle 5">
            <a:extLst>
              <a:ext uri="{FF2B5EF4-FFF2-40B4-BE49-F238E27FC236}">
                <a16:creationId xmlns:a16="http://schemas.microsoft.com/office/drawing/2014/main" id="{41B5C48A-40CC-41AD-9002-EE1FBAA78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14518"/>
            <a:ext cx="4248472" cy="11387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极小边覆盖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f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最小边覆盖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el-GR" altLang="zh-CN" sz="2000" b="0" dirty="0">
                <a:solidFill>
                  <a:srgbClr val="FF9900"/>
                </a:solidFill>
                <a:effectLst/>
                <a:ea typeface="+mn-ea"/>
              </a:rPr>
              <a:t>α</a:t>
            </a:r>
            <a:r>
              <a:rPr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1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 = 3.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1918-D8C9-4468-8DE2-18170D0743D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31784" name="Rectangle 8"/>
          <p:cNvSpPr>
            <a:spLocks noGrp="1" noChangeArrowheads="1"/>
          </p:cNvSpPr>
          <p:nvPr>
            <p:ph type="title"/>
          </p:nvPr>
        </p:nvSpPr>
        <p:spPr>
          <a:xfrm>
            <a:off x="1979613" y="333375"/>
            <a:ext cx="6121400" cy="417513"/>
          </a:xfrm>
        </p:spPr>
        <p:txBody>
          <a:bodyPr/>
          <a:lstStyle/>
          <a:p>
            <a:pPr algn="ctr"/>
            <a:r>
              <a:rPr lang="zh-CN" altLang="en-US" sz="2800">
                <a:latin typeface="Times New Roman" panose="02020603050405020304" pitchFamily="18" charset="0"/>
              </a:rPr>
              <a:t>匹配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边独立集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与匹配数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边独立数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3178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80400" cy="237648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边独立集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中各边均不相邻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极大匹配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中不能再加其他边了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最大匹配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边数最多的匹配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最大匹配中的边数，记为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</a:p>
        </p:txBody>
      </p:sp>
      <p:grpSp>
        <p:nvGrpSpPr>
          <p:cNvPr id="7" name="Group 31">
            <a:extLst>
              <a:ext uri="{FF2B5EF4-FFF2-40B4-BE49-F238E27FC236}">
                <a16:creationId xmlns:a16="http://schemas.microsoft.com/office/drawing/2014/main" id="{AE824752-C4E6-465A-9B16-5236BCA85A78}"/>
              </a:ext>
            </a:extLst>
          </p:cNvPr>
          <p:cNvGrpSpPr>
            <a:grpSpLocks/>
          </p:cNvGrpSpPr>
          <p:nvPr/>
        </p:nvGrpSpPr>
        <p:grpSpPr bwMode="auto">
          <a:xfrm>
            <a:off x="755576" y="3500438"/>
            <a:ext cx="3484563" cy="2436813"/>
            <a:chOff x="292" y="2496"/>
            <a:chExt cx="2195" cy="1535"/>
          </a:xfrm>
        </p:grpSpPr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32B7DD8D-A689-48D9-8113-02D040BEFC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" y="2632"/>
              <a:ext cx="1980" cy="1333"/>
              <a:chOff x="2147" y="822"/>
              <a:chExt cx="1980" cy="1333"/>
            </a:xfrm>
          </p:grpSpPr>
          <p:sp>
            <p:nvSpPr>
              <p:cNvPr id="17" name="AutoShape 7">
                <a:extLst>
                  <a:ext uri="{FF2B5EF4-FFF2-40B4-BE49-F238E27FC236}">
                    <a16:creationId xmlns:a16="http://schemas.microsoft.com/office/drawing/2014/main" id="{B131F5CC-D8D4-4770-9B07-F67CAC074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7" y="1095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8" name="AutoShape 8">
                <a:extLst>
                  <a:ext uri="{FF2B5EF4-FFF2-40B4-BE49-F238E27FC236}">
                    <a16:creationId xmlns:a16="http://schemas.microsoft.com/office/drawing/2014/main" id="{D065ED2D-9D70-4652-A9FE-BDCF4F18E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4" y="1435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9" name="AutoShape 9">
                <a:extLst>
                  <a:ext uri="{FF2B5EF4-FFF2-40B4-BE49-F238E27FC236}">
                    <a16:creationId xmlns:a16="http://schemas.microsoft.com/office/drawing/2014/main" id="{781E382A-B492-4591-A762-B006E16F4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1" y="1435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0" name="AutoShape 10">
                <a:extLst>
                  <a:ext uri="{FF2B5EF4-FFF2-40B4-BE49-F238E27FC236}">
                    <a16:creationId xmlns:a16="http://schemas.microsoft.com/office/drawing/2014/main" id="{0714D234-8D17-4CC4-94E2-081FD761B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1" y="822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1" name="AutoShape 11">
                <a:extLst>
                  <a:ext uri="{FF2B5EF4-FFF2-40B4-BE49-F238E27FC236}">
                    <a16:creationId xmlns:a16="http://schemas.microsoft.com/office/drawing/2014/main" id="{B4DF1FBB-58AB-4106-BCEC-03773A212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" y="1878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2" name="AutoShape 12">
                <a:extLst>
                  <a:ext uri="{FF2B5EF4-FFF2-40B4-BE49-F238E27FC236}">
                    <a16:creationId xmlns:a16="http://schemas.microsoft.com/office/drawing/2014/main" id="{37859F6C-6C3D-46C7-BC98-3C3AEF1E6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2082"/>
                <a:ext cx="73" cy="73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cxnSp>
            <p:nvCxnSpPr>
              <p:cNvPr id="23" name="AutoShape 13">
                <a:extLst>
                  <a:ext uri="{FF2B5EF4-FFF2-40B4-BE49-F238E27FC236}">
                    <a16:creationId xmlns:a16="http://schemas.microsoft.com/office/drawing/2014/main" id="{E8CF2EC5-8C0C-4A51-9FBB-5554EEEDA159}"/>
                  </a:ext>
                </a:extLst>
              </p:cNvPr>
              <p:cNvCxnSpPr>
                <a:cxnSpLocks noChangeShapeType="1"/>
                <a:stCxn id="18" idx="2"/>
                <a:endCxn id="19" idx="6"/>
              </p:cNvCxnSpPr>
              <p:nvPr/>
            </p:nvCxnSpPr>
            <p:spPr bwMode="auto">
              <a:xfrm flipH="1">
                <a:off x="3434" y="1472"/>
                <a:ext cx="620" cy="0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" name="AutoShape 14">
                <a:extLst>
                  <a:ext uri="{FF2B5EF4-FFF2-40B4-BE49-F238E27FC236}">
                    <a16:creationId xmlns:a16="http://schemas.microsoft.com/office/drawing/2014/main" id="{E06F772D-D210-4C6F-AF2E-A20DD7720215}"/>
                  </a:ext>
                </a:extLst>
              </p:cNvPr>
              <p:cNvCxnSpPr>
                <a:cxnSpLocks noChangeShapeType="1"/>
                <a:stCxn id="21" idx="7"/>
                <a:endCxn id="20" idx="3"/>
              </p:cNvCxnSpPr>
              <p:nvPr/>
            </p:nvCxnSpPr>
            <p:spPr bwMode="auto">
              <a:xfrm flipV="1">
                <a:off x="2259" y="884"/>
                <a:ext cx="633" cy="1005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" name="AutoShape 15">
                <a:extLst>
                  <a:ext uri="{FF2B5EF4-FFF2-40B4-BE49-F238E27FC236}">
                    <a16:creationId xmlns:a16="http://schemas.microsoft.com/office/drawing/2014/main" id="{DD9C5264-8CE4-4D74-B772-4511953C4C32}"/>
                  </a:ext>
                </a:extLst>
              </p:cNvPr>
              <p:cNvCxnSpPr>
                <a:cxnSpLocks noChangeShapeType="1"/>
                <a:stCxn id="20" idx="5"/>
                <a:endCxn id="19" idx="1"/>
              </p:cNvCxnSpPr>
              <p:nvPr/>
            </p:nvCxnSpPr>
            <p:spPr bwMode="auto">
              <a:xfrm>
                <a:off x="2943" y="884"/>
                <a:ext cx="429" cy="562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AutoShape 16">
                <a:extLst>
                  <a:ext uri="{FF2B5EF4-FFF2-40B4-BE49-F238E27FC236}">
                    <a16:creationId xmlns:a16="http://schemas.microsoft.com/office/drawing/2014/main" id="{4B22E82D-C642-4322-9A92-600DE070299F}"/>
                  </a:ext>
                </a:extLst>
              </p:cNvPr>
              <p:cNvCxnSpPr>
                <a:cxnSpLocks noChangeShapeType="1"/>
                <a:stCxn id="22" idx="7"/>
                <a:endCxn id="19" idx="3"/>
              </p:cNvCxnSpPr>
              <p:nvPr/>
            </p:nvCxnSpPr>
            <p:spPr bwMode="auto">
              <a:xfrm flipV="1">
                <a:off x="2984" y="1497"/>
                <a:ext cx="388" cy="596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AutoShape 17">
                <a:extLst>
                  <a:ext uri="{FF2B5EF4-FFF2-40B4-BE49-F238E27FC236}">
                    <a16:creationId xmlns:a16="http://schemas.microsoft.com/office/drawing/2014/main" id="{D103BDA0-4698-4C0E-8D4B-8400220DAB0E}"/>
                  </a:ext>
                </a:extLst>
              </p:cNvPr>
              <p:cNvCxnSpPr>
                <a:cxnSpLocks noChangeShapeType="1"/>
                <a:stCxn id="17" idx="4"/>
                <a:endCxn id="21" idx="0"/>
              </p:cNvCxnSpPr>
              <p:nvPr/>
            </p:nvCxnSpPr>
            <p:spPr bwMode="auto">
              <a:xfrm>
                <a:off x="2184" y="1168"/>
                <a:ext cx="50" cy="710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AutoShape 18">
                <a:extLst>
                  <a:ext uri="{FF2B5EF4-FFF2-40B4-BE49-F238E27FC236}">
                    <a16:creationId xmlns:a16="http://schemas.microsoft.com/office/drawing/2014/main" id="{A8FA12F2-373C-427A-AE3B-00CAD116B8AA}"/>
                  </a:ext>
                </a:extLst>
              </p:cNvPr>
              <p:cNvCxnSpPr>
                <a:cxnSpLocks noChangeShapeType="1"/>
                <a:stCxn id="21" idx="6"/>
                <a:endCxn id="22" idx="2"/>
              </p:cNvCxnSpPr>
              <p:nvPr/>
            </p:nvCxnSpPr>
            <p:spPr bwMode="auto">
              <a:xfrm>
                <a:off x="2270" y="1915"/>
                <a:ext cx="652" cy="204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AutoShape 19">
                <a:extLst>
                  <a:ext uri="{FF2B5EF4-FFF2-40B4-BE49-F238E27FC236}">
                    <a16:creationId xmlns:a16="http://schemas.microsoft.com/office/drawing/2014/main" id="{410C3769-2A9D-4FBF-AE7D-4CD24E28C443}"/>
                  </a:ext>
                </a:extLst>
              </p:cNvPr>
              <p:cNvCxnSpPr>
                <a:cxnSpLocks noChangeShapeType="1"/>
                <a:stCxn id="20" idx="2"/>
                <a:endCxn id="17" idx="6"/>
              </p:cNvCxnSpPr>
              <p:nvPr/>
            </p:nvCxnSpPr>
            <p:spPr bwMode="auto">
              <a:xfrm flipH="1">
                <a:off x="2220" y="859"/>
                <a:ext cx="661" cy="273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" name="Rectangle 20">
              <a:extLst>
                <a:ext uri="{FF2B5EF4-FFF2-40B4-BE49-F238E27FC236}">
                  <a16:creationId xmlns:a16="http://schemas.microsoft.com/office/drawing/2014/main" id="{46028141-4429-4EE2-BA7B-9D3E535F3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 dirty="0">
                  <a:effectLst/>
                </a:rPr>
                <a:t>a</a:t>
              </a:r>
              <a:endParaRPr kumimoji="0" lang="en-US" altLang="zh-CN" sz="2400" dirty="0">
                <a:effectLst/>
              </a:endParaRPr>
            </a:p>
          </p:txBody>
        </p:sp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C70187A4-B8C6-4AA4-ACE0-AD8B8488B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2708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 dirty="0">
                  <a:effectLst/>
                </a:rPr>
                <a:t>f</a:t>
              </a:r>
              <a:endParaRPr kumimoji="0" lang="en-US" altLang="zh-CN" sz="2400" dirty="0">
                <a:effectLst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75097D1B-9C89-4662-A0D0-60643F4E3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" y="37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d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9BECE391-9EBE-455B-A94A-98D52E5F1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13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c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id="{C9D66AE3-684F-4463-834A-A0BCC8D41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" y="347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e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05094438-6C0A-4302-8347-0EB47AEC7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31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b</a:t>
              </a:r>
              <a:endParaRPr kumimoji="0" lang="en-US" altLang="zh-CN" sz="2400">
                <a:effectLst/>
              </a:endParaRPr>
            </a:p>
          </p:txBody>
        </p:sp>
        <p:sp>
          <p:nvSpPr>
            <p:cNvPr id="16" name="Rectangle 26">
              <a:extLst>
                <a:ext uri="{FF2B5EF4-FFF2-40B4-BE49-F238E27FC236}">
                  <a16:creationId xmlns:a16="http://schemas.microsoft.com/office/drawing/2014/main" id="{9FB80926-3ABD-4232-A6B0-0F231DB95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32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2400" i="1">
                  <a:effectLst/>
                </a:rPr>
                <a:t>g</a:t>
              </a:r>
              <a:endParaRPr kumimoji="0" lang="en-US" altLang="zh-CN" sz="2400">
                <a:effectLst/>
              </a:endParaRPr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D1B21CEF-BC75-4F78-B249-B603300F65F5}"/>
              </a:ext>
            </a:extLst>
          </p:cNvPr>
          <p:cNvGrpSpPr>
            <a:grpSpLocks/>
          </p:cNvGrpSpPr>
          <p:nvPr/>
        </p:nvGrpSpPr>
        <p:grpSpPr bwMode="auto">
          <a:xfrm>
            <a:off x="1214364" y="3773488"/>
            <a:ext cx="2911475" cy="2000250"/>
            <a:chOff x="25" y="1509"/>
            <a:chExt cx="1834" cy="1260"/>
          </a:xfrm>
        </p:grpSpPr>
        <p:cxnSp>
          <p:nvCxnSpPr>
            <p:cNvPr id="31" name="AutoShape 28">
              <a:extLst>
                <a:ext uri="{FF2B5EF4-FFF2-40B4-BE49-F238E27FC236}">
                  <a16:creationId xmlns:a16="http://schemas.microsoft.com/office/drawing/2014/main" id="{8C4621EC-5E02-4F81-9F62-6E23A61DBB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39" y="2122"/>
              <a:ext cx="620" cy="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29">
              <a:extLst>
                <a:ext uri="{FF2B5EF4-FFF2-40B4-BE49-F238E27FC236}">
                  <a16:creationId xmlns:a16="http://schemas.microsoft.com/office/drawing/2014/main" id="{9FFCE7E8-1D99-44ED-89C5-3A4F79B327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" y="2565"/>
              <a:ext cx="652" cy="20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0">
              <a:extLst>
                <a:ext uri="{FF2B5EF4-FFF2-40B4-BE49-F238E27FC236}">
                  <a16:creationId xmlns:a16="http://schemas.microsoft.com/office/drawing/2014/main" id="{B8B6381E-FC13-4698-BFBE-B721BCEF51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" y="1509"/>
              <a:ext cx="661" cy="27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" name="Rectangle 5">
            <a:extLst>
              <a:ext uri="{FF2B5EF4-FFF2-40B4-BE49-F238E27FC236}">
                <a16:creationId xmlns:a16="http://schemas.microsoft.com/office/drawing/2014/main" id="{16A6F314-E873-4844-B04F-1D40CE624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14518"/>
            <a:ext cx="4248472" cy="11387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极大匹配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f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c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e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最大匹配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: {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d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g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}, ....</a:t>
            </a:r>
          </a:p>
          <a:p>
            <a:pPr eaLnBrk="1" hangingPunct="1">
              <a:defRPr/>
            </a:pP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匹配数 </a:t>
            </a:r>
            <a:r>
              <a:rPr lang="el-GR" altLang="zh-CN" sz="2000" b="0" dirty="0">
                <a:solidFill>
                  <a:srgbClr val="FF9900"/>
                </a:solidFill>
                <a:effectLst/>
                <a:ea typeface="+mn-ea"/>
              </a:rPr>
              <a:t>β</a:t>
            </a:r>
            <a:r>
              <a:rPr lang="en-US" altLang="zh-CN" sz="2000" b="0" baseline="-25000" dirty="0">
                <a:solidFill>
                  <a:srgbClr val="FF9900"/>
                </a:solidFill>
                <a:effectLst/>
                <a:ea typeface="+mn-ea"/>
              </a:rPr>
              <a:t>1</a:t>
            </a:r>
            <a:r>
              <a:rPr lang="en-US" altLang="zh-CN" sz="2000" b="0" dirty="0">
                <a:solidFill>
                  <a:srgbClr val="FF9900"/>
                </a:solidFill>
                <a:effectLst/>
                <a:ea typeface="+mn-ea"/>
              </a:rPr>
              <a:t> = 3.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D0448B0-8FBA-45CD-AAAB-C56448A4D8C3}"/>
              </a:ext>
            </a:extLst>
          </p:cNvPr>
          <p:cNvSpPr txBox="1"/>
          <p:nvPr/>
        </p:nvSpPr>
        <p:spPr>
          <a:xfrm>
            <a:off x="5012831" y="1208549"/>
            <a:ext cx="41311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选中边的端点集两两无交集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6CFAC-8751-489A-BB65-CDDEFB9ADF5B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338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关于匹配中的其他概念</a:t>
            </a:r>
          </a:p>
        </p:txBody>
      </p:sp>
      <p:sp>
        <p:nvSpPr>
          <p:cNvPr id="33383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351838" cy="3600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中一个匹配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被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</a:t>
            </a:r>
            <a:r>
              <a:rPr lang="en-US" altLang="zh-CN" dirty="0">
                <a:latin typeface="Times New Roman" panose="02020603050405020304" pitchFamily="18" charset="0"/>
              </a:rPr>
              <a:t>——(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下的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饱和点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中边与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下的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非饱和点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中边与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交错路径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中交替取边构成的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中路径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可增广交错路径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起、终点都是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非饱和点的交错路径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交错圈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中的边交替出现构成的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8AE0A9-2A4E-433F-A4FD-CD64FBA50375}"/>
              </a:ext>
            </a:extLst>
          </p:cNvPr>
          <p:cNvSpPr txBox="1"/>
          <p:nvPr/>
        </p:nvSpPr>
        <p:spPr>
          <a:xfrm>
            <a:off x="5796136" y="2581245"/>
            <a:ext cx="316803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匹配数等于节点数的一半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0763-097B-4D23-B5DF-2E753DACB173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358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可增广路径及交错圈</a:t>
            </a:r>
          </a:p>
        </p:txBody>
      </p:sp>
      <p:sp>
        <p:nvSpPr>
          <p:cNvPr id="33588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23850" y="4005263"/>
            <a:ext cx="8353425" cy="2233612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设红色边在匹配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中，绿色边不在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中，则图</a:t>
            </a: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中的两条路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径均为可增广的交错路径；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中的不是可增广的交错路径；</a:t>
            </a:r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中是一个交错圈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不难看出，可增广交错路径中，不在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中的边比在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中的边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多一条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交错圈一定为偶圈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grpSp>
        <p:nvGrpSpPr>
          <p:cNvPr id="335888" name="Group 16"/>
          <p:cNvGrpSpPr>
            <a:grpSpLocks/>
          </p:cNvGrpSpPr>
          <p:nvPr/>
        </p:nvGrpSpPr>
        <p:grpSpPr bwMode="auto">
          <a:xfrm>
            <a:off x="323850" y="1131888"/>
            <a:ext cx="8351838" cy="2513012"/>
            <a:chOff x="204" y="713"/>
            <a:chExt cx="5261" cy="1583"/>
          </a:xfrm>
        </p:grpSpPr>
        <p:sp>
          <p:nvSpPr>
            <p:cNvPr id="335883" name="Text Box 11"/>
            <p:cNvSpPr txBox="1">
              <a:spLocks noChangeArrowheads="1"/>
            </p:cNvSpPr>
            <p:nvPr/>
          </p:nvSpPr>
          <p:spPr bwMode="auto">
            <a:xfrm>
              <a:off x="674" y="2008"/>
              <a:ext cx="4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   (2)                                   (3)</a:t>
              </a:r>
            </a:p>
          </p:txBody>
        </p:sp>
        <p:grpSp>
          <p:nvGrpSpPr>
            <p:cNvPr id="335887" name="Group 15"/>
            <p:cNvGrpSpPr>
              <a:grpSpLocks/>
            </p:cNvGrpSpPr>
            <p:nvPr/>
          </p:nvGrpSpPr>
          <p:grpSpPr bwMode="auto">
            <a:xfrm>
              <a:off x="204" y="713"/>
              <a:ext cx="5147" cy="1378"/>
              <a:chOff x="295" y="713"/>
              <a:chExt cx="5147" cy="1378"/>
            </a:xfrm>
          </p:grpSpPr>
          <p:pic>
            <p:nvPicPr>
              <p:cNvPr id="335882" name="Picture 10" descr="18-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200" t="17674" b="30119"/>
              <a:stretch>
                <a:fillRect/>
              </a:stretch>
            </p:blipFill>
            <p:spPr bwMode="auto">
              <a:xfrm>
                <a:off x="4014" y="713"/>
                <a:ext cx="1428" cy="1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5885" name="Picture 13" descr="18-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7674" r="72626" b="30119"/>
              <a:stretch>
                <a:fillRect/>
              </a:stretch>
            </p:blipFill>
            <p:spPr bwMode="auto">
              <a:xfrm>
                <a:off x="295" y="796"/>
                <a:ext cx="1678" cy="1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5886" name="Picture 14" descr="18-3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2064" y="1126"/>
                <a:ext cx="1813" cy="6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FF99C-590D-45FB-8A2E-33A3AC0A004F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29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边覆盖集与匹配举例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6A09F-92A7-460D-B389-04DF4A72D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图中各图的边覆盖数依次为</a:t>
            </a:r>
            <a:r>
              <a:rPr lang="en-US" altLang="zh-CN" dirty="0">
                <a:latin typeface="Times New Roman" panose="02020603050405020304" pitchFamily="18" charset="0"/>
              </a:rPr>
              <a:t>3, 4, 5.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匹配数依次为</a:t>
            </a:r>
            <a:r>
              <a:rPr lang="en-US" altLang="zh-CN" dirty="0">
                <a:latin typeface="Times New Roman" panose="02020603050405020304" pitchFamily="18" charset="0"/>
              </a:rPr>
              <a:t>3, 3, 4.</a:t>
            </a:r>
            <a:r>
              <a:rPr lang="en-US" altLang="zh-CN" dirty="0"/>
              <a:t> </a:t>
            </a:r>
          </a:p>
          <a:p>
            <a:pPr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只有左图存在完美匹配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0" descr="18-2">
            <a:extLst>
              <a:ext uri="{FF2B5EF4-FFF2-40B4-BE49-F238E27FC236}">
                <a16:creationId xmlns:a16="http://schemas.microsoft.com/office/drawing/2014/main" id="{F09E6F55-80EB-4342-80AD-F16C4842C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98495"/>
            <a:ext cx="8135937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7ADC8E0-4281-410F-AD1A-9C6858FF80C1}"/>
                  </a:ext>
                </a:extLst>
              </p14:cNvPr>
              <p14:cNvContentPartPr/>
              <p14:nvPr/>
            </p14:nvContentPartPr>
            <p14:xfrm>
              <a:off x="5549760" y="3549600"/>
              <a:ext cx="2788200" cy="13654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7ADC8E0-4281-410F-AD1A-9C6858FF80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0400" y="3540240"/>
                <a:ext cx="2806920" cy="138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2604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C002-CDE2-413E-9D1E-02635BA5A599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3792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最大匹配与最小边覆盖之间关系</a:t>
            </a:r>
          </a:p>
        </p:txBody>
      </p:sp>
      <p:sp>
        <p:nvSpPr>
          <p:cNvPr id="3379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47847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中无孤立顶点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中一个最大匹配，对于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中每个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非饱和点均取一条与其关联的边，组成边集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⋃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中最小边覆盖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中一个最小边覆盖；若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中存在相邻的边就移去其中的一条，设移去的边集为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中一个最大匹配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288F06-6D19-41AB-A2E3-03F091060049}"/>
              </a:ext>
            </a:extLst>
          </p:cNvPr>
          <p:cNvSpPr txBox="1"/>
          <p:nvPr/>
        </p:nvSpPr>
        <p:spPr>
          <a:xfrm>
            <a:off x="1979613" y="2228683"/>
            <a:ext cx="7049951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完美匹配显然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；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非完美匹配下，每个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非饱和点的所有邻居都是饱和点（否则不是最大匹配），只能加一条边单独覆盖该点，至少是一个极小边覆盖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DD61C5-5AE7-4DBF-93CB-213132DBD7D8}"/>
              </a:ext>
            </a:extLst>
          </p:cNvPr>
          <p:cNvSpPr txBox="1"/>
          <p:nvPr/>
        </p:nvSpPr>
        <p:spPr>
          <a:xfrm>
            <a:off x="2927467" y="3953759"/>
            <a:ext cx="6084168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无相邻边时显然；有相邻边时，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中不存在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跳及以上的路径（否则删掉中间边可得更小边覆盖），同时初始状态下每个节点都连有边，故每删一条边新增一个非饱和点，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|= “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的非饱和点数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”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9162EA-0F28-4507-A489-95349F0DCF2F}"/>
              </a:ext>
            </a:extLst>
          </p:cNvPr>
          <p:cNvSpPr txBox="1"/>
          <p:nvPr/>
        </p:nvSpPr>
        <p:spPr>
          <a:xfrm>
            <a:off x="755576" y="5517232"/>
            <a:ext cx="7500664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|=|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|+|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|=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−2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|=|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|−|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|=“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的非饱和点数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”=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−2|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 ⇒ 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|=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显然一个边覆盖和匹配的大小在其最值范围内，即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|≥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|≤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联立得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≥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=|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|≥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，不等号均取到等号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C57A-7041-486C-A991-4925F1F577C3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33997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推论</a:t>
            </a:r>
          </a:p>
        </p:txBody>
      </p:sp>
      <p:sp>
        <p:nvSpPr>
          <p:cNvPr id="33997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1368425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推论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阶无孤立顶点的图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中的匹配，</a:t>
            </a:r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的边覆盖，则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>
                <a:latin typeface="Times New Roman" panose="02020603050405020304" pitchFamily="18" charset="0"/>
              </a:rPr>
              <a:t> |</a:t>
            </a:r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zh-CN" altLang="en-US">
                <a:latin typeface="Times New Roman" panose="02020603050405020304" pitchFamily="18" charset="0"/>
              </a:rPr>
              <a:t>，等号成立时，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中完美匹配，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中最小边覆盖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/>
          </a:p>
        </p:txBody>
      </p:sp>
      <p:sp>
        <p:nvSpPr>
          <p:cNvPr id="339979" name="Rectangle 11"/>
          <p:cNvSpPr>
            <a:spLocks noChangeArrowheads="1"/>
          </p:cNvSpPr>
          <p:nvPr/>
        </p:nvSpPr>
        <p:spPr bwMode="auto">
          <a:xfrm>
            <a:off x="539750" y="5084763"/>
            <a:ext cx="79930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图中，红边为匹配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中的边</a:t>
            </a:r>
            <a:r>
              <a:rPr lang="en-US" altLang="zh-CN" b="1">
                <a:latin typeface="Times New Roman" panose="02020603050405020304" pitchFamily="18" charset="0"/>
              </a:rPr>
              <a:t>. (1)</a:t>
            </a:r>
            <a:r>
              <a:rPr lang="zh-CN" altLang="en-US" b="1">
                <a:latin typeface="Times New Roman" panose="02020603050405020304" pitchFamily="18" charset="0"/>
              </a:rPr>
              <a:t>中匹配是最大匹配</a:t>
            </a:r>
            <a:r>
              <a:rPr lang="en-US" altLang="zh-CN" b="1">
                <a:latin typeface="Times New Roman" panose="02020603050405020304" pitchFamily="18" charset="0"/>
              </a:rPr>
              <a:t>. (2)</a:t>
            </a:r>
            <a:r>
              <a:rPr lang="zh-CN" altLang="en-US" b="1">
                <a:latin typeface="Times New Roman" panose="02020603050405020304" pitchFamily="18" charset="0"/>
              </a:rPr>
              <a:t>中红边与绿边组成最小边覆盖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b="1">
                <a:latin typeface="Times New Roman" panose="02020603050405020304" pitchFamily="18" charset="0"/>
              </a:rPr>
              <a:t>反之，由</a:t>
            </a: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的最小边覆盖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zh-CN" altLang="en-US" b="1">
                <a:latin typeface="Times New Roman" panose="02020603050405020304" pitchFamily="18" charset="0"/>
              </a:rPr>
              <a:t>产生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中的最大匹配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39983" name="Group 15"/>
          <p:cNvGrpSpPr>
            <a:grpSpLocks/>
          </p:cNvGrpSpPr>
          <p:nvPr/>
        </p:nvGrpSpPr>
        <p:grpSpPr bwMode="auto">
          <a:xfrm>
            <a:off x="1258888" y="2492375"/>
            <a:ext cx="6410325" cy="2401888"/>
            <a:chOff x="793" y="1570"/>
            <a:chExt cx="4038" cy="1513"/>
          </a:xfrm>
        </p:grpSpPr>
        <p:grpSp>
          <p:nvGrpSpPr>
            <p:cNvPr id="339981" name="Group 13"/>
            <p:cNvGrpSpPr>
              <a:grpSpLocks/>
            </p:cNvGrpSpPr>
            <p:nvPr/>
          </p:nvGrpSpPr>
          <p:grpSpPr bwMode="auto">
            <a:xfrm>
              <a:off x="793" y="1570"/>
              <a:ext cx="4038" cy="1212"/>
              <a:chOff x="793" y="1616"/>
              <a:chExt cx="4038" cy="1212"/>
            </a:xfrm>
          </p:grpSpPr>
          <p:pic>
            <p:nvPicPr>
              <p:cNvPr id="339978" name="Picture 10" descr="18-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558" t="13675" b="34531"/>
              <a:stretch>
                <a:fillRect/>
              </a:stretch>
            </p:blipFill>
            <p:spPr bwMode="auto">
              <a:xfrm>
                <a:off x="2880" y="1661"/>
                <a:ext cx="1951" cy="1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9980" name="Picture 12" descr="18-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675" r="55556" b="34531"/>
              <a:stretch>
                <a:fillRect/>
              </a:stretch>
            </p:blipFill>
            <p:spPr bwMode="auto">
              <a:xfrm>
                <a:off x="793" y="1616"/>
                <a:ext cx="1996" cy="1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39982" name="Text Box 14"/>
            <p:cNvSpPr txBox="1">
              <a:spLocks noChangeArrowheads="1"/>
            </p:cNvSpPr>
            <p:nvPr/>
          </p:nvSpPr>
          <p:spPr bwMode="auto">
            <a:xfrm>
              <a:off x="1205" y="2795"/>
              <a:ext cx="26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      (2)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B28ABC6B-2AAE-4786-A03E-403A5DE909BC}"/>
              </a:ext>
            </a:extLst>
          </p:cNvPr>
          <p:cNvSpPr txBox="1"/>
          <p:nvPr/>
        </p:nvSpPr>
        <p:spPr>
          <a:xfrm>
            <a:off x="3851920" y="1939836"/>
            <a:ext cx="316803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所有节点都在匹配中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2E37-713E-4965-BC78-47159A90B2D3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4202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最大匹配判别定理</a:t>
            </a:r>
          </a:p>
        </p:txBody>
      </p:sp>
      <p:sp>
        <p:nvSpPr>
          <p:cNvPr id="3420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6725" y="2420938"/>
            <a:ext cx="8208963" cy="3743325"/>
          </a:xfrm>
        </p:spPr>
        <p:txBody>
          <a:bodyPr/>
          <a:lstStyle/>
          <a:p>
            <a:pPr marL="0" indent="0"/>
            <a:r>
              <a:rPr lang="zh-CN" altLang="en-US" dirty="0"/>
              <a:t>证明线索：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必要性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若含可增广交错路径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可生成比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更大的匹配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充分性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分别为不含可增广路径的匹配和最大匹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配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只要证明 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|=|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zh-CN" altLang="en-US" dirty="0">
                <a:latin typeface="Times New Roman" panose="02020603050405020304" pitchFamily="18" charset="0"/>
              </a:rPr>
              <a:t>即可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由必要性知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也不含可增广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交错路径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],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结论为真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否则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此时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中若存在交错圈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其上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的边数相等</a:t>
            </a:r>
            <a:r>
              <a:rPr lang="en-US" altLang="zh-CN" dirty="0">
                <a:latin typeface="Times New Roman" panose="02020603050405020304" pitchFamily="18" charset="0"/>
              </a:rPr>
              <a:t>; </a:t>
            </a:r>
            <a:r>
              <a:rPr lang="zh-CN" altLang="en-US" dirty="0">
                <a:latin typeface="Times New Roman" panose="02020603050405020304" pitchFamily="18" charset="0"/>
              </a:rPr>
              <a:t>若存在交错路径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其上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中的边数也相等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均无可增广路径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zh-CN" altLang="en-US" dirty="0">
                <a:latin typeface="Times New Roman" panose="02020603050405020304" pitchFamily="18" charset="0"/>
              </a:rPr>
              <a:t>若都不存在也无法增广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故各种情况下都有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M|</a:t>
            </a:r>
            <a:r>
              <a:rPr lang="en-US" altLang="zh-CN" dirty="0">
                <a:latin typeface="Times New Roman" panose="02020603050405020304" pitchFamily="18" charset="0"/>
              </a:rPr>
              <a:t>=|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|.</a:t>
            </a:r>
            <a:endParaRPr lang="en-US" altLang="zh-CN" dirty="0"/>
          </a:p>
        </p:txBody>
      </p:sp>
      <p:sp>
        <p:nvSpPr>
          <p:cNvPr id="342026" name="Rectangle 10"/>
          <p:cNvSpPr>
            <a:spLocks noChangeArrowheads="1"/>
          </p:cNvSpPr>
          <p:nvPr/>
        </p:nvSpPr>
        <p:spPr bwMode="auto">
          <a:xfrm>
            <a:off x="468313" y="1196975"/>
            <a:ext cx="813593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中最大匹配当且仅当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中不含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的可增广交错路径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AE1860-BB95-415C-9C9F-3D338248E387}"/>
              </a:ext>
            </a:extLst>
          </p:cNvPr>
          <p:cNvSpPr txBox="1"/>
          <p:nvPr/>
        </p:nvSpPr>
        <p:spPr>
          <a:xfrm>
            <a:off x="7620000" y="4005064"/>
            <a:ext cx="152400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显然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极大，如何证最大？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2AD926-1470-433B-892C-288E7DEFEE4C}"/>
              </a:ext>
            </a:extLst>
          </p:cNvPr>
          <p:cNvSpPr txBox="1"/>
          <p:nvPr/>
        </p:nvSpPr>
        <p:spPr>
          <a:xfrm>
            <a:off x="4247456" y="5772389"/>
            <a:ext cx="4896544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每个节点在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i="1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中分别至多被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条边关联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同时关联时存在交错路</a:t>
            </a:r>
            <a:r>
              <a:rPr lang="en-US" altLang="zh-CN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圈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3633-0D8E-4CE0-8A54-7D131281C38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440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二部图中的匹配</a:t>
            </a:r>
          </a:p>
        </p:txBody>
      </p:sp>
      <p:sp>
        <p:nvSpPr>
          <p:cNvPr id="34407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179863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为二部图，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最大匹配，若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中顶点全是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饱和点，则称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完备匹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配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|=|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zh-CN" altLang="en-US" dirty="0">
                <a:latin typeface="Times New Roman" panose="02020603050405020304" pitchFamily="18" charset="0"/>
              </a:rPr>
              <a:t>时完备匹配变成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44079" name="Rectangle 15"/>
          <p:cNvSpPr>
            <a:spLocks noChangeArrowheads="1"/>
          </p:cNvSpPr>
          <p:nvPr/>
        </p:nvSpPr>
        <p:spPr bwMode="auto">
          <a:xfrm>
            <a:off x="323850" y="5229225"/>
            <a:ext cx="84597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图中，红边组成各图的一个匹配，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中为完备匹配，</a:t>
            </a: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中匹配不是完备的，</a:t>
            </a: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中无完备匹配，</a:t>
            </a:r>
            <a:r>
              <a:rPr lang="en-US" altLang="zh-CN" b="1">
                <a:latin typeface="Times New Roman" panose="02020603050405020304" pitchFamily="18" charset="0"/>
              </a:rPr>
              <a:t>(3</a:t>
            </a:r>
            <a:r>
              <a:rPr lang="zh-CN" altLang="en-US" b="1">
                <a:latin typeface="Times New Roman" panose="02020603050405020304" pitchFamily="18" charset="0"/>
              </a:rPr>
              <a:t>中匹配是完备的，也是完美的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grpSp>
        <p:nvGrpSpPr>
          <p:cNvPr id="344081" name="Group 17"/>
          <p:cNvGrpSpPr>
            <a:grpSpLocks/>
          </p:cNvGrpSpPr>
          <p:nvPr/>
        </p:nvGrpSpPr>
        <p:grpSpPr bwMode="auto">
          <a:xfrm>
            <a:off x="684213" y="2814638"/>
            <a:ext cx="7920037" cy="2244725"/>
            <a:chOff x="204" y="1773"/>
            <a:chExt cx="5216" cy="1414"/>
          </a:xfrm>
        </p:grpSpPr>
        <p:grpSp>
          <p:nvGrpSpPr>
            <p:cNvPr id="344078" name="Group 14"/>
            <p:cNvGrpSpPr>
              <a:grpSpLocks/>
            </p:cNvGrpSpPr>
            <p:nvPr/>
          </p:nvGrpSpPr>
          <p:grpSpPr bwMode="auto">
            <a:xfrm>
              <a:off x="204" y="1773"/>
              <a:ext cx="5216" cy="1294"/>
              <a:chOff x="204" y="1979"/>
              <a:chExt cx="5216" cy="1294"/>
            </a:xfrm>
          </p:grpSpPr>
          <p:pic>
            <p:nvPicPr>
              <p:cNvPr id="344074" name="Picture 10" descr="18-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80" t="7155" b="23618"/>
              <a:stretch>
                <a:fillRect/>
              </a:stretch>
            </p:blipFill>
            <p:spPr bwMode="auto">
              <a:xfrm>
                <a:off x="3946" y="1979"/>
                <a:ext cx="1474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4076" name="Picture 12" descr="18-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155" r="71532" b="23618"/>
              <a:stretch>
                <a:fillRect/>
              </a:stretch>
            </p:blipFill>
            <p:spPr bwMode="auto">
              <a:xfrm>
                <a:off x="204" y="2024"/>
                <a:ext cx="1769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4077" name="Picture 13" descr="18-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593" t="7155" r="31750" b="23618"/>
              <a:stretch>
                <a:fillRect/>
              </a:stretch>
            </p:blipFill>
            <p:spPr bwMode="auto">
              <a:xfrm>
                <a:off x="1928" y="1979"/>
                <a:ext cx="1905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44080" name="Text Box 16"/>
            <p:cNvSpPr txBox="1">
              <a:spLocks noChangeArrowheads="1"/>
            </p:cNvSpPr>
            <p:nvPr/>
          </p:nvSpPr>
          <p:spPr bwMode="auto">
            <a:xfrm>
              <a:off x="554" y="2899"/>
              <a:ext cx="46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(2)                                 (3)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887FA-F1BB-435F-AD4E-B1BB75C49020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461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Hall</a:t>
            </a:r>
            <a:r>
              <a:rPr lang="zh-CN" altLang="en-US" dirty="0"/>
              <a:t>定理</a:t>
            </a:r>
          </a:p>
        </p:txBody>
      </p:sp>
      <p:sp>
        <p:nvSpPr>
          <p:cNvPr id="34612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4929188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Hall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zh-CN" altLang="en-US" dirty="0">
                <a:latin typeface="Times New Roman" panose="02020603050405020304" pitchFamily="18" charset="0"/>
              </a:rPr>
              <a:t>）设二部图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|.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中存在从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的完备匹配当且仅当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中任意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=1,2,…,|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个顶点至少与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个顶点相邻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本定理中的条件常称为“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相异性条件</a:t>
            </a:r>
            <a:r>
              <a:rPr lang="zh-CN" altLang="en-US" dirty="0">
                <a:latin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</a:rPr>
              <a:t>Hall</a:t>
            </a:r>
            <a:r>
              <a:rPr lang="zh-CN" altLang="en-US" dirty="0">
                <a:latin typeface="Times New Roman" panose="02020603050405020304" pitchFamily="18" charset="0"/>
              </a:rPr>
              <a:t>定理立刻可知，上图中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为什么没有完备匹配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65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设二部图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中每个顶点至少关联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条边，而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中每个顶点至多关联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条边，则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中存在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的完备匹配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证明要点：满足相异性条件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18.6</a:t>
            </a:r>
            <a:r>
              <a:rPr lang="zh-CN" altLang="en-US" dirty="0">
                <a:latin typeface="Times New Roman" panose="02020603050405020304" pitchFamily="18" charset="0"/>
              </a:rPr>
              <a:t>中的条件称为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条件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E239-4730-4510-A01E-B0D75580A220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481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一个应用实例</a:t>
            </a:r>
          </a:p>
        </p:txBody>
      </p:sp>
      <p:sp>
        <p:nvSpPr>
          <p:cNvPr id="3481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16557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某课题组要从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 5</a:t>
            </a:r>
            <a:r>
              <a:rPr lang="zh-CN" altLang="en-US">
                <a:latin typeface="Times New Roman" panose="02020603050405020304" pitchFamily="18" charset="0"/>
              </a:rPr>
              <a:t>人中派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人分别到上海、广州、香</a:t>
            </a:r>
          </a:p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港去开会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已知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只想去上海，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只想去广州，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zh-CN" altLang="en-US">
                <a:latin typeface="Times New Roman" panose="02020603050405020304" pitchFamily="18" charset="0"/>
              </a:rPr>
              <a:t>都表示想</a:t>
            </a:r>
          </a:p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去广州或香港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问该课题组在满足个人要求的条件下，共有</a:t>
            </a:r>
          </a:p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几种派遣方案？ </a:t>
            </a:r>
          </a:p>
        </p:txBody>
      </p:sp>
      <p:sp>
        <p:nvSpPr>
          <p:cNvPr id="348169" name="Rectangle 9"/>
          <p:cNvSpPr>
            <a:spLocks noChangeArrowheads="1"/>
          </p:cNvSpPr>
          <p:nvPr/>
        </p:nvSpPr>
        <p:spPr bwMode="auto">
          <a:xfrm>
            <a:off x="539750" y="2924175"/>
            <a:ext cx="80645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解  用二部图中的匹配理论解本题方便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b="1">
                <a:latin typeface="Times New Roman" panose="02020603050405020304" pitchFamily="18" charset="0"/>
              </a:rPr>
              <a:t>令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=&lt;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&gt;</a:t>
            </a:r>
            <a:r>
              <a:rPr lang="zh-CN" altLang="en-US" b="1">
                <a:latin typeface="Times New Roman" panose="02020603050405020304" pitchFamily="18" charset="0"/>
              </a:rPr>
              <a:t>，其中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={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，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分别表示上海、广州和香港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={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},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={(</a:t>
            </a:r>
            <a:r>
              <a:rPr lang="en-US" altLang="zh-CN" b="1" i="1">
                <a:latin typeface="Times New Roman" panose="02020603050405020304" pitchFamily="18" charset="0"/>
              </a:rPr>
              <a:t>u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>
                <a:latin typeface="Times New Roman" panose="02020603050405020304" pitchFamily="18" charset="0"/>
              </a:rPr>
              <a:t>) | </a:t>
            </a:r>
            <a:r>
              <a:rPr lang="en-US" altLang="zh-CN" b="1" i="1">
                <a:latin typeface="Times New Roman" panose="02020603050405020304" pitchFamily="18" charset="0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zh-CN" altLang="en-US" b="1">
                <a:latin typeface="Times New Roman" panose="02020603050405020304" pitchFamily="18" charset="0"/>
              </a:rPr>
              <a:t>想去</a:t>
            </a:r>
            <a:r>
              <a:rPr lang="en-US" altLang="zh-CN" b="1" i="1">
                <a:latin typeface="Times New Roman" panose="02020603050405020304" pitchFamily="18" charset="0"/>
              </a:rPr>
              <a:t>u</a:t>
            </a:r>
            <a:r>
              <a:rPr lang="en-US" altLang="zh-CN" b="1">
                <a:latin typeface="Times New Roman" panose="02020603050405020304" pitchFamily="18" charset="0"/>
              </a:rPr>
              <a:t>}.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如图所示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348170" name="Picture 10" descr="18-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04" b="6448"/>
          <a:stretch>
            <a:fillRect/>
          </a:stretch>
        </p:blipFill>
        <p:spPr bwMode="auto">
          <a:xfrm>
            <a:off x="4284663" y="4221163"/>
            <a:ext cx="3960812" cy="222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71" name="Rectangle 11"/>
          <p:cNvSpPr>
            <a:spLocks noChangeArrowheads="1"/>
          </p:cNvSpPr>
          <p:nvPr/>
        </p:nvSpPr>
        <p:spPr bwMode="auto">
          <a:xfrm>
            <a:off x="539750" y="4797425"/>
            <a:ext cx="38163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满足相异性条件，因而可派遣，共有</a:t>
            </a:r>
            <a:r>
              <a:rPr lang="en-US" altLang="zh-CN" b="1">
                <a:latin typeface="Times New Roman" panose="02020603050405020304" pitchFamily="18" charset="0"/>
              </a:rPr>
              <a:t>9</a:t>
            </a:r>
            <a:r>
              <a:rPr lang="zh-CN" altLang="en-US" b="1">
                <a:latin typeface="Times New Roman" panose="02020603050405020304" pitchFamily="18" charset="0"/>
              </a:rPr>
              <a:t>种派遣方案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</a:rPr>
              <a:t>请给出这</a:t>
            </a:r>
            <a:r>
              <a:rPr lang="en-US" altLang="zh-CN" b="1">
                <a:latin typeface="Times New Roman" panose="02020603050405020304" pitchFamily="18" charset="0"/>
              </a:rPr>
              <a:t>9</a:t>
            </a:r>
            <a:r>
              <a:rPr lang="zh-CN" altLang="en-US" b="1">
                <a:latin typeface="Times New Roman" panose="02020603050405020304" pitchFamily="18" charset="0"/>
              </a:rPr>
              <a:t>种方案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CE98-933F-41CA-B8C2-DC76672B9FAB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图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着色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45259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点着色、边着色、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平面图的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面着色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000756-5CF6-45F6-B49F-5A0F8FFC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84" y="3682337"/>
            <a:ext cx="2402958" cy="2497910"/>
          </a:xfrm>
          <a:prstGeom prst="rect">
            <a:avLst/>
          </a:prstGeom>
        </p:spPr>
      </p:pic>
      <p:pic>
        <p:nvPicPr>
          <p:cNvPr id="7" name="内容占位符 5">
            <a:extLst>
              <a:ext uri="{FF2B5EF4-FFF2-40B4-BE49-F238E27FC236}">
                <a16:creationId xmlns:a16="http://schemas.microsoft.com/office/drawing/2014/main" id="{41B24409-412A-4A52-A980-E925B8B33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86084" y="1932268"/>
            <a:ext cx="2402958" cy="1496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5A4F89C-88B9-46F2-851A-D23939361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323" y="1762598"/>
            <a:ext cx="2071981" cy="1899537"/>
          </a:xfrm>
          <a:prstGeom prst="rect">
            <a:avLst/>
          </a:prstGeom>
        </p:spPr>
      </p:pic>
      <p:pic>
        <p:nvPicPr>
          <p:cNvPr id="438274" name="Picture 2" descr="https://tse3-mm.cn.bing.net/th/id/OIP-C.mDND4Oan4tfTvtyWS_gSTgHaIU?rs=1&amp;pid=ImgDetMain">
            <a:extLst>
              <a:ext uri="{FF2B5EF4-FFF2-40B4-BE49-F238E27FC236}">
                <a16:creationId xmlns:a16="http://schemas.microsoft.com/office/drawing/2014/main" id="{1519D5E9-1F84-47DD-811A-F8735AE6D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090" y="4285333"/>
            <a:ext cx="1692445" cy="189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F9DE3D1-E288-41F9-ADD4-D6B956777505}"/>
              </a:ext>
            </a:extLst>
          </p:cNvPr>
          <p:cNvSpPr txBox="1"/>
          <p:nvPr/>
        </p:nvSpPr>
        <p:spPr>
          <a:xfrm>
            <a:off x="539552" y="6184870"/>
            <a:ext cx="309602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点着色：独立集覆盖</a:t>
            </a:r>
            <a:r>
              <a:rPr lang="en-US" altLang="zh-CN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划分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199B7A-6121-4957-83FC-8F39971D54B9}"/>
              </a:ext>
            </a:extLst>
          </p:cNvPr>
          <p:cNvSpPr txBox="1"/>
          <p:nvPr/>
        </p:nvSpPr>
        <p:spPr>
          <a:xfrm>
            <a:off x="4913841" y="3644915"/>
            <a:ext cx="282651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边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着色：匹配覆盖</a:t>
            </a:r>
            <a:r>
              <a:rPr lang="en-US" altLang="zh-CN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划分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EFD3D-8FA8-4076-8F6D-DD20C77E8E53}"/>
              </a:ext>
            </a:extLst>
          </p:cNvPr>
          <p:cNvSpPr txBox="1"/>
          <p:nvPr/>
        </p:nvSpPr>
        <p:spPr>
          <a:xfrm>
            <a:off x="4211960" y="6184870"/>
            <a:ext cx="410445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面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着色：平面图的对偶图的点着色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5078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2C49-3B41-433C-BB5E-F92F73C56120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点着色</a:t>
            </a:r>
          </a:p>
        </p:txBody>
      </p:sp>
      <p:sp>
        <p:nvSpPr>
          <p:cNvPr id="3174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2 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个实验室一起预订会议室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他们的组会时间如下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zh-CN" altLang="en-US" dirty="0">
                <a:latin typeface="Times New Roman" panose="02020603050405020304" pitchFamily="18" charset="0"/>
              </a:rPr>
              <a:t>周一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周二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周四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周四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周五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周二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周六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周日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周四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周六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zh-CN" altLang="en-US" dirty="0">
                <a:latin typeface="Times New Roman" panose="02020603050405020304" pitchFamily="18" charset="0"/>
              </a:rPr>
              <a:t>周五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周日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要求同天不能有两个实验室一起开组会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问最少需要几间会议室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8AC37D-3C2E-47FD-93DE-A1DA744E728D}"/>
              </a:ext>
            </a:extLst>
          </p:cNvPr>
          <p:cNvSpPr txBox="1"/>
          <p:nvPr/>
        </p:nvSpPr>
        <p:spPr>
          <a:xfrm>
            <a:off x="-1" y="6452617"/>
            <a:ext cx="914400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节点排斥节点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" name="Rectangle 10">
            <a:extLst>
              <a:ext uri="{FF2B5EF4-FFF2-40B4-BE49-F238E27FC236}">
                <a16:creationId xmlns:a16="http://schemas.microsoft.com/office/drawing/2014/main" id="{C794FDDF-3608-4BC3-AD4C-6EC34DFE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255" y="2956421"/>
            <a:ext cx="2622617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anchorCtr="1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dist" eaLnBrk="1" hangingPunct="1">
              <a:defRPr/>
            </a:pPr>
            <a:r>
              <a:rPr kumimoji="0" lang="en-US" altLang="zh-CN" sz="2000" i="1">
                <a:effectLst/>
              </a:rPr>
              <a:t>abcdef</a:t>
            </a:r>
            <a:endParaRPr kumimoji="0" lang="en-US" altLang="zh-CN" sz="2000">
              <a:effectLst/>
            </a:endParaRPr>
          </a:p>
        </p:txBody>
      </p:sp>
      <p:sp>
        <p:nvSpPr>
          <p:cNvPr id="140" name="Rectangle 11">
            <a:extLst>
              <a:ext uri="{FF2B5EF4-FFF2-40B4-BE49-F238E27FC236}">
                <a16:creationId xmlns:a16="http://schemas.microsoft.com/office/drawing/2014/main" id="{43948692-97B9-4114-B334-0E1AB4A57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936034"/>
            <a:ext cx="365359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anchorCtr="1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dist" eaLnBrk="1" hangingPunct="1">
              <a:defRPr/>
            </a:pPr>
            <a:r>
              <a:rPr kumimoji="0" lang="zh-CN" altLang="en-US" sz="2000" dirty="0">
                <a:effectLst/>
              </a:rPr>
              <a:t>一二三四五六日</a:t>
            </a:r>
          </a:p>
        </p:txBody>
      </p:sp>
      <p:grpSp>
        <p:nvGrpSpPr>
          <p:cNvPr id="141" name="Group 52">
            <a:extLst>
              <a:ext uri="{FF2B5EF4-FFF2-40B4-BE49-F238E27FC236}">
                <a16:creationId xmlns:a16="http://schemas.microsoft.com/office/drawing/2014/main" id="{AD763329-C46F-46CB-9B81-1381A7910DC6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3396159"/>
            <a:ext cx="3499013" cy="1366837"/>
            <a:chOff x="384" y="2642"/>
            <a:chExt cx="1492" cy="861"/>
          </a:xfrm>
        </p:grpSpPr>
        <p:grpSp>
          <p:nvGrpSpPr>
            <p:cNvPr id="142" name="Group 19">
              <a:extLst>
                <a:ext uri="{FF2B5EF4-FFF2-40B4-BE49-F238E27FC236}">
                  <a16:creationId xmlns:a16="http://schemas.microsoft.com/office/drawing/2014/main" id="{3E935E14-25EC-42E2-8825-078D65ACC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" y="2642"/>
              <a:ext cx="1089" cy="68"/>
              <a:chOff x="1576" y="2614"/>
              <a:chExt cx="1089" cy="68"/>
            </a:xfrm>
          </p:grpSpPr>
          <p:sp>
            <p:nvSpPr>
              <p:cNvPr id="166" name="AutoShape 4">
                <a:extLst>
                  <a:ext uri="{FF2B5EF4-FFF2-40B4-BE49-F238E27FC236}">
                    <a16:creationId xmlns:a16="http://schemas.microsoft.com/office/drawing/2014/main" id="{2F160A9D-C15C-471E-B47B-67C174F23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6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7" name="AutoShape 5">
                <a:extLst>
                  <a:ext uri="{FF2B5EF4-FFF2-40B4-BE49-F238E27FC236}">
                    <a16:creationId xmlns:a16="http://schemas.microsoft.com/office/drawing/2014/main" id="{83602393-D388-4963-B894-6D1F6C559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0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8" name="AutoShape 6">
                <a:extLst>
                  <a:ext uri="{FF2B5EF4-FFF2-40B4-BE49-F238E27FC236}">
                    <a16:creationId xmlns:a16="http://schemas.microsoft.com/office/drawing/2014/main" id="{45EB4443-0AAD-4C0B-AD2B-B166D6396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4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9" name="AutoShape 7">
                <a:extLst>
                  <a:ext uri="{FF2B5EF4-FFF2-40B4-BE49-F238E27FC236}">
                    <a16:creationId xmlns:a16="http://schemas.microsoft.com/office/drawing/2014/main" id="{D0738A33-9A8B-4A30-9CF1-B8FA4B18B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70" name="AutoShape 8">
                <a:extLst>
                  <a:ext uri="{FF2B5EF4-FFF2-40B4-BE49-F238E27FC236}">
                    <a16:creationId xmlns:a16="http://schemas.microsoft.com/office/drawing/2014/main" id="{AAD3E7E4-9B86-405F-9ACF-478755C03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2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72" name="AutoShape 9">
                <a:extLst>
                  <a:ext uri="{FF2B5EF4-FFF2-40B4-BE49-F238E27FC236}">
                    <a16:creationId xmlns:a16="http://schemas.microsoft.com/office/drawing/2014/main" id="{FD1CDFD6-266B-4F8F-BE51-A6FCEF12B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7" y="2614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  <p:grpSp>
          <p:nvGrpSpPr>
            <p:cNvPr id="143" name="Group 20">
              <a:extLst>
                <a:ext uri="{FF2B5EF4-FFF2-40B4-BE49-F238E27FC236}">
                  <a16:creationId xmlns:a16="http://schemas.microsoft.com/office/drawing/2014/main" id="{DE4B2A00-6A0F-4359-B1BF-92EBCF27B4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435"/>
              <a:ext cx="1492" cy="68"/>
              <a:chOff x="1368" y="3407"/>
              <a:chExt cx="1492" cy="68"/>
            </a:xfrm>
          </p:grpSpPr>
          <p:sp>
            <p:nvSpPr>
              <p:cNvPr id="159" name="AutoShape 12">
                <a:extLst>
                  <a:ext uri="{FF2B5EF4-FFF2-40B4-BE49-F238E27FC236}">
                    <a16:creationId xmlns:a16="http://schemas.microsoft.com/office/drawing/2014/main" id="{B0527FE0-F763-4ED6-9FD0-4F238B387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0" name="AutoShape 13">
                <a:extLst>
                  <a:ext uri="{FF2B5EF4-FFF2-40B4-BE49-F238E27FC236}">
                    <a16:creationId xmlns:a16="http://schemas.microsoft.com/office/drawing/2014/main" id="{EC7AFDF8-263E-411A-B266-48CFC6072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5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1" name="AutoShape 14">
                <a:extLst>
                  <a:ext uri="{FF2B5EF4-FFF2-40B4-BE49-F238E27FC236}">
                    <a16:creationId xmlns:a16="http://schemas.microsoft.com/office/drawing/2014/main" id="{61F94A52-2310-49B7-8D7D-A38F027D6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2" name="AutoShape 15">
                <a:extLst>
                  <a:ext uri="{FF2B5EF4-FFF2-40B4-BE49-F238E27FC236}">
                    <a16:creationId xmlns:a16="http://schemas.microsoft.com/office/drawing/2014/main" id="{ADE30DCD-BDAA-45E6-B109-82B36E91A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3" name="AutoShape 16">
                <a:extLst>
                  <a:ext uri="{FF2B5EF4-FFF2-40B4-BE49-F238E27FC236}">
                    <a16:creationId xmlns:a16="http://schemas.microsoft.com/office/drawing/2014/main" id="{91FF4887-1121-4376-96AB-A5C776F2F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4" name="AutoShape 17">
                <a:extLst>
                  <a:ext uri="{FF2B5EF4-FFF2-40B4-BE49-F238E27FC236}">
                    <a16:creationId xmlns:a16="http://schemas.microsoft.com/office/drawing/2014/main" id="{A8CFBCFE-D755-422F-8FB7-54102E4F5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4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65" name="AutoShape 18">
                <a:extLst>
                  <a:ext uri="{FF2B5EF4-FFF2-40B4-BE49-F238E27FC236}">
                    <a16:creationId xmlns:a16="http://schemas.microsoft.com/office/drawing/2014/main" id="{657F5FDA-C1AF-4700-8F68-8D5E280F4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2" y="3407"/>
                <a:ext cx="68" cy="68"/>
              </a:xfrm>
              <a:prstGeom prst="flowChartConnector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  <p:cxnSp>
          <p:nvCxnSpPr>
            <p:cNvPr id="144" name="AutoShape 21">
              <a:extLst>
                <a:ext uri="{FF2B5EF4-FFF2-40B4-BE49-F238E27FC236}">
                  <a16:creationId xmlns:a16="http://schemas.microsoft.com/office/drawing/2014/main" id="{3F0176AE-7CC0-43B6-B5FB-F6C35BAC005B}"/>
                </a:ext>
              </a:extLst>
            </p:cNvPr>
            <p:cNvCxnSpPr>
              <a:cxnSpLocks noChangeShapeType="1"/>
              <a:stCxn id="166" idx="4"/>
              <a:endCxn id="159" idx="0"/>
            </p:cNvCxnSpPr>
            <p:nvPr/>
          </p:nvCxnSpPr>
          <p:spPr bwMode="auto">
            <a:xfrm flipH="1">
              <a:off x="418" y="2710"/>
              <a:ext cx="202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AutoShape 22">
              <a:extLst>
                <a:ext uri="{FF2B5EF4-FFF2-40B4-BE49-F238E27FC236}">
                  <a16:creationId xmlns:a16="http://schemas.microsoft.com/office/drawing/2014/main" id="{D2FF33DA-F24A-4C68-B6D2-81054D9AC8DE}"/>
                </a:ext>
              </a:extLst>
            </p:cNvPr>
            <p:cNvCxnSpPr>
              <a:cxnSpLocks noChangeShapeType="1"/>
              <a:stCxn id="166" idx="4"/>
              <a:endCxn id="160" idx="0"/>
            </p:cNvCxnSpPr>
            <p:nvPr/>
          </p:nvCxnSpPr>
          <p:spPr bwMode="auto">
            <a:xfrm>
              <a:off x="620" y="2710"/>
              <a:ext cx="35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AutoShape 23">
              <a:extLst>
                <a:ext uri="{FF2B5EF4-FFF2-40B4-BE49-F238E27FC236}">
                  <a16:creationId xmlns:a16="http://schemas.microsoft.com/office/drawing/2014/main" id="{A2393D53-3C96-4FEB-9E75-D19ED3237FBB}"/>
                </a:ext>
              </a:extLst>
            </p:cNvPr>
            <p:cNvCxnSpPr>
              <a:cxnSpLocks noChangeShapeType="1"/>
              <a:stCxn id="166" idx="4"/>
              <a:endCxn id="161" idx="0"/>
            </p:cNvCxnSpPr>
            <p:nvPr/>
          </p:nvCxnSpPr>
          <p:spPr bwMode="auto">
            <a:xfrm>
              <a:off x="620" y="2710"/>
              <a:ext cx="272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7" name="AutoShape 24">
              <a:extLst>
                <a:ext uri="{FF2B5EF4-FFF2-40B4-BE49-F238E27FC236}">
                  <a16:creationId xmlns:a16="http://schemas.microsoft.com/office/drawing/2014/main" id="{7D421DF9-63D6-4A2B-8404-385DE51C6D53}"/>
                </a:ext>
              </a:extLst>
            </p:cNvPr>
            <p:cNvCxnSpPr>
              <a:cxnSpLocks noChangeShapeType="1"/>
              <a:stCxn id="167" idx="4"/>
              <a:endCxn id="162" idx="0"/>
            </p:cNvCxnSpPr>
            <p:nvPr/>
          </p:nvCxnSpPr>
          <p:spPr bwMode="auto">
            <a:xfrm>
              <a:off x="824" y="2710"/>
              <a:ext cx="306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8" name="AutoShape 25">
              <a:extLst>
                <a:ext uri="{FF2B5EF4-FFF2-40B4-BE49-F238E27FC236}">
                  <a16:creationId xmlns:a16="http://schemas.microsoft.com/office/drawing/2014/main" id="{4E8F7B1E-3B3A-4A2D-9489-A37D4C92FBFA}"/>
                </a:ext>
              </a:extLst>
            </p:cNvPr>
            <p:cNvCxnSpPr>
              <a:cxnSpLocks noChangeShapeType="1"/>
              <a:stCxn id="167" idx="4"/>
              <a:endCxn id="161" idx="0"/>
            </p:cNvCxnSpPr>
            <p:nvPr/>
          </p:nvCxnSpPr>
          <p:spPr bwMode="auto">
            <a:xfrm>
              <a:off x="824" y="2710"/>
              <a:ext cx="68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9" name="AutoShape 26">
              <a:extLst>
                <a:ext uri="{FF2B5EF4-FFF2-40B4-BE49-F238E27FC236}">
                  <a16:creationId xmlns:a16="http://schemas.microsoft.com/office/drawing/2014/main" id="{00F40A7C-D978-4C84-A9A8-51FBD2E53E75}"/>
                </a:ext>
              </a:extLst>
            </p:cNvPr>
            <p:cNvCxnSpPr>
              <a:cxnSpLocks noChangeShapeType="1"/>
              <a:stCxn id="167" idx="4"/>
              <a:endCxn id="163" idx="0"/>
            </p:cNvCxnSpPr>
            <p:nvPr/>
          </p:nvCxnSpPr>
          <p:spPr bwMode="auto">
            <a:xfrm>
              <a:off x="824" y="2710"/>
              <a:ext cx="543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0" name="AutoShape 27">
              <a:extLst>
                <a:ext uri="{FF2B5EF4-FFF2-40B4-BE49-F238E27FC236}">
                  <a16:creationId xmlns:a16="http://schemas.microsoft.com/office/drawing/2014/main" id="{B6F6045D-270D-49DC-8042-5AF1BA5036B1}"/>
                </a:ext>
              </a:extLst>
            </p:cNvPr>
            <p:cNvCxnSpPr>
              <a:cxnSpLocks noChangeShapeType="1"/>
              <a:stCxn id="168" idx="4"/>
              <a:endCxn id="160" idx="0"/>
            </p:cNvCxnSpPr>
            <p:nvPr/>
          </p:nvCxnSpPr>
          <p:spPr bwMode="auto">
            <a:xfrm flipH="1">
              <a:off x="655" y="2710"/>
              <a:ext cx="373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1" name="AutoShape 28">
              <a:extLst>
                <a:ext uri="{FF2B5EF4-FFF2-40B4-BE49-F238E27FC236}">
                  <a16:creationId xmlns:a16="http://schemas.microsoft.com/office/drawing/2014/main" id="{44B7D5E9-7315-4161-86B3-ADDF35D85BA3}"/>
                </a:ext>
              </a:extLst>
            </p:cNvPr>
            <p:cNvCxnSpPr>
              <a:cxnSpLocks noChangeShapeType="1"/>
              <a:stCxn id="168" idx="4"/>
              <a:endCxn id="164" idx="0"/>
            </p:cNvCxnSpPr>
            <p:nvPr/>
          </p:nvCxnSpPr>
          <p:spPr bwMode="auto">
            <a:xfrm>
              <a:off x="1028" y="2710"/>
              <a:ext cx="576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2" name="AutoShape 29">
              <a:extLst>
                <a:ext uri="{FF2B5EF4-FFF2-40B4-BE49-F238E27FC236}">
                  <a16:creationId xmlns:a16="http://schemas.microsoft.com/office/drawing/2014/main" id="{F0E5A38F-3955-405F-A307-6D898478DBE8}"/>
                </a:ext>
              </a:extLst>
            </p:cNvPr>
            <p:cNvCxnSpPr>
              <a:cxnSpLocks noChangeShapeType="1"/>
              <a:stCxn id="169" idx="4"/>
              <a:endCxn id="159" idx="0"/>
            </p:cNvCxnSpPr>
            <p:nvPr/>
          </p:nvCxnSpPr>
          <p:spPr bwMode="auto">
            <a:xfrm flipH="1">
              <a:off x="418" y="2710"/>
              <a:ext cx="814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" name="AutoShape 30">
              <a:extLst>
                <a:ext uri="{FF2B5EF4-FFF2-40B4-BE49-F238E27FC236}">
                  <a16:creationId xmlns:a16="http://schemas.microsoft.com/office/drawing/2014/main" id="{D864FCE5-6DC6-4791-9213-B0AE47BCE3D3}"/>
                </a:ext>
              </a:extLst>
            </p:cNvPr>
            <p:cNvCxnSpPr>
              <a:cxnSpLocks noChangeShapeType="1"/>
              <a:stCxn id="169" idx="4"/>
              <a:endCxn id="165" idx="0"/>
            </p:cNvCxnSpPr>
            <p:nvPr/>
          </p:nvCxnSpPr>
          <p:spPr bwMode="auto">
            <a:xfrm>
              <a:off x="1232" y="2710"/>
              <a:ext cx="610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4" name="AutoShape 31">
              <a:extLst>
                <a:ext uri="{FF2B5EF4-FFF2-40B4-BE49-F238E27FC236}">
                  <a16:creationId xmlns:a16="http://schemas.microsoft.com/office/drawing/2014/main" id="{E1AF88A0-973E-46EC-A97A-4EBF8B6170EE}"/>
                </a:ext>
              </a:extLst>
            </p:cNvPr>
            <p:cNvCxnSpPr>
              <a:cxnSpLocks noChangeShapeType="1"/>
              <a:stCxn id="170" idx="4"/>
              <a:endCxn id="162" idx="0"/>
            </p:cNvCxnSpPr>
            <p:nvPr/>
          </p:nvCxnSpPr>
          <p:spPr bwMode="auto">
            <a:xfrm flipH="1">
              <a:off x="1130" y="2710"/>
              <a:ext cx="306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5" name="AutoShape 32">
              <a:extLst>
                <a:ext uri="{FF2B5EF4-FFF2-40B4-BE49-F238E27FC236}">
                  <a16:creationId xmlns:a16="http://schemas.microsoft.com/office/drawing/2014/main" id="{F44F9D90-1EC0-4015-AA15-8410A3BB688E}"/>
                </a:ext>
              </a:extLst>
            </p:cNvPr>
            <p:cNvCxnSpPr>
              <a:cxnSpLocks noChangeShapeType="1"/>
              <a:stCxn id="170" idx="4"/>
              <a:endCxn id="164" idx="0"/>
            </p:cNvCxnSpPr>
            <p:nvPr/>
          </p:nvCxnSpPr>
          <p:spPr bwMode="auto">
            <a:xfrm>
              <a:off x="1436" y="2710"/>
              <a:ext cx="168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6" name="AutoShape 33">
              <a:extLst>
                <a:ext uri="{FF2B5EF4-FFF2-40B4-BE49-F238E27FC236}">
                  <a16:creationId xmlns:a16="http://schemas.microsoft.com/office/drawing/2014/main" id="{51B0C52F-F34A-4E4A-8D76-FD7E207C5679}"/>
                </a:ext>
              </a:extLst>
            </p:cNvPr>
            <p:cNvCxnSpPr>
              <a:cxnSpLocks noChangeShapeType="1"/>
              <a:stCxn id="172" idx="4"/>
              <a:endCxn id="163" idx="0"/>
            </p:cNvCxnSpPr>
            <p:nvPr/>
          </p:nvCxnSpPr>
          <p:spPr bwMode="auto">
            <a:xfrm flipH="1">
              <a:off x="1367" y="2710"/>
              <a:ext cx="274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7" name="AutoShape 34">
              <a:extLst>
                <a:ext uri="{FF2B5EF4-FFF2-40B4-BE49-F238E27FC236}">
                  <a16:creationId xmlns:a16="http://schemas.microsoft.com/office/drawing/2014/main" id="{C76B96E6-27C7-44F6-A027-D6E4499CC949}"/>
                </a:ext>
              </a:extLst>
            </p:cNvPr>
            <p:cNvCxnSpPr>
              <a:cxnSpLocks noChangeShapeType="1"/>
              <a:stCxn id="172" idx="4"/>
              <a:endCxn id="165" idx="0"/>
            </p:cNvCxnSpPr>
            <p:nvPr/>
          </p:nvCxnSpPr>
          <p:spPr bwMode="auto">
            <a:xfrm>
              <a:off x="1641" y="2710"/>
              <a:ext cx="201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8" name="AutoShape 51">
              <a:extLst>
                <a:ext uri="{FF2B5EF4-FFF2-40B4-BE49-F238E27FC236}">
                  <a16:creationId xmlns:a16="http://schemas.microsoft.com/office/drawing/2014/main" id="{CA8B61A5-D608-4213-B8C4-C4167643E355}"/>
                </a:ext>
              </a:extLst>
            </p:cNvPr>
            <p:cNvCxnSpPr>
              <a:cxnSpLocks noChangeShapeType="1"/>
              <a:stCxn id="166" idx="4"/>
              <a:endCxn id="162" idx="0"/>
            </p:cNvCxnSpPr>
            <p:nvPr/>
          </p:nvCxnSpPr>
          <p:spPr bwMode="auto">
            <a:xfrm>
              <a:off x="620" y="2710"/>
              <a:ext cx="510" cy="725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3" name="Group 57">
            <a:extLst>
              <a:ext uri="{FF2B5EF4-FFF2-40B4-BE49-F238E27FC236}">
                <a16:creationId xmlns:a16="http://schemas.microsoft.com/office/drawing/2014/main" id="{4843EB77-AA08-48FF-A243-473521C9A0A2}"/>
              </a:ext>
            </a:extLst>
          </p:cNvPr>
          <p:cNvGrpSpPr>
            <a:grpSpLocks/>
          </p:cNvGrpSpPr>
          <p:nvPr/>
        </p:nvGrpSpPr>
        <p:grpSpPr bwMode="auto">
          <a:xfrm>
            <a:off x="5208447" y="3396159"/>
            <a:ext cx="2879725" cy="1439862"/>
            <a:chOff x="2421" y="2802"/>
            <a:chExt cx="1814" cy="907"/>
          </a:xfrm>
        </p:grpSpPr>
        <p:sp>
          <p:nvSpPr>
            <p:cNvPr id="176" name="AutoShape 37">
              <a:extLst>
                <a:ext uri="{FF2B5EF4-FFF2-40B4-BE49-F238E27FC236}">
                  <a16:creationId xmlns:a16="http://schemas.microsoft.com/office/drawing/2014/main" id="{C8254F01-3DCF-4C62-9E2D-729631EC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2802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77" name="AutoShape 38">
              <a:extLst>
                <a:ext uri="{FF2B5EF4-FFF2-40B4-BE49-F238E27FC236}">
                  <a16:creationId xmlns:a16="http://schemas.microsoft.com/office/drawing/2014/main" id="{B7AF5E44-C21C-4D6E-A556-980CDFFEE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3641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78" name="AutoShape 39">
              <a:extLst>
                <a:ext uri="{FF2B5EF4-FFF2-40B4-BE49-F238E27FC236}">
                  <a16:creationId xmlns:a16="http://schemas.microsoft.com/office/drawing/2014/main" id="{84B276A7-6164-4E0A-9FFF-71B88539D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802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79" name="AutoShape 40">
              <a:extLst>
                <a:ext uri="{FF2B5EF4-FFF2-40B4-BE49-F238E27FC236}">
                  <a16:creationId xmlns:a16="http://schemas.microsoft.com/office/drawing/2014/main" id="{72F2F78E-93B5-4105-8A0E-98CD816BC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2802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80" name="AutoShape 41">
              <a:extLst>
                <a:ext uri="{FF2B5EF4-FFF2-40B4-BE49-F238E27FC236}">
                  <a16:creationId xmlns:a16="http://schemas.microsoft.com/office/drawing/2014/main" id="{067F4F8E-3743-467C-B562-24EC441FB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3641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82" name="AutoShape 42">
              <a:extLst>
                <a:ext uri="{FF2B5EF4-FFF2-40B4-BE49-F238E27FC236}">
                  <a16:creationId xmlns:a16="http://schemas.microsoft.com/office/drawing/2014/main" id="{3A8E518E-A950-4FD2-BD30-C098357E2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3641"/>
              <a:ext cx="68" cy="68"/>
            </a:xfrm>
            <a:prstGeom prst="flowChartConnector">
              <a:avLst/>
            </a:prstGeom>
            <a:solidFill>
              <a:srgbClr val="66FFFF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cxnSp>
          <p:nvCxnSpPr>
            <p:cNvPr id="183" name="AutoShape 43">
              <a:extLst>
                <a:ext uri="{FF2B5EF4-FFF2-40B4-BE49-F238E27FC236}">
                  <a16:creationId xmlns:a16="http://schemas.microsoft.com/office/drawing/2014/main" id="{DD33035C-E3C4-43D1-BEAD-949F276B5CED}"/>
                </a:ext>
              </a:extLst>
            </p:cNvPr>
            <p:cNvCxnSpPr>
              <a:cxnSpLocks noChangeShapeType="1"/>
              <a:stCxn id="176" idx="2"/>
              <a:endCxn id="179" idx="6"/>
            </p:cNvCxnSpPr>
            <p:nvPr/>
          </p:nvCxnSpPr>
          <p:spPr bwMode="auto">
            <a:xfrm flipH="1">
              <a:off x="2489" y="2836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" name="AutoShape 44">
              <a:extLst>
                <a:ext uri="{FF2B5EF4-FFF2-40B4-BE49-F238E27FC236}">
                  <a16:creationId xmlns:a16="http://schemas.microsoft.com/office/drawing/2014/main" id="{B4C3C1AB-508C-433A-A5B6-26AD18E1002E}"/>
                </a:ext>
              </a:extLst>
            </p:cNvPr>
            <p:cNvCxnSpPr>
              <a:cxnSpLocks noChangeShapeType="1"/>
              <a:stCxn id="176" idx="6"/>
              <a:endCxn id="178" idx="2"/>
            </p:cNvCxnSpPr>
            <p:nvPr/>
          </p:nvCxnSpPr>
          <p:spPr bwMode="auto">
            <a:xfrm>
              <a:off x="3362" y="2836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" name="AutoShape 45">
              <a:extLst>
                <a:ext uri="{FF2B5EF4-FFF2-40B4-BE49-F238E27FC236}">
                  <a16:creationId xmlns:a16="http://schemas.microsoft.com/office/drawing/2014/main" id="{E87894DB-24FD-4A3D-98E3-A5E2A57ED285}"/>
                </a:ext>
              </a:extLst>
            </p:cNvPr>
            <p:cNvCxnSpPr>
              <a:cxnSpLocks noChangeShapeType="1"/>
              <a:stCxn id="176" idx="4"/>
              <a:endCxn id="177" idx="0"/>
            </p:cNvCxnSpPr>
            <p:nvPr/>
          </p:nvCxnSpPr>
          <p:spPr bwMode="auto">
            <a:xfrm>
              <a:off x="3328" y="2870"/>
              <a:ext cx="0" cy="77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AutoShape 46">
              <a:extLst>
                <a:ext uri="{FF2B5EF4-FFF2-40B4-BE49-F238E27FC236}">
                  <a16:creationId xmlns:a16="http://schemas.microsoft.com/office/drawing/2014/main" id="{C693BAC0-D16D-4C2F-A2FC-B965AE7183AC}"/>
                </a:ext>
              </a:extLst>
            </p:cNvPr>
            <p:cNvCxnSpPr>
              <a:cxnSpLocks noChangeShapeType="1"/>
              <a:stCxn id="177" idx="6"/>
              <a:endCxn id="180" idx="2"/>
            </p:cNvCxnSpPr>
            <p:nvPr/>
          </p:nvCxnSpPr>
          <p:spPr bwMode="auto">
            <a:xfrm>
              <a:off x="3362" y="3675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7" name="AutoShape 47">
              <a:extLst>
                <a:ext uri="{FF2B5EF4-FFF2-40B4-BE49-F238E27FC236}">
                  <a16:creationId xmlns:a16="http://schemas.microsoft.com/office/drawing/2014/main" id="{0924578A-B340-4BC9-AC5D-23C0B72C0D93}"/>
                </a:ext>
              </a:extLst>
            </p:cNvPr>
            <p:cNvCxnSpPr>
              <a:cxnSpLocks noChangeShapeType="1"/>
              <a:stCxn id="177" idx="2"/>
              <a:endCxn id="182" idx="6"/>
            </p:cNvCxnSpPr>
            <p:nvPr/>
          </p:nvCxnSpPr>
          <p:spPr bwMode="auto">
            <a:xfrm flipH="1">
              <a:off x="2489" y="3675"/>
              <a:ext cx="805" cy="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8" name="AutoShape 48">
              <a:extLst>
                <a:ext uri="{FF2B5EF4-FFF2-40B4-BE49-F238E27FC236}">
                  <a16:creationId xmlns:a16="http://schemas.microsoft.com/office/drawing/2014/main" id="{63035FD5-575C-4821-BCE9-6F99063728AD}"/>
                </a:ext>
              </a:extLst>
            </p:cNvPr>
            <p:cNvCxnSpPr>
              <a:cxnSpLocks noChangeShapeType="1"/>
              <a:stCxn id="178" idx="4"/>
              <a:endCxn id="180" idx="0"/>
            </p:cNvCxnSpPr>
            <p:nvPr/>
          </p:nvCxnSpPr>
          <p:spPr bwMode="auto">
            <a:xfrm>
              <a:off x="4201" y="2870"/>
              <a:ext cx="0" cy="77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AutoShape 49">
              <a:extLst>
                <a:ext uri="{FF2B5EF4-FFF2-40B4-BE49-F238E27FC236}">
                  <a16:creationId xmlns:a16="http://schemas.microsoft.com/office/drawing/2014/main" id="{3C215DBB-0062-45D6-92D5-B29857EE690E}"/>
                </a:ext>
              </a:extLst>
            </p:cNvPr>
            <p:cNvCxnSpPr>
              <a:cxnSpLocks noChangeShapeType="1"/>
              <a:stCxn id="179" idx="4"/>
              <a:endCxn id="182" idx="0"/>
            </p:cNvCxnSpPr>
            <p:nvPr/>
          </p:nvCxnSpPr>
          <p:spPr bwMode="auto">
            <a:xfrm>
              <a:off x="2455" y="2870"/>
              <a:ext cx="0" cy="77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0" name="AutoShape 53">
              <a:extLst>
                <a:ext uri="{FF2B5EF4-FFF2-40B4-BE49-F238E27FC236}">
                  <a16:creationId xmlns:a16="http://schemas.microsoft.com/office/drawing/2014/main" id="{DE44BCD6-C910-4A5C-A95F-9C348946542B}"/>
                </a:ext>
              </a:extLst>
            </p:cNvPr>
            <p:cNvCxnSpPr>
              <a:cxnSpLocks noChangeShapeType="1"/>
              <a:stCxn id="176" idx="5"/>
              <a:endCxn id="180" idx="1"/>
            </p:cNvCxnSpPr>
            <p:nvPr/>
          </p:nvCxnSpPr>
          <p:spPr bwMode="auto">
            <a:xfrm>
              <a:off x="3352" y="2860"/>
              <a:ext cx="825" cy="791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1" name="Group 63">
            <a:extLst>
              <a:ext uri="{FF2B5EF4-FFF2-40B4-BE49-F238E27FC236}">
                <a16:creationId xmlns:a16="http://schemas.microsoft.com/office/drawing/2014/main" id="{137C2367-135D-4BAC-BE46-C802B9461977}"/>
              </a:ext>
            </a:extLst>
          </p:cNvPr>
          <p:cNvGrpSpPr>
            <a:grpSpLocks/>
          </p:cNvGrpSpPr>
          <p:nvPr/>
        </p:nvGrpSpPr>
        <p:grpSpPr bwMode="auto">
          <a:xfrm>
            <a:off x="5178284" y="3015160"/>
            <a:ext cx="2911474" cy="2154239"/>
            <a:chOff x="2402" y="2562"/>
            <a:chExt cx="1834" cy="1357"/>
          </a:xfrm>
        </p:grpSpPr>
        <p:sp>
          <p:nvSpPr>
            <p:cNvPr id="192" name="Rectangle 50">
              <a:extLst>
                <a:ext uri="{FF2B5EF4-FFF2-40B4-BE49-F238E27FC236}">
                  <a16:creationId xmlns:a16="http://schemas.microsoft.com/office/drawing/2014/main" id="{D62F9650-6EB3-4424-86E7-C2D3B196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2563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 dirty="0">
                  <a:effectLst/>
                </a:rPr>
                <a:t>a</a:t>
              </a:r>
              <a:endParaRPr kumimoji="0" lang="en-US" altLang="zh-CN" sz="2000" dirty="0">
                <a:effectLst/>
              </a:endParaRPr>
            </a:p>
          </p:txBody>
        </p:sp>
        <p:sp>
          <p:nvSpPr>
            <p:cNvPr id="193" name="Rectangle 58">
              <a:extLst>
                <a:ext uri="{FF2B5EF4-FFF2-40B4-BE49-F238E27FC236}">
                  <a16:creationId xmlns:a16="http://schemas.microsoft.com/office/drawing/2014/main" id="{3DD7D575-C8DB-4414-9C1F-A105BA5B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3726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b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4" name="Rectangle 59">
              <a:extLst>
                <a:ext uri="{FF2B5EF4-FFF2-40B4-BE49-F238E27FC236}">
                  <a16:creationId xmlns:a16="http://schemas.microsoft.com/office/drawing/2014/main" id="{942AC432-6E0A-413A-B325-C529F14A5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" y="2562"/>
              <a:ext cx="72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c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5" name="Rectangle 60">
              <a:extLst>
                <a:ext uri="{FF2B5EF4-FFF2-40B4-BE49-F238E27FC236}">
                  <a16:creationId xmlns:a16="http://schemas.microsoft.com/office/drawing/2014/main" id="{B16442D6-7E9E-4376-B968-11D0E1F08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2" y="3725"/>
              <a:ext cx="54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f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6" name="Rectangle 61">
              <a:extLst>
                <a:ext uri="{FF2B5EF4-FFF2-40B4-BE49-F238E27FC236}">
                  <a16:creationId xmlns:a16="http://schemas.microsoft.com/office/drawing/2014/main" id="{C54E0527-9340-4C4E-A1A2-65D8E6F4B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2563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d</a:t>
              </a:r>
              <a:endParaRPr kumimoji="0" lang="en-US" altLang="zh-CN" sz="2000">
                <a:effectLst/>
              </a:endParaRPr>
            </a:p>
          </p:txBody>
        </p:sp>
        <p:sp>
          <p:nvSpPr>
            <p:cNvPr id="197" name="Rectangle 62">
              <a:extLst>
                <a:ext uri="{FF2B5EF4-FFF2-40B4-BE49-F238E27FC236}">
                  <a16:creationId xmlns:a16="http://schemas.microsoft.com/office/drawing/2014/main" id="{76A6FB47-B70E-49F5-A4BC-7B9B5BDD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3725"/>
              <a:ext cx="72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 anchorCtr="1">
              <a:spAutoFit/>
            </a:bodyPr>
            <a:lstStyle>
              <a:lvl1pPr algn="l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US" altLang="zh-CN" sz="2000" i="1">
                  <a:effectLst/>
                </a:rPr>
                <a:t>e</a:t>
              </a:r>
              <a:endParaRPr kumimoji="0" lang="en-US" altLang="zh-CN" sz="2000">
                <a:effectLst/>
              </a:endParaRPr>
            </a:p>
          </p:txBody>
        </p:sp>
      </p:grpSp>
      <p:grpSp>
        <p:nvGrpSpPr>
          <p:cNvPr id="198" name="Group 81">
            <a:extLst>
              <a:ext uri="{FF2B5EF4-FFF2-40B4-BE49-F238E27FC236}">
                <a16:creationId xmlns:a16="http://schemas.microsoft.com/office/drawing/2014/main" id="{2D91D168-53D3-42E9-832B-88EA55A3614F}"/>
              </a:ext>
            </a:extLst>
          </p:cNvPr>
          <p:cNvGrpSpPr>
            <a:grpSpLocks/>
          </p:cNvGrpSpPr>
          <p:nvPr/>
        </p:nvGrpSpPr>
        <p:grpSpPr bwMode="auto">
          <a:xfrm>
            <a:off x="5208447" y="3396159"/>
            <a:ext cx="2879725" cy="1439862"/>
            <a:chOff x="3787" y="1496"/>
            <a:chExt cx="1814" cy="907"/>
          </a:xfrm>
        </p:grpSpPr>
        <p:sp>
          <p:nvSpPr>
            <p:cNvPr id="199" name="AutoShape 82">
              <a:extLst>
                <a:ext uri="{FF2B5EF4-FFF2-40B4-BE49-F238E27FC236}">
                  <a16:creationId xmlns:a16="http://schemas.microsoft.com/office/drawing/2014/main" id="{EAB0FB00-8A05-43B7-B121-AF217B1BC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35"/>
              <a:ext cx="68" cy="68"/>
            </a:xfrm>
            <a:prstGeom prst="flowChartConnector">
              <a:avLst/>
            </a:prstGeom>
            <a:solidFill>
              <a:schemeClr val="hlink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200" name="AutoShape 83">
              <a:extLst>
                <a:ext uri="{FF2B5EF4-FFF2-40B4-BE49-F238E27FC236}">
                  <a16:creationId xmlns:a16="http://schemas.microsoft.com/office/drawing/2014/main" id="{32C52C34-7ED6-4B16-9705-8128D93E6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1496"/>
              <a:ext cx="68" cy="68"/>
            </a:xfrm>
            <a:prstGeom prst="flowChartConnector">
              <a:avLst/>
            </a:prstGeom>
            <a:solidFill>
              <a:schemeClr val="hlink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201" name="AutoShape 84">
              <a:extLst>
                <a:ext uri="{FF2B5EF4-FFF2-40B4-BE49-F238E27FC236}">
                  <a16:creationId xmlns:a16="http://schemas.microsoft.com/office/drawing/2014/main" id="{795571F2-326A-4454-AB0B-77FE7957F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496"/>
              <a:ext cx="68" cy="68"/>
            </a:xfrm>
            <a:prstGeom prst="flowChartConnector">
              <a:avLst/>
            </a:prstGeom>
            <a:solidFill>
              <a:schemeClr val="hlink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202" name="Rectangle 5">
            <a:extLst>
              <a:ext uri="{FF2B5EF4-FFF2-40B4-BE49-F238E27FC236}">
                <a16:creationId xmlns:a16="http://schemas.microsoft.com/office/drawing/2014/main" id="{B7647DD5-57CC-4CD7-AEB6-BB99C94C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05" y="5395863"/>
            <a:ext cx="398751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实验室与星期的开会关系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  <a:p>
            <a:pPr algn="ctr" eaLnBrk="1" hangingPunct="1">
              <a:defRPr/>
            </a:pP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R=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{&lt;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w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&gt; | 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在星期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w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开会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</a:t>
            </a:r>
          </a:p>
        </p:txBody>
      </p:sp>
      <p:sp>
        <p:nvSpPr>
          <p:cNvPr id="203" name="Rectangle 5">
            <a:extLst>
              <a:ext uri="{FF2B5EF4-FFF2-40B4-BE49-F238E27FC236}">
                <a16:creationId xmlns:a16="http://schemas.microsoft.com/office/drawing/2014/main" id="{71ABAFBE-A960-4235-B635-71C4947B2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5395863"/>
            <a:ext cx="5019676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实验室与实验室的同天开会关系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  <a:p>
            <a:pPr algn="ctr" eaLnBrk="1" hangingPunct="1">
              <a:defRPr/>
            </a:pP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R</a:t>
            </a:r>
            <a:r>
              <a:rPr lang="as-IN" altLang="zh-CN" sz="2000" b="0" dirty="0">
                <a:solidFill>
                  <a:srgbClr val="FF9900"/>
                </a:solidFill>
                <a:effectLst/>
                <a:ea typeface="+mn-ea"/>
              </a:rPr>
              <a:t>৹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R</a:t>
            </a:r>
            <a:r>
              <a:rPr lang="en-US" altLang="zh-CN" sz="2000" b="0" baseline="30000" dirty="0">
                <a:solidFill>
                  <a:srgbClr val="FF9900"/>
                </a:solidFill>
                <a:effectLst/>
                <a:ea typeface="+mn-ea"/>
              </a:rPr>
              <a:t>−1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=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{&lt;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, 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&gt; | 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实验室</a:t>
            </a:r>
            <a:r>
              <a:rPr kumimoji="0"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a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和实验室</a:t>
            </a:r>
            <a:r>
              <a:rPr lang="en-US" altLang="zh-CN" sz="2000" b="0" i="1" dirty="0">
                <a:solidFill>
                  <a:srgbClr val="FF9900"/>
                </a:solidFill>
                <a:effectLst/>
                <a:ea typeface="+mn-ea"/>
              </a:rPr>
              <a:t>b</a:t>
            </a:r>
            <a:r>
              <a:rPr lang="zh-CN" altLang="en-US" sz="2000" b="0" dirty="0">
                <a:solidFill>
                  <a:srgbClr val="FF9900"/>
                </a:solidFill>
                <a:effectLst/>
                <a:ea typeface="+mn-ea"/>
              </a:rPr>
              <a:t>同天</a:t>
            </a: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开会</a:t>
            </a:r>
            <a:r>
              <a:rPr kumimoji="0" lang="en-US" altLang="zh-CN" sz="2000" b="0" dirty="0">
                <a:solidFill>
                  <a:srgbClr val="FF9900"/>
                </a:solidFill>
                <a:effectLst/>
                <a:ea typeface="+mn-ea"/>
              </a:rPr>
              <a:t>}</a:t>
            </a:r>
          </a:p>
        </p:txBody>
      </p:sp>
      <p:sp>
        <p:nvSpPr>
          <p:cNvPr id="213" name="Rectangle 5">
            <a:extLst>
              <a:ext uri="{FF2B5EF4-FFF2-40B4-BE49-F238E27FC236}">
                <a16:creationId xmlns:a16="http://schemas.microsoft.com/office/drawing/2014/main" id="{448A92DA-0527-4204-887B-E209160A3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507" y="2591268"/>
            <a:ext cx="635558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0" lang="zh-CN" altLang="en-US" sz="2000" b="0" dirty="0">
                <a:solidFill>
                  <a:srgbClr val="FF9900"/>
                </a:solidFill>
                <a:effectLst/>
                <a:ea typeface="+mn-ea"/>
              </a:rPr>
              <a:t>多少个互不相邻的节点构成的集合可以覆盖所有节点？</a:t>
            </a:r>
            <a:endParaRPr kumimoji="0" lang="en-US" altLang="zh-CN" sz="2000" b="0" dirty="0">
              <a:solidFill>
                <a:srgbClr val="FF9900"/>
              </a:solidFill>
              <a:effectLst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8393417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CE98-933F-41CA-B8C2-DC76672B9FAB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点着色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45259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17.8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的一种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点着色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给图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的每个顶点涂上一种颜色，使相邻顶点具有不同颜色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进行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着色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可着色的）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能用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的顶点着色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色数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可着色的，但不是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1)-</a:t>
            </a:r>
            <a:r>
              <a:rPr lang="zh-CN" altLang="en-US" dirty="0">
                <a:latin typeface="Times New Roman" panose="02020603050405020304" pitchFamily="18" charset="0"/>
              </a:rPr>
              <a:t>可着色的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B9B2C0-F0AF-4BA2-B7EC-F06B5415B4D1}"/>
              </a:ext>
            </a:extLst>
          </p:cNvPr>
          <p:cNvSpPr txBox="1"/>
          <p:nvPr/>
        </p:nvSpPr>
        <p:spPr>
          <a:xfrm>
            <a:off x="2411760" y="4236155"/>
            <a:ext cx="5256584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独立集：两两不相邻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节点颜色相同：两两不相邻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同色节点集：独立集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点着色：找若干独立集的并集包含所有节点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6625-E1DF-4CCD-A78F-96776B6C5E5C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关于顶点着色的几个简单结果</a:t>
            </a:r>
          </a:p>
        </p:txBody>
      </p:sp>
      <p:sp>
        <p:nvSpPr>
          <p:cNvPr id="429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208963" cy="223202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)=1</a:t>
            </a:r>
            <a:r>
              <a:rPr lang="zh-CN" altLang="en-US" dirty="0">
                <a:latin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为零图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18.9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为奇圈或奇阶轮图，则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)=3</a:t>
            </a:r>
            <a:r>
              <a:rPr lang="zh-CN" altLang="en-US" dirty="0">
                <a:latin typeface="Times New Roman" panose="02020603050405020304" pitchFamily="18" charset="0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为偶阶轮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图，则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)=4.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18.10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的边集非空，则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)=2</a:t>
            </a:r>
            <a:r>
              <a:rPr lang="zh-CN" altLang="en-US" dirty="0">
                <a:latin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为二部图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29061" name="Rectangle 5"/>
          <p:cNvSpPr>
            <a:spLocks noChangeArrowheads="1"/>
          </p:cNvSpPr>
          <p:nvPr/>
        </p:nvSpPr>
        <p:spPr bwMode="auto">
          <a:xfrm>
            <a:off x="611188" y="558958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上述各图中，色数分别为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zh-CN" altLang="en-US" b="1" dirty="0"/>
              <a:t>为什么？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429062" name="Picture 6" descr="17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630613"/>
            <a:ext cx="8353425" cy="159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C26D66-F483-4D83-B610-2C1CEB4F5F5E}"/>
              </a:ext>
            </a:extLst>
          </p:cNvPr>
          <p:cNvSpPr txBox="1"/>
          <p:nvPr/>
        </p:nvSpPr>
        <p:spPr>
          <a:xfrm>
            <a:off x="5171430" y="1153369"/>
            <a:ext cx="352807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只要有边至少两种颜色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D0D122-AE6F-4AA3-8D6B-65D57DFF2480}"/>
              </a:ext>
            </a:extLst>
          </p:cNvPr>
          <p:cNvSpPr txBox="1"/>
          <p:nvPr/>
        </p:nvSpPr>
        <p:spPr>
          <a:xfrm>
            <a:off x="3025130" y="1581310"/>
            <a:ext cx="352807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两两相邻只能各染一色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FFA7B6-F3B1-4CB9-9C26-814B6048F5B5}"/>
              </a:ext>
            </a:extLst>
          </p:cNvPr>
          <p:cNvSpPr txBox="1"/>
          <p:nvPr/>
        </p:nvSpPr>
        <p:spPr>
          <a:xfrm>
            <a:off x="3016002" y="2363045"/>
            <a:ext cx="602049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000" b="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构造每次加点颜色唯一确定（数学归纳法）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CB4007-341E-4FA8-AE6A-1891ABAB13EE}"/>
              </a:ext>
            </a:extLst>
          </p:cNvPr>
          <p:cNvSpPr txBox="1"/>
          <p:nvPr/>
        </p:nvSpPr>
        <p:spPr>
          <a:xfrm>
            <a:off x="3025130" y="3144780"/>
            <a:ext cx="602049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划分成两个内部无边的节点集即二分图的定义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6DD61D-6B68-417A-B6FF-60C644A5C26D}"/>
              </a:ext>
            </a:extLst>
          </p:cNvPr>
          <p:cNvSpPr txBox="1"/>
          <p:nvPr/>
        </p:nvSpPr>
        <p:spPr>
          <a:xfrm>
            <a:off x="-2182" y="6446023"/>
            <a:ext cx="602049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推广：图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可着色图的⇔当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部图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BB05-3A1A-4186-93B5-CD8F423EE39E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色数的上界</a:t>
            </a:r>
          </a:p>
        </p:txBody>
      </p:sp>
      <p:sp>
        <p:nvSpPr>
          <p:cNvPr id="4311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279525"/>
            <a:ext cx="8229600" cy="4525963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对于任意无向图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，均有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证明线索：对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的阶数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做归纳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若连通无向图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不是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），也不是奇数阶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的圈，则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18.12</a:t>
            </a:r>
            <a:r>
              <a:rPr lang="zh-CN" altLang="en-US" dirty="0">
                <a:latin typeface="Times New Roman" panose="02020603050405020304" pitchFamily="18" charset="0"/>
              </a:rPr>
              <a:t>称为布鲁克斯定理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538DE5-0595-4EF0-9C17-A7D84039CCB4}"/>
              </a:ext>
            </a:extLst>
          </p:cNvPr>
          <p:cNvSpPr txBox="1"/>
          <p:nvPr/>
        </p:nvSpPr>
        <p:spPr>
          <a:xfrm>
            <a:off x="4716016" y="1628800"/>
            <a:ext cx="4370982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每个节点即使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个邻居颜色全不同，还是剩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个颜色来给该节点染色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BB05-3A1A-4186-93B5-CD8F423EE39E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Welch-Powell</a:t>
            </a:r>
            <a:r>
              <a:rPr lang="zh-CN" altLang="en-US" dirty="0">
                <a:latin typeface="Times New Roman" panose="02020603050405020304" pitchFamily="18" charset="0"/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1108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79525"/>
                <a:ext cx="8229600" cy="4525963"/>
              </a:xfrm>
            </p:spPr>
            <p:txBody>
              <a:bodyPr/>
              <a:lstStyle/>
              <a:p>
                <a:pPr marL="0" indent="0"/>
                <a:r>
                  <a:rPr lang="zh-CN" altLang="en-US" dirty="0">
                    <a:latin typeface="Times New Roman" panose="02020603050405020304" pitchFamily="18" charset="0"/>
                  </a:rPr>
                  <a:t>①按度数降序排列图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中的顶点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/>
                <a:r>
                  <a:rPr lang="en-US" altLang="zh-CN" dirty="0">
                    <a:latin typeface="Times New Roman" panose="02020603050405020304" pitchFamily="18" charset="0"/>
                  </a:rPr>
                  <a:t>②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将第一个未染色顶点染未使用的颜色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/>
                <a:r>
                  <a:rPr lang="en-US" altLang="zh-CN" dirty="0">
                    <a:latin typeface="Times New Roman" panose="02020603050405020304" pitchFamily="18" charset="0"/>
                  </a:rPr>
                  <a:t>③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依次遍历其余顶点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若与所有已染颜色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的节点都不相邻则也染颜色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/>
                <a:r>
                  <a:rPr lang="en-US" altLang="zh-CN" dirty="0">
                    <a:latin typeface="Times New Roman" panose="02020603050405020304" pitchFamily="18" charset="0"/>
                  </a:rPr>
                  <a:t>④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除非所有顶点均已染色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回到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②.</a:t>
                </a:r>
              </a:p>
              <a:p>
                <a:pPr marL="0" indent="0"/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marL="0" indent="0"/>
                <a:r>
                  <a:rPr lang="zh-CN" altLang="en-US" dirty="0">
                    <a:latin typeface="Times New Roman" panose="02020603050405020304" pitchFamily="18" charset="0"/>
                  </a:rPr>
                  <a:t>使用该算法进行着色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不一定能求得最优颜色数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颜色数至多为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deg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+1}</m:t>
                        </m:r>
                      </m:e>
                    </m:func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31108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79525"/>
                <a:ext cx="8229600" cy="4525963"/>
              </a:xfrm>
              <a:blipFill>
                <a:blip r:embed="rId3"/>
                <a:stretch>
                  <a:fillRect l="-1111" t="-1482" r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4538DE5-0595-4EF0-9C17-A7D84039CCB4}"/>
              </a:ext>
            </a:extLst>
          </p:cNvPr>
          <p:cNvSpPr txBox="1"/>
          <p:nvPr/>
        </p:nvSpPr>
        <p:spPr>
          <a:xfrm>
            <a:off x="2627784" y="5178365"/>
            <a:ext cx="437098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本质上是不断贪心构造极大独立集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06297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ED09-D8D9-4C7F-BCAB-AC51AAB80454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pitchFamily="2" charset="-122"/>
              </a:rPr>
              <a:t>地图着色与平面图的点着色</a:t>
            </a:r>
          </a:p>
        </p:txBody>
      </p:sp>
      <p:sp>
        <p:nvSpPr>
          <p:cNvPr id="4331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7848600" cy="18002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18.9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地图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连通无桥平面图（嵌入）与所有的面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国家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地图的面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两个国家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相邻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它们的边界至少有一条公共边</a:t>
            </a:r>
          </a:p>
        </p:txBody>
      </p:sp>
      <p:sp>
        <p:nvSpPr>
          <p:cNvPr id="433157" name="Rectangle 5"/>
          <p:cNvSpPr>
            <a:spLocks noChangeArrowheads="1"/>
          </p:cNvSpPr>
          <p:nvPr/>
        </p:nvSpPr>
        <p:spPr bwMode="auto">
          <a:xfrm>
            <a:off x="468313" y="5516563"/>
            <a:ext cx="7993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在上图的地图中，有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个国家，其中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相邻，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相邻，</a:t>
            </a:r>
            <a:r>
              <a:rPr lang="en-US" altLang="zh-CN" b="1">
                <a:latin typeface="Times New Roman" panose="02020603050405020304" pitchFamily="18" charset="0"/>
              </a:rPr>
              <a:t>2,3,4</a:t>
            </a:r>
            <a:r>
              <a:rPr lang="zh-CN" altLang="en-US" b="1">
                <a:latin typeface="Times New Roman" panose="02020603050405020304" pitchFamily="18" charset="0"/>
              </a:rPr>
              <a:t>均与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相邻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433158" name="Picture 6" descr="17-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59"/>
          <a:stretch>
            <a:fillRect/>
          </a:stretch>
        </p:blipFill>
        <p:spPr bwMode="auto">
          <a:xfrm>
            <a:off x="827088" y="3141663"/>
            <a:ext cx="676910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27E9-6515-46BB-B270-69A2D73C41FF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地图的面着色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5040783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图的着色问题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起源于地图的着色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在一张地图中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相邻国家涂以不同的颜色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最少需要多少种颜色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</a:p>
          <a:p>
            <a:pPr marL="0" indent="0"/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Mobius(1840), Guthrie(1852)</a:t>
            </a:r>
            <a:r>
              <a:rPr lang="zh-CN" altLang="en-US" dirty="0">
                <a:latin typeface="Times New Roman" panose="02020603050405020304" pitchFamily="18" charset="0"/>
              </a:rPr>
              <a:t>提出四色猜想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用四种颜色可以对任何地图着色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Kempe(1879)</a:t>
            </a:r>
            <a:r>
              <a:rPr lang="zh-CN" altLang="en-US" dirty="0">
                <a:latin typeface="Times New Roman" panose="02020603050405020304" pitchFamily="18" charset="0"/>
              </a:rPr>
              <a:t>给出四色猜想的许多错误的</a:t>
            </a:r>
            <a:r>
              <a:rPr lang="en-US" altLang="zh-CN" dirty="0"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中的第一个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</a:p>
          <a:p>
            <a:pPr marL="0" indent="0"/>
            <a:r>
              <a:rPr lang="en-US" altLang="zh-CN" dirty="0" err="1">
                <a:latin typeface="Times New Roman" panose="02020603050405020304" pitchFamily="18" charset="0"/>
              </a:rPr>
              <a:t>Hewood</a:t>
            </a:r>
            <a:r>
              <a:rPr lang="en-US" altLang="zh-CN" dirty="0">
                <a:latin typeface="Times New Roman" panose="02020603050405020304" pitchFamily="18" charset="0"/>
              </a:rPr>
              <a:t>(1890)</a:t>
            </a:r>
            <a:r>
              <a:rPr lang="zh-CN" altLang="en-US" dirty="0">
                <a:latin typeface="Times New Roman" panose="02020603050405020304" pitchFamily="18" charset="0"/>
              </a:rPr>
              <a:t>发现其中的错误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并用</a:t>
            </a:r>
            <a:r>
              <a:rPr lang="en-US" altLang="zh-CN" dirty="0">
                <a:latin typeface="Times New Roman" panose="02020603050405020304" pitchFamily="18" charset="0"/>
              </a:rPr>
              <a:t>Kempe</a:t>
            </a:r>
            <a:r>
              <a:rPr lang="zh-CN" altLang="en-US" dirty="0">
                <a:latin typeface="Times New Roman" panose="02020603050405020304" pitchFamily="18" charset="0"/>
              </a:rPr>
              <a:t>的方法证明了</a:t>
            </a:r>
            <a:r>
              <a:rPr lang="en-US" altLang="zh-CN" dirty="0"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</a:rPr>
              <a:t>五色定理</a:t>
            </a:r>
            <a:r>
              <a:rPr lang="en-US" altLang="zh-CN" dirty="0">
                <a:latin typeface="Times New Roman" panose="02020603050405020304" pitchFamily="18" charset="0"/>
              </a:rPr>
              <a:t>”.</a:t>
            </a:r>
          </a:p>
          <a:p>
            <a:pPr marL="0" indent="0"/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四色猜想</a:t>
            </a:r>
            <a:r>
              <a:rPr lang="en-US" altLang="zh-CN" dirty="0">
                <a:latin typeface="Times New Roman" panose="02020603050405020304" pitchFamily="18" charset="0"/>
              </a:rPr>
              <a:t>1976</a:t>
            </a:r>
            <a:r>
              <a:rPr lang="zh-CN" altLang="en-US" dirty="0">
                <a:latin typeface="Times New Roman" panose="02020603050405020304" pitchFamily="18" charset="0"/>
              </a:rPr>
              <a:t>由计算机完成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轰动世界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E6299A-4CFD-42C7-8DBA-50B7B1CACBE1}"/>
              </a:ext>
            </a:extLst>
          </p:cNvPr>
          <p:cNvSpPr txBox="1"/>
          <p:nvPr/>
        </p:nvSpPr>
        <p:spPr>
          <a:xfrm>
            <a:off x="6156176" y="1628800"/>
            <a:ext cx="229354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要求没有“飞地”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212716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27E9-6515-46BB-B270-69A2D73C41FF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地图的面着色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216058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18.10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地图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面着色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的每个国家涂上一种颜色，相邻国家涂不同颜色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面可着色的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能用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的面着色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面色数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zh-CN" altLang="en-US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最少用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的面着色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35204" name="Rectangle 4"/>
          <p:cNvSpPr>
            <a:spLocks noChangeArrowheads="1"/>
          </p:cNvSpPr>
          <p:nvPr/>
        </p:nvSpPr>
        <p:spPr bwMode="auto">
          <a:xfrm>
            <a:off x="468313" y="3357563"/>
            <a:ext cx="8353425" cy="169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地图的面着色转化成对偶图的点着色</a:t>
            </a:r>
          </a:p>
          <a:p>
            <a:pPr>
              <a:spcBef>
                <a:spcPct val="35000"/>
              </a:spcBef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18.13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地图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</a:rPr>
              <a:t>面可着色的当且仅当它的对偶图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</a:rPr>
              <a:t>点可着色的</a:t>
            </a:r>
            <a:r>
              <a:rPr lang="en-US" altLang="zh-CN" b="1" dirty="0">
                <a:latin typeface="Times New Roman" panose="02020603050405020304" pitchFamily="18" charset="0"/>
              </a:rPr>
              <a:t>. 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证明简单</a:t>
            </a:r>
          </a:p>
        </p:txBody>
      </p:sp>
      <p:sp>
        <p:nvSpPr>
          <p:cNvPr id="435205" name="Rectangle 5"/>
          <p:cNvSpPr>
            <a:spLocks noChangeArrowheads="1"/>
          </p:cNvSpPr>
          <p:nvPr/>
        </p:nvSpPr>
        <p:spPr bwMode="auto">
          <a:xfrm>
            <a:off x="468313" y="5121275"/>
            <a:ext cx="81359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五色定理</a:t>
            </a:r>
          </a:p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18.14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任何平面图都是</a:t>
            </a:r>
            <a:r>
              <a:rPr lang="en-US" altLang="zh-CN" b="1" dirty="0">
                <a:latin typeface="Times New Roman" panose="02020603050405020304" pitchFamily="18" charset="0"/>
              </a:rPr>
              <a:t>5-</a:t>
            </a:r>
            <a:r>
              <a:rPr lang="zh-CN" altLang="en-US" b="1" dirty="0">
                <a:latin typeface="Times New Roman" panose="02020603050405020304" pitchFamily="18" charset="0"/>
              </a:rPr>
              <a:t>可着色的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剩下的大问题：四色猜想是否为真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D27E9-6515-46BB-B270-69A2D73C41FF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地图的面着色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38D6CE-2441-4906-B891-8FFCB2035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1718"/>
            <a:ext cx="8229600" cy="470444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任何平面图都是</a:t>
            </a:r>
            <a:r>
              <a:rPr lang="en-US" altLang="zh-CN" dirty="0">
                <a:latin typeface="Times New Roman" panose="02020603050405020304" pitchFamily="18" charset="0"/>
              </a:rPr>
              <a:t>5-</a:t>
            </a:r>
            <a:r>
              <a:rPr lang="zh-CN" altLang="en-US" dirty="0">
                <a:latin typeface="Times New Roman" panose="02020603050405020304" pitchFamily="18" charset="0"/>
              </a:rPr>
              <a:t>可着色的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证（对阶数用归纳法）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≤5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显然成立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5-</a:t>
            </a:r>
            <a:r>
              <a:rPr lang="zh-CN" altLang="en-US" dirty="0">
                <a:latin typeface="Times New Roman" panose="02020603050405020304" pitchFamily="18" charset="0"/>
              </a:rPr>
              <a:t>可着色的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 尝试证明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⋃{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也是</a:t>
            </a:r>
            <a:r>
              <a:rPr lang="en-US" altLang="zh-CN" dirty="0">
                <a:latin typeface="Times New Roman" panose="02020603050405020304" pitchFamily="18" charset="0"/>
              </a:rPr>
              <a:t>5-</a:t>
            </a:r>
            <a:r>
              <a:rPr lang="zh-CN" altLang="en-US" dirty="0">
                <a:latin typeface="Times New Roman" panose="02020603050405020304" pitchFamily="18" charset="0"/>
              </a:rPr>
              <a:t>可着色的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的邻居使用颜色数</a:t>
            </a:r>
            <a:r>
              <a:rPr lang="en-US" altLang="zh-CN" dirty="0">
                <a:latin typeface="Times New Roman" panose="02020603050405020304" pitchFamily="18" charset="0"/>
              </a:rPr>
              <a:t>&lt;5, </a:t>
            </a:r>
            <a:r>
              <a:rPr lang="zh-CN" altLang="en-US" dirty="0">
                <a:latin typeface="Times New Roman" panose="02020603050405020304" pitchFamily="18" charset="0"/>
              </a:rPr>
              <a:t>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染无邻居使用的颜色即得证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否则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由于归纳假设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的邻居恰好使用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种颜色数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考虑染颜色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的节点的导出子图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的两个邻居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(2.1) </a:t>
            </a:r>
            <a:r>
              <a:rPr lang="zh-CN" altLang="en-US" dirty="0">
                <a:latin typeface="Times New Roman" panose="02020603050405020304" pitchFamily="18" charset="0"/>
              </a:rPr>
              <a:t>若不在同一连通分支中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直接在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所在连通分支中交换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腾出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染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(2.2) </a:t>
            </a:r>
            <a:r>
              <a:rPr lang="zh-CN" altLang="en-US" dirty="0">
                <a:latin typeface="Times New Roman" panose="02020603050405020304" pitchFamily="18" charset="0"/>
              </a:rPr>
              <a:t>若在同一连通分支中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则存在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的路径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加上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构成回路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的两个邻居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分隔到两个连通分支中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平面图</a:t>
            </a:r>
            <a:r>
              <a:rPr lang="en-US" altLang="zh-CN" dirty="0">
                <a:latin typeface="Times New Roman" panose="02020603050405020304" pitchFamily="18" charset="0"/>
              </a:rPr>
              <a:t>! </a:t>
            </a:r>
            <a:r>
              <a:rPr lang="zh-CN" altLang="en-US" dirty="0">
                <a:latin typeface="Times New Roman" panose="02020603050405020304" pitchFamily="18" charset="0"/>
              </a:rPr>
              <a:t>你已经被包围了</a:t>
            </a:r>
            <a:r>
              <a:rPr lang="en-US" altLang="zh-CN" dirty="0">
                <a:latin typeface="Times New Roman" panose="02020603050405020304" pitchFamily="18" charset="0"/>
              </a:rPr>
              <a:t>!). </a:t>
            </a:r>
            <a:r>
              <a:rPr lang="zh-CN" altLang="en-US" dirty="0">
                <a:latin typeface="Times New Roman" panose="02020603050405020304" pitchFamily="18" charset="0"/>
              </a:rPr>
              <a:t>在含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的分支中交换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腾出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染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最终总能调整得到可行染色方案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9142A8-537B-475F-AA3C-01E8C3325683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E254E3-F2C9-46CB-A37D-F2703F0241BE}"/>
              </a:ext>
            </a:extLst>
          </p:cNvPr>
          <p:cNvGrpSpPr/>
          <p:nvPr/>
        </p:nvGrpSpPr>
        <p:grpSpPr>
          <a:xfrm>
            <a:off x="5959380" y="813427"/>
            <a:ext cx="2971800" cy="1967501"/>
            <a:chOff x="3657600" y="1737724"/>
            <a:chExt cx="2971800" cy="1967501"/>
          </a:xfrm>
        </p:grpSpPr>
        <p:sp>
          <p:nvSpPr>
            <p:cNvPr id="54" name="Text Box 27">
              <a:extLst>
                <a:ext uri="{FF2B5EF4-FFF2-40B4-BE49-F238E27FC236}">
                  <a16:creationId xmlns:a16="http://schemas.microsoft.com/office/drawing/2014/main" id="{0D4AB51E-87EB-45D6-B6A9-B1722F256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3288" y="2293938"/>
              <a:ext cx="296862" cy="396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endParaRPr kumimoji="0"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55" name="Group 28">
              <a:extLst>
                <a:ext uri="{FF2B5EF4-FFF2-40B4-BE49-F238E27FC236}">
                  <a16:creationId xmlns:a16="http://schemas.microsoft.com/office/drawing/2014/main" id="{1232D447-4D94-480D-AB13-B73919400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5677" y="2081214"/>
              <a:ext cx="1765301" cy="1011237"/>
              <a:chOff x="1439" y="2984"/>
              <a:chExt cx="1112" cy="637"/>
            </a:xfrm>
          </p:grpSpPr>
          <p:sp>
            <p:nvSpPr>
              <p:cNvPr id="56" name="Oval 29">
                <a:extLst>
                  <a:ext uri="{FF2B5EF4-FFF2-40B4-BE49-F238E27FC236}">
                    <a16:creationId xmlns:a16="http://schemas.microsoft.com/office/drawing/2014/main" id="{8F7E273A-5F68-4BBC-A6C2-99B06270C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8" y="3004"/>
                <a:ext cx="73" cy="7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7" name="Oval 30">
                <a:extLst>
                  <a:ext uri="{FF2B5EF4-FFF2-40B4-BE49-F238E27FC236}">
                    <a16:creationId xmlns:a16="http://schemas.microsoft.com/office/drawing/2014/main" id="{CFAFB674-7F2B-4E00-A3E6-895EA91ED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3" y="3004"/>
                <a:ext cx="73" cy="7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9" name="Oval 32">
                <a:extLst>
                  <a:ext uri="{FF2B5EF4-FFF2-40B4-BE49-F238E27FC236}">
                    <a16:creationId xmlns:a16="http://schemas.microsoft.com/office/drawing/2014/main" id="{A7DF80A6-6507-4440-9B01-DB4B53FFA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3" y="3304"/>
                <a:ext cx="73" cy="7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cxnSp>
            <p:nvCxnSpPr>
              <p:cNvPr id="60" name="AutoShape 33">
                <a:extLst>
                  <a:ext uri="{FF2B5EF4-FFF2-40B4-BE49-F238E27FC236}">
                    <a16:creationId xmlns:a16="http://schemas.microsoft.com/office/drawing/2014/main" id="{31A2E469-0CFD-468C-8E2C-8D221A60BEAD}"/>
                  </a:ext>
                </a:extLst>
              </p:cNvPr>
              <p:cNvCxnSpPr>
                <a:cxnSpLocks noChangeShapeType="1"/>
                <a:stCxn id="59" idx="6"/>
                <a:endCxn id="88" idx="1"/>
              </p:cNvCxnSpPr>
              <p:nvPr/>
            </p:nvCxnSpPr>
            <p:spPr bwMode="auto">
              <a:xfrm>
                <a:off x="2386" y="3340"/>
                <a:ext cx="165" cy="281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" name="AutoShape 34">
                <a:extLst>
                  <a:ext uri="{FF2B5EF4-FFF2-40B4-BE49-F238E27FC236}">
                    <a16:creationId xmlns:a16="http://schemas.microsoft.com/office/drawing/2014/main" id="{7298464F-76FA-4C5A-8308-07514C5A6481}"/>
                  </a:ext>
                </a:extLst>
              </p:cNvPr>
              <p:cNvCxnSpPr>
                <a:cxnSpLocks noChangeShapeType="1"/>
                <a:stCxn id="57" idx="4"/>
                <a:endCxn id="59" idx="0"/>
              </p:cNvCxnSpPr>
              <p:nvPr/>
            </p:nvCxnSpPr>
            <p:spPr bwMode="auto">
              <a:xfrm>
                <a:off x="2350" y="3077"/>
                <a:ext cx="0" cy="227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2" name="AutoShape 35">
                <a:extLst>
                  <a:ext uri="{FF2B5EF4-FFF2-40B4-BE49-F238E27FC236}">
                    <a16:creationId xmlns:a16="http://schemas.microsoft.com/office/drawing/2014/main" id="{51255A33-5E90-49E4-ABBE-BC2F831E01BB}"/>
                  </a:ext>
                </a:extLst>
              </p:cNvPr>
              <p:cNvCxnSpPr>
                <a:cxnSpLocks noChangeShapeType="1"/>
                <a:stCxn id="56" idx="5"/>
                <a:endCxn id="59" idx="1"/>
              </p:cNvCxnSpPr>
              <p:nvPr/>
            </p:nvCxnSpPr>
            <p:spPr bwMode="auto">
              <a:xfrm>
                <a:off x="1900" y="3066"/>
                <a:ext cx="424" cy="249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3" name="AutoShape 36">
                <a:extLst>
                  <a:ext uri="{FF2B5EF4-FFF2-40B4-BE49-F238E27FC236}">
                    <a16:creationId xmlns:a16="http://schemas.microsoft.com/office/drawing/2014/main" id="{02ADEE96-7C1D-40CB-9414-92A0E3B92D51}"/>
                  </a:ext>
                </a:extLst>
              </p:cNvPr>
              <p:cNvCxnSpPr>
                <a:cxnSpLocks noChangeShapeType="1"/>
                <a:stCxn id="85" idx="6"/>
                <a:endCxn id="56" idx="2"/>
              </p:cNvCxnSpPr>
              <p:nvPr/>
            </p:nvCxnSpPr>
            <p:spPr bwMode="auto">
              <a:xfrm>
                <a:off x="1439" y="2984"/>
                <a:ext cx="399" cy="57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64" name="Oval 37">
              <a:extLst>
                <a:ext uri="{FF2B5EF4-FFF2-40B4-BE49-F238E27FC236}">
                  <a16:creationId xmlns:a16="http://schemas.microsoft.com/office/drawing/2014/main" id="{387AEEB4-D711-425A-A471-4FA468228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088" y="2112963"/>
              <a:ext cx="115887" cy="115887"/>
            </a:xfrm>
            <a:prstGeom prst="ellipse">
              <a:avLst/>
            </a:prstGeom>
            <a:solidFill>
              <a:srgbClr val="FFFF00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65" name="Oval 38">
              <a:extLst>
                <a:ext uri="{FF2B5EF4-FFF2-40B4-BE49-F238E27FC236}">
                  <a16:creationId xmlns:a16="http://schemas.microsoft.com/office/drawing/2014/main" id="{6C4D1741-5443-4EFD-AA83-24BDCFE2D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3150" y="2112963"/>
              <a:ext cx="115888" cy="115887"/>
            </a:xfrm>
            <a:prstGeom prst="ellipse">
              <a:avLst/>
            </a:prstGeom>
            <a:solidFill>
              <a:srgbClr val="FFFF00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67" name="Oval 40">
              <a:extLst>
                <a:ext uri="{FF2B5EF4-FFF2-40B4-BE49-F238E27FC236}">
                  <a16:creationId xmlns:a16="http://schemas.microsoft.com/office/drawing/2014/main" id="{33F4BC52-834D-4ABC-A890-1A9C398D4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3150" y="2589213"/>
              <a:ext cx="115888" cy="1158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22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68" name="Text Box 41">
              <a:extLst>
                <a:ext uri="{FF2B5EF4-FFF2-40B4-BE49-F238E27FC236}">
                  <a16:creationId xmlns:a16="http://schemas.microsoft.com/office/drawing/2014/main" id="{0477C885-CEBF-432C-8F19-543F1A866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1264" y="1737724"/>
              <a:ext cx="379412" cy="396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000" i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kumimoji="0" lang="en-US" altLang="zh-CN" sz="20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69" name="Text Box 42">
              <a:extLst>
                <a:ext uri="{FF2B5EF4-FFF2-40B4-BE49-F238E27FC236}">
                  <a16:creationId xmlns:a16="http://schemas.microsoft.com/office/drawing/2014/main" id="{BB9EB785-AA89-4C46-8677-C03A4099A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7825" y="2508250"/>
              <a:ext cx="379413" cy="396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kumimoji="0" lang="en-US" altLang="zh-CN" sz="20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70" name="Text Box 43">
              <a:extLst>
                <a:ext uri="{FF2B5EF4-FFF2-40B4-BE49-F238E27FC236}">
                  <a16:creationId xmlns:a16="http://schemas.microsoft.com/office/drawing/2014/main" id="{750A0897-133A-4C1E-BA1A-61422D626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1925" y="3076575"/>
              <a:ext cx="379413" cy="396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kumimoji="0" lang="en-US" altLang="zh-CN" sz="20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</a:p>
          </p:txBody>
        </p:sp>
        <p:sp>
          <p:nvSpPr>
            <p:cNvPr id="71" name="Text Box 44">
              <a:extLst>
                <a:ext uri="{FF2B5EF4-FFF2-40B4-BE49-F238E27FC236}">
                  <a16:creationId xmlns:a16="http://schemas.microsoft.com/office/drawing/2014/main" id="{1AA26AEC-CBDC-4E10-B013-2834C6FE5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575" y="3076575"/>
              <a:ext cx="379413" cy="396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kumimoji="0" lang="en-US" altLang="zh-CN" sz="20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</a:p>
          </p:txBody>
        </p:sp>
        <p:sp>
          <p:nvSpPr>
            <p:cNvPr id="72" name="Text Box 45">
              <a:extLst>
                <a:ext uri="{FF2B5EF4-FFF2-40B4-BE49-F238E27FC236}">
                  <a16:creationId xmlns:a16="http://schemas.microsoft.com/office/drawing/2014/main" id="{9D11A109-4527-4AB4-B2AC-2AA317FB3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78100"/>
              <a:ext cx="379413" cy="396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kumimoji="0" lang="en-US" altLang="zh-CN" sz="20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</a:t>
              </a:r>
            </a:p>
          </p:txBody>
        </p:sp>
        <p:grpSp>
          <p:nvGrpSpPr>
            <p:cNvPr id="73" name="Group 46">
              <a:extLst>
                <a:ext uri="{FF2B5EF4-FFF2-40B4-BE49-F238E27FC236}">
                  <a16:creationId xmlns:a16="http://schemas.microsoft.com/office/drawing/2014/main" id="{AD855B4B-64FC-4D99-BADA-3906DABDD6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563" y="2022475"/>
              <a:ext cx="1439862" cy="1368425"/>
              <a:chOff x="4010" y="3051"/>
              <a:chExt cx="907" cy="862"/>
            </a:xfrm>
          </p:grpSpPr>
          <p:sp>
            <p:nvSpPr>
              <p:cNvPr id="74" name="Oval 47">
                <a:extLst>
                  <a:ext uri="{FF2B5EF4-FFF2-40B4-BE49-F238E27FC236}">
                    <a16:creationId xmlns:a16="http://schemas.microsoft.com/office/drawing/2014/main" id="{3F130952-4677-409F-BF56-64C286263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2" y="3051"/>
                <a:ext cx="73" cy="7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75" name="Oval 48">
                <a:extLst>
                  <a:ext uri="{FF2B5EF4-FFF2-40B4-BE49-F238E27FC236}">
                    <a16:creationId xmlns:a16="http://schemas.microsoft.com/office/drawing/2014/main" id="{60FA7082-73A2-4D49-9D39-EBC04B92B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4" y="3350"/>
                <a:ext cx="73" cy="73"/>
              </a:xfrm>
              <a:prstGeom prst="ellipse">
                <a:avLst/>
              </a:prstGeom>
              <a:solidFill>
                <a:srgbClr val="66FFFF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76" name="Oval 49">
                <a:extLst>
                  <a:ext uri="{FF2B5EF4-FFF2-40B4-BE49-F238E27FC236}">
                    <a16:creationId xmlns:a16="http://schemas.microsoft.com/office/drawing/2014/main" id="{6458CFE9-2C4E-4C7D-B16A-14997D1979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0" y="3840"/>
                <a:ext cx="73" cy="7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77" name="Oval 50">
                <a:extLst>
                  <a:ext uri="{FF2B5EF4-FFF2-40B4-BE49-F238E27FC236}">
                    <a16:creationId xmlns:a16="http://schemas.microsoft.com/office/drawing/2014/main" id="{937E4121-E261-43FA-90D6-813FFB28C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2" y="3840"/>
                <a:ext cx="73" cy="73"/>
              </a:xfrm>
              <a:prstGeom prst="ellipse">
                <a:avLst/>
              </a:prstGeom>
              <a:solidFill>
                <a:srgbClr val="FF99FF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78" name="Oval 51">
                <a:extLst>
                  <a:ext uri="{FF2B5EF4-FFF2-40B4-BE49-F238E27FC236}">
                    <a16:creationId xmlns:a16="http://schemas.microsoft.com/office/drawing/2014/main" id="{4868885C-766F-4DCF-A86E-60EE93C5F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0" y="3350"/>
                <a:ext cx="73" cy="73"/>
              </a:xfrm>
              <a:prstGeom prst="ellipse">
                <a:avLst/>
              </a:prstGeom>
              <a:solidFill>
                <a:schemeClr val="accent2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79" name="Oval 52">
                <a:extLst>
                  <a:ext uri="{FF2B5EF4-FFF2-40B4-BE49-F238E27FC236}">
                    <a16:creationId xmlns:a16="http://schemas.microsoft.com/office/drawing/2014/main" id="{9319C4B5-BF3A-474B-AA6D-59DBD1717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" y="3445"/>
                <a:ext cx="73" cy="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cxnSp>
            <p:nvCxnSpPr>
              <p:cNvPr id="80" name="AutoShape 53">
                <a:extLst>
                  <a:ext uri="{FF2B5EF4-FFF2-40B4-BE49-F238E27FC236}">
                    <a16:creationId xmlns:a16="http://schemas.microsoft.com/office/drawing/2014/main" id="{336CBE7F-AC0E-40CC-A4DF-CC53D077C724}"/>
                  </a:ext>
                </a:extLst>
              </p:cNvPr>
              <p:cNvCxnSpPr>
                <a:cxnSpLocks noChangeShapeType="1"/>
                <a:stCxn id="74" idx="4"/>
                <a:endCxn id="79" idx="0"/>
              </p:cNvCxnSpPr>
              <p:nvPr/>
            </p:nvCxnSpPr>
            <p:spPr bwMode="auto">
              <a:xfrm>
                <a:off x="4459" y="3124"/>
                <a:ext cx="5" cy="321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1" name="AutoShape 54">
                <a:extLst>
                  <a:ext uri="{FF2B5EF4-FFF2-40B4-BE49-F238E27FC236}">
                    <a16:creationId xmlns:a16="http://schemas.microsoft.com/office/drawing/2014/main" id="{F97895F8-74BF-42A8-AB07-0C3DC2BF9FD1}"/>
                  </a:ext>
                </a:extLst>
              </p:cNvPr>
              <p:cNvCxnSpPr>
                <a:cxnSpLocks noChangeShapeType="1"/>
                <a:stCxn id="78" idx="6"/>
                <a:endCxn id="79" idx="2"/>
              </p:cNvCxnSpPr>
              <p:nvPr/>
            </p:nvCxnSpPr>
            <p:spPr bwMode="auto">
              <a:xfrm>
                <a:off x="4083" y="3387"/>
                <a:ext cx="344" cy="95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AutoShape 55">
                <a:extLst>
                  <a:ext uri="{FF2B5EF4-FFF2-40B4-BE49-F238E27FC236}">
                    <a16:creationId xmlns:a16="http://schemas.microsoft.com/office/drawing/2014/main" id="{6C9698F6-F0C3-4F29-AF97-7D9537E7C7F2}"/>
                  </a:ext>
                </a:extLst>
              </p:cNvPr>
              <p:cNvCxnSpPr>
                <a:cxnSpLocks noChangeShapeType="1"/>
                <a:stCxn id="75" idx="2"/>
                <a:endCxn id="79" idx="6"/>
              </p:cNvCxnSpPr>
              <p:nvPr/>
            </p:nvCxnSpPr>
            <p:spPr bwMode="auto">
              <a:xfrm flipH="1">
                <a:off x="4500" y="3387"/>
                <a:ext cx="344" cy="95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3" name="AutoShape 56">
                <a:extLst>
                  <a:ext uri="{FF2B5EF4-FFF2-40B4-BE49-F238E27FC236}">
                    <a16:creationId xmlns:a16="http://schemas.microsoft.com/office/drawing/2014/main" id="{A12A1478-9F07-4A31-9A2F-EC23F2AFA530}"/>
                  </a:ext>
                </a:extLst>
              </p:cNvPr>
              <p:cNvCxnSpPr>
                <a:cxnSpLocks noChangeShapeType="1"/>
                <a:stCxn id="79" idx="3"/>
                <a:endCxn id="77" idx="7"/>
              </p:cNvCxnSpPr>
              <p:nvPr/>
            </p:nvCxnSpPr>
            <p:spPr bwMode="auto">
              <a:xfrm flipH="1">
                <a:off x="4234" y="3507"/>
                <a:ext cx="204" cy="344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4" name="AutoShape 57">
                <a:extLst>
                  <a:ext uri="{FF2B5EF4-FFF2-40B4-BE49-F238E27FC236}">
                    <a16:creationId xmlns:a16="http://schemas.microsoft.com/office/drawing/2014/main" id="{67C4D321-ABDF-460D-8E94-5116D0852D7E}"/>
                  </a:ext>
                </a:extLst>
              </p:cNvPr>
              <p:cNvCxnSpPr>
                <a:cxnSpLocks noChangeShapeType="1"/>
                <a:stCxn id="79" idx="5"/>
                <a:endCxn id="76" idx="1"/>
              </p:cNvCxnSpPr>
              <p:nvPr/>
            </p:nvCxnSpPr>
            <p:spPr bwMode="auto">
              <a:xfrm>
                <a:off x="4489" y="3507"/>
                <a:ext cx="212" cy="344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85" name="Oval 58">
              <a:extLst>
                <a:ext uri="{FF2B5EF4-FFF2-40B4-BE49-F238E27FC236}">
                  <a16:creationId xmlns:a16="http://schemas.microsoft.com/office/drawing/2014/main" id="{B2FA92F4-F0BA-4A4C-A12C-9CD2B34AA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788" y="2022475"/>
              <a:ext cx="115887" cy="11588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22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86" name="Oval 59">
              <a:extLst>
                <a:ext uri="{FF2B5EF4-FFF2-40B4-BE49-F238E27FC236}">
                  <a16:creationId xmlns:a16="http://schemas.microsoft.com/office/drawing/2014/main" id="{BCF7F04A-9B5B-40C6-A66E-AE3636190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550" y="2647950"/>
              <a:ext cx="115888" cy="115888"/>
            </a:xfrm>
            <a:prstGeom prst="ellipse">
              <a:avLst/>
            </a:prstGeom>
            <a:solidFill>
              <a:schemeClr val="bg1"/>
            </a:solidFill>
            <a:ln w="222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grpSp>
          <p:nvGrpSpPr>
            <p:cNvPr id="87" name="Group 60">
              <a:extLst>
                <a:ext uri="{FF2B5EF4-FFF2-40B4-BE49-F238E27FC236}">
                  <a16:creationId xmlns:a16="http://schemas.microsoft.com/office/drawing/2014/main" id="{AE8CFA50-1D2C-42FE-8C86-D2248183EE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8663" y="3076575"/>
              <a:ext cx="2090737" cy="628650"/>
              <a:chOff x="1296" y="3611"/>
              <a:chExt cx="1317" cy="396"/>
            </a:xfrm>
          </p:grpSpPr>
          <p:sp>
            <p:nvSpPr>
              <p:cNvPr id="88" name="Oval 61">
                <a:extLst>
                  <a:ext uri="{FF2B5EF4-FFF2-40B4-BE49-F238E27FC236}">
                    <a16:creationId xmlns:a16="http://schemas.microsoft.com/office/drawing/2014/main" id="{5B9DD5E3-6946-413B-9BE6-0503503BA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" y="3611"/>
                <a:ext cx="73" cy="73"/>
              </a:xfrm>
              <a:prstGeom prst="ellipse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89" name="Oval 62">
                <a:extLst>
                  <a:ext uri="{FF2B5EF4-FFF2-40B4-BE49-F238E27FC236}">
                    <a16:creationId xmlns:a16="http://schemas.microsoft.com/office/drawing/2014/main" id="{E4B13795-3CD9-4300-A23A-F660E20B3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0" y="3861"/>
                <a:ext cx="73" cy="7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90" name="Oval 63">
                <a:extLst>
                  <a:ext uri="{FF2B5EF4-FFF2-40B4-BE49-F238E27FC236}">
                    <a16:creationId xmlns:a16="http://schemas.microsoft.com/office/drawing/2014/main" id="{3D0395DB-826F-4B85-9382-F87701757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3934"/>
                <a:ext cx="73" cy="73"/>
              </a:xfrm>
              <a:prstGeom prst="ellipse">
                <a:avLst/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91" name="Oval 64">
                <a:extLst>
                  <a:ext uri="{FF2B5EF4-FFF2-40B4-BE49-F238E27FC236}">
                    <a16:creationId xmlns:a16="http://schemas.microsoft.com/office/drawing/2014/main" id="{A397F22C-CAE9-4922-8111-5DFE9C64B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934"/>
                <a:ext cx="73" cy="7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cxnSp>
            <p:nvCxnSpPr>
              <p:cNvPr id="92" name="AutoShape 65">
                <a:extLst>
                  <a:ext uri="{FF2B5EF4-FFF2-40B4-BE49-F238E27FC236}">
                    <a16:creationId xmlns:a16="http://schemas.microsoft.com/office/drawing/2014/main" id="{5C023BCC-C7E8-4F4E-A804-0771B6F5CDE8}"/>
                  </a:ext>
                </a:extLst>
              </p:cNvPr>
              <p:cNvCxnSpPr>
                <a:cxnSpLocks noChangeShapeType="1"/>
                <a:stCxn id="76" idx="3"/>
                <a:endCxn id="90" idx="7"/>
              </p:cNvCxnSpPr>
              <p:nvPr/>
            </p:nvCxnSpPr>
            <p:spPr bwMode="auto">
              <a:xfrm flipH="1">
                <a:off x="1585" y="3798"/>
                <a:ext cx="58" cy="147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3" name="AutoShape 66">
                <a:extLst>
                  <a:ext uri="{FF2B5EF4-FFF2-40B4-BE49-F238E27FC236}">
                    <a16:creationId xmlns:a16="http://schemas.microsoft.com/office/drawing/2014/main" id="{4777972E-3955-455A-9A7D-18EC3F0BA2AB}"/>
                  </a:ext>
                </a:extLst>
              </p:cNvPr>
              <p:cNvCxnSpPr>
                <a:cxnSpLocks noChangeShapeType="1"/>
                <a:stCxn id="91" idx="6"/>
                <a:endCxn id="90" idx="2"/>
              </p:cNvCxnSpPr>
              <p:nvPr/>
            </p:nvCxnSpPr>
            <p:spPr bwMode="auto">
              <a:xfrm>
                <a:off x="1369" y="3971"/>
                <a:ext cx="154" cy="0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4" name="AutoShape 67">
                <a:extLst>
                  <a:ext uri="{FF2B5EF4-FFF2-40B4-BE49-F238E27FC236}">
                    <a16:creationId xmlns:a16="http://schemas.microsoft.com/office/drawing/2014/main" id="{97DD22C3-7F5A-4570-9D53-BE39A4B44558}"/>
                  </a:ext>
                </a:extLst>
              </p:cNvPr>
              <p:cNvCxnSpPr>
                <a:cxnSpLocks noChangeShapeType="1"/>
                <a:stCxn id="90" idx="6"/>
                <a:endCxn id="89" idx="2"/>
              </p:cNvCxnSpPr>
              <p:nvPr/>
            </p:nvCxnSpPr>
            <p:spPr bwMode="auto">
              <a:xfrm flipV="1">
                <a:off x="1596" y="3898"/>
                <a:ext cx="644" cy="73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5" name="AutoShape 68">
                <a:extLst>
                  <a:ext uri="{FF2B5EF4-FFF2-40B4-BE49-F238E27FC236}">
                    <a16:creationId xmlns:a16="http://schemas.microsoft.com/office/drawing/2014/main" id="{F2396666-A524-4A04-B682-7E47BCAB0779}"/>
                  </a:ext>
                </a:extLst>
              </p:cNvPr>
              <p:cNvCxnSpPr>
                <a:cxnSpLocks noChangeShapeType="1"/>
                <a:stCxn id="89" idx="7"/>
                <a:endCxn id="88" idx="3"/>
              </p:cNvCxnSpPr>
              <p:nvPr/>
            </p:nvCxnSpPr>
            <p:spPr bwMode="auto">
              <a:xfrm flipV="1">
                <a:off x="2302" y="3673"/>
                <a:ext cx="249" cy="199"/>
              </a:xfrm>
              <a:prstGeom prst="straightConnector1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17002DE7-0673-49C1-AF53-4D8C61298AE9}"/>
              </a:ext>
            </a:extLst>
          </p:cNvPr>
          <p:cNvSpPr txBox="1"/>
          <p:nvPr/>
        </p:nvSpPr>
        <p:spPr>
          <a:xfrm>
            <a:off x="0" y="6858000"/>
            <a:ext cx="602049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为什么被包围的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一定存在？如果不存在会怎样？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56071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BF212-276A-4273-9A90-A56EA9E5897D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18.6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边着色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无环无向图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372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80400" cy="179863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18.11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每条边着一种颜色，相邻的边不同色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边可着色的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能用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的边色数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最少用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</a:p>
        </p:txBody>
      </p:sp>
      <p:sp>
        <p:nvSpPr>
          <p:cNvPr id="437253" name="Rectangle 5"/>
          <p:cNvSpPr>
            <a:spLocks noChangeArrowheads="1"/>
          </p:cNvSpPr>
          <p:nvPr/>
        </p:nvSpPr>
        <p:spPr bwMode="auto">
          <a:xfrm>
            <a:off x="468313" y="3131268"/>
            <a:ext cx="8135937" cy="3590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18.15</a:t>
            </a:r>
            <a:r>
              <a:rPr lang="en-US" altLang="zh-CN" dirty="0">
                <a:latin typeface="Times New Roman" panose="02020603050405020304" pitchFamily="18" charset="0"/>
              </a:rPr>
              <a:t>  (</a:t>
            </a:r>
            <a:r>
              <a:rPr lang="en-US" altLang="zh-CN" dirty="0" err="1">
                <a:latin typeface="Times New Roman" panose="02020603050405020304" pitchFamily="18" charset="0"/>
              </a:rPr>
              <a:t>Vizing</a:t>
            </a:r>
            <a:r>
              <a:rPr lang="zh-CN" altLang="en-US" dirty="0"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为简单图，则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)+1.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特殊图的类型判定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简单图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若只有一个最大度点或恰有两个相邻的最大度点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χ'(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)=Δ(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). (</a:t>
            </a:r>
            <a:r>
              <a:rPr lang="zh-CN" altLang="en-US" dirty="0">
                <a:latin typeface="Times New Roman" panose="02020603050405020304" pitchFamily="18" charset="0"/>
              </a:rPr>
              <a:t>第一类图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若顶点数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且边数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Δ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χ'(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)=Δ(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)+1. (</a:t>
            </a:r>
            <a:r>
              <a:rPr lang="zh-CN" altLang="en-US" dirty="0">
                <a:latin typeface="Times New Roman" panose="02020603050405020304" pitchFamily="18" charset="0"/>
              </a:rPr>
              <a:t>第二类图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5940152" y="1092393"/>
            <a:ext cx="229354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有自环无法着色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168276" y="3892986"/>
            <a:ext cx="352891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每个节点所有关联边颜色不同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40152" y="2965619"/>
            <a:ext cx="3096344" cy="1586598"/>
            <a:chOff x="2699792" y="4382589"/>
            <a:chExt cx="3096344" cy="1586598"/>
          </a:xfrm>
        </p:grpSpPr>
        <p:grpSp>
          <p:nvGrpSpPr>
            <p:cNvPr id="11" name="Group 2"/>
            <p:cNvGrpSpPr>
              <a:grpSpLocks/>
            </p:cNvGrpSpPr>
            <p:nvPr/>
          </p:nvGrpSpPr>
          <p:grpSpPr bwMode="auto">
            <a:xfrm>
              <a:off x="4649541" y="4382589"/>
              <a:ext cx="1099066" cy="950088"/>
              <a:chOff x="3901" y="1900"/>
              <a:chExt cx="1173" cy="1014"/>
            </a:xfrm>
          </p:grpSpPr>
          <p:sp>
            <p:nvSpPr>
              <p:cNvPr id="12" name="AutoShape 3"/>
              <p:cNvSpPr>
                <a:spLocks noChangeArrowheads="1"/>
              </p:cNvSpPr>
              <p:nvPr/>
            </p:nvSpPr>
            <p:spPr bwMode="auto">
              <a:xfrm>
                <a:off x="4451" y="2220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13" name="AutoShape 4"/>
              <p:cNvCxnSpPr>
                <a:cxnSpLocks noChangeAspect="1" noChangeShapeType="1"/>
                <a:stCxn id="12" idx="0"/>
                <a:endCxn id="21" idx="4"/>
              </p:cNvCxnSpPr>
              <p:nvPr/>
            </p:nvCxnSpPr>
            <p:spPr bwMode="auto">
              <a:xfrm flipV="1">
                <a:off x="4488" y="1973"/>
                <a:ext cx="0" cy="247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" name="AutoShape 5"/>
              <p:cNvSpPr>
                <a:spLocks noChangeArrowheads="1"/>
              </p:cNvSpPr>
              <p:nvPr/>
            </p:nvSpPr>
            <p:spPr bwMode="auto">
              <a:xfrm>
                <a:off x="4451" y="2541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" name="AutoShape 6"/>
              <p:cNvSpPr>
                <a:spLocks noChangeArrowheads="1"/>
              </p:cNvSpPr>
              <p:nvPr/>
            </p:nvSpPr>
            <p:spPr bwMode="auto">
              <a:xfrm>
                <a:off x="3901" y="2841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6" name="AutoShape 7"/>
              <p:cNvSpPr>
                <a:spLocks noChangeArrowheads="1"/>
              </p:cNvSpPr>
              <p:nvPr/>
            </p:nvSpPr>
            <p:spPr bwMode="auto">
              <a:xfrm>
                <a:off x="5001" y="2841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17" name="AutoShape 8"/>
              <p:cNvCxnSpPr>
                <a:cxnSpLocks noChangeAspect="1" noChangeShapeType="1"/>
                <a:stCxn id="15" idx="6"/>
                <a:endCxn id="16" idx="2"/>
              </p:cNvCxnSpPr>
              <p:nvPr/>
            </p:nvCxnSpPr>
            <p:spPr bwMode="auto">
              <a:xfrm>
                <a:off x="3974" y="2878"/>
                <a:ext cx="1027" cy="0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" name="AutoShape 9"/>
              <p:cNvCxnSpPr>
                <a:cxnSpLocks noChangeAspect="1" noChangeShapeType="1"/>
                <a:stCxn id="15" idx="7"/>
                <a:endCxn id="14" idx="3"/>
              </p:cNvCxnSpPr>
              <p:nvPr/>
            </p:nvCxnSpPr>
            <p:spPr bwMode="auto">
              <a:xfrm flipV="1">
                <a:off x="3963" y="2603"/>
                <a:ext cx="499" cy="249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AutoShape 10"/>
              <p:cNvCxnSpPr>
                <a:cxnSpLocks noChangeAspect="1" noChangeShapeType="1"/>
                <a:stCxn id="12" idx="4"/>
                <a:endCxn id="14" idx="0"/>
              </p:cNvCxnSpPr>
              <p:nvPr/>
            </p:nvCxnSpPr>
            <p:spPr bwMode="auto">
              <a:xfrm>
                <a:off x="4488" y="2293"/>
                <a:ext cx="0" cy="248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AutoShape 11"/>
              <p:cNvCxnSpPr>
                <a:cxnSpLocks noChangeAspect="1" noChangeShapeType="1"/>
                <a:stCxn id="15" idx="7"/>
                <a:endCxn id="21" idx="3"/>
              </p:cNvCxnSpPr>
              <p:nvPr/>
            </p:nvCxnSpPr>
            <p:spPr bwMode="auto">
              <a:xfrm flipV="1">
                <a:off x="3963" y="1962"/>
                <a:ext cx="499" cy="890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" name="AutoShape 12"/>
              <p:cNvSpPr>
                <a:spLocks noChangeArrowheads="1"/>
              </p:cNvSpPr>
              <p:nvPr/>
            </p:nvSpPr>
            <p:spPr bwMode="auto">
              <a:xfrm>
                <a:off x="4451" y="1900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2" name="AutoShape 13"/>
              <p:cNvCxnSpPr>
                <a:cxnSpLocks noChangeAspect="1" noChangeShapeType="1"/>
                <a:stCxn id="16" idx="1"/>
                <a:endCxn id="21" idx="5"/>
              </p:cNvCxnSpPr>
              <p:nvPr/>
            </p:nvCxnSpPr>
            <p:spPr bwMode="auto">
              <a:xfrm flipH="1" flipV="1">
                <a:off x="4513" y="1962"/>
                <a:ext cx="499" cy="890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" name="AutoShape 14"/>
              <p:cNvCxnSpPr>
                <a:cxnSpLocks noChangeAspect="1" noChangeShapeType="1"/>
                <a:stCxn id="14" idx="5"/>
                <a:endCxn id="16" idx="1"/>
              </p:cNvCxnSpPr>
              <p:nvPr/>
            </p:nvCxnSpPr>
            <p:spPr bwMode="auto">
              <a:xfrm>
                <a:off x="4513" y="2603"/>
                <a:ext cx="499" cy="249"/>
              </a:xfrm>
              <a:prstGeom prst="straightConnector1">
                <a:avLst/>
              </a:prstGeom>
              <a:noFill/>
              <a:ln w="22225">
                <a:solidFill>
                  <a:srgbClr val="66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4" name="Group 16"/>
            <p:cNvGrpSpPr>
              <a:grpSpLocks/>
            </p:cNvGrpSpPr>
            <p:nvPr/>
          </p:nvGrpSpPr>
          <p:grpSpPr bwMode="auto">
            <a:xfrm>
              <a:off x="2699792" y="4382589"/>
              <a:ext cx="1099066" cy="950088"/>
              <a:chOff x="2141" y="1900"/>
              <a:chExt cx="1173" cy="1014"/>
            </a:xfrm>
          </p:grpSpPr>
          <p:sp>
            <p:nvSpPr>
              <p:cNvPr id="25" name="AutoShape 17"/>
              <p:cNvSpPr>
                <a:spLocks noChangeArrowheads="1"/>
              </p:cNvSpPr>
              <p:nvPr/>
            </p:nvSpPr>
            <p:spPr bwMode="auto">
              <a:xfrm>
                <a:off x="2691" y="2541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" name="AutoShape 18"/>
              <p:cNvSpPr>
                <a:spLocks noChangeArrowheads="1"/>
              </p:cNvSpPr>
              <p:nvPr/>
            </p:nvSpPr>
            <p:spPr bwMode="auto">
              <a:xfrm>
                <a:off x="2141" y="2841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7" name="AutoShape 19"/>
              <p:cNvSpPr>
                <a:spLocks noChangeArrowheads="1"/>
              </p:cNvSpPr>
              <p:nvPr/>
            </p:nvSpPr>
            <p:spPr bwMode="auto">
              <a:xfrm>
                <a:off x="3241" y="2841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8" name="AutoShape 20"/>
              <p:cNvCxnSpPr>
                <a:cxnSpLocks noChangeAspect="1" noChangeShapeType="1"/>
                <a:stCxn id="26" idx="6"/>
                <a:endCxn id="27" idx="2"/>
              </p:cNvCxnSpPr>
              <p:nvPr/>
            </p:nvCxnSpPr>
            <p:spPr bwMode="auto">
              <a:xfrm>
                <a:off x="2214" y="2878"/>
                <a:ext cx="1027" cy="0"/>
              </a:xfrm>
              <a:prstGeom prst="straightConnector1">
                <a:avLst/>
              </a:prstGeom>
              <a:noFill/>
              <a:ln w="22225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AutoShape 21"/>
              <p:cNvCxnSpPr>
                <a:cxnSpLocks noChangeAspect="1" noChangeShapeType="1"/>
                <a:stCxn id="26" idx="7"/>
                <a:endCxn id="25" idx="3"/>
              </p:cNvCxnSpPr>
              <p:nvPr/>
            </p:nvCxnSpPr>
            <p:spPr bwMode="auto">
              <a:xfrm flipV="1">
                <a:off x="2203" y="2603"/>
                <a:ext cx="499" cy="249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AutoShape 22"/>
              <p:cNvCxnSpPr>
                <a:cxnSpLocks noChangeAspect="1" noChangeShapeType="1"/>
                <a:stCxn id="32" idx="4"/>
                <a:endCxn id="25" idx="0"/>
              </p:cNvCxnSpPr>
              <p:nvPr/>
            </p:nvCxnSpPr>
            <p:spPr bwMode="auto">
              <a:xfrm>
                <a:off x="2728" y="1973"/>
                <a:ext cx="0" cy="568"/>
              </a:xfrm>
              <a:prstGeom prst="straightConnector1">
                <a:avLst/>
              </a:prstGeom>
              <a:noFill/>
              <a:ln w="22225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AutoShape 23"/>
              <p:cNvCxnSpPr>
                <a:cxnSpLocks noChangeAspect="1" noChangeShapeType="1"/>
                <a:stCxn id="26" idx="7"/>
                <a:endCxn id="32" idx="3"/>
              </p:cNvCxnSpPr>
              <p:nvPr/>
            </p:nvCxnSpPr>
            <p:spPr bwMode="auto">
              <a:xfrm flipV="1">
                <a:off x="2203" y="1962"/>
                <a:ext cx="499" cy="890"/>
              </a:xfrm>
              <a:prstGeom prst="straightConnector1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2" name="AutoShape 24"/>
              <p:cNvSpPr>
                <a:spLocks noChangeArrowheads="1"/>
              </p:cNvSpPr>
              <p:nvPr/>
            </p:nvSpPr>
            <p:spPr bwMode="auto">
              <a:xfrm>
                <a:off x="2691" y="1900"/>
                <a:ext cx="73" cy="73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33" name="AutoShape 25"/>
              <p:cNvCxnSpPr>
                <a:cxnSpLocks noChangeAspect="1" noChangeShapeType="1"/>
                <a:stCxn id="27" idx="1"/>
                <a:endCxn id="32" idx="5"/>
              </p:cNvCxnSpPr>
              <p:nvPr/>
            </p:nvCxnSpPr>
            <p:spPr bwMode="auto">
              <a:xfrm flipH="1" flipV="1">
                <a:off x="2753" y="1962"/>
                <a:ext cx="499" cy="890"/>
              </a:xfrm>
              <a:prstGeom prst="straightConnector1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AutoShape 26"/>
              <p:cNvCxnSpPr>
                <a:cxnSpLocks noChangeAspect="1" noChangeShapeType="1"/>
                <a:stCxn id="25" idx="5"/>
                <a:endCxn id="27" idx="1"/>
              </p:cNvCxnSpPr>
              <p:nvPr/>
            </p:nvCxnSpPr>
            <p:spPr bwMode="auto">
              <a:xfrm>
                <a:off x="2753" y="2603"/>
                <a:ext cx="499" cy="249"/>
              </a:xfrm>
              <a:prstGeom prst="straightConnector1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771800" y="5360786"/>
              <a:ext cx="968535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1600" i="1" dirty="0">
                  <a:latin typeface="Times New Roman" panose="02020603050405020304" pitchFamily="18" charset="0"/>
                </a:rPr>
                <a:t>'</a:t>
              </a:r>
              <a:r>
                <a:rPr kumimoji="0" lang="en-US" altLang="zh-CN" sz="1600" baseline="-25000" dirty="0">
                  <a:latin typeface="Times New Roman" panose="02020603050405020304" pitchFamily="18" charset="0"/>
                </a:rPr>
                <a:t> </a:t>
              </a:r>
              <a:r>
                <a:rPr kumimoji="0" lang="en-US" altLang="zh-CN" sz="1600" dirty="0">
                  <a:latin typeface="Times New Roman" panose="02020603050405020304" pitchFamily="18" charset="0"/>
                </a:rPr>
                <a:t>=</a:t>
              </a:r>
              <a:r>
                <a:rPr kumimoji="0" lang="en-US" altLang="zh-CN" sz="1600" baseline="-25000" dirty="0">
                  <a:latin typeface="Times New Roman" panose="02020603050405020304" pitchFamily="18" charset="0"/>
                </a:rPr>
                <a:t> </a:t>
              </a:r>
              <a:r>
                <a:rPr kumimoji="0" lang="en-US" altLang="zh-CN" sz="1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0" lang="en-US" altLang="zh-CN" sz="1600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sz="1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0" lang="en-US" altLang="zh-CN" sz="1600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sz="1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endParaRPr kumimoji="0" lang="en-US" altLang="en-US" sz="160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4577533" y="5360786"/>
              <a:ext cx="1218603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i="1">
                  <a:latin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1600" i="1">
                  <a:latin typeface="Times New Roman" panose="02020603050405020304" pitchFamily="18" charset="0"/>
                </a:rPr>
                <a:t>'</a:t>
              </a:r>
              <a:r>
                <a:rPr kumimoji="0" lang="en-US" altLang="zh-CN" sz="1600" baseline="-25000">
                  <a:latin typeface="Times New Roman" panose="02020603050405020304" pitchFamily="18" charset="0"/>
                </a:rPr>
                <a:t> </a:t>
              </a:r>
              <a:r>
                <a:rPr kumimoji="0" lang="en-US" altLang="zh-CN" sz="1600">
                  <a:latin typeface="Times New Roman" panose="02020603050405020304" pitchFamily="18" charset="0"/>
                </a:rPr>
                <a:t>=</a:t>
              </a:r>
              <a:r>
                <a:rPr kumimoji="0" lang="en-US" altLang="zh-CN" sz="1600" baseline="-25000">
                  <a:latin typeface="Times New Roman" panose="02020603050405020304" pitchFamily="18" charset="0"/>
                </a:rPr>
                <a:t> </a:t>
              </a:r>
              <a:r>
                <a:rPr kumimoji="0"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0" lang="en-US" altLang="zh-CN" sz="1600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  <a:r>
                <a:rPr kumimoji="0" lang="en-US" altLang="zh-CN" sz="1600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0" lang="en-US" altLang="zh-CN" sz="1600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endParaRPr kumimoji="0" lang="en-US" altLang="en-US" sz="16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2835514" y="5630633"/>
              <a:ext cx="784189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>
                  <a:latin typeface="Times New Roman" panose="02020603050405020304" pitchFamily="18" charset="0"/>
                </a:rPr>
                <a:t>Class 1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4793557" y="5630633"/>
              <a:ext cx="784189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dirty="0">
                  <a:latin typeface="Times New Roman" panose="02020603050405020304" pitchFamily="18" charset="0"/>
                </a:rPr>
                <a:t>Class 2</a:t>
              </a:r>
            </a:p>
          </p:txBody>
        </p:sp>
        <p:cxnSp>
          <p:nvCxnSpPr>
            <p:cNvPr id="39" name="AutoShape 33"/>
            <p:cNvCxnSpPr>
              <a:cxnSpLocks noChangeAspect="1" noChangeShapeType="1"/>
            </p:cNvCxnSpPr>
            <p:nvPr/>
          </p:nvCxnSpPr>
          <p:spPr bwMode="auto">
            <a:xfrm flipV="1">
              <a:off x="5199543" y="4450988"/>
              <a:ext cx="0" cy="231431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34"/>
            <p:cNvCxnSpPr>
              <a:cxnSpLocks noChangeAspect="1" noChangeShapeType="1"/>
            </p:cNvCxnSpPr>
            <p:nvPr/>
          </p:nvCxnSpPr>
          <p:spPr bwMode="auto">
            <a:xfrm>
              <a:off x="4717940" y="5298946"/>
              <a:ext cx="962269" cy="0"/>
            </a:xfrm>
            <a:prstGeom prst="straightConnector1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35"/>
            <p:cNvCxnSpPr>
              <a:cxnSpLocks noChangeAspect="1" noChangeShapeType="1"/>
            </p:cNvCxnSpPr>
            <p:nvPr/>
          </p:nvCxnSpPr>
          <p:spPr bwMode="auto">
            <a:xfrm flipV="1">
              <a:off x="4707634" y="5041279"/>
              <a:ext cx="467548" cy="23330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36"/>
            <p:cNvCxnSpPr>
              <a:cxnSpLocks noChangeAspect="1" noChangeShapeType="1"/>
            </p:cNvCxnSpPr>
            <p:nvPr/>
          </p:nvCxnSpPr>
          <p:spPr bwMode="auto">
            <a:xfrm>
              <a:off x="5199543" y="4750819"/>
              <a:ext cx="0" cy="232369"/>
            </a:xfrm>
            <a:prstGeom prst="straightConnector1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37"/>
            <p:cNvCxnSpPr>
              <a:cxnSpLocks noChangeAspect="1" noChangeShapeType="1"/>
            </p:cNvCxnSpPr>
            <p:nvPr/>
          </p:nvCxnSpPr>
          <p:spPr bwMode="auto">
            <a:xfrm flipV="1">
              <a:off x="4707634" y="4440681"/>
              <a:ext cx="467548" cy="833903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38"/>
            <p:cNvCxnSpPr>
              <a:cxnSpLocks noChangeAspect="1" noChangeShapeType="1"/>
            </p:cNvCxnSpPr>
            <p:nvPr/>
          </p:nvCxnSpPr>
          <p:spPr bwMode="auto">
            <a:xfrm flipH="1" flipV="1">
              <a:off x="5222967" y="4440681"/>
              <a:ext cx="467548" cy="83390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9"/>
            <p:cNvCxnSpPr>
              <a:cxnSpLocks noChangeAspect="1" noChangeShapeType="1"/>
            </p:cNvCxnSpPr>
            <p:nvPr/>
          </p:nvCxnSpPr>
          <p:spPr bwMode="auto">
            <a:xfrm>
              <a:off x="5222967" y="5041279"/>
              <a:ext cx="467548" cy="233305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5364088" y="4534079"/>
            <a:ext cx="413703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一般图上，类型的判断是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NP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问题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BF212-276A-4273-9A90-A56EA9E5897D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18.6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边着色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无环无向图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37253" name="Rectangle 5"/>
          <p:cNvSpPr>
            <a:spLocks noChangeArrowheads="1"/>
          </p:cNvSpPr>
          <p:nvPr/>
        </p:nvSpPr>
        <p:spPr bwMode="auto">
          <a:xfrm>
            <a:off x="468313" y="2103844"/>
            <a:ext cx="8135937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395288" y="4149725"/>
            <a:ext cx="8064500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偶圈边色数为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，奇圈边色数为</a:t>
            </a:r>
            <a:r>
              <a:rPr lang="en-US" altLang="zh-CN" dirty="0">
                <a:latin typeface="Times New Roman" panose="02020603050405020304" pitchFamily="18" charset="0"/>
              </a:rPr>
              <a:t>3.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4.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二部图的边色数等于最大度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18.19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为奇数（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）时，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为偶数时，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1. </a:t>
            </a:r>
          </a:p>
          <a:p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4472488" y="1784727"/>
            <a:ext cx="183124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轮图是第一类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292427" y="2193943"/>
            <a:ext cx="6965434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=4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时结论成立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辐条须用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种颜色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而轮圈上的任何边都恰与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条边相邻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而颜色数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故总有可用颜色染色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107" name="Group 16"/>
          <p:cNvGrpSpPr>
            <a:grpSpLocks/>
          </p:cNvGrpSpPr>
          <p:nvPr/>
        </p:nvGrpSpPr>
        <p:grpSpPr bwMode="auto">
          <a:xfrm>
            <a:off x="7505184" y="1628800"/>
            <a:ext cx="1099066" cy="950088"/>
            <a:chOff x="2141" y="1900"/>
            <a:chExt cx="1173" cy="1014"/>
          </a:xfrm>
        </p:grpSpPr>
        <p:sp>
          <p:nvSpPr>
            <p:cNvPr id="119" name="AutoShape 17"/>
            <p:cNvSpPr>
              <a:spLocks noChangeArrowheads="1"/>
            </p:cNvSpPr>
            <p:nvPr/>
          </p:nvSpPr>
          <p:spPr bwMode="auto">
            <a:xfrm>
              <a:off x="2691" y="2541"/>
              <a:ext cx="73" cy="73"/>
            </a:xfrm>
            <a:prstGeom prst="flowChartConnector">
              <a:avLst/>
            </a:pr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20" name="AutoShape 18"/>
            <p:cNvSpPr>
              <a:spLocks noChangeArrowheads="1"/>
            </p:cNvSpPr>
            <p:nvPr/>
          </p:nvSpPr>
          <p:spPr bwMode="auto">
            <a:xfrm>
              <a:off x="2141" y="2841"/>
              <a:ext cx="73" cy="73"/>
            </a:xfrm>
            <a:prstGeom prst="flowChartConnector">
              <a:avLst/>
            </a:pr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66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21" name="AutoShape 19"/>
            <p:cNvSpPr>
              <a:spLocks noChangeArrowheads="1"/>
            </p:cNvSpPr>
            <p:nvPr/>
          </p:nvSpPr>
          <p:spPr bwMode="auto">
            <a:xfrm>
              <a:off x="3241" y="2841"/>
              <a:ext cx="73" cy="73"/>
            </a:xfrm>
            <a:prstGeom prst="flowChartConnector">
              <a:avLst/>
            </a:pr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66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22" name="AutoShape 20"/>
            <p:cNvCxnSpPr>
              <a:cxnSpLocks noChangeAspect="1" noChangeShapeType="1"/>
              <a:stCxn id="120" idx="6"/>
              <a:endCxn id="121" idx="2"/>
            </p:cNvCxnSpPr>
            <p:nvPr/>
          </p:nvCxnSpPr>
          <p:spPr bwMode="auto">
            <a:xfrm>
              <a:off x="2214" y="2878"/>
              <a:ext cx="1027" cy="0"/>
            </a:xfrm>
            <a:prstGeom prst="straightConnector1">
              <a:avLst/>
            </a:prstGeom>
            <a:noFill/>
            <a:ln w="2222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3" name="AutoShape 21"/>
            <p:cNvCxnSpPr>
              <a:cxnSpLocks noChangeAspect="1" noChangeShapeType="1"/>
              <a:stCxn id="120" idx="7"/>
              <a:endCxn id="119" idx="3"/>
            </p:cNvCxnSpPr>
            <p:nvPr/>
          </p:nvCxnSpPr>
          <p:spPr bwMode="auto">
            <a:xfrm flipV="1">
              <a:off x="2203" y="2603"/>
              <a:ext cx="499" cy="249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4" name="AutoShape 22"/>
            <p:cNvCxnSpPr>
              <a:cxnSpLocks noChangeAspect="1" noChangeShapeType="1"/>
              <a:stCxn id="126" idx="4"/>
              <a:endCxn id="119" idx="0"/>
            </p:cNvCxnSpPr>
            <p:nvPr/>
          </p:nvCxnSpPr>
          <p:spPr bwMode="auto">
            <a:xfrm>
              <a:off x="2728" y="1973"/>
              <a:ext cx="0" cy="568"/>
            </a:xfrm>
            <a:prstGeom prst="straightConnector1">
              <a:avLst/>
            </a:prstGeom>
            <a:noFill/>
            <a:ln w="2222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23"/>
            <p:cNvCxnSpPr>
              <a:cxnSpLocks noChangeAspect="1" noChangeShapeType="1"/>
              <a:stCxn id="120" idx="7"/>
              <a:endCxn id="126" idx="3"/>
            </p:cNvCxnSpPr>
            <p:nvPr/>
          </p:nvCxnSpPr>
          <p:spPr bwMode="auto">
            <a:xfrm flipV="1">
              <a:off x="2203" y="1962"/>
              <a:ext cx="499" cy="890"/>
            </a:xfrm>
            <a:prstGeom prst="straightConnector1">
              <a:avLst/>
            </a:prstGeom>
            <a:noFill/>
            <a:ln w="22225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6" name="AutoShape 24"/>
            <p:cNvSpPr>
              <a:spLocks noChangeArrowheads="1"/>
            </p:cNvSpPr>
            <p:nvPr/>
          </p:nvSpPr>
          <p:spPr bwMode="auto">
            <a:xfrm>
              <a:off x="2691" y="1900"/>
              <a:ext cx="73" cy="73"/>
            </a:xfrm>
            <a:prstGeom prst="flowChartConnector">
              <a:avLst/>
            </a:pr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27" name="AutoShape 25"/>
            <p:cNvCxnSpPr>
              <a:cxnSpLocks noChangeAspect="1" noChangeShapeType="1"/>
              <a:stCxn id="121" idx="1"/>
              <a:endCxn id="126" idx="5"/>
            </p:cNvCxnSpPr>
            <p:nvPr/>
          </p:nvCxnSpPr>
          <p:spPr bwMode="auto">
            <a:xfrm flipH="1" flipV="1">
              <a:off x="2753" y="1962"/>
              <a:ext cx="499" cy="89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8" name="AutoShape 26"/>
            <p:cNvCxnSpPr>
              <a:cxnSpLocks noChangeAspect="1" noChangeShapeType="1"/>
              <a:stCxn id="119" idx="5"/>
              <a:endCxn id="121" idx="1"/>
            </p:cNvCxnSpPr>
            <p:nvPr/>
          </p:nvCxnSpPr>
          <p:spPr bwMode="auto">
            <a:xfrm>
              <a:off x="2753" y="2603"/>
              <a:ext cx="499" cy="249"/>
            </a:xfrm>
            <a:prstGeom prst="straightConnector1">
              <a:avLst/>
            </a:prstGeom>
            <a:noFill/>
            <a:ln w="22225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8" name="Rectangle 27"/>
          <p:cNvSpPr>
            <a:spLocks noChangeArrowheads="1"/>
          </p:cNvSpPr>
          <p:nvPr/>
        </p:nvSpPr>
        <p:spPr bwMode="auto">
          <a:xfrm>
            <a:off x="7577192" y="2606997"/>
            <a:ext cx="968535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0" lang="en-US" altLang="zh-CN" sz="1600" i="1" dirty="0">
                <a:latin typeface="Times New Roman" panose="02020603050405020304" pitchFamily="18" charset="0"/>
              </a:rPr>
              <a:t>'</a:t>
            </a:r>
            <a:r>
              <a:rPr kumimoji="0" lang="en-US" altLang="zh-CN" sz="1600" baseline="-25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1600" dirty="0">
                <a:latin typeface="Times New Roman" panose="02020603050405020304" pitchFamily="18" charset="0"/>
              </a:rPr>
              <a:t>=</a:t>
            </a:r>
            <a:r>
              <a:rPr kumimoji="0" lang="en-US" altLang="zh-CN" sz="1600" baseline="-25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0" lang="en-US" altLang="zh-CN" sz="16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0" lang="en-US" altLang="zh-CN" sz="16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kumimoji="0" lang="en-US" altLang="en-US" sz="16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0" name="Rectangle 31"/>
          <p:cNvSpPr>
            <a:spLocks noChangeArrowheads="1"/>
          </p:cNvSpPr>
          <p:nvPr/>
        </p:nvSpPr>
        <p:spPr bwMode="auto">
          <a:xfrm>
            <a:off x="7842159" y="2878587"/>
            <a:ext cx="425116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i="1" dirty="0">
                <a:latin typeface="Times New Roman" panose="02020603050405020304" pitchFamily="18" charset="0"/>
              </a:rPr>
              <a:t>W</a:t>
            </a:r>
            <a:r>
              <a:rPr kumimoji="0" lang="en-US" altLang="zh-CN" sz="1600" baseline="-250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128162" y="4919008"/>
            <a:ext cx="7456871" cy="193899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为奇数：同色边最多有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−1)/2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条（匹配数），至少要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种颜色给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−1) /2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条边着色，即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≤</a:t>
            </a:r>
            <a:r>
              <a:rPr lang="el-GR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χ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'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≤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Δ(G)+1=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</a:p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为偶数：在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种颜色染好的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i="1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上加一个节点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与其他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个节点相邻，由于之前每个点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条边互不同色，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恰好还剩一种颜色且辐条互不相同（若相同，任取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个点，其基本回路占用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种颜色，剩下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条边均连至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−4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个点，必有冲突无法染色）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8" name="图片 177"/>
          <p:cNvPicPr>
            <a:picLocks noChangeAspect="1"/>
          </p:cNvPicPr>
          <p:nvPr/>
        </p:nvPicPr>
        <p:blipFill>
          <a:blip r:embed="rId3">
            <a:clrChange>
              <a:clrFrom>
                <a:srgbClr val="F8F9FA"/>
              </a:clrFrom>
              <a:clrTo>
                <a:srgbClr val="F8F9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37169" y="4884626"/>
            <a:ext cx="1380952" cy="1371429"/>
          </a:xfrm>
          <a:prstGeom prst="rect">
            <a:avLst/>
          </a:prstGeom>
        </p:spPr>
      </p:pic>
      <p:cxnSp>
        <p:nvCxnSpPr>
          <p:cNvPr id="180" name="直接连接符 179"/>
          <p:cNvCxnSpPr/>
          <p:nvPr/>
        </p:nvCxnSpPr>
        <p:spPr>
          <a:xfrm flipH="1" flipV="1">
            <a:off x="7895759" y="5221947"/>
            <a:ext cx="1058167" cy="33052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/>
        </p:nvCxnSpPr>
        <p:spPr>
          <a:xfrm flipV="1">
            <a:off x="7894731" y="4985980"/>
            <a:ext cx="624041" cy="19492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/>
          <p:nvPr/>
        </p:nvCxnSpPr>
        <p:spPr>
          <a:xfrm>
            <a:off x="7894731" y="5248898"/>
            <a:ext cx="633917" cy="89988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/>
        </p:nvCxnSpPr>
        <p:spPr>
          <a:xfrm flipH="1">
            <a:off x="7848744" y="5248898"/>
            <a:ext cx="13869" cy="61813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>
            <a:off x="8587171" y="5014371"/>
            <a:ext cx="366755" cy="52176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flipV="1">
            <a:off x="7894731" y="5604539"/>
            <a:ext cx="1059195" cy="3481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flipV="1">
            <a:off x="8587171" y="5615387"/>
            <a:ext cx="393700" cy="53340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flipV="1">
            <a:off x="7862613" y="5013008"/>
            <a:ext cx="673238" cy="919334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V="1">
            <a:off x="8567969" y="5065635"/>
            <a:ext cx="0" cy="1057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本框 210">
            <a:extLst>
              <a:ext uri="{FF2B5EF4-FFF2-40B4-BE49-F238E27FC236}">
                <a16:creationId xmlns:a16="http://schemas.microsoft.com/office/drawing/2014/main" id="{0D566998-EE5C-4155-A431-42673F007F49}"/>
              </a:ext>
            </a:extLst>
          </p:cNvPr>
          <p:cNvSpPr txBox="1"/>
          <p:nvPr/>
        </p:nvSpPr>
        <p:spPr>
          <a:xfrm>
            <a:off x="120815" y="3509937"/>
            <a:ext cx="91440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思路：新染一条边若两端点无公共可用颜色，则一侧出发交替反色得到公共颜色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9075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324C2-4474-4EF3-B992-B182DB5A7618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第十八章 习题课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399087"/>
          </a:xfrm>
        </p:spPr>
        <p:txBody>
          <a:bodyPr/>
          <a:lstStyle/>
          <a:p>
            <a:r>
              <a:rPr lang="zh-CN" altLang="en-US"/>
              <a:t>主要内容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点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支配</a:t>
            </a:r>
            <a:r>
              <a:rPr lang="zh-CN" altLang="en-US"/>
              <a:t>集、点覆盖集、点独立集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边覆盖集、匹配（边独立集）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二部图中的完备匹配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图的点着色、边着色、地图着色</a:t>
            </a:r>
          </a:p>
          <a:p>
            <a:pPr>
              <a:spcBef>
                <a:spcPct val="65000"/>
              </a:spcBef>
            </a:pPr>
            <a:r>
              <a:rPr lang="zh-CN" altLang="en-US"/>
              <a:t>基本要求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深刻理解与支配集、点覆盖集、边覆盖集、点独立集、边独立集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匹配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、点着色、边着色、面着色、色数等</a:t>
            </a:r>
            <a:r>
              <a:rPr lang="zh-CN" altLang="en-US"/>
              <a:t>概念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会求阶数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>
                <a:latin typeface="Times New Roman" panose="02020603050405020304" pitchFamily="18" charset="0"/>
              </a:rPr>
              <a:t>较小或特殊图的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会用二部图中匹配的理论解简单问题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理解并记住地图面着色与它的对偶图点着色之间的关系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会用点色数及边色数解决一些实际问题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057E-4C66-4B62-8418-8F14221616BD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3543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 b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431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4005263"/>
            <a:ext cx="8229600" cy="2592387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中有不是最小支配集的极小支配集吗？求支配数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中有不是最小点覆盖集的极小点覆盖集吗？求点覆盖数 </a:t>
            </a:r>
          </a:p>
          <a:p>
            <a:pPr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中有不是最大点独立集的极大点独立集吗？求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中有完美匹配吗？为什么？求匹配数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(5) </a:t>
            </a:r>
            <a:r>
              <a:rPr lang="zh-CN" altLang="en-US">
                <a:latin typeface="Times New Roman" panose="02020603050405020304" pitchFamily="18" charset="0"/>
              </a:rPr>
              <a:t>求边覆盖数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</a:p>
        </p:txBody>
      </p:sp>
      <p:pic>
        <p:nvPicPr>
          <p:cNvPr id="354314" name="Picture 10" descr="18-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8" b="38313"/>
          <a:stretch>
            <a:fillRect/>
          </a:stretch>
        </p:blipFill>
        <p:spPr bwMode="auto">
          <a:xfrm>
            <a:off x="2700338" y="1412875"/>
            <a:ext cx="4897437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4315" name="Rectangle 11"/>
          <p:cNvSpPr>
            <a:spLocks noChangeArrowheads="1"/>
          </p:cNvSpPr>
          <p:nvPr/>
        </p:nvSpPr>
        <p:spPr bwMode="auto">
          <a:xfrm>
            <a:off x="539750" y="1125538"/>
            <a:ext cx="712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．无向图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如下所示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EEB8-3C18-4DFF-9418-28027084C2B5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5636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5636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</p:spPr>
        <p:txBody>
          <a:bodyPr/>
          <a:lstStyle/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个极小支配集：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     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只有最后一个不是最小的，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个极小点覆盖集：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，前者是最小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      的，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个极大点独立集：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，后者是最大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      的，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不可能有完美匹配，因为它的阶数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=5(</a:t>
            </a:r>
            <a:r>
              <a:rPr lang="zh-CN" altLang="en-US" dirty="0">
                <a:latin typeface="Times New Roman" panose="02020603050405020304" pitchFamily="18" charset="0"/>
              </a:rPr>
              <a:t>奇数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=2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      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的最大匹配为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元集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</a:rPr>
              <a:t>18.3</a:t>
            </a:r>
            <a:r>
              <a:rPr lang="zh-CN" altLang="en-US" dirty="0">
                <a:latin typeface="Times New Roman" panose="02020603050405020304" pitchFamily="18" charset="0"/>
              </a:rPr>
              <a:t>立刻可知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D0B56-464D-448A-B2DD-84FAB7229CA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5840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410" name="Rectangle 10"/>
          <p:cNvSpPr>
            <a:spLocks noChangeArrowheads="1"/>
          </p:cNvSpPr>
          <p:nvPr/>
        </p:nvSpPr>
        <p:spPr bwMode="auto">
          <a:xfrm>
            <a:off x="539750" y="1268413"/>
            <a:ext cx="7345363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2. </a:t>
            </a:r>
            <a:r>
              <a:rPr lang="zh-CN" altLang="en-US" b="1">
                <a:latin typeface="Times New Roman" panose="02020603050405020304" pitchFamily="18" charset="0"/>
              </a:rPr>
              <a:t>彼得松图如下图所示：</a:t>
            </a:r>
          </a:p>
        </p:txBody>
      </p:sp>
      <p:pic>
        <p:nvPicPr>
          <p:cNvPr id="358411" name="Picture 11" descr="18-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95"/>
          <a:stretch>
            <a:fillRect/>
          </a:stretch>
        </p:blipFill>
        <p:spPr bwMode="auto">
          <a:xfrm>
            <a:off x="2195513" y="1916113"/>
            <a:ext cx="3384550" cy="26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13" name="Rectangle 13"/>
          <p:cNvSpPr>
            <a:spLocks noChangeArrowheads="1"/>
          </p:cNvSpPr>
          <p:nvPr/>
        </p:nvSpPr>
        <p:spPr bwMode="auto">
          <a:xfrm>
            <a:off x="539750" y="5157788"/>
            <a:ext cx="7993063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/>
              <a:t>在图上给出一个最大点独立集和一个最大匹配，从而求出</a:t>
            </a:r>
            <a:r>
              <a:rPr lang="zh-CN" altLang="en-US" b="1">
                <a:sym typeface="Symbol" panose="05050102010706020507" pitchFamily="18" charset="2"/>
              </a:rPr>
              <a:t></a:t>
            </a:r>
            <a:r>
              <a:rPr lang="en-US" altLang="zh-CN" b="1" baseline="-25000"/>
              <a:t>0</a:t>
            </a:r>
            <a:r>
              <a:rPr lang="en-US" altLang="zh-CN" b="1"/>
              <a:t>, </a:t>
            </a:r>
            <a:r>
              <a:rPr lang="en-US" altLang="zh-CN" b="1">
                <a:sym typeface="Symbol" panose="05050102010706020507" pitchFamily="18" charset="2"/>
              </a:rPr>
              <a:t></a:t>
            </a:r>
            <a:r>
              <a:rPr lang="en-US" altLang="zh-CN" b="1" baseline="-25000"/>
              <a:t>1</a:t>
            </a:r>
            <a:r>
              <a:rPr lang="en-US" altLang="zh-CN" b="1"/>
              <a:t>, </a:t>
            </a:r>
            <a:r>
              <a:rPr lang="zh-CN" altLang="en-US" b="1"/>
              <a:t>以及</a:t>
            </a:r>
            <a:r>
              <a:rPr lang="zh-CN" altLang="en-US" b="1">
                <a:sym typeface="Symbol" panose="05050102010706020507" pitchFamily="18" charset="2"/>
              </a:rPr>
              <a:t></a:t>
            </a:r>
            <a:r>
              <a:rPr lang="en-US" altLang="zh-CN" b="1" baseline="-25000"/>
              <a:t>0</a:t>
            </a:r>
            <a:r>
              <a:rPr lang="zh-CN" altLang="en-US" b="1"/>
              <a:t>和</a:t>
            </a:r>
            <a:r>
              <a:rPr lang="zh-CN" altLang="en-US" b="1">
                <a:sym typeface="Symbol" panose="05050102010706020507" pitchFamily="18" charset="2"/>
              </a:rPr>
              <a:t></a:t>
            </a:r>
            <a:r>
              <a:rPr lang="en-US" altLang="zh-CN" b="1" baseline="-25000"/>
              <a:t>1</a:t>
            </a:r>
            <a:r>
              <a:rPr lang="en-US" altLang="zh-CN" b="1"/>
              <a:t>.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1287-969A-49C4-A8D9-F554DA187DBA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60453" name="Rectangle 5"/>
          <p:cNvSpPr>
            <a:spLocks noChangeArrowheads="1"/>
          </p:cNvSpPr>
          <p:nvPr/>
        </p:nvSpPr>
        <p:spPr bwMode="auto">
          <a:xfrm>
            <a:off x="1117600" y="1087438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zh-CN" altLang="en-US" sz="1800"/>
              <a:t> </a:t>
            </a:r>
          </a:p>
        </p:txBody>
      </p:sp>
      <p:sp>
        <p:nvSpPr>
          <p:cNvPr id="360458" name="Rectangle 10"/>
          <p:cNvSpPr>
            <a:spLocks noChangeArrowheads="1"/>
          </p:cNvSpPr>
          <p:nvPr/>
        </p:nvSpPr>
        <p:spPr bwMode="auto">
          <a:xfrm>
            <a:off x="611188" y="4641850"/>
            <a:ext cx="7991475" cy="150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由观察法在上图</a:t>
            </a: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中给出一个点独立集，在</a:t>
            </a: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中给出了一个最大匹配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从而得出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=5. 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由定理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18.2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推论知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，由定理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18.3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可知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=5. </a:t>
            </a:r>
          </a:p>
          <a:p>
            <a:pPr eaLnBrk="0" hangingPunct="0"/>
            <a:endParaRPr lang="en-US" altLang="zh-CN" sz="1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360459" name="Picture 11" descr="18-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6"/>
          <a:stretch>
            <a:fillRect/>
          </a:stretch>
        </p:blipFill>
        <p:spPr bwMode="auto">
          <a:xfrm>
            <a:off x="1547813" y="1773238"/>
            <a:ext cx="60848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0460" name="Rectangle 12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解答</a:t>
            </a:r>
            <a:endParaRPr lang="zh-CN" altLang="en-US" b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39AFC-FC8F-41D3-ACD4-9E436C0FFBC8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6250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62506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69325" cy="4797425"/>
          </a:xfrm>
        </p:spPr>
        <p:txBody>
          <a:bodyPr/>
          <a:lstStyle/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解  本题应用定理</a:t>
            </a:r>
            <a:r>
              <a:rPr lang="en-US" altLang="zh-CN" dirty="0">
                <a:latin typeface="Times New Roman" panose="02020603050405020304" pitchFamily="18" charset="0"/>
              </a:rPr>
              <a:t>18.2</a:t>
            </a:r>
            <a:r>
              <a:rPr lang="zh-CN" altLang="en-US" dirty="0">
                <a:latin typeface="Times New Roman" panose="02020603050405020304" pitchFamily="18" charset="0"/>
              </a:rPr>
              <a:t>的推论（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）与定理</a:t>
            </a:r>
            <a:r>
              <a:rPr lang="en-US" altLang="zh-CN" dirty="0">
                <a:latin typeface="Times New Roman" panose="02020603050405020304" pitchFamily="18" charset="0"/>
              </a:rPr>
              <a:t>18.3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）较为方便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由于在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中，任何两个顶点均相邻，因而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</a:rPr>
              <a:t>，故有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为偶数时，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中存在完美匹配，所以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       </a:t>
            </a:r>
            <a:r>
              <a:rPr lang="zh-CN" altLang="en-US" dirty="0">
                <a:latin typeface="Times New Roman" panose="02020603050405020304" pitchFamily="18" charset="0"/>
              </a:rPr>
              <a:t>，故</a:t>
            </a:r>
          </a:p>
          <a:p>
            <a:pPr marL="457200" indent="-457200"/>
            <a:endParaRPr lang="zh-CN" altLang="en-US" dirty="0">
              <a:latin typeface="Times New Roman" panose="02020603050405020304" pitchFamily="18" charset="0"/>
            </a:endParaRPr>
          </a:p>
          <a:p>
            <a:pPr marL="457200" indent="-457200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为奇数时，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中不可能有完美匹配，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（从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中任意删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除顶点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）为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为偶数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，于是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中存在完美匹配，     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但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中的完美匹配为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中的最大匹配，故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中的              ，于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是 </a:t>
            </a:r>
          </a:p>
        </p:txBody>
      </p:sp>
      <p:sp>
        <p:nvSpPr>
          <p:cNvPr id="362507" name="Rectangle 11"/>
          <p:cNvSpPr>
            <a:spLocks noChangeArrowheads="1"/>
          </p:cNvSpPr>
          <p:nvPr/>
        </p:nvSpPr>
        <p:spPr bwMode="auto">
          <a:xfrm>
            <a:off x="395288" y="1125538"/>
            <a:ext cx="792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．求无向完全图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）中的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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b="1"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362508" name="Object 12"/>
          <p:cNvGraphicFramePr>
            <a:graphicFrameLocks noChangeAspect="1"/>
          </p:cNvGraphicFramePr>
          <p:nvPr/>
        </p:nvGraphicFramePr>
        <p:xfrm>
          <a:off x="6516688" y="3429000"/>
          <a:ext cx="3333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98" name="Microsoft 公式 3.0" r:id="rId4" imgW="139700" imgH="368300" progId="Equation.3">
                  <p:embed/>
                </p:oleObj>
              </mc:Choice>
              <mc:Fallback>
                <p:oleObj name="Microsoft 公式 3.0" r:id="rId4" imgW="1397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429000"/>
                        <a:ext cx="3333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0" name="Object 14"/>
          <p:cNvGraphicFramePr>
            <a:graphicFrameLocks noChangeAspect="1"/>
          </p:cNvGraphicFramePr>
          <p:nvPr/>
        </p:nvGraphicFramePr>
        <p:xfrm>
          <a:off x="2627313" y="3933825"/>
          <a:ext cx="2736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99" name="Microsoft 公式 3.0" r:id="rId6" imgW="1752600" imgH="368300" progId="Equation.3">
                  <p:embed/>
                </p:oleObj>
              </mc:Choice>
              <mc:Fallback>
                <p:oleObj name="Microsoft 公式 3.0" r:id="rId6" imgW="1752600" imgH="368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933825"/>
                        <a:ext cx="273685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3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2" name="Object 16"/>
          <p:cNvGraphicFramePr>
            <a:graphicFrameLocks noChangeAspect="1"/>
          </p:cNvGraphicFramePr>
          <p:nvPr/>
        </p:nvGraphicFramePr>
        <p:xfrm>
          <a:off x="8027988" y="4868863"/>
          <a:ext cx="8651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00" name="Microsoft 公式 3.0" r:id="rId8" imgW="609600" imgH="368300" progId="Equation.3">
                  <p:embed/>
                </p:oleObj>
              </mc:Choice>
              <mc:Fallback>
                <p:oleObj name="Microsoft 公式 3.0" r:id="rId8" imgW="609600" imgH="368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868863"/>
                        <a:ext cx="865187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4" name="Object 18"/>
          <p:cNvGraphicFramePr>
            <a:graphicFrameLocks noChangeAspect="1"/>
          </p:cNvGraphicFramePr>
          <p:nvPr/>
        </p:nvGraphicFramePr>
        <p:xfrm>
          <a:off x="7235825" y="5300663"/>
          <a:ext cx="9366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01" name="Microsoft 公式 3.0" r:id="rId10" imgW="609600" imgH="368300" progId="Equation.3">
                  <p:embed/>
                </p:oleObj>
              </mc:Choice>
              <mc:Fallback>
                <p:oleObj name="Microsoft 公式 3.0" r:id="rId10" imgW="609600" imgH="368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300663"/>
                        <a:ext cx="9366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6" name="Object 20"/>
          <p:cNvGraphicFramePr>
            <a:graphicFrameLocks noChangeAspect="1"/>
          </p:cNvGraphicFramePr>
          <p:nvPr/>
        </p:nvGraphicFramePr>
        <p:xfrm>
          <a:off x="971550" y="5734050"/>
          <a:ext cx="2232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02" name="Microsoft 公式 3.0" r:id="rId12" imgW="1485900" imgH="368300" progId="Equation.3">
                  <p:embed/>
                </p:oleObj>
              </mc:Choice>
              <mc:Fallback>
                <p:oleObj name="Microsoft 公式 3.0" r:id="rId12" imgW="1485900" imgH="3683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734050"/>
                        <a:ext cx="2232025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50F55-E41D-4384-9C0B-6113B8FFB0B1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6455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455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1833562"/>
          </a:xfrm>
        </p:spPr>
        <p:txBody>
          <a:bodyPr/>
          <a:lstStyle/>
          <a:p>
            <a:r>
              <a:rPr lang="en-US" altLang="zh-CN" dirty="0"/>
              <a:t>  </a:t>
            </a:r>
            <a:r>
              <a:rPr lang="zh-CN" altLang="en-US" dirty="0"/>
              <a:t>由二部图的定义及题中参数的定义，不难看出</a:t>
            </a:r>
          </a:p>
          <a:p>
            <a:r>
              <a:rPr lang="zh-CN" altLang="en-US" dirty="0"/>
              <a:t>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64555" name="Rectangle 11"/>
          <p:cNvSpPr>
            <a:spLocks noChangeArrowheads="1"/>
          </p:cNvSpPr>
          <p:nvPr/>
        </p:nvSpPr>
        <p:spPr bwMode="auto">
          <a:xfrm>
            <a:off x="569913" y="1268413"/>
            <a:ext cx="6194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．求完全二部图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b="1" baseline="-25000">
                <a:latin typeface="Times New Roman" panose="02020603050405020304" pitchFamily="18" charset="0"/>
              </a:rPr>
              <a:t>,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s</a:t>
            </a: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）的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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4731-A3C4-42A8-B752-46C652E1C567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41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413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503237"/>
          </a:xfrm>
        </p:spPr>
        <p:txBody>
          <a:bodyPr/>
          <a:lstStyle/>
          <a:p>
            <a:pPr marL="457200" indent="-457200"/>
            <a:r>
              <a:rPr lang="en-US" altLang="zh-CN">
                <a:latin typeface="Times New Roman" panose="02020603050405020304" pitchFamily="18" charset="0"/>
              </a:rPr>
              <a:t>5.</a:t>
            </a:r>
            <a:r>
              <a:rPr lang="en-US" altLang="zh-CN"/>
              <a:t> </a:t>
            </a:r>
            <a:r>
              <a:rPr lang="zh-CN" altLang="en-US"/>
              <a:t>求图的点色数 </a:t>
            </a:r>
            <a:r>
              <a:rPr lang="zh-CN" altLang="en-US">
                <a:sym typeface="Symbol" panose="05050102010706020507" pitchFamily="18" charset="2"/>
              </a:rPr>
              <a:t></a:t>
            </a:r>
            <a:r>
              <a:rPr lang="en-US" altLang="zh-CN"/>
              <a:t>, </a:t>
            </a:r>
            <a:r>
              <a:rPr lang="zh-CN" altLang="en-US"/>
              <a:t>边色数 </a:t>
            </a:r>
            <a:r>
              <a:rPr lang="zh-CN" altLang="en-US">
                <a:sym typeface="Symbol" panose="05050102010706020507" pitchFamily="18" charset="2"/>
              </a:rPr>
              <a:t></a:t>
            </a:r>
            <a:r>
              <a:rPr lang="en-US" altLang="zh-CN"/>
              <a:t>, </a:t>
            </a:r>
            <a:r>
              <a:rPr lang="zh-CN" altLang="en-US"/>
              <a:t>以及面色数 </a:t>
            </a:r>
            <a:r>
              <a:rPr lang="zh-CN" altLang="en-US">
                <a:sym typeface="Symbol" panose="05050102010706020507" pitchFamily="18" charset="2"/>
              </a:rPr>
              <a:t></a:t>
            </a:r>
            <a:r>
              <a:rPr lang="zh-CN" altLang="en-US"/>
              <a:t>*</a:t>
            </a:r>
            <a:r>
              <a:rPr lang="en-US" altLang="zh-CN"/>
              <a:t>. </a:t>
            </a:r>
          </a:p>
        </p:txBody>
      </p:sp>
      <p:pic>
        <p:nvPicPr>
          <p:cNvPr id="441358" name="Picture 14" descr="17-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4" t="6511" r="-4884" b="-4692"/>
          <a:stretch>
            <a:fillRect/>
          </a:stretch>
        </p:blipFill>
        <p:spPr bwMode="auto">
          <a:xfrm>
            <a:off x="5349875" y="2276475"/>
            <a:ext cx="35433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1359" name="Rectangle 15"/>
          <p:cNvSpPr>
            <a:spLocks noChangeArrowheads="1"/>
          </p:cNvSpPr>
          <p:nvPr/>
        </p:nvSpPr>
        <p:spPr bwMode="auto">
          <a:xfrm>
            <a:off x="468313" y="2006600"/>
            <a:ext cx="4751387" cy="385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解 </a:t>
            </a: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因为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中含奇圈，所以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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，由布鲁克斯定理知 </a:t>
            </a:r>
            <a:r>
              <a:rPr lang="en-US" altLang="zh-CN" b="1" dirty="0">
                <a:latin typeface="Times New Roman" panose="02020603050405020304" pitchFamily="18" charset="0"/>
              </a:rPr>
              <a:t>=4, </a:t>
            </a:r>
          </a:p>
          <a:p>
            <a:pPr>
              <a:spcBef>
                <a:spcPct val="3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又容易证明不能用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种颜色涂色：由于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彼此相邻，因而至少用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种颜色涂色，设用颜色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 </a:t>
            </a:r>
            <a:r>
              <a:rPr lang="zh-CN" altLang="en-US" b="1" dirty="0">
                <a:latin typeface="Times New Roman" panose="02020603050405020304" pitchFamily="18" charset="0"/>
              </a:rPr>
              <a:t>分别给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涂色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此时最少还用这三种颜色给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涂色，而且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也只能用颜色 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b="1" dirty="0">
                <a:latin typeface="Times New Roman" panose="02020603050405020304" pitchFamily="18" charset="0"/>
              </a:rPr>
              <a:t>，这样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只能用另一种颜色，比如  </a:t>
            </a:r>
            <a:r>
              <a:rPr lang="zh-CN" altLang="en-US" b="1" dirty="0">
                <a:latin typeface="Times New Roman" panose="02020603050405020304" pitchFamily="18" charset="0"/>
              </a:rPr>
              <a:t>涂色，所以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b="1" dirty="0">
                <a:latin typeface="Times New Roman" panose="02020603050405020304" pitchFamily="18" charset="0"/>
              </a:rPr>
              <a:t>=4. 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E590-9345-402F-86C0-5F95ED4DE4E6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4433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由维津（</a:t>
            </a:r>
            <a:r>
              <a:rPr lang="en-US" altLang="zh-CN" dirty="0" err="1">
                <a:latin typeface="Times New Roman" panose="02020603050405020304" pitchFamily="18" charset="0"/>
              </a:rPr>
              <a:t>Vizing</a:t>
            </a:r>
            <a:r>
              <a:rPr lang="zh-CN" altLang="en-US" dirty="0">
                <a:latin typeface="Times New Roman" panose="02020603050405020304" pitchFamily="18" charset="0"/>
              </a:rPr>
              <a:t>）定理可知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=4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，但可用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种颜色给边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涂色，如图所示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44340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65" t="18074"/>
          <a:stretch>
            <a:fillRect/>
          </a:stretch>
        </p:blipFill>
        <p:spPr bwMode="auto">
          <a:xfrm>
            <a:off x="2268538" y="2492375"/>
            <a:ext cx="4103687" cy="353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3402" name="Rectangle 10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7BE0-AB45-4404-B8BD-4B7AA1EDB9AD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6300788" y="53736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>
                <a:solidFill>
                  <a:schemeClr val="bg1"/>
                </a:solidFill>
              </a:rPr>
              <a:t>图</a:t>
            </a:r>
            <a:r>
              <a:rPr lang="en-US" altLang="zh-CN" sz="1800">
                <a:solidFill>
                  <a:schemeClr val="bg1"/>
                </a:solidFill>
              </a:rPr>
              <a:t>20</a:t>
            </a:r>
            <a:r>
              <a:rPr lang="en-US" altLang="zh-CN" sz="1800"/>
              <a:t> </a:t>
            </a:r>
          </a:p>
        </p:txBody>
      </p:sp>
      <p:sp>
        <p:nvSpPr>
          <p:cNvPr id="412677" name="Rectangle 5"/>
          <p:cNvSpPr>
            <a:spLocks noChangeArrowheads="1"/>
          </p:cNvSpPr>
          <p:nvPr/>
        </p:nvSpPr>
        <p:spPr bwMode="auto">
          <a:xfrm>
            <a:off x="2195513" y="536733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>
                <a:solidFill>
                  <a:schemeClr val="bg1"/>
                </a:solidFill>
              </a:rPr>
              <a:t>图</a:t>
            </a:r>
            <a:r>
              <a:rPr lang="en-US" altLang="zh-CN" sz="1800">
                <a:solidFill>
                  <a:schemeClr val="bg1"/>
                </a:solidFill>
              </a:rPr>
              <a:t>19</a:t>
            </a:r>
            <a:r>
              <a:rPr lang="en-US" altLang="zh-CN" sz="1800"/>
              <a:t> </a:t>
            </a:r>
          </a:p>
        </p:txBody>
      </p:sp>
      <p:sp>
        <p:nvSpPr>
          <p:cNvPr id="412678" name="Rectangle 6"/>
          <p:cNvSpPr>
            <a:spLocks noChangeArrowheads="1"/>
          </p:cNvSpPr>
          <p:nvPr/>
        </p:nvSpPr>
        <p:spPr bwMode="auto">
          <a:xfrm>
            <a:off x="395288" y="1268413"/>
            <a:ext cx="84978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zh-CN" altLang="en-US" b="1">
                <a:latin typeface="Times New Roman" panose="02020603050405020304" pitchFamily="18" charset="0"/>
              </a:rPr>
              <a:t>易知图的对偶图为图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所示，容易证明它的点色数为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，所以图</a:t>
            </a:r>
            <a:r>
              <a:rPr lang="en-US" altLang="zh-CN" b="1">
                <a:latin typeface="Times New Roman" panose="02020603050405020304" pitchFamily="18" charset="0"/>
              </a:rPr>
              <a:t>17</a:t>
            </a:r>
            <a:r>
              <a:rPr lang="zh-CN" altLang="en-US" b="1">
                <a:latin typeface="Times New Roman" panose="02020603050405020304" pitchFamily="18" charset="0"/>
              </a:rPr>
              <a:t>的面色数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zh-CN" altLang="en-US" b="1">
                <a:latin typeface="Times New Roman" panose="02020603050405020304" pitchFamily="18" charset="0"/>
              </a:rPr>
              <a:t>*</a:t>
            </a:r>
            <a:r>
              <a:rPr lang="en-US" altLang="zh-CN" b="1">
                <a:latin typeface="Times New Roman" panose="02020603050405020304" pitchFamily="18" charset="0"/>
              </a:rPr>
              <a:t>=4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，见图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所示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grpSp>
        <p:nvGrpSpPr>
          <p:cNvPr id="412685" name="Group 13"/>
          <p:cNvGrpSpPr>
            <a:grpSpLocks/>
          </p:cNvGrpSpPr>
          <p:nvPr/>
        </p:nvGrpSpPr>
        <p:grpSpPr bwMode="auto">
          <a:xfrm>
            <a:off x="684213" y="2414588"/>
            <a:ext cx="7054850" cy="3579812"/>
            <a:chOff x="431" y="1521"/>
            <a:chExt cx="4444" cy="2255"/>
          </a:xfrm>
        </p:grpSpPr>
        <p:pic>
          <p:nvPicPr>
            <p:cNvPr id="412682" name="Picture 10" descr="17-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62" r="3535" b="11140"/>
            <a:stretch>
              <a:fillRect/>
            </a:stretch>
          </p:blipFill>
          <p:spPr bwMode="auto">
            <a:xfrm>
              <a:off x="431" y="1570"/>
              <a:ext cx="2268" cy="1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2683" name="Picture 11" descr="17-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79" t="17154"/>
            <a:stretch>
              <a:fillRect/>
            </a:stretch>
          </p:blipFill>
          <p:spPr bwMode="auto">
            <a:xfrm>
              <a:off x="2835" y="1521"/>
              <a:ext cx="2040" cy="1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684" name="Text Box 12"/>
            <p:cNvSpPr txBox="1">
              <a:spLocks noChangeArrowheads="1"/>
            </p:cNvSpPr>
            <p:nvPr/>
          </p:nvSpPr>
          <p:spPr bwMode="auto">
            <a:xfrm>
              <a:off x="1383" y="3488"/>
              <a:ext cx="26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       (2)</a:t>
              </a:r>
            </a:p>
          </p:txBody>
        </p:sp>
      </p:grpSp>
      <p:sp>
        <p:nvSpPr>
          <p:cNvPr id="412686" name="Rectangle 14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6" grpId="0"/>
      <p:bldP spid="41267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5863-83A3-413F-BBDB-F6F7406B8014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20866" name="Rectangle 2"/>
          <p:cNvSpPr>
            <a:spLocks noChangeArrowheads="1"/>
          </p:cNvSpPr>
          <p:nvPr/>
        </p:nvSpPr>
        <p:spPr bwMode="auto">
          <a:xfrm>
            <a:off x="611188" y="1341438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latin typeface="Times New Roman" panose="02020603050405020304" pitchFamily="18" charset="0"/>
              </a:rPr>
              <a:t>6.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3-</a:t>
            </a:r>
            <a:r>
              <a:rPr lang="zh-CN" altLang="en-US" b="1">
                <a:latin typeface="Times New Roman" panose="02020603050405020304" pitchFamily="18" charset="0"/>
              </a:rPr>
              <a:t>正则的哈密顿图，证明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)=3.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20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8229600" cy="377666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证   用维津定理及握手定理即可证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由维津定理知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</a:t>
            </a:r>
            <a:r>
              <a:rPr lang="en-US" altLang="zh-CN" dirty="0">
                <a:latin typeface="Times New Roman" panose="02020603050405020304" pitchFamily="18" charset="0"/>
              </a:rPr>
              <a:t>3 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 = 4.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下面只需证可用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中的哈密顿回路，则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为偶圈</a:t>
            </a:r>
            <a:r>
              <a:rPr lang="en-US" altLang="zh-CN" dirty="0">
                <a:latin typeface="Times New Roman" panose="02020603050405020304" pitchFamily="18" charset="0"/>
              </a:rPr>
              <a:t>(3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，所以用两种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颜色可给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中不在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上的边彼此不邻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为什么？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因而用第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种颜色给它们着色即可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DC235D-CD02-453A-BEFF-6F47F109840E}"/>
              </a:ext>
            </a:extLst>
          </p:cNvPr>
          <p:cNvSpPr txBox="1"/>
          <p:nvPr/>
        </p:nvSpPr>
        <p:spPr>
          <a:xfrm>
            <a:off x="5255568" y="4653136"/>
            <a:ext cx="388843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圈占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度，各点仅能再关联一条边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" name="Group 45">
            <a:extLst>
              <a:ext uri="{FF2B5EF4-FFF2-40B4-BE49-F238E27FC236}">
                <a16:creationId xmlns:a16="http://schemas.microsoft.com/office/drawing/2014/main" id="{17D3746B-4B9C-403F-829F-3032E38048EF}"/>
              </a:ext>
            </a:extLst>
          </p:cNvPr>
          <p:cNvGrpSpPr>
            <a:grpSpLocks/>
          </p:cNvGrpSpPr>
          <p:nvPr/>
        </p:nvGrpSpPr>
        <p:grpSpPr bwMode="auto">
          <a:xfrm>
            <a:off x="3419872" y="5283473"/>
            <a:ext cx="1601787" cy="1385887"/>
            <a:chOff x="1519" y="1026"/>
            <a:chExt cx="1009" cy="873"/>
          </a:xfrm>
        </p:grpSpPr>
        <p:grpSp>
          <p:nvGrpSpPr>
            <p:cNvPr id="9" name="Group 46">
              <a:extLst>
                <a:ext uri="{FF2B5EF4-FFF2-40B4-BE49-F238E27FC236}">
                  <a16:creationId xmlns:a16="http://schemas.microsoft.com/office/drawing/2014/main" id="{BE258FD1-2B24-4532-8800-34628BA04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1026"/>
              <a:ext cx="1009" cy="873"/>
              <a:chOff x="1519" y="1026"/>
              <a:chExt cx="1009" cy="873"/>
            </a:xfrm>
          </p:grpSpPr>
          <p:sp>
            <p:nvSpPr>
              <p:cNvPr id="19" name="AutoShape 47">
                <a:extLst>
                  <a:ext uri="{FF2B5EF4-FFF2-40B4-BE49-F238E27FC236}">
                    <a16:creationId xmlns:a16="http://schemas.microsoft.com/office/drawing/2014/main" id="{E9157BEE-4D76-47B6-B1BC-5309C7591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1" y="1026"/>
                <a:ext cx="68" cy="68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0" name="AutoShape 48">
                <a:extLst>
                  <a:ext uri="{FF2B5EF4-FFF2-40B4-BE49-F238E27FC236}">
                    <a16:creationId xmlns:a16="http://schemas.microsoft.com/office/drawing/2014/main" id="{ECC21589-103E-4FBB-928A-F4F7CBE3E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1" y="1026"/>
                <a:ext cx="68" cy="68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1" name="AutoShape 49">
                <a:extLst>
                  <a:ext uri="{FF2B5EF4-FFF2-40B4-BE49-F238E27FC236}">
                    <a16:creationId xmlns:a16="http://schemas.microsoft.com/office/drawing/2014/main" id="{9970153F-0D68-48FE-8C55-E94CC0765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" y="1429"/>
                <a:ext cx="68" cy="68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2" name="AutoShape 50">
                <a:extLst>
                  <a:ext uri="{FF2B5EF4-FFF2-40B4-BE49-F238E27FC236}">
                    <a16:creationId xmlns:a16="http://schemas.microsoft.com/office/drawing/2014/main" id="{671E6F3B-71A6-4A6B-B64C-ABC2B2CF2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2" y="1831"/>
                <a:ext cx="68" cy="68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3" name="AutoShape 51">
                <a:extLst>
                  <a:ext uri="{FF2B5EF4-FFF2-40B4-BE49-F238E27FC236}">
                    <a16:creationId xmlns:a16="http://schemas.microsoft.com/office/drawing/2014/main" id="{E15538AC-7713-4D76-BC6F-15179683B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831"/>
                <a:ext cx="68" cy="68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>
                    <a:solidFill>
                      <a:srgbClr val="66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4" name="AutoShape 52">
                <a:extLst>
                  <a:ext uri="{FF2B5EF4-FFF2-40B4-BE49-F238E27FC236}">
                    <a16:creationId xmlns:a16="http://schemas.microsoft.com/office/drawing/2014/main" id="{3A3E73A7-5072-45A9-B94B-D52B13F35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" y="1429"/>
                <a:ext cx="68" cy="68"/>
              </a:xfrm>
              <a:prstGeom prst="flowChartConnector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2225">
                    <a:solidFill>
                      <a:srgbClr val="FFFF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6FFFF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  <p:cxnSp>
          <p:nvCxnSpPr>
            <p:cNvPr id="10" name="AutoShape 53">
              <a:extLst>
                <a:ext uri="{FF2B5EF4-FFF2-40B4-BE49-F238E27FC236}">
                  <a16:creationId xmlns:a16="http://schemas.microsoft.com/office/drawing/2014/main" id="{D5BF4A74-81ED-4AF4-AE42-522863A7168F}"/>
                </a:ext>
              </a:extLst>
            </p:cNvPr>
            <p:cNvCxnSpPr>
              <a:cxnSpLocks noChangeAspect="1" noChangeShapeType="1"/>
              <a:stCxn id="23" idx="6"/>
              <a:endCxn id="22" idx="2"/>
            </p:cNvCxnSpPr>
            <p:nvPr/>
          </p:nvCxnSpPr>
          <p:spPr bwMode="auto">
            <a:xfrm>
              <a:off x="1801" y="1865"/>
              <a:ext cx="441" cy="0"/>
            </a:xfrm>
            <a:prstGeom prst="straightConnector1">
              <a:avLst/>
            </a:prstGeom>
            <a:noFill/>
            <a:ln w="2222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54">
              <a:extLst>
                <a:ext uri="{FF2B5EF4-FFF2-40B4-BE49-F238E27FC236}">
                  <a16:creationId xmlns:a16="http://schemas.microsoft.com/office/drawing/2014/main" id="{14ADE85D-397F-454C-8359-E6EFC2B55EAE}"/>
                </a:ext>
              </a:extLst>
            </p:cNvPr>
            <p:cNvCxnSpPr>
              <a:cxnSpLocks noChangeAspect="1" noChangeShapeType="1"/>
              <a:stCxn id="22" idx="7"/>
              <a:endCxn id="21" idx="3"/>
            </p:cNvCxnSpPr>
            <p:nvPr/>
          </p:nvCxnSpPr>
          <p:spPr bwMode="auto">
            <a:xfrm flipV="1">
              <a:off x="2300" y="1487"/>
              <a:ext cx="170" cy="354"/>
            </a:xfrm>
            <a:prstGeom prst="straightConnector1">
              <a:avLst/>
            </a:prstGeom>
            <a:noFill/>
            <a:ln w="2222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55">
              <a:extLst>
                <a:ext uri="{FF2B5EF4-FFF2-40B4-BE49-F238E27FC236}">
                  <a16:creationId xmlns:a16="http://schemas.microsoft.com/office/drawing/2014/main" id="{C1004E3C-CBB8-4E45-A79E-36388D3A2A4A}"/>
                </a:ext>
              </a:extLst>
            </p:cNvPr>
            <p:cNvCxnSpPr>
              <a:cxnSpLocks noChangeAspect="1" noChangeShapeType="1"/>
              <a:stCxn id="21" idx="1"/>
              <a:endCxn id="19" idx="5"/>
            </p:cNvCxnSpPr>
            <p:nvPr/>
          </p:nvCxnSpPr>
          <p:spPr bwMode="auto">
            <a:xfrm flipH="1" flipV="1">
              <a:off x="1809" y="1084"/>
              <a:ext cx="661" cy="355"/>
            </a:xfrm>
            <a:prstGeom prst="straightConnector1">
              <a:avLst/>
            </a:prstGeom>
            <a:noFill/>
            <a:ln w="22225">
              <a:solidFill>
                <a:srgbClr val="92D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56">
              <a:extLst>
                <a:ext uri="{FF2B5EF4-FFF2-40B4-BE49-F238E27FC236}">
                  <a16:creationId xmlns:a16="http://schemas.microsoft.com/office/drawing/2014/main" id="{20C216F4-B91B-4D42-8790-84D8B09B536E}"/>
                </a:ext>
              </a:extLst>
            </p:cNvPr>
            <p:cNvCxnSpPr>
              <a:cxnSpLocks noChangeAspect="1" noChangeShapeType="1"/>
              <a:stCxn id="20" idx="2"/>
              <a:endCxn id="19" idx="6"/>
            </p:cNvCxnSpPr>
            <p:nvPr/>
          </p:nvCxnSpPr>
          <p:spPr bwMode="auto">
            <a:xfrm flipH="1">
              <a:off x="1819" y="1060"/>
              <a:ext cx="432" cy="0"/>
            </a:xfrm>
            <a:prstGeom prst="straightConnector1">
              <a:avLst/>
            </a:prstGeom>
            <a:noFill/>
            <a:ln w="2222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57">
              <a:extLst>
                <a:ext uri="{FF2B5EF4-FFF2-40B4-BE49-F238E27FC236}">
                  <a16:creationId xmlns:a16="http://schemas.microsoft.com/office/drawing/2014/main" id="{56160295-39B0-4551-9748-99A1F59DAC51}"/>
                </a:ext>
              </a:extLst>
            </p:cNvPr>
            <p:cNvCxnSpPr>
              <a:cxnSpLocks noChangeAspect="1" noChangeShapeType="1"/>
              <a:stCxn id="23" idx="1"/>
              <a:endCxn id="24" idx="5"/>
            </p:cNvCxnSpPr>
            <p:nvPr/>
          </p:nvCxnSpPr>
          <p:spPr bwMode="auto">
            <a:xfrm flipH="1" flipV="1">
              <a:off x="1577" y="1487"/>
              <a:ext cx="166" cy="354"/>
            </a:xfrm>
            <a:prstGeom prst="straightConnector1">
              <a:avLst/>
            </a:prstGeom>
            <a:noFill/>
            <a:ln w="2222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58">
              <a:extLst>
                <a:ext uri="{FF2B5EF4-FFF2-40B4-BE49-F238E27FC236}">
                  <a16:creationId xmlns:a16="http://schemas.microsoft.com/office/drawing/2014/main" id="{91AE0572-BB47-4A0C-BE1A-881FCF16B1E6}"/>
                </a:ext>
              </a:extLst>
            </p:cNvPr>
            <p:cNvCxnSpPr>
              <a:cxnSpLocks noChangeAspect="1" noChangeShapeType="1"/>
              <a:stCxn id="24" idx="7"/>
              <a:endCxn id="19" idx="3"/>
            </p:cNvCxnSpPr>
            <p:nvPr/>
          </p:nvCxnSpPr>
          <p:spPr bwMode="auto">
            <a:xfrm flipV="1">
              <a:off x="1577" y="1084"/>
              <a:ext cx="184" cy="355"/>
            </a:xfrm>
            <a:prstGeom prst="straightConnector1">
              <a:avLst/>
            </a:prstGeom>
            <a:noFill/>
            <a:ln w="2222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59">
              <a:extLst>
                <a:ext uri="{FF2B5EF4-FFF2-40B4-BE49-F238E27FC236}">
                  <a16:creationId xmlns:a16="http://schemas.microsoft.com/office/drawing/2014/main" id="{AF28B50F-520C-4CE9-BD16-7DB919240B4D}"/>
                </a:ext>
              </a:extLst>
            </p:cNvPr>
            <p:cNvCxnSpPr>
              <a:cxnSpLocks noChangeAspect="1" noChangeShapeType="1"/>
              <a:stCxn id="21" idx="1"/>
              <a:endCxn id="20" idx="5"/>
            </p:cNvCxnSpPr>
            <p:nvPr/>
          </p:nvCxnSpPr>
          <p:spPr bwMode="auto">
            <a:xfrm flipH="1" flipV="1">
              <a:off x="2309" y="1084"/>
              <a:ext cx="161" cy="355"/>
            </a:xfrm>
            <a:prstGeom prst="straightConnector1">
              <a:avLst/>
            </a:prstGeom>
            <a:noFill/>
            <a:ln w="2222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60">
              <a:extLst>
                <a:ext uri="{FF2B5EF4-FFF2-40B4-BE49-F238E27FC236}">
                  <a16:creationId xmlns:a16="http://schemas.microsoft.com/office/drawing/2014/main" id="{B7FBB4FD-E3C5-47FD-8ABA-F395FDB852E4}"/>
                </a:ext>
              </a:extLst>
            </p:cNvPr>
            <p:cNvCxnSpPr>
              <a:cxnSpLocks noChangeAspect="1" noChangeShapeType="1"/>
              <a:stCxn id="24" idx="6"/>
              <a:endCxn id="22" idx="0"/>
            </p:cNvCxnSpPr>
            <p:nvPr/>
          </p:nvCxnSpPr>
          <p:spPr bwMode="auto">
            <a:xfrm>
              <a:off x="1587" y="1463"/>
              <a:ext cx="689" cy="368"/>
            </a:xfrm>
            <a:prstGeom prst="straightConnector1">
              <a:avLst/>
            </a:prstGeom>
            <a:noFill/>
            <a:ln w="22225">
              <a:solidFill>
                <a:srgbClr val="92D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61">
              <a:extLst>
                <a:ext uri="{FF2B5EF4-FFF2-40B4-BE49-F238E27FC236}">
                  <a16:creationId xmlns:a16="http://schemas.microsoft.com/office/drawing/2014/main" id="{834F5E23-F293-4D5D-A650-E1EFFBF0A1CF}"/>
                </a:ext>
              </a:extLst>
            </p:cNvPr>
            <p:cNvCxnSpPr>
              <a:cxnSpLocks noChangeAspect="1" noChangeShapeType="1"/>
              <a:stCxn id="20" idx="3"/>
              <a:endCxn id="23" idx="7"/>
            </p:cNvCxnSpPr>
            <p:nvPr/>
          </p:nvCxnSpPr>
          <p:spPr bwMode="auto">
            <a:xfrm flipH="1">
              <a:off x="1791" y="1084"/>
              <a:ext cx="470" cy="757"/>
            </a:xfrm>
            <a:prstGeom prst="straightConnector1">
              <a:avLst/>
            </a:prstGeom>
            <a:noFill/>
            <a:ln w="22225">
              <a:solidFill>
                <a:srgbClr val="92D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Group 62">
            <a:extLst>
              <a:ext uri="{FF2B5EF4-FFF2-40B4-BE49-F238E27FC236}">
                <a16:creationId xmlns:a16="http://schemas.microsoft.com/office/drawing/2014/main" id="{ABD86789-4761-43E1-8435-F4CC010B6877}"/>
              </a:ext>
            </a:extLst>
          </p:cNvPr>
          <p:cNvGrpSpPr>
            <a:grpSpLocks/>
          </p:cNvGrpSpPr>
          <p:nvPr/>
        </p:nvGrpSpPr>
        <p:grpSpPr bwMode="auto">
          <a:xfrm>
            <a:off x="3511952" y="5337448"/>
            <a:ext cx="1420813" cy="1277937"/>
            <a:chOff x="5357" y="3084"/>
            <a:chExt cx="895" cy="805"/>
          </a:xfrm>
        </p:grpSpPr>
        <p:cxnSp>
          <p:nvCxnSpPr>
            <p:cNvPr id="26" name="AutoShape 63">
              <a:extLst>
                <a:ext uri="{FF2B5EF4-FFF2-40B4-BE49-F238E27FC236}">
                  <a16:creationId xmlns:a16="http://schemas.microsoft.com/office/drawing/2014/main" id="{5BAD5F19-BEC9-4A85-BA3F-A0C80C499FF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571" y="3889"/>
              <a:ext cx="441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64">
              <a:extLst>
                <a:ext uri="{FF2B5EF4-FFF2-40B4-BE49-F238E27FC236}">
                  <a16:creationId xmlns:a16="http://schemas.microsoft.com/office/drawing/2014/main" id="{3929E7DE-8115-40FE-AC18-9A32578D3C1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6082" y="3511"/>
              <a:ext cx="170" cy="354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65">
              <a:extLst>
                <a:ext uri="{FF2B5EF4-FFF2-40B4-BE49-F238E27FC236}">
                  <a16:creationId xmlns:a16="http://schemas.microsoft.com/office/drawing/2014/main" id="{7D3C8CDC-505C-4873-9884-D1975F6CA70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5589" y="3084"/>
              <a:ext cx="432" cy="0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66">
              <a:extLst>
                <a:ext uri="{FF2B5EF4-FFF2-40B4-BE49-F238E27FC236}">
                  <a16:creationId xmlns:a16="http://schemas.microsoft.com/office/drawing/2014/main" id="{6757002F-C315-4011-ADC7-0969D8CC344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 flipV="1">
              <a:off x="5360" y="3512"/>
              <a:ext cx="166" cy="354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67">
              <a:extLst>
                <a:ext uri="{FF2B5EF4-FFF2-40B4-BE49-F238E27FC236}">
                  <a16:creationId xmlns:a16="http://schemas.microsoft.com/office/drawing/2014/main" id="{9AA5795F-1D09-47BF-8A0C-192A04E7995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5357" y="3113"/>
              <a:ext cx="184" cy="35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68">
              <a:extLst>
                <a:ext uri="{FF2B5EF4-FFF2-40B4-BE49-F238E27FC236}">
                  <a16:creationId xmlns:a16="http://schemas.microsoft.com/office/drawing/2014/main" id="{606C4238-AA56-48AC-8386-CE142D0366C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 flipV="1">
              <a:off x="6091" y="3108"/>
              <a:ext cx="161" cy="35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EA86C-9F49-4C72-B059-38BD2302ECBA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2663825"/>
          </a:xfrm>
        </p:spPr>
        <p:txBody>
          <a:bodyPr/>
          <a:lstStyle/>
          <a:p>
            <a:r>
              <a:rPr lang="en-US" altLang="zh-CN"/>
              <a:t>7. </a:t>
            </a:r>
            <a:r>
              <a:rPr lang="zh-CN" altLang="en-US">
                <a:latin typeface="Times New Roman" panose="02020603050405020304" pitchFamily="18" charset="0"/>
              </a:rPr>
              <a:t>某校计算机系三年级学生在本学期共选</a:t>
            </a:r>
            <a:r>
              <a:rPr lang="en-US" altLang="zh-CN">
                <a:latin typeface="Times New Roman" panose="02020603050405020304" pitchFamily="18" charset="0"/>
              </a:rPr>
              <a:t>6</a:t>
            </a:r>
            <a:r>
              <a:rPr lang="zh-CN" altLang="en-US">
                <a:latin typeface="Times New Roman" panose="02020603050405020304" pitchFamily="18" charset="0"/>
              </a:rPr>
              <a:t>门选修课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=1,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2, …, 6.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为选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课的学生集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已知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    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6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=1, 2, …, 5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    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</a:rPr>
              <a:t>+1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=1, 2, 3, 4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    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问这</a:t>
            </a:r>
            <a:r>
              <a:rPr lang="en-US" altLang="zh-CN">
                <a:latin typeface="Times New Roman" panose="02020603050405020304" pitchFamily="18" charset="0"/>
              </a:rPr>
              <a:t>6</a:t>
            </a:r>
            <a:r>
              <a:rPr lang="zh-CN" altLang="en-US">
                <a:latin typeface="Times New Roman" panose="02020603050405020304" pitchFamily="18" charset="0"/>
              </a:rPr>
              <a:t>门课至少几天能考完？ 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CE20-B05B-4979-990A-F9BB5644FB3F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424962" name="Rectangle 2"/>
          <p:cNvSpPr>
            <a:spLocks noChangeArrowheads="1"/>
          </p:cNvSpPr>
          <p:nvPr/>
        </p:nvSpPr>
        <p:spPr bwMode="auto">
          <a:xfrm>
            <a:off x="1060450" y="1125538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zh-CN" altLang="en-US" sz="1800"/>
              <a:t> </a:t>
            </a:r>
          </a:p>
        </p:txBody>
      </p:sp>
      <p:sp>
        <p:nvSpPr>
          <p:cNvPr id="4249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42496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25538"/>
            <a:ext cx="4535487" cy="5327650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由已知条件做无向图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i="1" dirty="0">
                <a:latin typeface="Times New Roman" panose="02020603050405020304" pitchFamily="18" charset="0"/>
              </a:rPr>
              <a:t>   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={(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)|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如图所示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一种着色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点着色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i="1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着同色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不相邻                                       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没有学生既学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又学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</a:rPr>
              <a:t>                   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可同时考</a:t>
            </a:r>
            <a:r>
              <a:rPr lang="en-US" altLang="zh-CN" dirty="0">
                <a:latin typeface="Times New Roman" panose="02020603050405020304" pitchFamily="18" charset="0"/>
              </a:rPr>
              <a:t>.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于是最少的考试时间为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)=4</a:t>
            </a:r>
            <a:r>
              <a:rPr lang="zh-CN" altLang="en-US" dirty="0">
                <a:latin typeface="Times New Roman" panose="02020603050405020304" pitchFamily="18" charset="0"/>
              </a:rPr>
              <a:t>（见定理</a:t>
            </a:r>
            <a:r>
              <a:rPr lang="en-US" altLang="zh-CN" dirty="0">
                <a:latin typeface="Times New Roman" panose="02020603050405020304" pitchFamily="18" charset="0"/>
              </a:rPr>
              <a:t>18.9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424971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4284663" y="1916113"/>
          <a:ext cx="4427537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29" name="文档" r:id="rId4" imgW="5990452" imgH="4866350" progId="Word.Document.8">
                  <p:embed/>
                </p:oleObj>
              </mc:Choice>
              <mc:Fallback>
                <p:oleObj name="文档" r:id="rId4" imgW="5990452" imgH="486635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500" t="6583" r="14388" b="14375"/>
                      <a:stretch>
                        <a:fillRect/>
                      </a:stretch>
                    </p:blipFill>
                    <p:spPr bwMode="auto">
                      <a:xfrm>
                        <a:off x="4284663" y="1916113"/>
                        <a:ext cx="4427537" cy="414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EA86C-9F49-4C72-B059-38BD2302ECBA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531494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8. (1)</a:t>
            </a:r>
            <a:r>
              <a:rPr lang="zh-CN" altLang="en-US" dirty="0">
                <a:latin typeface="Times New Roman" panose="02020603050405020304" pitchFamily="18" charset="0"/>
              </a:rPr>
              <a:t>证明右图的点覆盖数</a:t>
            </a:r>
            <a:r>
              <a:rPr lang="el-GR" altLang="zh-CN" dirty="0">
                <a:latin typeface="Times New Roman" panose="02020603050405020304" pitchFamily="18" charset="0"/>
              </a:rPr>
              <a:t>α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=8.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覆盖外圈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9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需要 </a:t>
            </a:r>
            <a:r>
              <a:rPr lang="en-US" altLang="zh-CN" dirty="0">
                <a:latin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</a:rPr>
              <a:t>个顶点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覆盖内圈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需要 </a:t>
            </a: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个顶点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这两类顶点是互不相同的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所以点覆盖集至少含</a:t>
            </a:r>
            <a:r>
              <a:rPr lang="en-US" altLang="zh-CN" dirty="0">
                <a:latin typeface="Times New Roman" panose="02020603050405020304" pitchFamily="18" charset="0"/>
              </a:rPr>
              <a:t>5+3=8</a:t>
            </a:r>
            <a:r>
              <a:rPr lang="zh-CN" altLang="en-US" dirty="0">
                <a:latin typeface="Times New Roman" panose="02020603050405020304" pitchFamily="18" charset="0"/>
              </a:rPr>
              <a:t>个顶点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或者考虑到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有哈密顿回路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覆盖该回路需要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⌈</a:t>
            </a:r>
            <a:r>
              <a:rPr lang="en-US" altLang="zh-CN" dirty="0">
                <a:latin typeface="Times New Roman" panose="02020603050405020304" pitchFamily="18" charset="0"/>
              </a:rPr>
              <a:t>15/2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⌉</a:t>
            </a:r>
            <a:r>
              <a:rPr lang="en-US" altLang="zh-CN" dirty="0">
                <a:latin typeface="Times New Roman" panose="02020603050405020304" pitchFamily="18" charset="0"/>
              </a:rPr>
              <a:t>=8</a:t>
            </a:r>
            <a:r>
              <a:rPr lang="zh-CN" altLang="en-US" dirty="0">
                <a:latin typeface="Times New Roman" panose="02020603050405020304" pitchFamily="18" charset="0"/>
              </a:rPr>
              <a:t>个顶点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而含 </a:t>
            </a:r>
            <a:r>
              <a:rPr lang="en-US" altLang="zh-CN" dirty="0">
                <a:latin typeface="Times New Roman" panose="02020603050405020304" pitchFamily="18" charset="0"/>
              </a:rPr>
              <a:t>8 </a:t>
            </a:r>
            <a:r>
              <a:rPr lang="zh-CN" altLang="en-US" dirty="0">
                <a:latin typeface="Times New Roman" panose="02020603050405020304" pitchFamily="18" charset="0"/>
              </a:rPr>
              <a:t>个顶点的点覆盖确实是有的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l-GR" altLang="zh-CN" dirty="0">
                <a:latin typeface="Times New Roman" panose="02020603050405020304" pitchFamily="18" charset="0"/>
              </a:rPr>
              <a:t>α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=8.</a:t>
            </a:r>
          </a:p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8" name="AutoShape 3">
            <a:extLst>
              <a:ext uri="{FF2B5EF4-FFF2-40B4-BE49-F238E27FC236}">
                <a16:creationId xmlns:a16="http://schemas.microsoft.com/office/drawing/2014/main" id="{D7C47A54-E8E1-4DB1-A84D-F5291F58E2D0}"/>
              </a:ext>
            </a:extLst>
          </p:cNvPr>
          <p:cNvCxnSpPr>
            <a:cxnSpLocks noChangeAspect="1" noChangeShapeType="1"/>
            <a:stCxn id="29" idx="5"/>
            <a:endCxn id="30" idx="1"/>
          </p:cNvCxnSpPr>
          <p:nvPr/>
        </p:nvCxnSpPr>
        <p:spPr bwMode="auto">
          <a:xfrm>
            <a:off x="7382574" y="1351310"/>
            <a:ext cx="307975" cy="555625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" name="AutoShape 4">
            <a:extLst>
              <a:ext uri="{FF2B5EF4-FFF2-40B4-BE49-F238E27FC236}">
                <a16:creationId xmlns:a16="http://schemas.microsoft.com/office/drawing/2014/main" id="{71B23782-A72C-4798-8627-72BE15D5DCFE}"/>
              </a:ext>
            </a:extLst>
          </p:cNvPr>
          <p:cNvCxnSpPr>
            <a:cxnSpLocks noChangeAspect="1" noChangeShapeType="1"/>
            <a:stCxn id="41" idx="6"/>
            <a:endCxn id="34" idx="2"/>
          </p:cNvCxnSpPr>
          <p:nvPr/>
        </p:nvCxnSpPr>
        <p:spPr bwMode="auto">
          <a:xfrm>
            <a:off x="7404799" y="3851623"/>
            <a:ext cx="1370013" cy="0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" name="AutoShape 5">
            <a:extLst>
              <a:ext uri="{FF2B5EF4-FFF2-40B4-BE49-F238E27FC236}">
                <a16:creationId xmlns:a16="http://schemas.microsoft.com/office/drawing/2014/main" id="{872C0080-0E5D-470B-AE58-0BE4E85C3756}"/>
              </a:ext>
            </a:extLst>
          </p:cNvPr>
          <p:cNvCxnSpPr>
            <a:cxnSpLocks noChangeAspect="1" noChangeShapeType="1"/>
            <a:stCxn id="30" idx="5"/>
            <a:endCxn id="31" idx="1"/>
          </p:cNvCxnSpPr>
          <p:nvPr/>
        </p:nvCxnSpPr>
        <p:spPr bwMode="auto">
          <a:xfrm>
            <a:off x="7750874" y="1986310"/>
            <a:ext cx="307975" cy="555625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" name="AutoShape 6">
            <a:extLst>
              <a:ext uri="{FF2B5EF4-FFF2-40B4-BE49-F238E27FC236}">
                <a16:creationId xmlns:a16="http://schemas.microsoft.com/office/drawing/2014/main" id="{B0B17010-B113-413B-AC31-552409ABFCB1}"/>
              </a:ext>
            </a:extLst>
          </p:cNvPr>
          <p:cNvCxnSpPr>
            <a:cxnSpLocks noChangeAspect="1" noChangeShapeType="1"/>
            <a:stCxn id="31" idx="5"/>
            <a:endCxn id="32" idx="1"/>
          </p:cNvCxnSpPr>
          <p:nvPr/>
        </p:nvCxnSpPr>
        <p:spPr bwMode="auto">
          <a:xfrm>
            <a:off x="8119174" y="2621310"/>
            <a:ext cx="307975" cy="555625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" name="AutoShape 7">
            <a:extLst>
              <a:ext uri="{FF2B5EF4-FFF2-40B4-BE49-F238E27FC236}">
                <a16:creationId xmlns:a16="http://schemas.microsoft.com/office/drawing/2014/main" id="{7A1F75A2-F114-48FF-A6DF-B44616CC53B7}"/>
              </a:ext>
            </a:extLst>
          </p:cNvPr>
          <p:cNvCxnSpPr>
            <a:cxnSpLocks noChangeAspect="1" noChangeShapeType="1"/>
            <a:stCxn id="32" idx="5"/>
            <a:endCxn id="34" idx="1"/>
          </p:cNvCxnSpPr>
          <p:nvPr/>
        </p:nvCxnSpPr>
        <p:spPr bwMode="auto">
          <a:xfrm>
            <a:off x="8487474" y="3256310"/>
            <a:ext cx="309563" cy="555625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" name="AutoShape 8">
            <a:extLst>
              <a:ext uri="{FF2B5EF4-FFF2-40B4-BE49-F238E27FC236}">
                <a16:creationId xmlns:a16="http://schemas.microsoft.com/office/drawing/2014/main" id="{EAE081DE-E293-4B2B-AC17-FCEDA88DA347}"/>
              </a:ext>
            </a:extLst>
          </p:cNvPr>
          <p:cNvCxnSpPr>
            <a:cxnSpLocks noChangeAspect="1" noChangeShapeType="1"/>
            <a:stCxn id="29" idx="3"/>
            <a:endCxn id="35" idx="7"/>
          </p:cNvCxnSpPr>
          <p:nvPr/>
        </p:nvCxnSpPr>
        <p:spPr bwMode="auto">
          <a:xfrm flipH="1">
            <a:off x="6890449" y="1351310"/>
            <a:ext cx="431800" cy="7667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AutoShape 9">
            <a:extLst>
              <a:ext uri="{FF2B5EF4-FFF2-40B4-BE49-F238E27FC236}">
                <a16:creationId xmlns:a16="http://schemas.microsoft.com/office/drawing/2014/main" id="{D02E043C-E14A-470C-9661-63ACED4066F0}"/>
              </a:ext>
            </a:extLst>
          </p:cNvPr>
          <p:cNvCxnSpPr>
            <a:cxnSpLocks noChangeAspect="1" noChangeShapeType="1"/>
            <a:stCxn id="38" idx="6"/>
            <a:endCxn id="41" idx="2"/>
          </p:cNvCxnSpPr>
          <p:nvPr/>
        </p:nvCxnSpPr>
        <p:spPr bwMode="auto">
          <a:xfrm>
            <a:off x="5930011" y="3851623"/>
            <a:ext cx="1370013" cy="0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" name="AutoShape 10">
            <a:extLst>
              <a:ext uri="{FF2B5EF4-FFF2-40B4-BE49-F238E27FC236}">
                <a16:creationId xmlns:a16="http://schemas.microsoft.com/office/drawing/2014/main" id="{F1051DDF-103C-4A02-9861-66B263934EE0}"/>
              </a:ext>
            </a:extLst>
          </p:cNvPr>
          <p:cNvCxnSpPr>
            <a:cxnSpLocks noChangeAspect="1" noChangeShapeType="1"/>
            <a:stCxn id="30" idx="2"/>
            <a:endCxn id="36" idx="7"/>
          </p:cNvCxnSpPr>
          <p:nvPr/>
        </p:nvCxnSpPr>
        <p:spPr bwMode="auto">
          <a:xfrm flipH="1">
            <a:off x="7382574" y="1946623"/>
            <a:ext cx="285750" cy="1825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" name="AutoShape 11">
            <a:extLst>
              <a:ext uri="{FF2B5EF4-FFF2-40B4-BE49-F238E27FC236}">
                <a16:creationId xmlns:a16="http://schemas.microsoft.com/office/drawing/2014/main" id="{A83A733C-70C2-4162-B12A-F576B5E06302}"/>
              </a:ext>
            </a:extLst>
          </p:cNvPr>
          <p:cNvCxnSpPr>
            <a:cxnSpLocks noChangeAspect="1" noChangeShapeType="1"/>
            <a:stCxn id="35" idx="6"/>
            <a:endCxn id="36" idx="2"/>
          </p:cNvCxnSpPr>
          <p:nvPr/>
        </p:nvCxnSpPr>
        <p:spPr bwMode="auto">
          <a:xfrm>
            <a:off x="6912674" y="2157760"/>
            <a:ext cx="387350" cy="12700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" name="AutoShape 12">
            <a:extLst>
              <a:ext uri="{FF2B5EF4-FFF2-40B4-BE49-F238E27FC236}">
                <a16:creationId xmlns:a16="http://schemas.microsoft.com/office/drawing/2014/main" id="{F9E065A8-5A8C-434E-82AB-D475DF5B8DAB}"/>
              </a:ext>
            </a:extLst>
          </p:cNvPr>
          <p:cNvCxnSpPr>
            <a:cxnSpLocks noChangeAspect="1" noChangeShapeType="1"/>
            <a:stCxn id="35" idx="3"/>
            <a:endCxn id="37" idx="7"/>
          </p:cNvCxnSpPr>
          <p:nvPr/>
        </p:nvCxnSpPr>
        <p:spPr bwMode="auto">
          <a:xfrm flipH="1">
            <a:off x="6398324" y="2197448"/>
            <a:ext cx="431800" cy="7667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13">
            <a:extLst>
              <a:ext uri="{FF2B5EF4-FFF2-40B4-BE49-F238E27FC236}">
                <a16:creationId xmlns:a16="http://schemas.microsoft.com/office/drawing/2014/main" id="{3C955D96-5921-41F4-9E7A-0CB42535CE4B}"/>
              </a:ext>
            </a:extLst>
          </p:cNvPr>
          <p:cNvCxnSpPr>
            <a:cxnSpLocks noChangeAspect="1" noChangeShapeType="1"/>
            <a:stCxn id="37" idx="3"/>
            <a:endCxn id="38" idx="7"/>
          </p:cNvCxnSpPr>
          <p:nvPr/>
        </p:nvCxnSpPr>
        <p:spPr bwMode="auto">
          <a:xfrm flipH="1">
            <a:off x="5907786" y="3043585"/>
            <a:ext cx="430213" cy="768350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" name="AutoShape 14">
            <a:extLst>
              <a:ext uri="{FF2B5EF4-FFF2-40B4-BE49-F238E27FC236}">
                <a16:creationId xmlns:a16="http://schemas.microsoft.com/office/drawing/2014/main" id="{8EAE7FB7-99B5-4B0A-AD0C-9D96FCCC268F}"/>
              </a:ext>
            </a:extLst>
          </p:cNvPr>
          <p:cNvCxnSpPr>
            <a:cxnSpLocks noChangeAspect="1" noChangeShapeType="1"/>
            <a:stCxn id="31" idx="2"/>
            <a:endCxn id="33" idx="6"/>
          </p:cNvCxnSpPr>
          <p:nvPr/>
        </p:nvCxnSpPr>
        <p:spPr bwMode="auto">
          <a:xfrm flipH="1">
            <a:off x="7785799" y="2581623"/>
            <a:ext cx="250825" cy="12541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15">
            <a:extLst>
              <a:ext uri="{FF2B5EF4-FFF2-40B4-BE49-F238E27FC236}">
                <a16:creationId xmlns:a16="http://schemas.microsoft.com/office/drawing/2014/main" id="{E60565AD-5B8F-47BB-BC3E-88E34D3DC46A}"/>
              </a:ext>
            </a:extLst>
          </p:cNvPr>
          <p:cNvCxnSpPr>
            <a:cxnSpLocks noChangeAspect="1" noChangeShapeType="1"/>
            <a:stCxn id="33" idx="4"/>
            <a:endCxn id="42" idx="0"/>
          </p:cNvCxnSpPr>
          <p:nvPr/>
        </p:nvCxnSpPr>
        <p:spPr bwMode="auto">
          <a:xfrm>
            <a:off x="7733411" y="2759423"/>
            <a:ext cx="46038" cy="300038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" name="AutoShape 16">
            <a:extLst>
              <a:ext uri="{FF2B5EF4-FFF2-40B4-BE49-F238E27FC236}">
                <a16:creationId xmlns:a16="http://schemas.microsoft.com/office/drawing/2014/main" id="{E3D8FF1E-069E-43D7-B52E-03CCF1C3F06D}"/>
              </a:ext>
            </a:extLst>
          </p:cNvPr>
          <p:cNvCxnSpPr>
            <a:cxnSpLocks noChangeAspect="1" noChangeShapeType="1"/>
            <a:stCxn id="42" idx="2"/>
            <a:endCxn id="40" idx="7"/>
          </p:cNvCxnSpPr>
          <p:nvPr/>
        </p:nvCxnSpPr>
        <p:spPr bwMode="auto">
          <a:xfrm flipH="1">
            <a:off x="7382574" y="3111848"/>
            <a:ext cx="344488" cy="18891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08679E6F-6935-440C-8836-8BB84335FE41}"/>
              </a:ext>
            </a:extLst>
          </p:cNvPr>
          <p:cNvCxnSpPr>
            <a:cxnSpLocks noChangeAspect="1" noChangeShapeType="1"/>
            <a:stCxn id="40" idx="4"/>
            <a:endCxn id="41" idx="0"/>
          </p:cNvCxnSpPr>
          <p:nvPr/>
        </p:nvCxnSpPr>
        <p:spPr bwMode="auto">
          <a:xfrm>
            <a:off x="7352411" y="3392835"/>
            <a:ext cx="0" cy="406400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" name="AutoShape 18">
            <a:extLst>
              <a:ext uri="{FF2B5EF4-FFF2-40B4-BE49-F238E27FC236}">
                <a16:creationId xmlns:a16="http://schemas.microsoft.com/office/drawing/2014/main" id="{0D140854-1F88-4090-AD4B-445608857213}"/>
              </a:ext>
            </a:extLst>
          </p:cNvPr>
          <p:cNvCxnSpPr>
            <a:cxnSpLocks noChangeAspect="1" noChangeShapeType="1"/>
            <a:stCxn id="39" idx="3"/>
            <a:endCxn id="43" idx="7"/>
          </p:cNvCxnSpPr>
          <p:nvPr/>
        </p:nvCxnSpPr>
        <p:spPr bwMode="auto">
          <a:xfrm flipH="1">
            <a:off x="6949186" y="2611785"/>
            <a:ext cx="373063" cy="280988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" name="AutoShape 19">
            <a:extLst>
              <a:ext uri="{FF2B5EF4-FFF2-40B4-BE49-F238E27FC236}">
                <a16:creationId xmlns:a16="http://schemas.microsoft.com/office/drawing/2014/main" id="{CCA88C8C-EC00-4DBA-84E7-1D53779056E9}"/>
              </a:ext>
            </a:extLst>
          </p:cNvPr>
          <p:cNvCxnSpPr>
            <a:cxnSpLocks noChangeAspect="1" noChangeShapeType="1"/>
            <a:stCxn id="39" idx="6"/>
            <a:endCxn id="33" idx="2"/>
          </p:cNvCxnSpPr>
          <p:nvPr/>
        </p:nvCxnSpPr>
        <p:spPr bwMode="auto">
          <a:xfrm>
            <a:off x="7404799" y="2572098"/>
            <a:ext cx="276225" cy="134938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" name="AutoShape 20">
            <a:extLst>
              <a:ext uri="{FF2B5EF4-FFF2-40B4-BE49-F238E27FC236}">
                <a16:creationId xmlns:a16="http://schemas.microsoft.com/office/drawing/2014/main" id="{8E4D28EB-1BAB-491A-BAFC-1D7B9EB8BDB3}"/>
              </a:ext>
            </a:extLst>
          </p:cNvPr>
          <p:cNvCxnSpPr>
            <a:cxnSpLocks noChangeAspect="1" noChangeShapeType="1"/>
            <a:stCxn id="32" idx="2"/>
            <a:endCxn id="42" idx="6"/>
          </p:cNvCxnSpPr>
          <p:nvPr/>
        </p:nvCxnSpPr>
        <p:spPr bwMode="auto">
          <a:xfrm flipH="1" flipV="1">
            <a:off x="7831836" y="3111848"/>
            <a:ext cx="573088" cy="104775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" name="AutoShape 21">
            <a:extLst>
              <a:ext uri="{FF2B5EF4-FFF2-40B4-BE49-F238E27FC236}">
                <a16:creationId xmlns:a16="http://schemas.microsoft.com/office/drawing/2014/main" id="{3776F4BC-BBDC-424F-A931-A1AFEE6F18F6}"/>
              </a:ext>
            </a:extLst>
          </p:cNvPr>
          <p:cNvCxnSpPr>
            <a:cxnSpLocks noChangeAspect="1" noChangeShapeType="1"/>
            <a:stCxn id="40" idx="1"/>
            <a:endCxn id="43" idx="5"/>
          </p:cNvCxnSpPr>
          <p:nvPr/>
        </p:nvCxnSpPr>
        <p:spPr bwMode="auto">
          <a:xfrm flipH="1" flipV="1">
            <a:off x="6949186" y="2972148"/>
            <a:ext cx="373063" cy="32861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" name="AutoShape 22">
            <a:extLst>
              <a:ext uri="{FF2B5EF4-FFF2-40B4-BE49-F238E27FC236}">
                <a16:creationId xmlns:a16="http://schemas.microsoft.com/office/drawing/2014/main" id="{D2EFEE7C-7470-43B9-9C9C-98788658B6B9}"/>
              </a:ext>
            </a:extLst>
          </p:cNvPr>
          <p:cNvCxnSpPr>
            <a:cxnSpLocks noChangeAspect="1" noChangeShapeType="1"/>
            <a:stCxn id="36" idx="4"/>
            <a:endCxn id="39" idx="0"/>
          </p:cNvCxnSpPr>
          <p:nvPr/>
        </p:nvCxnSpPr>
        <p:spPr bwMode="auto">
          <a:xfrm>
            <a:off x="7352411" y="2222848"/>
            <a:ext cx="0" cy="2968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" name="AutoShape 23">
            <a:extLst>
              <a:ext uri="{FF2B5EF4-FFF2-40B4-BE49-F238E27FC236}">
                <a16:creationId xmlns:a16="http://schemas.microsoft.com/office/drawing/2014/main" id="{930A3436-F28F-4F75-9066-FBE1DBA6010E}"/>
              </a:ext>
            </a:extLst>
          </p:cNvPr>
          <p:cNvCxnSpPr>
            <a:cxnSpLocks noChangeAspect="1" noChangeShapeType="1"/>
            <a:stCxn id="43" idx="2"/>
            <a:endCxn id="37" idx="6"/>
          </p:cNvCxnSpPr>
          <p:nvPr/>
        </p:nvCxnSpPr>
        <p:spPr bwMode="auto">
          <a:xfrm flipH="1">
            <a:off x="6420549" y="2932460"/>
            <a:ext cx="446088" cy="71438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" name="Oval 52">
            <a:extLst>
              <a:ext uri="{FF2B5EF4-FFF2-40B4-BE49-F238E27FC236}">
                <a16:creationId xmlns:a16="http://schemas.microsoft.com/office/drawing/2014/main" id="{1E4872B6-51F2-46F2-8C5A-63C32F31EA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1268760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0" name="Oval 53">
            <a:extLst>
              <a:ext uri="{FF2B5EF4-FFF2-40B4-BE49-F238E27FC236}">
                <a16:creationId xmlns:a16="http://schemas.microsoft.com/office/drawing/2014/main" id="{047E1D91-BE24-4BEF-9026-83204BDAD7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77849" y="1903760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1" name="Oval 54">
            <a:extLst>
              <a:ext uri="{FF2B5EF4-FFF2-40B4-BE49-F238E27FC236}">
                <a16:creationId xmlns:a16="http://schemas.microsoft.com/office/drawing/2014/main" id="{F72059DB-E592-46AD-83F4-5F6DF7050E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46149" y="2538760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" name="Oval 55">
            <a:extLst>
              <a:ext uri="{FF2B5EF4-FFF2-40B4-BE49-F238E27FC236}">
                <a16:creationId xmlns:a16="http://schemas.microsoft.com/office/drawing/2014/main" id="{88C7510E-23C7-4415-8585-401CDA6EF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4449" y="3173760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" name="Oval 56">
            <a:extLst>
              <a:ext uri="{FF2B5EF4-FFF2-40B4-BE49-F238E27FC236}">
                <a16:creationId xmlns:a16="http://schemas.microsoft.com/office/drawing/2014/main" id="{3E9CA051-C259-41A8-90D7-24EDE7F916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90549" y="2664173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4" name="Oval 57">
            <a:extLst>
              <a:ext uri="{FF2B5EF4-FFF2-40B4-BE49-F238E27FC236}">
                <a16:creationId xmlns:a16="http://schemas.microsoft.com/office/drawing/2014/main" id="{64AB535C-6796-4058-8D94-E612857BD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4336" y="3808760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5" name="Oval 58">
            <a:extLst>
              <a:ext uri="{FF2B5EF4-FFF2-40B4-BE49-F238E27FC236}">
                <a16:creationId xmlns:a16="http://schemas.microsoft.com/office/drawing/2014/main" id="{A2C77421-D836-4477-9B47-75B10F9DD7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7424" y="2114898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" name="Oval 59">
            <a:extLst>
              <a:ext uri="{FF2B5EF4-FFF2-40B4-BE49-F238E27FC236}">
                <a16:creationId xmlns:a16="http://schemas.microsoft.com/office/drawing/2014/main" id="{1AA84CAA-1203-442C-BEB3-5269A5657E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2126010"/>
            <a:ext cx="85725" cy="87313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7" name="Oval 60">
            <a:extLst>
              <a:ext uri="{FF2B5EF4-FFF2-40B4-BE49-F238E27FC236}">
                <a16:creationId xmlns:a16="http://schemas.microsoft.com/office/drawing/2014/main" id="{7F78120A-A5CA-485F-9A68-DBDF6425E8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5299" y="2961035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" name="Oval 61">
            <a:extLst>
              <a:ext uri="{FF2B5EF4-FFF2-40B4-BE49-F238E27FC236}">
                <a16:creationId xmlns:a16="http://schemas.microsoft.com/office/drawing/2014/main" id="{1F6B623E-15E6-4A46-BD7D-1ECF08498F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34761" y="3808760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9" name="Oval 62">
            <a:extLst>
              <a:ext uri="{FF2B5EF4-FFF2-40B4-BE49-F238E27FC236}">
                <a16:creationId xmlns:a16="http://schemas.microsoft.com/office/drawing/2014/main" id="{60279431-2B70-4089-9E14-02981634B2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2529235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0" name="Oval 63">
            <a:extLst>
              <a:ext uri="{FF2B5EF4-FFF2-40B4-BE49-F238E27FC236}">
                <a16:creationId xmlns:a16="http://schemas.microsoft.com/office/drawing/2014/main" id="{B7633053-0D18-4CA5-8917-A19437824E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3297585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1" name="Oval 64">
            <a:extLst>
              <a:ext uri="{FF2B5EF4-FFF2-40B4-BE49-F238E27FC236}">
                <a16:creationId xmlns:a16="http://schemas.microsoft.com/office/drawing/2014/main" id="{152423DB-B3AB-49C0-9D0E-249049126E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3808760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2" name="Oval 65">
            <a:extLst>
              <a:ext uri="{FF2B5EF4-FFF2-40B4-BE49-F238E27FC236}">
                <a16:creationId xmlns:a16="http://schemas.microsoft.com/office/drawing/2014/main" id="{3792BB7F-DA7F-47FF-8E3A-C8BDB9C47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6586" y="3068985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3" name="Oval 66">
            <a:extLst>
              <a:ext uri="{FF2B5EF4-FFF2-40B4-BE49-F238E27FC236}">
                <a16:creationId xmlns:a16="http://schemas.microsoft.com/office/drawing/2014/main" id="{CC1EF30B-3BC6-4EDA-B77D-63C9D3CAA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6161" y="2889598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44" name="Group 417">
            <a:extLst>
              <a:ext uri="{FF2B5EF4-FFF2-40B4-BE49-F238E27FC236}">
                <a16:creationId xmlns:a16="http://schemas.microsoft.com/office/drawing/2014/main" id="{2EEFD11D-6F8A-4F44-8371-944E569C23E3}"/>
              </a:ext>
            </a:extLst>
          </p:cNvPr>
          <p:cNvGrpSpPr>
            <a:grpSpLocks/>
          </p:cNvGrpSpPr>
          <p:nvPr/>
        </p:nvGrpSpPr>
        <p:grpSpPr bwMode="auto">
          <a:xfrm>
            <a:off x="7261924" y="2502248"/>
            <a:ext cx="560387" cy="900112"/>
            <a:chOff x="1385" y="2755"/>
            <a:chExt cx="353" cy="567"/>
          </a:xfrm>
        </p:grpSpPr>
        <p:sp>
          <p:nvSpPr>
            <p:cNvPr id="45" name="Oval 330">
              <a:extLst>
                <a:ext uri="{FF2B5EF4-FFF2-40B4-BE49-F238E27FC236}">
                  <a16:creationId xmlns:a16="http://schemas.microsoft.com/office/drawing/2014/main" id="{D2FFFFD3-3FAE-4689-A799-B9288AD95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2841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" name="Oval 331">
              <a:extLst>
                <a:ext uri="{FF2B5EF4-FFF2-40B4-BE49-F238E27FC236}">
                  <a16:creationId xmlns:a16="http://schemas.microsoft.com/office/drawing/2014/main" id="{6C280C7B-8529-4158-BA0E-B2CC8F627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2755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7" name="Oval 332">
              <a:extLst>
                <a:ext uri="{FF2B5EF4-FFF2-40B4-BE49-F238E27FC236}">
                  <a16:creationId xmlns:a16="http://schemas.microsoft.com/office/drawing/2014/main" id="{CF9A7B2B-FDF0-44DE-8C6D-29B19714A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3209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48" name="Rectangle 333">
            <a:extLst>
              <a:ext uri="{FF2B5EF4-FFF2-40B4-BE49-F238E27FC236}">
                <a16:creationId xmlns:a16="http://schemas.microsoft.com/office/drawing/2014/main" id="{1B86FF1B-2893-4122-9086-028329B37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2520" y="3993004"/>
            <a:ext cx="20034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828675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236663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4465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400" i="1" dirty="0">
                <a:effectLst/>
              </a:rPr>
              <a:t>n</a:t>
            </a:r>
            <a:r>
              <a:rPr kumimoji="0" lang="en-US" altLang="zh-CN" sz="2400" dirty="0">
                <a:effectLst/>
              </a:rPr>
              <a:t> = 15, </a:t>
            </a:r>
            <a:r>
              <a:rPr kumimoji="0" lang="en-US" altLang="zh-CN" sz="2400" i="1" dirty="0">
                <a:effectLst/>
              </a:rPr>
              <a:t>m</a:t>
            </a:r>
            <a:r>
              <a:rPr kumimoji="0" lang="en-US" altLang="zh-CN" sz="2400" dirty="0">
                <a:effectLst/>
              </a:rPr>
              <a:t> = 21</a:t>
            </a:r>
          </a:p>
        </p:txBody>
      </p:sp>
      <p:grpSp>
        <p:nvGrpSpPr>
          <p:cNvPr id="49" name="Group 413">
            <a:extLst>
              <a:ext uri="{FF2B5EF4-FFF2-40B4-BE49-F238E27FC236}">
                <a16:creationId xmlns:a16="http://schemas.microsoft.com/office/drawing/2014/main" id="{A05B2680-198A-4D55-92BC-856E36C705BD}"/>
              </a:ext>
            </a:extLst>
          </p:cNvPr>
          <p:cNvGrpSpPr>
            <a:grpSpLocks/>
          </p:cNvGrpSpPr>
          <p:nvPr/>
        </p:nvGrpSpPr>
        <p:grpSpPr bwMode="auto">
          <a:xfrm>
            <a:off x="5907786" y="1351310"/>
            <a:ext cx="2889250" cy="2500313"/>
            <a:chOff x="1079" y="1645"/>
            <a:chExt cx="1820" cy="1575"/>
          </a:xfrm>
        </p:grpSpPr>
        <p:cxnSp>
          <p:nvCxnSpPr>
            <p:cNvPr id="50" name="AutoShape 375">
              <a:extLst>
                <a:ext uri="{FF2B5EF4-FFF2-40B4-BE49-F238E27FC236}">
                  <a16:creationId xmlns:a16="http://schemas.microsoft.com/office/drawing/2014/main" id="{27C0FA52-94A1-415C-AA18-251990BB239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008" y="1645"/>
              <a:ext cx="194" cy="350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" name="AutoShape 376">
              <a:extLst>
                <a:ext uri="{FF2B5EF4-FFF2-40B4-BE49-F238E27FC236}">
                  <a16:creationId xmlns:a16="http://schemas.microsoft.com/office/drawing/2014/main" id="{B1FA3563-FBBE-42E7-A27A-DE5E2BD9EB9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022" y="3220"/>
              <a:ext cx="863" cy="0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2" name="AutoShape 378">
              <a:extLst>
                <a:ext uri="{FF2B5EF4-FFF2-40B4-BE49-F238E27FC236}">
                  <a16:creationId xmlns:a16="http://schemas.microsoft.com/office/drawing/2014/main" id="{9C50CF0B-5EED-40E2-BADD-D6572978268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472" y="2445"/>
              <a:ext cx="194" cy="350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3" name="AutoShape 379">
              <a:extLst>
                <a:ext uri="{FF2B5EF4-FFF2-40B4-BE49-F238E27FC236}">
                  <a16:creationId xmlns:a16="http://schemas.microsoft.com/office/drawing/2014/main" id="{5246BFF4-EED4-412F-A36C-6A3E86DD86E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704" y="2845"/>
              <a:ext cx="195" cy="350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380">
              <a:extLst>
                <a:ext uri="{FF2B5EF4-FFF2-40B4-BE49-F238E27FC236}">
                  <a16:creationId xmlns:a16="http://schemas.microsoft.com/office/drawing/2014/main" id="{667EE520-EC0F-4F4E-A959-2D3766B0B6F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698" y="1645"/>
              <a:ext cx="272" cy="483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5" name="AutoShape 381">
              <a:extLst>
                <a:ext uri="{FF2B5EF4-FFF2-40B4-BE49-F238E27FC236}">
                  <a16:creationId xmlns:a16="http://schemas.microsoft.com/office/drawing/2014/main" id="{77DE8456-784C-426D-A790-E786BCC6097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93" y="3220"/>
              <a:ext cx="863" cy="0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382">
              <a:extLst>
                <a:ext uri="{FF2B5EF4-FFF2-40B4-BE49-F238E27FC236}">
                  <a16:creationId xmlns:a16="http://schemas.microsoft.com/office/drawing/2014/main" id="{54E773AB-CD0D-4DA6-A27B-A547E8B66AD7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008" y="2020"/>
              <a:ext cx="180" cy="115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384">
              <a:extLst>
                <a:ext uri="{FF2B5EF4-FFF2-40B4-BE49-F238E27FC236}">
                  <a16:creationId xmlns:a16="http://schemas.microsoft.com/office/drawing/2014/main" id="{9BAD6879-0746-4C9B-9DB6-80BC7B86F33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388" y="2178"/>
              <a:ext cx="272" cy="483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385">
              <a:extLst>
                <a:ext uri="{FF2B5EF4-FFF2-40B4-BE49-F238E27FC236}">
                  <a16:creationId xmlns:a16="http://schemas.microsoft.com/office/drawing/2014/main" id="{E3363D6C-3445-410A-AFB4-8A215C41347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079" y="2711"/>
              <a:ext cx="271" cy="484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386">
              <a:extLst>
                <a:ext uri="{FF2B5EF4-FFF2-40B4-BE49-F238E27FC236}">
                  <a16:creationId xmlns:a16="http://schemas.microsoft.com/office/drawing/2014/main" id="{5019B6CF-663A-42C8-8AE1-83D26F933D1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262" y="2420"/>
              <a:ext cx="158" cy="79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87">
              <a:extLst>
                <a:ext uri="{FF2B5EF4-FFF2-40B4-BE49-F238E27FC236}">
                  <a16:creationId xmlns:a16="http://schemas.microsoft.com/office/drawing/2014/main" id="{90791B2B-420B-4F16-AA64-EF2E59AB3977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229" y="2532"/>
              <a:ext cx="29" cy="189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88">
              <a:extLst>
                <a:ext uri="{FF2B5EF4-FFF2-40B4-BE49-F238E27FC236}">
                  <a16:creationId xmlns:a16="http://schemas.microsoft.com/office/drawing/2014/main" id="{E2661E16-8FFE-491C-A515-7AB90506242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008" y="2754"/>
              <a:ext cx="217" cy="119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390">
              <a:extLst>
                <a:ext uri="{FF2B5EF4-FFF2-40B4-BE49-F238E27FC236}">
                  <a16:creationId xmlns:a16="http://schemas.microsoft.com/office/drawing/2014/main" id="{F59DF9E4-FD41-4259-ADE2-6E91FC09CCA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735" y="2439"/>
              <a:ext cx="235" cy="177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393">
              <a:extLst>
                <a:ext uri="{FF2B5EF4-FFF2-40B4-BE49-F238E27FC236}">
                  <a16:creationId xmlns:a16="http://schemas.microsoft.com/office/drawing/2014/main" id="{F600560F-A613-4CAC-A80B-2252293E34B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 flipV="1">
              <a:off x="1735" y="2666"/>
              <a:ext cx="235" cy="207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394">
              <a:extLst>
                <a:ext uri="{FF2B5EF4-FFF2-40B4-BE49-F238E27FC236}">
                  <a16:creationId xmlns:a16="http://schemas.microsoft.com/office/drawing/2014/main" id="{3FB179C8-B751-42FA-BF0D-F33CEFBF3F4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989" y="2194"/>
              <a:ext cx="0" cy="187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65" name="Group 416">
            <a:extLst>
              <a:ext uri="{FF2B5EF4-FFF2-40B4-BE49-F238E27FC236}">
                <a16:creationId xmlns:a16="http://schemas.microsoft.com/office/drawing/2014/main" id="{98BFBFCA-0BC7-4A7E-B3D5-92A4B970A1DF}"/>
              </a:ext>
            </a:extLst>
          </p:cNvPr>
          <p:cNvGrpSpPr>
            <a:grpSpLocks/>
          </p:cNvGrpSpPr>
          <p:nvPr/>
        </p:nvGrpSpPr>
        <p:grpSpPr bwMode="auto">
          <a:xfrm>
            <a:off x="6304661" y="1827560"/>
            <a:ext cx="2251075" cy="2116138"/>
            <a:chOff x="782" y="2330"/>
            <a:chExt cx="1418" cy="1333"/>
          </a:xfrm>
        </p:grpSpPr>
        <p:sp>
          <p:nvSpPr>
            <p:cNvPr id="66" name="Oval 326">
              <a:extLst>
                <a:ext uri="{FF2B5EF4-FFF2-40B4-BE49-F238E27FC236}">
                  <a16:creationId xmlns:a16="http://schemas.microsoft.com/office/drawing/2014/main" id="{865743D5-8A80-4D5F-A44F-4F8351FE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3550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67" name="Oval 327">
              <a:extLst>
                <a:ext uri="{FF2B5EF4-FFF2-40B4-BE49-F238E27FC236}">
                  <a16:creationId xmlns:a16="http://schemas.microsoft.com/office/drawing/2014/main" id="{A7D2A616-B2B2-4C23-8463-4FACF2134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" y="3010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68" name="Oval 328">
              <a:extLst>
                <a:ext uri="{FF2B5EF4-FFF2-40B4-BE49-F238E27FC236}">
                  <a16:creationId xmlns:a16="http://schemas.microsoft.com/office/drawing/2014/main" id="{817BF982-59DF-4001-A6D0-9C4D8D914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2466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69" name="Oval 329">
              <a:extLst>
                <a:ext uri="{FF2B5EF4-FFF2-40B4-BE49-F238E27FC236}">
                  <a16:creationId xmlns:a16="http://schemas.microsoft.com/office/drawing/2014/main" id="{63DCD763-318D-45DE-8C4D-43B4F2D2D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" y="2330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70" name="Oval 415">
              <a:extLst>
                <a:ext uri="{FF2B5EF4-FFF2-40B4-BE49-F238E27FC236}">
                  <a16:creationId xmlns:a16="http://schemas.microsoft.com/office/drawing/2014/main" id="{E8899764-A02B-4DA3-AB66-B1CCB056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3153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D3FD4856-1FEF-446A-8A2D-199D9A022803}"/>
              </a:ext>
            </a:extLst>
          </p:cNvPr>
          <p:cNvSpPr txBox="1"/>
          <p:nvPr/>
        </p:nvSpPr>
        <p:spPr>
          <a:xfrm>
            <a:off x="5134378" y="5612626"/>
            <a:ext cx="1093805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上界</a:t>
            </a:r>
            <a:r>
              <a:rPr lang="en-US" altLang="zh-CN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=8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A2701B1-72A8-4FED-B2B6-D838C68DEEB5}"/>
              </a:ext>
            </a:extLst>
          </p:cNvPr>
          <p:cNvSpPr txBox="1"/>
          <p:nvPr/>
        </p:nvSpPr>
        <p:spPr>
          <a:xfrm>
            <a:off x="4883736" y="4713334"/>
            <a:ext cx="102405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下界</a:t>
            </a:r>
            <a:r>
              <a:rPr lang="en-US" altLang="zh-CN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=8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15AF012-652D-4A4E-A6EA-6D092985AB94}"/>
              </a:ext>
            </a:extLst>
          </p:cNvPr>
          <p:cNvSpPr txBox="1"/>
          <p:nvPr/>
        </p:nvSpPr>
        <p:spPr>
          <a:xfrm>
            <a:off x="1475656" y="6045170"/>
            <a:ext cx="295232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上界</a:t>
            </a:r>
            <a:r>
              <a:rPr lang="en-US" altLang="zh-CN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下界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=8 ⇒ 8</a:t>
            </a:r>
            <a:r>
              <a:rPr lang="zh-CN" altLang="en-US" sz="20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为最优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F4AD405-0801-4A12-AEC1-6D1AAAC2A399}"/>
              </a:ext>
            </a:extLst>
          </p:cNvPr>
          <p:cNvSpPr txBox="1"/>
          <p:nvPr/>
        </p:nvSpPr>
        <p:spPr>
          <a:xfrm>
            <a:off x="-2182" y="6446023"/>
            <a:ext cx="914618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最优性证明：上界等于下界，即找一个可行解，再证明可行解都不优于它</a:t>
            </a:r>
            <a:endParaRPr lang="en-US" altLang="zh-CN" sz="2000" b="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2653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decel="100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EA86C-9F49-4C72-B059-38BD2302ECBA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5314943"/>
          </a:xfrm>
        </p:spPr>
        <p:txBody>
          <a:bodyPr/>
          <a:lstStyle/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8. (2)</a:t>
            </a:r>
            <a:r>
              <a:rPr lang="zh-CN" altLang="en-US" dirty="0">
                <a:latin typeface="Times New Roman" panose="02020603050405020304" pitchFamily="18" charset="0"/>
              </a:rPr>
              <a:t>证明右图的最小点覆盖唯一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每一个顶点至多覆盖 </a:t>
            </a: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要覆盖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=21</a:t>
            </a:r>
            <a:r>
              <a:rPr lang="zh-CN" altLang="en-US" dirty="0">
                <a:latin typeface="Times New Roman" panose="02020603050405020304" pitchFamily="18" charset="0"/>
              </a:rPr>
              <a:t>条边至少需要 </a:t>
            </a:r>
            <a:r>
              <a:rPr lang="en-US" altLang="zh-CN" dirty="0">
                <a:latin typeface="Times New Roman" panose="02020603050405020304" pitchFamily="18" charset="0"/>
              </a:rPr>
              <a:t>21/3=7</a:t>
            </a:r>
            <a:r>
              <a:rPr lang="zh-CN" altLang="en-US" dirty="0">
                <a:latin typeface="Times New Roman" panose="02020603050405020304" pitchFamily="18" charset="0"/>
              </a:rPr>
              <a:t>个顶点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且必须都是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度顶点</a:t>
            </a:r>
            <a:r>
              <a:rPr lang="en-US" altLang="zh-CN" dirty="0">
                <a:latin typeface="Times New Roman" panose="02020603050405020304" pitchFamily="18" charset="0"/>
              </a:rPr>
              <a:t>, 2</a:t>
            </a:r>
            <a:r>
              <a:rPr lang="zh-CN" altLang="en-US" dirty="0">
                <a:latin typeface="Times New Roman" panose="02020603050405020304" pitchFamily="18" charset="0"/>
              </a:rPr>
              <a:t>度顶点不能选中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度顶点关联的有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这些边必须被另一端的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度顶点覆盖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剩下的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+2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上的边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至少要用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个顶点覆盖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cxnSp>
        <p:nvCxnSpPr>
          <p:cNvPr id="75" name="AutoShape 3">
            <a:extLst>
              <a:ext uri="{FF2B5EF4-FFF2-40B4-BE49-F238E27FC236}">
                <a16:creationId xmlns:a16="http://schemas.microsoft.com/office/drawing/2014/main" id="{95508CF7-4656-4538-A55E-FFDF5A38D8BD}"/>
              </a:ext>
            </a:extLst>
          </p:cNvPr>
          <p:cNvCxnSpPr>
            <a:cxnSpLocks noChangeAspect="1" noChangeShapeType="1"/>
            <a:stCxn id="96" idx="5"/>
            <a:endCxn id="97" idx="1"/>
          </p:cNvCxnSpPr>
          <p:nvPr/>
        </p:nvCxnSpPr>
        <p:spPr bwMode="auto">
          <a:xfrm>
            <a:off x="7382574" y="1207294"/>
            <a:ext cx="307975" cy="555625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6" name="AutoShape 4">
            <a:extLst>
              <a:ext uri="{FF2B5EF4-FFF2-40B4-BE49-F238E27FC236}">
                <a16:creationId xmlns:a16="http://schemas.microsoft.com/office/drawing/2014/main" id="{86D84672-F38A-470A-B8FC-D6ED073138F0}"/>
              </a:ext>
            </a:extLst>
          </p:cNvPr>
          <p:cNvCxnSpPr>
            <a:cxnSpLocks noChangeAspect="1" noChangeShapeType="1"/>
            <a:stCxn id="108" idx="6"/>
            <a:endCxn id="101" idx="2"/>
          </p:cNvCxnSpPr>
          <p:nvPr/>
        </p:nvCxnSpPr>
        <p:spPr bwMode="auto">
          <a:xfrm>
            <a:off x="7404799" y="3707607"/>
            <a:ext cx="1370013" cy="0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" name="AutoShape 5">
            <a:extLst>
              <a:ext uri="{FF2B5EF4-FFF2-40B4-BE49-F238E27FC236}">
                <a16:creationId xmlns:a16="http://schemas.microsoft.com/office/drawing/2014/main" id="{240CE2B3-41A3-4CAB-9AA3-91028EA9F4EA}"/>
              </a:ext>
            </a:extLst>
          </p:cNvPr>
          <p:cNvCxnSpPr>
            <a:cxnSpLocks noChangeAspect="1" noChangeShapeType="1"/>
            <a:stCxn id="97" idx="5"/>
            <a:endCxn id="98" idx="1"/>
          </p:cNvCxnSpPr>
          <p:nvPr/>
        </p:nvCxnSpPr>
        <p:spPr bwMode="auto">
          <a:xfrm>
            <a:off x="7750874" y="1842294"/>
            <a:ext cx="307975" cy="555625"/>
          </a:xfrm>
          <a:prstGeom prst="straightConnector1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8" name="AutoShape 6">
            <a:extLst>
              <a:ext uri="{FF2B5EF4-FFF2-40B4-BE49-F238E27FC236}">
                <a16:creationId xmlns:a16="http://schemas.microsoft.com/office/drawing/2014/main" id="{373921F2-8D47-4F76-B5A4-F4C36A721996}"/>
              </a:ext>
            </a:extLst>
          </p:cNvPr>
          <p:cNvCxnSpPr>
            <a:cxnSpLocks noChangeAspect="1" noChangeShapeType="1"/>
            <a:stCxn id="98" idx="5"/>
            <a:endCxn id="99" idx="1"/>
          </p:cNvCxnSpPr>
          <p:nvPr/>
        </p:nvCxnSpPr>
        <p:spPr bwMode="auto">
          <a:xfrm>
            <a:off x="8119174" y="2477294"/>
            <a:ext cx="307975" cy="555625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" name="AutoShape 7">
            <a:extLst>
              <a:ext uri="{FF2B5EF4-FFF2-40B4-BE49-F238E27FC236}">
                <a16:creationId xmlns:a16="http://schemas.microsoft.com/office/drawing/2014/main" id="{90BFF3A8-2B4E-48EC-B774-663DF44E4DDE}"/>
              </a:ext>
            </a:extLst>
          </p:cNvPr>
          <p:cNvCxnSpPr>
            <a:cxnSpLocks noChangeAspect="1" noChangeShapeType="1"/>
            <a:stCxn id="99" idx="5"/>
            <a:endCxn id="101" idx="1"/>
          </p:cNvCxnSpPr>
          <p:nvPr/>
        </p:nvCxnSpPr>
        <p:spPr bwMode="auto">
          <a:xfrm>
            <a:off x="8487474" y="3112294"/>
            <a:ext cx="309563" cy="555625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0" name="AutoShape 8">
            <a:extLst>
              <a:ext uri="{FF2B5EF4-FFF2-40B4-BE49-F238E27FC236}">
                <a16:creationId xmlns:a16="http://schemas.microsoft.com/office/drawing/2014/main" id="{0EAF2E8D-DE44-49C3-BCEF-401BA79161DE}"/>
              </a:ext>
            </a:extLst>
          </p:cNvPr>
          <p:cNvCxnSpPr>
            <a:cxnSpLocks noChangeAspect="1" noChangeShapeType="1"/>
            <a:stCxn id="96" idx="3"/>
            <a:endCxn id="102" idx="7"/>
          </p:cNvCxnSpPr>
          <p:nvPr/>
        </p:nvCxnSpPr>
        <p:spPr bwMode="auto">
          <a:xfrm flipH="1">
            <a:off x="6890449" y="1207294"/>
            <a:ext cx="431800" cy="7667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" name="AutoShape 9">
            <a:extLst>
              <a:ext uri="{FF2B5EF4-FFF2-40B4-BE49-F238E27FC236}">
                <a16:creationId xmlns:a16="http://schemas.microsoft.com/office/drawing/2014/main" id="{FFC38F10-390A-4ADF-B0AF-004D0346BEBF}"/>
              </a:ext>
            </a:extLst>
          </p:cNvPr>
          <p:cNvCxnSpPr>
            <a:cxnSpLocks noChangeAspect="1" noChangeShapeType="1"/>
            <a:stCxn id="105" idx="6"/>
            <a:endCxn id="108" idx="2"/>
          </p:cNvCxnSpPr>
          <p:nvPr/>
        </p:nvCxnSpPr>
        <p:spPr bwMode="auto">
          <a:xfrm>
            <a:off x="5930011" y="3707607"/>
            <a:ext cx="1370013" cy="0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" name="AutoShape 10">
            <a:extLst>
              <a:ext uri="{FF2B5EF4-FFF2-40B4-BE49-F238E27FC236}">
                <a16:creationId xmlns:a16="http://schemas.microsoft.com/office/drawing/2014/main" id="{7D08D19A-140A-45D4-BA6A-03F63BADBAAB}"/>
              </a:ext>
            </a:extLst>
          </p:cNvPr>
          <p:cNvCxnSpPr>
            <a:cxnSpLocks noChangeAspect="1" noChangeShapeType="1"/>
            <a:stCxn id="97" idx="2"/>
            <a:endCxn id="103" idx="7"/>
          </p:cNvCxnSpPr>
          <p:nvPr/>
        </p:nvCxnSpPr>
        <p:spPr bwMode="auto">
          <a:xfrm flipH="1">
            <a:off x="7382574" y="1802607"/>
            <a:ext cx="285750" cy="1825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" name="AutoShape 11">
            <a:extLst>
              <a:ext uri="{FF2B5EF4-FFF2-40B4-BE49-F238E27FC236}">
                <a16:creationId xmlns:a16="http://schemas.microsoft.com/office/drawing/2014/main" id="{5C111755-89CF-45B8-B4B6-DE7C33261D15}"/>
              </a:ext>
            </a:extLst>
          </p:cNvPr>
          <p:cNvCxnSpPr>
            <a:cxnSpLocks noChangeAspect="1" noChangeShapeType="1"/>
            <a:stCxn id="102" idx="6"/>
            <a:endCxn id="103" idx="2"/>
          </p:cNvCxnSpPr>
          <p:nvPr/>
        </p:nvCxnSpPr>
        <p:spPr bwMode="auto">
          <a:xfrm>
            <a:off x="6912674" y="2013744"/>
            <a:ext cx="387350" cy="12700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4" name="AutoShape 12">
            <a:extLst>
              <a:ext uri="{FF2B5EF4-FFF2-40B4-BE49-F238E27FC236}">
                <a16:creationId xmlns:a16="http://schemas.microsoft.com/office/drawing/2014/main" id="{068ABF46-9FF9-4E47-B76C-CB6F7AD87232}"/>
              </a:ext>
            </a:extLst>
          </p:cNvPr>
          <p:cNvCxnSpPr>
            <a:cxnSpLocks noChangeAspect="1" noChangeShapeType="1"/>
            <a:stCxn id="102" idx="3"/>
            <a:endCxn id="104" idx="7"/>
          </p:cNvCxnSpPr>
          <p:nvPr/>
        </p:nvCxnSpPr>
        <p:spPr bwMode="auto">
          <a:xfrm flipH="1">
            <a:off x="6398324" y="2053432"/>
            <a:ext cx="431800" cy="7667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5" name="AutoShape 13">
            <a:extLst>
              <a:ext uri="{FF2B5EF4-FFF2-40B4-BE49-F238E27FC236}">
                <a16:creationId xmlns:a16="http://schemas.microsoft.com/office/drawing/2014/main" id="{A59FD7AC-1B76-46C4-A309-5484F508C56F}"/>
              </a:ext>
            </a:extLst>
          </p:cNvPr>
          <p:cNvCxnSpPr>
            <a:cxnSpLocks noChangeAspect="1" noChangeShapeType="1"/>
            <a:stCxn id="104" idx="3"/>
            <a:endCxn id="105" idx="7"/>
          </p:cNvCxnSpPr>
          <p:nvPr/>
        </p:nvCxnSpPr>
        <p:spPr bwMode="auto">
          <a:xfrm flipH="1">
            <a:off x="5907786" y="2899569"/>
            <a:ext cx="430213" cy="768350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" name="AutoShape 14">
            <a:extLst>
              <a:ext uri="{FF2B5EF4-FFF2-40B4-BE49-F238E27FC236}">
                <a16:creationId xmlns:a16="http://schemas.microsoft.com/office/drawing/2014/main" id="{81305C8D-2A5A-4A2D-905F-2B64DEC4985D}"/>
              </a:ext>
            </a:extLst>
          </p:cNvPr>
          <p:cNvCxnSpPr>
            <a:cxnSpLocks noChangeAspect="1" noChangeShapeType="1"/>
            <a:stCxn id="98" idx="2"/>
            <a:endCxn id="100" idx="6"/>
          </p:cNvCxnSpPr>
          <p:nvPr/>
        </p:nvCxnSpPr>
        <p:spPr bwMode="auto">
          <a:xfrm flipH="1">
            <a:off x="7785799" y="2437607"/>
            <a:ext cx="250825" cy="12541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7" name="AutoShape 15">
            <a:extLst>
              <a:ext uri="{FF2B5EF4-FFF2-40B4-BE49-F238E27FC236}">
                <a16:creationId xmlns:a16="http://schemas.microsoft.com/office/drawing/2014/main" id="{7B15D580-5789-49A4-9495-ED9E80CAF156}"/>
              </a:ext>
            </a:extLst>
          </p:cNvPr>
          <p:cNvCxnSpPr>
            <a:cxnSpLocks noChangeAspect="1" noChangeShapeType="1"/>
            <a:stCxn id="100" idx="4"/>
            <a:endCxn id="109" idx="0"/>
          </p:cNvCxnSpPr>
          <p:nvPr/>
        </p:nvCxnSpPr>
        <p:spPr bwMode="auto">
          <a:xfrm>
            <a:off x="7733411" y="2615407"/>
            <a:ext cx="46038" cy="300038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" name="AutoShape 16">
            <a:extLst>
              <a:ext uri="{FF2B5EF4-FFF2-40B4-BE49-F238E27FC236}">
                <a16:creationId xmlns:a16="http://schemas.microsoft.com/office/drawing/2014/main" id="{ED31677E-EAAF-4240-8980-6CEECA34526D}"/>
              </a:ext>
            </a:extLst>
          </p:cNvPr>
          <p:cNvCxnSpPr>
            <a:cxnSpLocks noChangeAspect="1" noChangeShapeType="1"/>
            <a:stCxn id="109" idx="2"/>
            <a:endCxn id="107" idx="7"/>
          </p:cNvCxnSpPr>
          <p:nvPr/>
        </p:nvCxnSpPr>
        <p:spPr bwMode="auto">
          <a:xfrm flipH="1">
            <a:off x="7382574" y="2967832"/>
            <a:ext cx="344488" cy="18891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9" name="AutoShape 17">
            <a:extLst>
              <a:ext uri="{FF2B5EF4-FFF2-40B4-BE49-F238E27FC236}">
                <a16:creationId xmlns:a16="http://schemas.microsoft.com/office/drawing/2014/main" id="{917BFE62-87AB-42D5-8BFC-5FE39DBE5103}"/>
              </a:ext>
            </a:extLst>
          </p:cNvPr>
          <p:cNvCxnSpPr>
            <a:cxnSpLocks noChangeAspect="1" noChangeShapeType="1"/>
            <a:stCxn id="107" idx="4"/>
            <a:endCxn id="108" idx="0"/>
          </p:cNvCxnSpPr>
          <p:nvPr/>
        </p:nvCxnSpPr>
        <p:spPr bwMode="auto">
          <a:xfrm>
            <a:off x="7352411" y="3248819"/>
            <a:ext cx="0" cy="406400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" name="AutoShape 18">
            <a:extLst>
              <a:ext uri="{FF2B5EF4-FFF2-40B4-BE49-F238E27FC236}">
                <a16:creationId xmlns:a16="http://schemas.microsoft.com/office/drawing/2014/main" id="{611BC9AF-79A9-494C-AA13-B0A33812B8E0}"/>
              </a:ext>
            </a:extLst>
          </p:cNvPr>
          <p:cNvCxnSpPr>
            <a:cxnSpLocks noChangeAspect="1" noChangeShapeType="1"/>
            <a:stCxn id="106" idx="3"/>
            <a:endCxn id="110" idx="7"/>
          </p:cNvCxnSpPr>
          <p:nvPr/>
        </p:nvCxnSpPr>
        <p:spPr bwMode="auto">
          <a:xfrm flipH="1">
            <a:off x="6949186" y="2467769"/>
            <a:ext cx="373063" cy="280988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1" name="AutoShape 19">
            <a:extLst>
              <a:ext uri="{FF2B5EF4-FFF2-40B4-BE49-F238E27FC236}">
                <a16:creationId xmlns:a16="http://schemas.microsoft.com/office/drawing/2014/main" id="{B9D94616-9A20-470F-88B9-0380ED7DD0EA}"/>
              </a:ext>
            </a:extLst>
          </p:cNvPr>
          <p:cNvCxnSpPr>
            <a:cxnSpLocks noChangeAspect="1" noChangeShapeType="1"/>
            <a:stCxn id="106" idx="6"/>
            <a:endCxn id="100" idx="2"/>
          </p:cNvCxnSpPr>
          <p:nvPr/>
        </p:nvCxnSpPr>
        <p:spPr bwMode="auto">
          <a:xfrm>
            <a:off x="7404799" y="2428082"/>
            <a:ext cx="276225" cy="134938"/>
          </a:xfrm>
          <a:prstGeom prst="straightConnector1">
            <a:avLst/>
          </a:prstGeom>
          <a:noFill/>
          <a:ln w="571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" name="AutoShape 20">
            <a:extLst>
              <a:ext uri="{FF2B5EF4-FFF2-40B4-BE49-F238E27FC236}">
                <a16:creationId xmlns:a16="http://schemas.microsoft.com/office/drawing/2014/main" id="{B78B54A9-7E0E-4C91-A957-55B76C43CAD9}"/>
              </a:ext>
            </a:extLst>
          </p:cNvPr>
          <p:cNvCxnSpPr>
            <a:cxnSpLocks noChangeAspect="1" noChangeShapeType="1"/>
            <a:stCxn id="99" idx="2"/>
            <a:endCxn id="109" idx="6"/>
          </p:cNvCxnSpPr>
          <p:nvPr/>
        </p:nvCxnSpPr>
        <p:spPr bwMode="auto">
          <a:xfrm flipH="1" flipV="1">
            <a:off x="7831836" y="2967832"/>
            <a:ext cx="573088" cy="104775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3" name="AutoShape 21">
            <a:extLst>
              <a:ext uri="{FF2B5EF4-FFF2-40B4-BE49-F238E27FC236}">
                <a16:creationId xmlns:a16="http://schemas.microsoft.com/office/drawing/2014/main" id="{9825B203-D2D2-4055-9B74-109E66B46D40}"/>
              </a:ext>
            </a:extLst>
          </p:cNvPr>
          <p:cNvCxnSpPr>
            <a:cxnSpLocks noChangeAspect="1" noChangeShapeType="1"/>
            <a:stCxn id="107" idx="1"/>
            <a:endCxn id="110" idx="5"/>
          </p:cNvCxnSpPr>
          <p:nvPr/>
        </p:nvCxnSpPr>
        <p:spPr bwMode="auto">
          <a:xfrm flipH="1" flipV="1">
            <a:off x="6949186" y="2828132"/>
            <a:ext cx="373063" cy="32861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" name="AutoShape 22">
            <a:extLst>
              <a:ext uri="{FF2B5EF4-FFF2-40B4-BE49-F238E27FC236}">
                <a16:creationId xmlns:a16="http://schemas.microsoft.com/office/drawing/2014/main" id="{B18A612C-FEB8-432F-B5B8-D9264992680C}"/>
              </a:ext>
            </a:extLst>
          </p:cNvPr>
          <p:cNvCxnSpPr>
            <a:cxnSpLocks noChangeAspect="1" noChangeShapeType="1"/>
            <a:stCxn id="103" idx="4"/>
            <a:endCxn id="106" idx="0"/>
          </p:cNvCxnSpPr>
          <p:nvPr/>
        </p:nvCxnSpPr>
        <p:spPr bwMode="auto">
          <a:xfrm>
            <a:off x="7352411" y="2078832"/>
            <a:ext cx="0" cy="296863"/>
          </a:xfrm>
          <a:prstGeom prst="straightConnector1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5" name="AutoShape 23">
            <a:extLst>
              <a:ext uri="{FF2B5EF4-FFF2-40B4-BE49-F238E27FC236}">
                <a16:creationId xmlns:a16="http://schemas.microsoft.com/office/drawing/2014/main" id="{A0B5A181-2CCF-4352-A75C-00FEAEB973A1}"/>
              </a:ext>
            </a:extLst>
          </p:cNvPr>
          <p:cNvCxnSpPr>
            <a:cxnSpLocks noChangeAspect="1" noChangeShapeType="1"/>
            <a:stCxn id="110" idx="2"/>
            <a:endCxn id="104" idx="6"/>
          </p:cNvCxnSpPr>
          <p:nvPr/>
        </p:nvCxnSpPr>
        <p:spPr bwMode="auto">
          <a:xfrm flipH="1">
            <a:off x="6420549" y="2788444"/>
            <a:ext cx="446088" cy="71438"/>
          </a:xfrm>
          <a:prstGeom prst="straightConnector1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6" name="Oval 52">
            <a:extLst>
              <a:ext uri="{FF2B5EF4-FFF2-40B4-BE49-F238E27FC236}">
                <a16:creationId xmlns:a16="http://schemas.microsoft.com/office/drawing/2014/main" id="{CA7DDBE3-D439-4845-BFB5-173723F56D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1124744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7" name="Oval 53">
            <a:extLst>
              <a:ext uri="{FF2B5EF4-FFF2-40B4-BE49-F238E27FC236}">
                <a16:creationId xmlns:a16="http://schemas.microsoft.com/office/drawing/2014/main" id="{91152120-D9A6-46A0-8206-917D0D194D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77849" y="1759744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8" name="Oval 54">
            <a:extLst>
              <a:ext uri="{FF2B5EF4-FFF2-40B4-BE49-F238E27FC236}">
                <a16:creationId xmlns:a16="http://schemas.microsoft.com/office/drawing/2014/main" id="{7ED93858-8E73-4F67-BE7E-EC6E2A0A5E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46149" y="2394744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9" name="Oval 55">
            <a:extLst>
              <a:ext uri="{FF2B5EF4-FFF2-40B4-BE49-F238E27FC236}">
                <a16:creationId xmlns:a16="http://schemas.microsoft.com/office/drawing/2014/main" id="{6D3B2834-796B-47E8-BF28-B54363B98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4449" y="3029744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0" name="Oval 56">
            <a:extLst>
              <a:ext uri="{FF2B5EF4-FFF2-40B4-BE49-F238E27FC236}">
                <a16:creationId xmlns:a16="http://schemas.microsoft.com/office/drawing/2014/main" id="{F77B2559-2FE6-4020-BDA5-D9457F623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90549" y="2520157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1" name="Oval 57">
            <a:extLst>
              <a:ext uri="{FF2B5EF4-FFF2-40B4-BE49-F238E27FC236}">
                <a16:creationId xmlns:a16="http://schemas.microsoft.com/office/drawing/2014/main" id="{C920FA43-06CB-4220-8FD6-1758C9DA27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4336" y="3664744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2" name="Oval 58">
            <a:extLst>
              <a:ext uri="{FF2B5EF4-FFF2-40B4-BE49-F238E27FC236}">
                <a16:creationId xmlns:a16="http://schemas.microsoft.com/office/drawing/2014/main" id="{62E360C7-4486-4AF1-B243-BF9D3BC35F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7424" y="1970882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3" name="Oval 59">
            <a:extLst>
              <a:ext uri="{FF2B5EF4-FFF2-40B4-BE49-F238E27FC236}">
                <a16:creationId xmlns:a16="http://schemas.microsoft.com/office/drawing/2014/main" id="{05F64D99-A6AC-4E5F-A0A5-C99DEC5126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1981994"/>
            <a:ext cx="85725" cy="87313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4" name="Oval 60">
            <a:extLst>
              <a:ext uri="{FF2B5EF4-FFF2-40B4-BE49-F238E27FC236}">
                <a16:creationId xmlns:a16="http://schemas.microsoft.com/office/drawing/2014/main" id="{B9A73166-E44F-403A-9C6F-E06854C4BD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5299" y="2817019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5" name="Oval 61">
            <a:extLst>
              <a:ext uri="{FF2B5EF4-FFF2-40B4-BE49-F238E27FC236}">
                <a16:creationId xmlns:a16="http://schemas.microsoft.com/office/drawing/2014/main" id="{C7860511-E545-498C-B606-8050595E43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34761" y="3664744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6" name="Oval 62">
            <a:extLst>
              <a:ext uri="{FF2B5EF4-FFF2-40B4-BE49-F238E27FC236}">
                <a16:creationId xmlns:a16="http://schemas.microsoft.com/office/drawing/2014/main" id="{E36F0935-123C-4E2D-AF73-8F00B4400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2385219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7" name="Oval 63">
            <a:extLst>
              <a:ext uri="{FF2B5EF4-FFF2-40B4-BE49-F238E27FC236}">
                <a16:creationId xmlns:a16="http://schemas.microsoft.com/office/drawing/2014/main" id="{7CE02657-A254-48B2-A159-9BDC0E8E3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3153569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8" name="Oval 64">
            <a:extLst>
              <a:ext uri="{FF2B5EF4-FFF2-40B4-BE49-F238E27FC236}">
                <a16:creationId xmlns:a16="http://schemas.microsoft.com/office/drawing/2014/main" id="{7563006D-3ED4-47A8-A76C-BF0F1BA09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9549" y="3664744"/>
            <a:ext cx="85725" cy="85725"/>
          </a:xfrm>
          <a:prstGeom prst="ellipse">
            <a:avLst/>
          </a:prstGeom>
          <a:solidFill>
            <a:srgbClr val="FFFF00"/>
          </a:solidFill>
          <a:ln w="19050" algn="ctr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9" name="Oval 65">
            <a:extLst>
              <a:ext uri="{FF2B5EF4-FFF2-40B4-BE49-F238E27FC236}">
                <a16:creationId xmlns:a16="http://schemas.microsoft.com/office/drawing/2014/main" id="{E63B0FE0-9538-4F57-ABFB-4BA06868E3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6586" y="2924969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0" name="Oval 66">
            <a:extLst>
              <a:ext uri="{FF2B5EF4-FFF2-40B4-BE49-F238E27FC236}">
                <a16:creationId xmlns:a16="http://schemas.microsoft.com/office/drawing/2014/main" id="{6F90BD22-7A2C-4A6E-A704-6CD572314F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6161" y="2745582"/>
            <a:ext cx="85725" cy="857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111" name="Group 417">
            <a:extLst>
              <a:ext uri="{FF2B5EF4-FFF2-40B4-BE49-F238E27FC236}">
                <a16:creationId xmlns:a16="http://schemas.microsoft.com/office/drawing/2014/main" id="{48083F53-3624-48B4-9342-87891EEFF2B7}"/>
              </a:ext>
            </a:extLst>
          </p:cNvPr>
          <p:cNvGrpSpPr>
            <a:grpSpLocks/>
          </p:cNvGrpSpPr>
          <p:nvPr/>
        </p:nvGrpSpPr>
        <p:grpSpPr bwMode="auto">
          <a:xfrm>
            <a:off x="7261924" y="2358232"/>
            <a:ext cx="560387" cy="900112"/>
            <a:chOff x="1385" y="2755"/>
            <a:chExt cx="353" cy="567"/>
          </a:xfrm>
        </p:grpSpPr>
        <p:sp>
          <p:nvSpPr>
            <p:cNvPr id="112" name="Oval 330">
              <a:extLst>
                <a:ext uri="{FF2B5EF4-FFF2-40B4-BE49-F238E27FC236}">
                  <a16:creationId xmlns:a16="http://schemas.microsoft.com/office/drawing/2014/main" id="{4E31598C-8DF6-41C8-ABC7-2BD9FDAE8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2841"/>
              <a:ext cx="113" cy="113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13" name="Oval 331">
              <a:extLst>
                <a:ext uri="{FF2B5EF4-FFF2-40B4-BE49-F238E27FC236}">
                  <a16:creationId xmlns:a16="http://schemas.microsoft.com/office/drawing/2014/main" id="{340C907E-41EA-4A24-8B7B-60D03B06F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2755"/>
              <a:ext cx="113" cy="113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14" name="Oval 332">
              <a:extLst>
                <a:ext uri="{FF2B5EF4-FFF2-40B4-BE49-F238E27FC236}">
                  <a16:creationId xmlns:a16="http://schemas.microsoft.com/office/drawing/2014/main" id="{D37373E4-5C9C-4BF0-BA78-1D789A32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3209"/>
              <a:ext cx="113" cy="113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  <p:sp>
        <p:nvSpPr>
          <p:cNvPr id="115" name="Rectangle 333">
            <a:extLst>
              <a:ext uri="{FF2B5EF4-FFF2-40B4-BE49-F238E27FC236}">
                <a16:creationId xmlns:a16="http://schemas.microsoft.com/office/drawing/2014/main" id="{B8985FD3-909D-45A7-AEE5-DEC4E5334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2520" y="3848988"/>
            <a:ext cx="20034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rgbClr val="66FFFF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828675" indent="-28575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236663" indent="-2286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44650" indent="-228600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400" i="1" dirty="0">
                <a:effectLst/>
              </a:rPr>
              <a:t>n</a:t>
            </a:r>
            <a:r>
              <a:rPr kumimoji="0" lang="en-US" altLang="zh-CN" sz="2400" dirty="0">
                <a:effectLst/>
              </a:rPr>
              <a:t> = 15, </a:t>
            </a:r>
            <a:r>
              <a:rPr kumimoji="0" lang="en-US" altLang="zh-CN" sz="2400" i="1" dirty="0">
                <a:effectLst/>
              </a:rPr>
              <a:t>m</a:t>
            </a:r>
            <a:r>
              <a:rPr kumimoji="0" lang="en-US" altLang="zh-CN" sz="2400" dirty="0">
                <a:effectLst/>
              </a:rPr>
              <a:t> = 21</a:t>
            </a:r>
          </a:p>
        </p:txBody>
      </p:sp>
      <p:grpSp>
        <p:nvGrpSpPr>
          <p:cNvPr id="116" name="Group 413">
            <a:extLst>
              <a:ext uri="{FF2B5EF4-FFF2-40B4-BE49-F238E27FC236}">
                <a16:creationId xmlns:a16="http://schemas.microsoft.com/office/drawing/2014/main" id="{4C85F62B-0BDB-44EA-91ED-D80D89698A0D}"/>
              </a:ext>
            </a:extLst>
          </p:cNvPr>
          <p:cNvGrpSpPr>
            <a:grpSpLocks/>
          </p:cNvGrpSpPr>
          <p:nvPr/>
        </p:nvGrpSpPr>
        <p:grpSpPr bwMode="auto">
          <a:xfrm>
            <a:off x="5907786" y="1207294"/>
            <a:ext cx="2889250" cy="2500313"/>
            <a:chOff x="1079" y="1645"/>
            <a:chExt cx="1820" cy="1575"/>
          </a:xfrm>
        </p:grpSpPr>
        <p:cxnSp>
          <p:nvCxnSpPr>
            <p:cNvPr id="117" name="AutoShape 375">
              <a:extLst>
                <a:ext uri="{FF2B5EF4-FFF2-40B4-BE49-F238E27FC236}">
                  <a16:creationId xmlns:a16="http://schemas.microsoft.com/office/drawing/2014/main" id="{D2B67B43-56AC-4926-B344-254949E0DBE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008" y="1645"/>
              <a:ext cx="194" cy="350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8" name="AutoShape 376">
              <a:extLst>
                <a:ext uri="{FF2B5EF4-FFF2-40B4-BE49-F238E27FC236}">
                  <a16:creationId xmlns:a16="http://schemas.microsoft.com/office/drawing/2014/main" id="{6D966BB7-3012-4719-9FBB-1C8CFE5D73E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022" y="3220"/>
              <a:ext cx="863" cy="0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9" name="AutoShape 378">
              <a:extLst>
                <a:ext uri="{FF2B5EF4-FFF2-40B4-BE49-F238E27FC236}">
                  <a16:creationId xmlns:a16="http://schemas.microsoft.com/office/drawing/2014/main" id="{1611A050-EE23-4437-8532-AD3E2CA023F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472" y="2445"/>
              <a:ext cx="194" cy="350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0" name="AutoShape 379">
              <a:extLst>
                <a:ext uri="{FF2B5EF4-FFF2-40B4-BE49-F238E27FC236}">
                  <a16:creationId xmlns:a16="http://schemas.microsoft.com/office/drawing/2014/main" id="{7A4C09D8-BD3B-476A-B5B3-95E9582F083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704" y="2845"/>
              <a:ext cx="195" cy="350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1" name="AutoShape 380">
              <a:extLst>
                <a:ext uri="{FF2B5EF4-FFF2-40B4-BE49-F238E27FC236}">
                  <a16:creationId xmlns:a16="http://schemas.microsoft.com/office/drawing/2014/main" id="{AC13705C-C9FF-45AC-A54A-76354F17A8E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698" y="1645"/>
              <a:ext cx="272" cy="483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2" name="AutoShape 381">
              <a:extLst>
                <a:ext uri="{FF2B5EF4-FFF2-40B4-BE49-F238E27FC236}">
                  <a16:creationId xmlns:a16="http://schemas.microsoft.com/office/drawing/2014/main" id="{F6CA13BA-6F64-4A22-B56D-F3755C0EAA1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93" y="3220"/>
              <a:ext cx="863" cy="0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3" name="AutoShape 382">
              <a:extLst>
                <a:ext uri="{FF2B5EF4-FFF2-40B4-BE49-F238E27FC236}">
                  <a16:creationId xmlns:a16="http://schemas.microsoft.com/office/drawing/2014/main" id="{0FAC5F24-1280-4E34-B27A-AB5AD1CE5F4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008" y="2020"/>
              <a:ext cx="180" cy="115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4" name="AutoShape 384">
              <a:extLst>
                <a:ext uri="{FF2B5EF4-FFF2-40B4-BE49-F238E27FC236}">
                  <a16:creationId xmlns:a16="http://schemas.microsoft.com/office/drawing/2014/main" id="{CA25561C-3CA4-4E05-8012-B293C2B06BE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388" y="2178"/>
              <a:ext cx="272" cy="483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385">
              <a:extLst>
                <a:ext uri="{FF2B5EF4-FFF2-40B4-BE49-F238E27FC236}">
                  <a16:creationId xmlns:a16="http://schemas.microsoft.com/office/drawing/2014/main" id="{E33B3C2F-F2BD-400A-97E3-210A8D1BC6A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079" y="2711"/>
              <a:ext cx="271" cy="484"/>
            </a:xfrm>
            <a:prstGeom prst="straightConnector1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6" name="AutoShape 386">
              <a:extLst>
                <a:ext uri="{FF2B5EF4-FFF2-40B4-BE49-F238E27FC236}">
                  <a16:creationId xmlns:a16="http://schemas.microsoft.com/office/drawing/2014/main" id="{DCB7BEAB-7494-4A3D-A7C4-328C18C7E76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262" y="2420"/>
              <a:ext cx="158" cy="79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7" name="AutoShape 387">
              <a:extLst>
                <a:ext uri="{FF2B5EF4-FFF2-40B4-BE49-F238E27FC236}">
                  <a16:creationId xmlns:a16="http://schemas.microsoft.com/office/drawing/2014/main" id="{C80C86EE-D364-4F1D-82D9-9A0C0D380EC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229" y="2532"/>
              <a:ext cx="29" cy="189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8" name="AutoShape 388">
              <a:extLst>
                <a:ext uri="{FF2B5EF4-FFF2-40B4-BE49-F238E27FC236}">
                  <a16:creationId xmlns:a16="http://schemas.microsoft.com/office/drawing/2014/main" id="{1F6F6466-2420-42DE-9B27-F695C40715D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008" y="2754"/>
              <a:ext cx="217" cy="119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9" name="AutoShape 390">
              <a:extLst>
                <a:ext uri="{FF2B5EF4-FFF2-40B4-BE49-F238E27FC236}">
                  <a16:creationId xmlns:a16="http://schemas.microsoft.com/office/drawing/2014/main" id="{6F53CA5C-6DBB-49A2-8CCA-0117A67F29C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735" y="2439"/>
              <a:ext cx="235" cy="177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30" name="AutoShape 393">
              <a:extLst>
                <a:ext uri="{FF2B5EF4-FFF2-40B4-BE49-F238E27FC236}">
                  <a16:creationId xmlns:a16="http://schemas.microsoft.com/office/drawing/2014/main" id="{E51E08A4-9A2F-4EC4-B308-A61DD62A1AA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 flipV="1">
              <a:off x="1735" y="2666"/>
              <a:ext cx="235" cy="207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31" name="AutoShape 394">
              <a:extLst>
                <a:ext uri="{FF2B5EF4-FFF2-40B4-BE49-F238E27FC236}">
                  <a16:creationId xmlns:a16="http://schemas.microsoft.com/office/drawing/2014/main" id="{A4B08203-3403-4E98-B0F5-7C8CABC3AAC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989" y="2194"/>
              <a:ext cx="0" cy="187"/>
            </a:xfrm>
            <a:prstGeom prst="straightConnector1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132" name="Group 416">
            <a:extLst>
              <a:ext uri="{FF2B5EF4-FFF2-40B4-BE49-F238E27FC236}">
                <a16:creationId xmlns:a16="http://schemas.microsoft.com/office/drawing/2014/main" id="{0B3806B8-5343-42D6-80C1-A63C4C3D717E}"/>
              </a:ext>
            </a:extLst>
          </p:cNvPr>
          <p:cNvGrpSpPr>
            <a:grpSpLocks/>
          </p:cNvGrpSpPr>
          <p:nvPr/>
        </p:nvGrpSpPr>
        <p:grpSpPr bwMode="auto">
          <a:xfrm>
            <a:off x="6304661" y="1683544"/>
            <a:ext cx="2251075" cy="2116138"/>
            <a:chOff x="782" y="2330"/>
            <a:chExt cx="1418" cy="1333"/>
          </a:xfrm>
        </p:grpSpPr>
        <p:sp>
          <p:nvSpPr>
            <p:cNvPr id="133" name="Oval 326">
              <a:extLst>
                <a:ext uri="{FF2B5EF4-FFF2-40B4-BE49-F238E27FC236}">
                  <a16:creationId xmlns:a16="http://schemas.microsoft.com/office/drawing/2014/main" id="{5AD8E9F5-3527-40CC-A59D-E42EC3295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3550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34" name="Oval 327">
              <a:extLst>
                <a:ext uri="{FF2B5EF4-FFF2-40B4-BE49-F238E27FC236}">
                  <a16:creationId xmlns:a16="http://schemas.microsoft.com/office/drawing/2014/main" id="{05B8AAF8-8741-4FF8-9E20-FD41DF3D2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" y="3010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35" name="Oval 328">
              <a:extLst>
                <a:ext uri="{FF2B5EF4-FFF2-40B4-BE49-F238E27FC236}">
                  <a16:creationId xmlns:a16="http://schemas.microsoft.com/office/drawing/2014/main" id="{4A687573-9248-4633-AC8A-C0733051E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2466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36" name="Oval 329">
              <a:extLst>
                <a:ext uri="{FF2B5EF4-FFF2-40B4-BE49-F238E27FC236}">
                  <a16:creationId xmlns:a16="http://schemas.microsoft.com/office/drawing/2014/main" id="{A04C5439-43F1-4F2C-8104-764CF5F62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" y="2330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137" name="Oval 415">
              <a:extLst>
                <a:ext uri="{FF2B5EF4-FFF2-40B4-BE49-F238E27FC236}">
                  <a16:creationId xmlns:a16="http://schemas.microsoft.com/office/drawing/2014/main" id="{C155D943-8E2A-44BC-9DF8-A50B12C0A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3153"/>
              <a:ext cx="113" cy="11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FFFF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6FFFF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738434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decel="10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decel="100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decel="100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88E11-D5C5-4F4D-B991-D1F6912B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扩展阅读材料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31094-8628-42CF-AED6-C8B293F78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http://www.shuxueji.com/w/17751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https://oi-wiki.org/graph/color/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4E1B27-93A2-4DCB-B4A7-01C5137F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B00429-19CE-4C2D-A58F-009C5D7921E3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18017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6735</TotalTime>
  <Words>6702</Words>
  <Application>Microsoft Office PowerPoint</Application>
  <PresentationFormat>全屏显示(4:3)</PresentationFormat>
  <Paragraphs>635</Paragraphs>
  <Slides>50</Slides>
  <Notes>48</Notes>
  <HiddenSlides>3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华文中宋</vt:lpstr>
      <vt:lpstr>楷体_GB2312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Microsoft 公式 3.0</vt:lpstr>
      <vt:lpstr>文档</vt:lpstr>
      <vt:lpstr>离散数学 （一）</vt:lpstr>
      <vt:lpstr>第十八章支配集、独立集、覆盖集、匹配与着色</vt:lpstr>
      <vt:lpstr>支配集</vt:lpstr>
      <vt:lpstr>支配集与支配数</vt:lpstr>
      <vt:lpstr>点独立集</vt:lpstr>
      <vt:lpstr>点独立集与点独立数</vt:lpstr>
      <vt:lpstr>极大独立集与极小支配集</vt:lpstr>
      <vt:lpstr>点覆盖集</vt:lpstr>
      <vt:lpstr>点覆盖集与点覆盖数</vt:lpstr>
      <vt:lpstr>支配集、独立集、覆盖集举例</vt:lpstr>
      <vt:lpstr>点覆盖集与点独立集的关系</vt:lpstr>
      <vt:lpstr>18.2 边覆盖集与匹配</vt:lpstr>
      <vt:lpstr>匹配(边独立集)与匹配数(边独立数)</vt:lpstr>
      <vt:lpstr>关于匹配中的其他概念</vt:lpstr>
      <vt:lpstr>可增广路径及交错圈</vt:lpstr>
      <vt:lpstr>边覆盖集与匹配举例</vt:lpstr>
      <vt:lpstr>最大匹配与最小边覆盖之间关系</vt:lpstr>
      <vt:lpstr>推论</vt:lpstr>
      <vt:lpstr>最大匹配判别定理</vt:lpstr>
      <vt:lpstr>18.3 二部图中的匹配</vt:lpstr>
      <vt:lpstr>Hall定理</vt:lpstr>
      <vt:lpstr>一个应用实例</vt:lpstr>
      <vt:lpstr>图着色</vt:lpstr>
      <vt:lpstr>点着色</vt:lpstr>
      <vt:lpstr>18.4 点着色</vt:lpstr>
      <vt:lpstr>关于顶点着色的几个简单结果</vt:lpstr>
      <vt:lpstr>色数的上界</vt:lpstr>
      <vt:lpstr>Welch-Powell算法</vt:lpstr>
      <vt:lpstr>18.5 地图着色与平面图的点着色</vt:lpstr>
      <vt:lpstr>地图的面着色</vt:lpstr>
      <vt:lpstr>地图的面着色</vt:lpstr>
      <vt:lpstr>地图的面着色</vt:lpstr>
      <vt:lpstr>18.6 边着色(无环无向图)</vt:lpstr>
      <vt:lpstr>18.6 边着色(无环无向图)</vt:lpstr>
      <vt:lpstr>第十八章 习题课</vt:lpstr>
      <vt:lpstr>练习1</vt:lpstr>
      <vt:lpstr>解答</vt:lpstr>
      <vt:lpstr>练习2</vt:lpstr>
      <vt:lpstr>PowerPoint 演示文稿</vt:lpstr>
      <vt:lpstr>练习3</vt:lpstr>
      <vt:lpstr>练习4</vt:lpstr>
      <vt:lpstr>练习5</vt:lpstr>
      <vt:lpstr>练习5</vt:lpstr>
      <vt:lpstr>PowerPoint 演示文稿</vt:lpstr>
      <vt:lpstr>练习6</vt:lpstr>
      <vt:lpstr>练习7</vt:lpstr>
      <vt:lpstr>解答</vt:lpstr>
      <vt:lpstr>练习8</vt:lpstr>
      <vt:lpstr>练习8</vt:lpstr>
      <vt:lpstr>扩展阅读材料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szx</cp:lastModifiedBy>
  <cp:revision>477</cp:revision>
  <dcterms:created xsi:type="dcterms:W3CDTF">2007-11-19T20:33:53Z</dcterms:created>
  <dcterms:modified xsi:type="dcterms:W3CDTF">2025-04-23T09:23:36Z</dcterms:modified>
</cp:coreProperties>
</file>