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handoutMasterIdLst>
    <p:handoutMasterId r:id="rId65"/>
  </p:handoutMasterIdLst>
  <p:sldIdLst>
    <p:sldId id="366" r:id="rId2"/>
    <p:sldId id="388" r:id="rId3"/>
    <p:sldId id="257" r:id="rId4"/>
    <p:sldId id="258" r:id="rId5"/>
    <p:sldId id="368" r:id="rId6"/>
    <p:sldId id="369" r:id="rId7"/>
    <p:sldId id="259" r:id="rId8"/>
    <p:sldId id="260" r:id="rId9"/>
    <p:sldId id="261" r:id="rId10"/>
    <p:sldId id="370" r:id="rId11"/>
    <p:sldId id="367" r:id="rId12"/>
    <p:sldId id="384" r:id="rId13"/>
    <p:sldId id="385" r:id="rId14"/>
    <p:sldId id="263" r:id="rId15"/>
    <p:sldId id="264" r:id="rId16"/>
    <p:sldId id="266" r:id="rId17"/>
    <p:sldId id="267" r:id="rId18"/>
    <p:sldId id="268" r:id="rId19"/>
    <p:sldId id="270" r:id="rId20"/>
    <p:sldId id="271" r:id="rId21"/>
    <p:sldId id="269" r:id="rId22"/>
    <p:sldId id="371" r:id="rId23"/>
    <p:sldId id="272" r:id="rId24"/>
    <p:sldId id="275" r:id="rId25"/>
    <p:sldId id="276" r:id="rId26"/>
    <p:sldId id="277" r:id="rId27"/>
    <p:sldId id="299" r:id="rId28"/>
    <p:sldId id="273" r:id="rId29"/>
    <p:sldId id="274" r:id="rId30"/>
    <p:sldId id="278" r:id="rId31"/>
    <p:sldId id="280" r:id="rId32"/>
    <p:sldId id="281" r:id="rId33"/>
    <p:sldId id="282" r:id="rId34"/>
    <p:sldId id="283" r:id="rId35"/>
    <p:sldId id="284" r:id="rId36"/>
    <p:sldId id="289" r:id="rId37"/>
    <p:sldId id="291" r:id="rId38"/>
    <p:sldId id="292" r:id="rId39"/>
    <p:sldId id="293" r:id="rId40"/>
    <p:sldId id="285" r:id="rId41"/>
    <p:sldId id="286" r:id="rId42"/>
    <p:sldId id="287" r:id="rId43"/>
    <p:sldId id="288" r:id="rId44"/>
    <p:sldId id="294" r:id="rId45"/>
    <p:sldId id="295" r:id="rId46"/>
    <p:sldId id="296" r:id="rId47"/>
    <p:sldId id="297" r:id="rId48"/>
    <p:sldId id="298" r:id="rId49"/>
    <p:sldId id="373" r:id="rId50"/>
    <p:sldId id="374" r:id="rId51"/>
    <p:sldId id="372" r:id="rId52"/>
    <p:sldId id="375" r:id="rId53"/>
    <p:sldId id="376" r:id="rId54"/>
    <p:sldId id="377" r:id="rId55"/>
    <p:sldId id="378" r:id="rId56"/>
    <p:sldId id="379" r:id="rId57"/>
    <p:sldId id="380" r:id="rId58"/>
    <p:sldId id="381" r:id="rId59"/>
    <p:sldId id="382" r:id="rId60"/>
    <p:sldId id="386" r:id="rId61"/>
    <p:sldId id="387" r:id="rId62"/>
    <p:sldId id="383" r:id="rId6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Wingdings 3" panose="05040102010807070707" pitchFamily="18" charset="2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Wingdings 3" panose="05040102010807070707" pitchFamily="18" charset="2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Wingdings 3" panose="05040102010807070707" pitchFamily="18" charset="2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Wingdings 3" panose="05040102010807070707" pitchFamily="18" charset="2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Wingdings 3" panose="05040102010807070707" pitchFamily="18" charset="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Wingdings 3" panose="05040102010807070707" pitchFamily="18" charset="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Wingdings 3" panose="05040102010807070707" pitchFamily="18" charset="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Wingdings 3" panose="05040102010807070707" pitchFamily="18" charset="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Wingdings 3" panose="05040102010807070707" pitchFamily="18" charset="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FF9900"/>
    <a:srgbClr val="A50021"/>
    <a:srgbClr val="69B3F1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56" autoAdjust="0"/>
    <p:restoredTop sz="92819" autoAdjust="0"/>
  </p:normalViewPr>
  <p:slideViewPr>
    <p:cSldViewPr>
      <p:cViewPr varScale="1">
        <p:scale>
          <a:sx n="107" d="100"/>
          <a:sy n="107" d="100"/>
        </p:scale>
        <p:origin x="39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27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9DBFBB9-AE7E-494E-896F-27FC5B2C684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67131D9-B3DB-4A94-9F95-56F7AAE7CE4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DC0977BA-CDE9-438E-A1F3-B542F1D2A69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FF0CF1A7-273A-4C4E-B2E6-4F76976ED74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7FEE60A-D7EF-4C3C-9864-54224439972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AF9DC10-E1C3-4A0E-9A38-A5E477202D8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8FFB20A-2B57-494B-9C3C-F861CC420F2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5B92516-BB0E-4986-8554-C4F7523531D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FAA124D7-0939-48AD-A370-2D25DEF7A95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6D5CFE2B-C168-4E14-9E7B-08DAC7DFF76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8347DCF-8233-4803-9DBC-B06B4283D3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2994E8E8-E6BF-453C-99CD-907E6F898F8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6E59D-8E7F-4537-84E6-386696EBCA7C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3848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96C84BB-EA6B-4AF1-A0F5-1B10F0CFA3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1892B2-D829-49E9-BA0D-D1DB0E143A26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1F745B35-B04B-4477-934B-D59F1E61F1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579D6A5-E372-4EA4-BD4C-D9B18A684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20721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96C84BB-EA6B-4AF1-A0F5-1B10F0CFA3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1892B2-D829-49E9-BA0D-D1DB0E143A26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1F745B35-B04B-4477-934B-D59F1E61F1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579D6A5-E372-4EA4-BD4C-D9B18A684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BAB20C1-FCBA-426D-8D72-2F77005E68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C2E60A-2C91-4C9D-907B-5CD652627109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269314" name="Rectangle 2">
            <a:extLst>
              <a:ext uri="{FF2B5EF4-FFF2-40B4-BE49-F238E27FC236}">
                <a16:creationId xmlns:a16="http://schemas.microsoft.com/office/drawing/2014/main" id="{9845F98B-6893-4781-9925-2FBB977B01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>
            <a:extLst>
              <a:ext uri="{FF2B5EF4-FFF2-40B4-BE49-F238E27FC236}">
                <a16:creationId xmlns:a16="http://schemas.microsoft.com/office/drawing/2014/main" id="{4F7919BF-E5E1-47FA-96D6-3E81A0E250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A7FEBB5-E4B9-41CE-8361-8F7586146D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763008-AA43-4F0D-BBE0-52FA755A576F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275458" name="Rectangle 2">
            <a:extLst>
              <a:ext uri="{FF2B5EF4-FFF2-40B4-BE49-F238E27FC236}">
                <a16:creationId xmlns:a16="http://schemas.microsoft.com/office/drawing/2014/main" id="{691E2AE8-809A-4D64-84A9-9A7EFDB66A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27F5FB30-E8DD-4653-990D-5B4BE6552F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37011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A7FEBB5-E4B9-41CE-8361-8F7586146D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763008-AA43-4F0D-BBE0-52FA755A576F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275458" name="Rectangle 2">
            <a:extLst>
              <a:ext uri="{FF2B5EF4-FFF2-40B4-BE49-F238E27FC236}">
                <a16:creationId xmlns:a16="http://schemas.microsoft.com/office/drawing/2014/main" id="{691E2AE8-809A-4D64-84A9-9A7EFDB66A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27F5FB30-E8DD-4653-990D-5B4BE6552F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01796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34075DC-97CA-467A-88E9-D532047A5E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F11201-17C2-492F-BDA5-97BEABFA544F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271362" name="Rectangle 2">
            <a:extLst>
              <a:ext uri="{FF2B5EF4-FFF2-40B4-BE49-F238E27FC236}">
                <a16:creationId xmlns:a16="http://schemas.microsoft.com/office/drawing/2014/main" id="{F3DA0368-CD50-4492-BB30-8380961BCB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1363" name="Rectangle 3">
            <a:extLst>
              <a:ext uri="{FF2B5EF4-FFF2-40B4-BE49-F238E27FC236}">
                <a16:creationId xmlns:a16="http://schemas.microsoft.com/office/drawing/2014/main" id="{98BDFC67-2CDE-4A1C-B40C-0AF16F2B1E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85B2112-6EB1-4117-B738-F1C0D79D94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5C8740-69D3-4D24-9318-6D79072468EB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273410" name="Rectangle 2">
            <a:extLst>
              <a:ext uri="{FF2B5EF4-FFF2-40B4-BE49-F238E27FC236}">
                <a16:creationId xmlns:a16="http://schemas.microsoft.com/office/drawing/2014/main" id="{8F9D93AF-5B7F-419F-B95B-24447F67D9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3411" name="Rectangle 3">
            <a:extLst>
              <a:ext uri="{FF2B5EF4-FFF2-40B4-BE49-F238E27FC236}">
                <a16:creationId xmlns:a16="http://schemas.microsoft.com/office/drawing/2014/main" id="{272BDE00-5EC5-4D12-BAC8-768CFF94E0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A7FEBB5-E4B9-41CE-8361-8F7586146D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763008-AA43-4F0D-BBE0-52FA755A576F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275458" name="Rectangle 2">
            <a:extLst>
              <a:ext uri="{FF2B5EF4-FFF2-40B4-BE49-F238E27FC236}">
                <a16:creationId xmlns:a16="http://schemas.microsoft.com/office/drawing/2014/main" id="{691E2AE8-809A-4D64-84A9-9A7EFDB66A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27F5FB30-E8DD-4653-990D-5B4BE6552F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A7FEBB5-E4B9-41CE-8361-8F7586146D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763008-AA43-4F0D-BBE0-52FA755A576F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275458" name="Rectangle 2">
            <a:extLst>
              <a:ext uri="{FF2B5EF4-FFF2-40B4-BE49-F238E27FC236}">
                <a16:creationId xmlns:a16="http://schemas.microsoft.com/office/drawing/2014/main" id="{691E2AE8-809A-4D64-84A9-9A7EFDB66A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27F5FB30-E8DD-4653-990D-5B4BE6552F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78914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A7FEBB5-E4B9-41CE-8361-8F7586146D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763008-AA43-4F0D-BBE0-52FA755A576F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275458" name="Rectangle 2">
            <a:extLst>
              <a:ext uri="{FF2B5EF4-FFF2-40B4-BE49-F238E27FC236}">
                <a16:creationId xmlns:a16="http://schemas.microsoft.com/office/drawing/2014/main" id="{691E2AE8-809A-4D64-84A9-9A7EFDB66A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27F5FB30-E8DD-4653-990D-5B4BE6552F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90266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A7FEBB5-E4B9-41CE-8361-8F7586146D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763008-AA43-4F0D-BBE0-52FA755A576F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275458" name="Rectangle 2">
            <a:extLst>
              <a:ext uri="{FF2B5EF4-FFF2-40B4-BE49-F238E27FC236}">
                <a16:creationId xmlns:a16="http://schemas.microsoft.com/office/drawing/2014/main" id="{691E2AE8-809A-4D64-84A9-9A7EFDB66A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27F5FB30-E8DD-4653-990D-5B4BE6552F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723916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A7FEBB5-E4B9-41CE-8361-8F7586146D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763008-AA43-4F0D-BBE0-52FA755A576F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275458" name="Rectangle 2">
            <a:extLst>
              <a:ext uri="{FF2B5EF4-FFF2-40B4-BE49-F238E27FC236}">
                <a16:creationId xmlns:a16="http://schemas.microsoft.com/office/drawing/2014/main" id="{691E2AE8-809A-4D64-84A9-9A7EFDB66A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27F5FB30-E8DD-4653-990D-5B4BE6552F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97496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825C25F-2604-46FC-B82E-95EDDF5B2F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74B7E9-E37E-4680-B83D-2AB8C14A1FC6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77E1541D-6A09-44B2-8726-5E0C424A4A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0AF918F5-7AEE-44E3-8004-C3F8822819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4D7DBDC-CE18-439A-B30A-CC9E5836F3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132162-5116-4B69-8876-05F34F3B9830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281602" name="Rectangle 2">
            <a:extLst>
              <a:ext uri="{FF2B5EF4-FFF2-40B4-BE49-F238E27FC236}">
                <a16:creationId xmlns:a16="http://schemas.microsoft.com/office/drawing/2014/main" id="{B80E67C7-2B1C-44F4-9F02-2DAF21D119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3" name="Rectangle 3">
            <a:extLst>
              <a:ext uri="{FF2B5EF4-FFF2-40B4-BE49-F238E27FC236}">
                <a16:creationId xmlns:a16="http://schemas.microsoft.com/office/drawing/2014/main" id="{FBD39D24-6BE1-4FC9-9591-6331F79B3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28BADE7-3125-4299-B799-D217B99F8C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76A9BC-2C49-4F6E-A2CA-5DF4CAF4AB89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285698" name="Rectangle 2">
            <a:extLst>
              <a:ext uri="{FF2B5EF4-FFF2-40B4-BE49-F238E27FC236}">
                <a16:creationId xmlns:a16="http://schemas.microsoft.com/office/drawing/2014/main" id="{A9D5D14E-EE52-47B3-B554-2049F99E6F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0C288BB3-D1E9-40F2-A8FD-C423EBACEE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4E1EA62-DAE7-4B6A-B368-BAC933FBBD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EF326F-5E5F-4E2F-A288-A497D5439FC4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287746" name="Rectangle 2">
            <a:extLst>
              <a:ext uri="{FF2B5EF4-FFF2-40B4-BE49-F238E27FC236}">
                <a16:creationId xmlns:a16="http://schemas.microsoft.com/office/drawing/2014/main" id="{2B10FA23-1855-417A-91DC-1DD40CCB06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7" name="Rectangle 3">
            <a:extLst>
              <a:ext uri="{FF2B5EF4-FFF2-40B4-BE49-F238E27FC236}">
                <a16:creationId xmlns:a16="http://schemas.microsoft.com/office/drawing/2014/main" id="{DDE0937A-4B32-485D-A658-41621A114A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6105A57-2A6D-406F-9AD0-B32666EA5E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325286-450C-4E05-B7A5-C92C148727BD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290818" name="Rectangle 2">
            <a:extLst>
              <a:ext uri="{FF2B5EF4-FFF2-40B4-BE49-F238E27FC236}">
                <a16:creationId xmlns:a16="http://schemas.microsoft.com/office/drawing/2014/main" id="{325B3BE5-09F8-4C1F-A717-1EB2F62D69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0819" name="Rectangle 3">
            <a:extLst>
              <a:ext uri="{FF2B5EF4-FFF2-40B4-BE49-F238E27FC236}">
                <a16:creationId xmlns:a16="http://schemas.microsoft.com/office/drawing/2014/main" id="{57D40D13-1970-414C-9F2F-F590F23B2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C791D0E-2B8A-4308-AD5C-19B807B919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EC43DD-767D-4CE3-B80F-5E839196F620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294914" name="Rectangle 2">
            <a:extLst>
              <a:ext uri="{FF2B5EF4-FFF2-40B4-BE49-F238E27FC236}">
                <a16:creationId xmlns:a16="http://schemas.microsoft.com/office/drawing/2014/main" id="{53372C5E-0816-4D0A-A57B-DB52C746EF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4915" name="Rectangle 3">
            <a:extLst>
              <a:ext uri="{FF2B5EF4-FFF2-40B4-BE49-F238E27FC236}">
                <a16:creationId xmlns:a16="http://schemas.microsoft.com/office/drawing/2014/main" id="{9FBF431F-5C69-4243-88F9-B0A47C35D1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5D234BB-AD2D-43D0-B061-37E07B8232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6AC55D-466F-4726-906D-B0E3C27E944B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296962" name="Rectangle 2">
            <a:extLst>
              <a:ext uri="{FF2B5EF4-FFF2-40B4-BE49-F238E27FC236}">
                <a16:creationId xmlns:a16="http://schemas.microsoft.com/office/drawing/2014/main" id="{CC1B33C7-C318-41C0-9496-F4A827CA02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63" name="Rectangle 3">
            <a:extLst>
              <a:ext uri="{FF2B5EF4-FFF2-40B4-BE49-F238E27FC236}">
                <a16:creationId xmlns:a16="http://schemas.microsoft.com/office/drawing/2014/main" id="{75A083CA-9EC1-4674-B6B1-16F974B2EE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95B378A-FB9F-4429-8DAD-B87D6D49EC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3CB7F4-1236-4505-9FBA-C9914ECAE688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292866" name="Rectangle 2">
            <a:extLst>
              <a:ext uri="{FF2B5EF4-FFF2-40B4-BE49-F238E27FC236}">
                <a16:creationId xmlns:a16="http://schemas.microsoft.com/office/drawing/2014/main" id="{841438D2-371E-4DFE-AC7D-524F05725F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2867" name="Rectangle 3">
            <a:extLst>
              <a:ext uri="{FF2B5EF4-FFF2-40B4-BE49-F238E27FC236}">
                <a16:creationId xmlns:a16="http://schemas.microsoft.com/office/drawing/2014/main" id="{67FFED11-C669-4687-8075-7740B83466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95B378A-FB9F-4429-8DAD-B87D6D49EC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3CB7F4-1236-4505-9FBA-C9914ECAE688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292866" name="Rectangle 2">
            <a:extLst>
              <a:ext uri="{FF2B5EF4-FFF2-40B4-BE49-F238E27FC236}">
                <a16:creationId xmlns:a16="http://schemas.microsoft.com/office/drawing/2014/main" id="{841438D2-371E-4DFE-AC7D-524F05725F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2867" name="Rectangle 3">
            <a:extLst>
              <a:ext uri="{FF2B5EF4-FFF2-40B4-BE49-F238E27FC236}">
                <a16:creationId xmlns:a16="http://schemas.microsoft.com/office/drawing/2014/main" id="{67FFED11-C669-4687-8075-7740B83466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402975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C592E96-EB08-4502-86E4-C0F16EBFE5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E2C6CB-4F46-4B3B-82B7-DCA362DFB5E4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299010" name="Rectangle 2">
            <a:extLst>
              <a:ext uri="{FF2B5EF4-FFF2-40B4-BE49-F238E27FC236}">
                <a16:creationId xmlns:a16="http://schemas.microsoft.com/office/drawing/2014/main" id="{C94A3C18-D4C4-4D04-A469-672A7BA1C2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9011" name="Rectangle 3">
            <a:extLst>
              <a:ext uri="{FF2B5EF4-FFF2-40B4-BE49-F238E27FC236}">
                <a16:creationId xmlns:a16="http://schemas.microsoft.com/office/drawing/2014/main" id="{84DEE2BE-BF38-4CF6-A095-A5311E372F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28FE56D-D3E5-4FC6-AF24-C3EAB8C839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1DD44B-DFBE-4ACA-9196-5F99B94AC1ED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305154" name="Rectangle 2">
            <a:extLst>
              <a:ext uri="{FF2B5EF4-FFF2-40B4-BE49-F238E27FC236}">
                <a16:creationId xmlns:a16="http://schemas.microsoft.com/office/drawing/2014/main" id="{990AEC47-4D13-47AC-83A0-C815B11DB0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5155" name="Rectangle 3">
            <a:extLst>
              <a:ext uri="{FF2B5EF4-FFF2-40B4-BE49-F238E27FC236}">
                <a16:creationId xmlns:a16="http://schemas.microsoft.com/office/drawing/2014/main" id="{BBA1164C-FC88-4F25-91F8-CEEF41DD0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491C441-390E-412E-B3A2-6957218746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370E9B-C2DC-4435-84B3-D7C250308FC0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307202" name="Rectangle 2">
            <a:extLst>
              <a:ext uri="{FF2B5EF4-FFF2-40B4-BE49-F238E27FC236}">
                <a16:creationId xmlns:a16="http://schemas.microsoft.com/office/drawing/2014/main" id="{2BB1377E-C30E-4047-9735-A01890D7D9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3" name="Rectangle 3">
            <a:extLst>
              <a:ext uri="{FF2B5EF4-FFF2-40B4-BE49-F238E27FC236}">
                <a16:creationId xmlns:a16="http://schemas.microsoft.com/office/drawing/2014/main" id="{364D2EE8-2C74-44F0-9173-398D2D9DA0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553F817-12F3-43D3-9D87-AA1D1D2B11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995022-24F0-4607-8D78-1FD89E169527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309250" name="Rectangle 2">
            <a:extLst>
              <a:ext uri="{FF2B5EF4-FFF2-40B4-BE49-F238E27FC236}">
                <a16:creationId xmlns:a16="http://schemas.microsoft.com/office/drawing/2014/main" id="{D5DECFCC-46FF-4994-8810-1A9853C04A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9251" name="Rectangle 3">
            <a:extLst>
              <a:ext uri="{FF2B5EF4-FFF2-40B4-BE49-F238E27FC236}">
                <a16:creationId xmlns:a16="http://schemas.microsoft.com/office/drawing/2014/main" id="{AD56637A-95EB-4E5A-B2F9-3927214653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4AB9A15-7504-4FA0-8A0A-97FDDD9013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A79CA3-78A8-4172-ABF5-FC6D8D2A3B38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359426" name="Rectangle 2">
            <a:extLst>
              <a:ext uri="{FF2B5EF4-FFF2-40B4-BE49-F238E27FC236}">
                <a16:creationId xmlns:a16="http://schemas.microsoft.com/office/drawing/2014/main" id="{DAA4A1DE-CBB1-4491-97A1-0FCFC2F2BC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9427" name="Rectangle 3">
            <a:extLst>
              <a:ext uri="{FF2B5EF4-FFF2-40B4-BE49-F238E27FC236}">
                <a16:creationId xmlns:a16="http://schemas.microsoft.com/office/drawing/2014/main" id="{0F0F831A-1FF8-439F-BC05-450BBF999E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2022F37-C8FE-4CA6-A303-884FC61009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6B7C36-2D77-4535-93E9-D29EE97E5A72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301058" name="Rectangle 2">
            <a:extLst>
              <a:ext uri="{FF2B5EF4-FFF2-40B4-BE49-F238E27FC236}">
                <a16:creationId xmlns:a16="http://schemas.microsoft.com/office/drawing/2014/main" id="{82C5D934-638F-4BC8-9661-FD4BB38ACD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>
            <a:extLst>
              <a:ext uri="{FF2B5EF4-FFF2-40B4-BE49-F238E27FC236}">
                <a16:creationId xmlns:a16="http://schemas.microsoft.com/office/drawing/2014/main" id="{DA3E1256-D852-45B1-8FDE-AE624AF97F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20832EC-E7E7-4853-A82F-4560F4F8BD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189FA3-C369-4F4A-90E8-B60561039FEB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303106" name="Rectangle 2">
            <a:extLst>
              <a:ext uri="{FF2B5EF4-FFF2-40B4-BE49-F238E27FC236}">
                <a16:creationId xmlns:a16="http://schemas.microsoft.com/office/drawing/2014/main" id="{087DCDDD-08F5-4698-AA10-29DA7348BE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3107" name="Rectangle 3">
            <a:extLst>
              <a:ext uri="{FF2B5EF4-FFF2-40B4-BE49-F238E27FC236}">
                <a16:creationId xmlns:a16="http://schemas.microsoft.com/office/drawing/2014/main" id="{9934A4E9-774E-4E4C-8BBD-8B107B6068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9402666-5240-4074-81EE-797E660636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DF1AC0-91F1-4E9D-86CE-3B5800884832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311298" name="Rectangle 2">
            <a:extLst>
              <a:ext uri="{FF2B5EF4-FFF2-40B4-BE49-F238E27FC236}">
                <a16:creationId xmlns:a16="http://schemas.microsoft.com/office/drawing/2014/main" id="{60BEE9C8-E817-4499-A219-0C68E1A158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13B62741-094A-4F0B-A62A-CC6F0BBEFF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86A1363-F368-4E92-B851-A18AD9E723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764936-F317-484B-B71D-BAC5B72D3E04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315394" name="Rectangle 2">
            <a:extLst>
              <a:ext uri="{FF2B5EF4-FFF2-40B4-BE49-F238E27FC236}">
                <a16:creationId xmlns:a16="http://schemas.microsoft.com/office/drawing/2014/main" id="{E1855CC3-8286-487E-A425-9D36D17D45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5395" name="Rectangle 3">
            <a:extLst>
              <a:ext uri="{FF2B5EF4-FFF2-40B4-BE49-F238E27FC236}">
                <a16:creationId xmlns:a16="http://schemas.microsoft.com/office/drawing/2014/main" id="{8EFDC01A-9653-4DA8-9DFC-E53A4E691F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FA26D27-C098-4586-8140-A2E980CABE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A4DC12-C6CC-467C-9A39-D5E4D95A611A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317442" name="Rectangle 2">
            <a:extLst>
              <a:ext uri="{FF2B5EF4-FFF2-40B4-BE49-F238E27FC236}">
                <a16:creationId xmlns:a16="http://schemas.microsoft.com/office/drawing/2014/main" id="{D16AAC5D-2CAF-4FAF-9D15-0B9FC82439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43" name="Rectangle 3">
            <a:extLst>
              <a:ext uri="{FF2B5EF4-FFF2-40B4-BE49-F238E27FC236}">
                <a16:creationId xmlns:a16="http://schemas.microsoft.com/office/drawing/2014/main" id="{36B0A671-5D0C-42A8-8496-6DF651741E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7019D3C-00B4-4A38-B038-85096AEA76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4E6F14-6546-4728-89EA-C49689A9B6BF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319490" name="Rectangle 2">
            <a:extLst>
              <a:ext uri="{FF2B5EF4-FFF2-40B4-BE49-F238E27FC236}">
                <a16:creationId xmlns:a16="http://schemas.microsoft.com/office/drawing/2014/main" id="{0598D531-DCE6-44F6-96F9-EE6A892EC2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E45F5166-55E9-4E90-B856-AF8101F69F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4CCDA4B-CC8A-41EF-B6CB-C6ECE10824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CF29E8-49AD-4F7A-AD0E-0A2009C8ED16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321538" name="Rectangle 2">
            <a:extLst>
              <a:ext uri="{FF2B5EF4-FFF2-40B4-BE49-F238E27FC236}">
                <a16:creationId xmlns:a16="http://schemas.microsoft.com/office/drawing/2014/main" id="{3ACF6585-9BFC-4C68-A07A-646DE14082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C03D26E8-0CCA-4725-800B-E2791DC88E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69BF834-19BA-4283-ACC6-5B4B9968B9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2DFD18-E231-4790-9A18-61D9A1563A59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323586" name="Rectangle 2">
            <a:extLst>
              <a:ext uri="{FF2B5EF4-FFF2-40B4-BE49-F238E27FC236}">
                <a16:creationId xmlns:a16="http://schemas.microsoft.com/office/drawing/2014/main" id="{D8AD719B-ED39-4F2D-A1C6-F65C4F500B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3587" name="Rectangle 3">
            <a:extLst>
              <a:ext uri="{FF2B5EF4-FFF2-40B4-BE49-F238E27FC236}">
                <a16:creationId xmlns:a16="http://schemas.microsoft.com/office/drawing/2014/main" id="{825B3E74-33DC-4FE0-A3D9-73E18DC201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29AD795-594D-422A-820D-83958F6D65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59CAED-A1F7-4201-AAEF-BCED1E265D18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333826" name="Rectangle 2">
            <a:extLst>
              <a:ext uri="{FF2B5EF4-FFF2-40B4-BE49-F238E27FC236}">
                <a16:creationId xmlns:a16="http://schemas.microsoft.com/office/drawing/2014/main" id="{02C2CBAB-2658-469D-A0C4-61E42F6F6B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3827" name="Rectangle 3">
            <a:extLst>
              <a:ext uri="{FF2B5EF4-FFF2-40B4-BE49-F238E27FC236}">
                <a16:creationId xmlns:a16="http://schemas.microsoft.com/office/drawing/2014/main" id="{941167C2-D0A8-4E3F-8AC8-C90B684E6B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B36B340-97BC-4D32-841C-AC79021B74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7D9AFF-EDE8-4B78-A244-4F12512E9344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337922" name="Rectangle 2">
            <a:extLst>
              <a:ext uri="{FF2B5EF4-FFF2-40B4-BE49-F238E27FC236}">
                <a16:creationId xmlns:a16="http://schemas.microsoft.com/office/drawing/2014/main" id="{7DC42850-8E21-4B00-9C65-6D4788F518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23" name="Rectangle 3">
            <a:extLst>
              <a:ext uri="{FF2B5EF4-FFF2-40B4-BE49-F238E27FC236}">
                <a16:creationId xmlns:a16="http://schemas.microsoft.com/office/drawing/2014/main" id="{797CEA42-98EC-42C7-9567-E412C060A5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63F8A25-A5FA-4078-8752-771C29BEC3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7593A7-C935-4CC8-BF80-ED694B0236DF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339970" name="Rectangle 2">
            <a:extLst>
              <a:ext uri="{FF2B5EF4-FFF2-40B4-BE49-F238E27FC236}">
                <a16:creationId xmlns:a16="http://schemas.microsoft.com/office/drawing/2014/main" id="{6D9A25BA-D95A-4FF5-BD0A-67ACBABC30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>
            <a:extLst>
              <a:ext uri="{FF2B5EF4-FFF2-40B4-BE49-F238E27FC236}">
                <a16:creationId xmlns:a16="http://schemas.microsoft.com/office/drawing/2014/main" id="{41F18EF0-6EAD-493B-82D3-D7575C4B6F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75C8CAB-3AD9-42B4-8D52-3600D56F2D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9D8640-4D46-4A4D-A0EA-CDDB19BC02D6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342018" name="Rectangle 2">
            <a:extLst>
              <a:ext uri="{FF2B5EF4-FFF2-40B4-BE49-F238E27FC236}">
                <a16:creationId xmlns:a16="http://schemas.microsoft.com/office/drawing/2014/main" id="{064F6278-E939-43FF-9040-B0B5DCADFC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2019" name="Rectangle 3">
            <a:extLst>
              <a:ext uri="{FF2B5EF4-FFF2-40B4-BE49-F238E27FC236}">
                <a16:creationId xmlns:a16="http://schemas.microsoft.com/office/drawing/2014/main" id="{B817757A-19AD-4B92-A26F-ABF4E41699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4E9105C-9A15-461B-945E-9D3EA01C0C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7B6DD7-6735-4DE1-A7DE-0158D394E4B0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325634" name="Rectangle 2">
            <a:extLst>
              <a:ext uri="{FF2B5EF4-FFF2-40B4-BE49-F238E27FC236}">
                <a16:creationId xmlns:a16="http://schemas.microsoft.com/office/drawing/2014/main" id="{FE86FB2A-53B5-45E1-BCF3-CC58FF1FF7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5635" name="Rectangle 3">
            <a:extLst>
              <a:ext uri="{FF2B5EF4-FFF2-40B4-BE49-F238E27FC236}">
                <a16:creationId xmlns:a16="http://schemas.microsoft.com/office/drawing/2014/main" id="{F8A56840-D715-43B2-9E25-B313D8D490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CAB126E-9D44-414B-9702-B52CFF72A6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FD4398-7C26-4845-8976-A491242E2142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327682" name="Rectangle 2">
            <a:extLst>
              <a:ext uri="{FF2B5EF4-FFF2-40B4-BE49-F238E27FC236}">
                <a16:creationId xmlns:a16="http://schemas.microsoft.com/office/drawing/2014/main" id="{7AAFEC2B-B8B4-498A-B89B-5138F5CA53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683" name="Rectangle 3">
            <a:extLst>
              <a:ext uri="{FF2B5EF4-FFF2-40B4-BE49-F238E27FC236}">
                <a16:creationId xmlns:a16="http://schemas.microsoft.com/office/drawing/2014/main" id="{4FF1A1C0-3C24-4D90-A4C8-B99F03D9ED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BDF1BA6-01C0-4EA7-8681-38C6ADF177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294F0A-6D69-482C-AEE6-8455171445D2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329730" name="Rectangle 2">
            <a:extLst>
              <a:ext uri="{FF2B5EF4-FFF2-40B4-BE49-F238E27FC236}">
                <a16:creationId xmlns:a16="http://schemas.microsoft.com/office/drawing/2014/main" id="{EA6A5675-29AC-4F2D-BFDE-EF09E4B8EC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9731" name="Rectangle 3">
            <a:extLst>
              <a:ext uri="{FF2B5EF4-FFF2-40B4-BE49-F238E27FC236}">
                <a16:creationId xmlns:a16="http://schemas.microsoft.com/office/drawing/2014/main" id="{ABFC6929-1CFD-4497-ADF4-EB8405A023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129F681-6200-4274-8436-561AC01139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7C5582-7475-4246-8D6B-CC46E3BAE0BE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331778" name="Rectangle 2">
            <a:extLst>
              <a:ext uri="{FF2B5EF4-FFF2-40B4-BE49-F238E27FC236}">
                <a16:creationId xmlns:a16="http://schemas.microsoft.com/office/drawing/2014/main" id="{21A7D81E-6B4B-4B7D-ADC4-985D663FF0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1779" name="Rectangle 3">
            <a:extLst>
              <a:ext uri="{FF2B5EF4-FFF2-40B4-BE49-F238E27FC236}">
                <a16:creationId xmlns:a16="http://schemas.microsoft.com/office/drawing/2014/main" id="{3FB2853B-4952-477F-B0E5-A817ED4506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A66E5C3-3F95-43DD-AB62-23CFBF6282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877645-FD6F-4D74-B112-A4BA9ACBB8EA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344066" name="Rectangle 2">
            <a:extLst>
              <a:ext uri="{FF2B5EF4-FFF2-40B4-BE49-F238E27FC236}">
                <a16:creationId xmlns:a16="http://schemas.microsoft.com/office/drawing/2014/main" id="{0CAC12D1-CAD0-4E0C-B867-75BF939B66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EEB8E042-5DB6-4026-9AC5-EA33DAECA4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69650C-F336-42BC-83D6-50190C16D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DC3AAD-A324-4519-867B-F86D660D1BDE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B7FBC5BB-E075-4EA3-B7A7-2492ED6239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60E7AB6-1194-4881-BF0D-C04511CFE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F32F1C2-E1DF-4622-922C-8D390DDAD4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20580E-09D9-455C-BD70-4690949DF822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348162" name="Rectangle 2">
            <a:extLst>
              <a:ext uri="{FF2B5EF4-FFF2-40B4-BE49-F238E27FC236}">
                <a16:creationId xmlns:a16="http://schemas.microsoft.com/office/drawing/2014/main" id="{FDB7B780-EEC7-4696-BE6A-9727E78C12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63" name="Rectangle 3">
            <a:extLst>
              <a:ext uri="{FF2B5EF4-FFF2-40B4-BE49-F238E27FC236}">
                <a16:creationId xmlns:a16="http://schemas.microsoft.com/office/drawing/2014/main" id="{5EBBDC31-F864-4776-8559-BC0C266F54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E88176B-9C8B-4DF0-93B7-25C8DFEE61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BDCEEA-BB7E-42FA-9D8B-3B325957AB7F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350210" name="Rectangle 2">
            <a:extLst>
              <a:ext uri="{FF2B5EF4-FFF2-40B4-BE49-F238E27FC236}">
                <a16:creationId xmlns:a16="http://schemas.microsoft.com/office/drawing/2014/main" id="{82E32153-97B0-426C-8AEC-E82B7867C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0211" name="Rectangle 3">
            <a:extLst>
              <a:ext uri="{FF2B5EF4-FFF2-40B4-BE49-F238E27FC236}">
                <a16:creationId xmlns:a16="http://schemas.microsoft.com/office/drawing/2014/main" id="{8088F145-5DF3-4116-848E-5DFD690391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66443E1-3053-489B-84F9-C8C7D7ECE2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C5A361-6706-42BE-8F2C-23D55C2E8251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352258" name="Rectangle 2">
            <a:extLst>
              <a:ext uri="{FF2B5EF4-FFF2-40B4-BE49-F238E27FC236}">
                <a16:creationId xmlns:a16="http://schemas.microsoft.com/office/drawing/2014/main" id="{7DA77D0A-74AF-4761-853C-8FC9611364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2259" name="Rectangle 3">
            <a:extLst>
              <a:ext uri="{FF2B5EF4-FFF2-40B4-BE49-F238E27FC236}">
                <a16:creationId xmlns:a16="http://schemas.microsoft.com/office/drawing/2014/main" id="{3004E863-E263-4D72-A6D0-73800F19A9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69650C-F336-42BC-83D6-50190C16D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DC3AAD-A324-4519-867B-F86D660D1BDE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B7FBC5BB-E075-4EA3-B7A7-2492ED6239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60E7AB6-1194-4881-BF0D-C04511CFE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6366136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69650C-F336-42BC-83D6-50190C16D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DC3AAD-A324-4519-867B-F86D660D1BDE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B7FBC5BB-E075-4EA3-B7A7-2492ED6239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60E7AB6-1194-4881-BF0D-C04511CFE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0379025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69650C-F336-42BC-83D6-50190C16D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DC3AAD-A324-4519-867B-F86D660D1BDE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B7FBC5BB-E075-4EA3-B7A7-2492ED6239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60E7AB6-1194-4881-BF0D-C04511CFE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3662549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69650C-F336-42BC-83D6-50190C16D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DC3AAD-A324-4519-867B-F86D660D1BDE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B7FBC5BB-E075-4EA3-B7A7-2492ED6239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60E7AB6-1194-4881-BF0D-C04511CFE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9738704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69650C-F336-42BC-83D6-50190C16D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DC3AAD-A324-4519-867B-F86D660D1BDE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B7FBC5BB-E075-4EA3-B7A7-2492ED6239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60E7AB6-1194-4881-BF0D-C04511CFE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8432782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69650C-F336-42BC-83D6-50190C16D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DC3AAD-A324-4519-867B-F86D660D1BDE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B7FBC5BB-E075-4EA3-B7A7-2492ED6239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60E7AB6-1194-4881-BF0D-C04511CFE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6032972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69650C-F336-42BC-83D6-50190C16D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DC3AAD-A324-4519-867B-F86D660D1BDE}" type="slidenum">
              <a:rPr lang="en-US" altLang="zh-CN"/>
              <a:pPr/>
              <a:t>55</a:t>
            </a:fld>
            <a:endParaRPr lang="en-US" altLang="zh-CN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B7FBC5BB-E075-4EA3-B7A7-2492ED6239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60E7AB6-1194-4881-BF0D-C04511CFE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19561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69650C-F336-42BC-83D6-50190C16D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DC3AAD-A324-4519-867B-F86D660D1BDE}" type="slidenum">
              <a:rPr lang="en-US" altLang="zh-CN"/>
              <a:pPr/>
              <a:t>56</a:t>
            </a:fld>
            <a:endParaRPr lang="en-US" altLang="zh-CN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B7FBC5BB-E075-4EA3-B7A7-2492ED6239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60E7AB6-1194-4881-BF0D-C04511CFE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7495220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69650C-F336-42BC-83D6-50190C16D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DC3AAD-A324-4519-867B-F86D660D1BDE}" type="slidenum">
              <a:rPr lang="en-US" altLang="zh-CN"/>
              <a:pPr/>
              <a:t>57</a:t>
            </a:fld>
            <a:endParaRPr lang="en-US" altLang="zh-CN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B7FBC5BB-E075-4EA3-B7A7-2492ED6239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60E7AB6-1194-4881-BF0D-C04511CFE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1253985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69650C-F336-42BC-83D6-50190C16D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DC3AAD-A324-4519-867B-F86D660D1BDE}" type="slidenum">
              <a:rPr lang="en-US" altLang="zh-CN"/>
              <a:pPr/>
              <a:t>58</a:t>
            </a:fld>
            <a:endParaRPr lang="en-US" altLang="zh-CN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B7FBC5BB-E075-4EA3-B7A7-2492ED6239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60E7AB6-1194-4881-BF0D-C04511CFE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981985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69650C-F336-42BC-83D6-50190C16D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DC3AAD-A324-4519-867B-F86D660D1BDE}" type="slidenum">
              <a:rPr lang="en-US" altLang="zh-CN"/>
              <a:pPr/>
              <a:t>59</a:t>
            </a:fld>
            <a:endParaRPr lang="en-US" altLang="zh-CN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B7FBC5BB-E075-4EA3-B7A7-2492ED6239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60E7AB6-1194-4881-BF0D-C04511CFE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8957643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69650C-F336-42BC-83D6-50190C16D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DC3AAD-A324-4519-867B-F86D660D1BDE}" type="slidenum">
              <a:rPr lang="en-US" altLang="zh-CN"/>
              <a:pPr/>
              <a:t>60</a:t>
            </a:fld>
            <a:endParaRPr lang="en-US" altLang="zh-CN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B7FBC5BB-E075-4EA3-B7A7-2492ED6239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60E7AB6-1194-4881-BF0D-C04511CFE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3346670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69650C-F336-42BC-83D6-50190C16D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DC3AAD-A324-4519-867B-F86D660D1BDE}" type="slidenum">
              <a:rPr lang="en-US" altLang="zh-CN"/>
              <a:pPr/>
              <a:t>61</a:t>
            </a:fld>
            <a:endParaRPr lang="en-US" altLang="zh-CN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B7FBC5BB-E075-4EA3-B7A7-2492ED6239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60E7AB6-1194-4881-BF0D-C04511CFE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9057921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69650C-F336-42BC-83D6-50190C16D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DC3AAD-A324-4519-867B-F86D660D1BDE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B7FBC5BB-E075-4EA3-B7A7-2492ED6239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60E7AB6-1194-4881-BF0D-C04511CFE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06911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F9BC71-38C8-4ED7-8569-8DCB2D1FC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299817-9DED-4D1B-9844-C07BF3133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07AF6E-899F-4198-A7D3-E7C72953E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A5BA23-4942-4D3B-8E47-F6416500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A17A1C-E2B8-4E7C-80EF-27AD5FB3F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9DFCD5-CDD5-436A-A17A-EB56623C6F5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7233892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3AB354-07E4-4899-9672-93BE749B6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DA5A1-DD4B-4F92-AF95-D1DC58B4E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76BFAA-1F00-4C77-9A73-D2422832A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373E82-F2F6-43AC-A5D2-5786E5072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AD8BDE-D650-4D03-9154-1A6B2FBA4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217094-45F0-4FD2-952C-2DA6F8BA3F2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8777161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69199D-F3BF-4CC9-A82B-88A2BF4AA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1F5FB2-B6EC-4A91-9F18-56610547F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AF77B-4C4A-43CF-8EC1-765B89D04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139B9D-972A-41A4-91F3-9F136AD2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207BAE-AC20-4A80-9619-170FB0EC8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92C30B-9D01-4321-B89E-E0902AA6490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1845190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F2D871-3A9A-4BC9-A769-277B963D3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4098B6-95D1-4277-92C5-EC26AC0D02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189A45-3E80-45AC-98E6-895E56367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D777CA-7AD9-43E0-8E10-8664153F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95FBF6-29A3-4803-8353-1F81FD155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7E3ACC-F17E-4F59-8BBA-086ADAE2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DB1EBB-2DF2-4C9B-A173-A9D3BC2B37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0685141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6288EF-C119-474A-808F-EF7CB8B21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0DA5F1-7053-4426-8A6A-2A382DA02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79779E-A301-49D6-9BD0-8C1D4C885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4D24A6-E68F-49CB-9F0B-615410F8F2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CDF890-119C-481F-B0D1-8607B3B980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A792AA-F873-4D7C-88B6-DB856713E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768F6D6-4ADD-4BC2-8B4F-C49F00781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4C16ED2-15A4-463E-92B1-95BA910DE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6FD456-98CF-4C81-B57D-206D3973F69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958859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B442EA-2DB5-4368-89E3-1B18BC880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19A93AB-DDF6-494F-B887-B95EBD62C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D21B33-8540-47B8-AE81-89D85A0EF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4B3A35-5579-4B2C-8D9D-8D386E967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743B3E-A687-4546-9989-D86B1E5984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3307717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12C8F9C-0DAB-4347-B021-9584E2729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3D7B107-E7DE-4586-8C81-D9466CD85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7937AE-DE51-4B6D-8D02-CF8827038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BE520C-957D-4D0D-B198-C0C5BAC469F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0063525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D98E65-CB6C-417E-9453-EFDD5F063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70218A-45D4-4869-84EC-777C3DEAE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9ECF40-BA9B-437D-9596-A74DE93D4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57F8A9-9A16-43B5-BEE6-D1DA04FD5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F8E6C2-6888-42C4-AE94-D30E1E0EB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F9425E-3283-4B1D-B4C2-638664BE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559832-F0EE-419C-A280-82BBABD528A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3825261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CDBC90-67EC-41AA-AC3C-36C800297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9BC4D9D-F878-491B-9A12-8E897C6E9F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BDB5FC-D055-4E46-97A2-348F3CFDD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BD9527-EF33-4203-A248-732AEAEDA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37AF17-D261-47BF-A9C6-26F4AFC17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7D12C6-0D96-4BBA-A2C8-B5DBB4817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F56D78-593B-4C40-88C1-5C9CCF3BD8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9892692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755D85-F491-4DDE-B2E9-3468B6124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983F13-EEE6-4F1C-8E34-E71894D7E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9F847B-6A2C-4F71-AD8A-AEE0235D6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1427DF-ED45-4CF9-BF18-00A8E01B6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124BC0-5946-4E88-9CD6-EB9C411EA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508448-9E48-4C12-ACFC-748E8CA10AD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26315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DBC212-82FE-4DB3-8399-15B089B96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BFE2A2-3D7F-462A-B81E-922E143E1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9359ED-8A5F-4244-A92E-96432D33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E17BAB-5CA5-4224-B9B1-8958B3DF9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493252-2C60-4231-AE47-1D3E5764C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262C59-04AD-4EBB-AC7B-FB080C21FE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5523860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6FDAC2-5FAC-45F6-9987-1ACE1D4AF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CD943B-5A55-41E0-8A42-A0601BE18129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F3BB05-A840-4BAB-B06D-29E7E8952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05F99B-47DA-4378-8D05-282F7D38A8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2C71FC-10E7-4BC2-8F52-6F3F9D002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68BDF2-EA7F-4103-B14E-0B6C4A706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2866CA9-EE49-4A2D-91CF-8EF8446F775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2019699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71B6ABD-E6DD-476E-80A2-617A8186E9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4FB6F62-5AA9-43C4-809A-53C1E2D37A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40768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7264557-4BD8-42C9-BCF2-899EE648382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j-lt"/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057E5B2-3790-4EA4-8D10-F77434B9E98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j-lt"/>
              </a:defRPr>
            </a:lvl1pPr>
          </a:lstStyle>
          <a:p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FE623B2-1123-480F-BB7E-093A935D899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j-lt"/>
              </a:defRPr>
            </a:lvl1pPr>
          </a:lstStyle>
          <a:p>
            <a:fld id="{3645A9C8-8585-4C01-ABD0-4DD18AA6464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fade/>
  </p:transition>
  <p:hf hdr="0" ftr="0" dt="0"/>
  <p:txStyles>
    <p:titleStyle>
      <a:lvl1pPr algn="r" rtl="0" fontAlgn="base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0" indent="0" algn="l" rtl="0" fontAlgn="base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j-lt"/>
          <a:ea typeface="华文中宋" panose="02010600040101010101" pitchFamily="2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+mj-lt"/>
          <a:ea typeface="华文中宋" panose="02010600040101010101" pitchFamily="2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j-lt"/>
          <a:ea typeface="华文中宋" panose="02010600040101010101" pitchFamily="2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+mj-lt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qq.com/form/page/DZk5uZ2xFZlFVVWt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qq.com/form/page/DZmFPY0tsbWtSeHd4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3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F51F7-D19A-41FA-857A-3F52CC2033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离散数学</a:t>
            </a:r>
            <a:br>
              <a:rPr lang="en-US" altLang="zh-CN" dirty="0"/>
            </a:br>
            <a:r>
              <a:rPr lang="zh-CN" altLang="en-US" dirty="0"/>
              <a:t>（一）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8B8532-5482-4D56-A702-F2B8331D66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zh-CN" alt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集合论</a:t>
            </a:r>
            <a:endParaRPr lang="en-US" altLang="zh-CN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9405E9-F2DE-453E-B27D-8B7005C4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0EDAAC-C526-4682-8F44-C50DCF1348FF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09BF7C-FA41-4F09-9590-84A2DC62E8F5}"/>
              </a:ext>
            </a:extLst>
          </p:cNvPr>
          <p:cNvSpPr/>
          <p:nvPr/>
        </p:nvSpPr>
        <p:spPr>
          <a:xfrm>
            <a:off x="2439732" y="5599458"/>
            <a:ext cx="4269762" cy="70788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课程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QQ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群：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974753447</a:t>
            </a:r>
          </a:p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微助教课程号：</a:t>
            </a:r>
            <a:r>
              <a:rPr lang="en-US" altLang="zh-CN" sz="2000" b="1" dirty="0">
                <a:solidFill>
                  <a:prstClr val="black"/>
                </a:solidFill>
                <a:latin typeface="Calibri"/>
              </a:rPr>
              <a:t>OO778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739C7E-5D3F-4265-B9A8-AD40E93BB56D}"/>
              </a:ext>
            </a:extLst>
          </p:cNvPr>
          <p:cNvSpPr/>
          <p:nvPr/>
        </p:nvSpPr>
        <p:spPr>
          <a:xfrm>
            <a:off x="2437119" y="6317397"/>
            <a:ext cx="4269762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2025-02-19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04CE866-0E13-4900-8A16-6DA0A098F8CC}"/>
              </a:ext>
            </a:extLst>
          </p:cNvPr>
          <p:cNvSpPr txBox="1">
            <a:spLocks/>
          </p:cNvSpPr>
          <p:nvPr/>
        </p:nvSpPr>
        <p:spPr>
          <a:xfrm>
            <a:off x="457200" y="4374232"/>
            <a:ext cx="8229600" cy="1143000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苏宙行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华中科技大学 计算机学院 智能所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EDA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团队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suzhouxing@hust.edu.cn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3E8643-1D65-4C50-9DC3-D68E6A629989}"/>
              </a:ext>
            </a:extLst>
          </p:cNvPr>
          <p:cNvSpPr/>
          <p:nvPr/>
        </p:nvSpPr>
        <p:spPr>
          <a:xfrm>
            <a:off x="0" y="6611779"/>
            <a:ext cx="9144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教学改进建议征集 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https://docs.qq.com/form/page/DZk5uZ2xFZlFVVWts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zh-CN" altLang="en-US" sz="1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教学效果跟踪 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https://docs.qq.com/form/page/DZmFPY0tsbWtSeHd4</a:t>
            </a:r>
            <a:endParaRPr lang="zh-CN" altLang="en-US" sz="1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FFDA66-1C2C-4A0A-887B-C1A203621811}"/>
              </a:ext>
            </a:extLst>
          </p:cNvPr>
          <p:cNvSpPr/>
          <p:nvPr/>
        </p:nvSpPr>
        <p:spPr>
          <a:xfrm>
            <a:off x="9175560" y="1124744"/>
            <a:ext cx="302928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⋂⋃⊆⊂⊄⊇⊃⊅∈∉ℵØ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⊙⊖⊗⊕⇒⇔↔←→¬￢∧∨∀∃∄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≡=≠≈≅≥≤≮≯−±×÷−⌈⌉⌊⌋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∠∟°º⊥∥≅〜Δπ∝∞≪≫∑∏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Αα Ββ Γγ Δδ Εε  ζ Ηη Θθ Ιι Κκ Λλ Μμ  Ｎ Ξξ Οο Ππ Ρρ Σσ Ττ Υυ Φφ Χχ Ψψ Ωω</a:t>
            </a:r>
          </a:p>
        </p:txBody>
      </p:sp>
    </p:spTree>
    <p:extLst>
      <p:ext uri="{BB962C8B-B14F-4D97-AF65-F5344CB8AC3E}">
        <p14:creationId xmlns:p14="http://schemas.microsoft.com/office/powerpoint/2010/main" val="3844193248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9E38BA-14AF-42AB-920F-EEA9C17EA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2F4C3-A40C-4BBD-9367-C9075F53511D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CA9EB33-AC43-4CA7-8384-6EC7BF1B4F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628775"/>
            <a:ext cx="8229600" cy="4924425"/>
          </a:xfrm>
        </p:spPr>
        <p:txBody>
          <a:bodyPr/>
          <a:lstStyle/>
          <a:p>
            <a:pPr marL="361950" indent="-361950"/>
            <a:r>
              <a:rPr lang="zh-CN" altLang="en-US"/>
              <a:t>主要内容</a:t>
            </a:r>
          </a:p>
          <a:p>
            <a:pPr marL="361950" indent="-361950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集合的基本概念</a:t>
            </a:r>
          </a:p>
          <a:p>
            <a:pPr marL="361950" indent="-361950">
              <a:buClr>
                <a:srgbClr val="FF9900"/>
              </a:buClr>
            </a:pPr>
            <a:r>
              <a:rPr lang="zh-CN" altLang="en-US"/>
              <a:t>     属于、包含</a:t>
            </a:r>
          </a:p>
          <a:p>
            <a:pPr marL="361950" indent="-361950">
              <a:buClr>
                <a:srgbClr val="FF9900"/>
              </a:buClr>
            </a:pPr>
            <a:r>
              <a:rPr lang="zh-CN" altLang="en-US"/>
              <a:t>     幂集、空集</a:t>
            </a:r>
          </a:p>
          <a:p>
            <a:pPr marL="361950" indent="-361950">
              <a:buClr>
                <a:srgbClr val="FF9900"/>
              </a:buClr>
            </a:pPr>
            <a:r>
              <a:rPr lang="zh-CN" altLang="en-US"/>
              <a:t>     文氏图等</a:t>
            </a:r>
          </a:p>
          <a:p>
            <a:pPr marL="361950" indent="-361950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集合的基本运算</a:t>
            </a:r>
          </a:p>
          <a:p>
            <a:pPr marL="361950" indent="-361950">
              <a:buClr>
                <a:srgbClr val="FF9900"/>
              </a:buClr>
            </a:pPr>
            <a:r>
              <a:rPr lang="zh-CN" altLang="en-US"/>
              <a:t>     并、交、补、差等</a:t>
            </a:r>
          </a:p>
          <a:p>
            <a:pPr marL="361950" indent="-361950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集合恒等式</a:t>
            </a:r>
          </a:p>
          <a:p>
            <a:pPr marL="361950" indent="-361950">
              <a:buClr>
                <a:srgbClr val="FF9900"/>
              </a:buClr>
            </a:pPr>
            <a:r>
              <a:rPr lang="zh-CN" altLang="en-US"/>
              <a:t>     集合运算的算律、恒等式的证明方法 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28F3B135-7850-4215-A0EF-4E8B057FFC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第二部分  集合论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831C8BEE-5E27-4049-90F8-9C495B6CF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25538"/>
            <a:ext cx="2497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latin typeface="Arial" panose="020B0604020202020204" pitchFamily="34" charset="0"/>
              </a:rPr>
              <a:t>第六章  集合代数</a:t>
            </a:r>
          </a:p>
        </p:txBody>
      </p:sp>
    </p:spTree>
    <p:extLst>
      <p:ext uri="{BB962C8B-B14F-4D97-AF65-F5344CB8AC3E}">
        <p14:creationId xmlns:p14="http://schemas.microsoft.com/office/powerpoint/2010/main" val="2516862620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9E38BA-14AF-42AB-920F-EEA9C17EA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2F4C3-A40C-4BBD-9367-C9075F53511D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CA9EB33-AC43-4CA7-8384-6EC7BF1B4F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628775"/>
            <a:ext cx="8229600" cy="4924425"/>
          </a:xfrm>
        </p:spPr>
        <p:txBody>
          <a:bodyPr/>
          <a:lstStyle/>
          <a:p>
            <a:pPr marL="361950" indent="-361950"/>
            <a:r>
              <a:rPr lang="zh-CN" altLang="en-US"/>
              <a:t>主要内容</a:t>
            </a:r>
          </a:p>
          <a:p>
            <a:pPr marL="361950" indent="-361950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集合的基本概念</a:t>
            </a:r>
          </a:p>
          <a:p>
            <a:pPr marL="361950" indent="-361950">
              <a:buClr>
                <a:srgbClr val="FF9900"/>
              </a:buClr>
            </a:pPr>
            <a:r>
              <a:rPr lang="zh-CN" altLang="en-US"/>
              <a:t>     属于、包含</a:t>
            </a:r>
          </a:p>
          <a:p>
            <a:pPr marL="361950" indent="-361950">
              <a:buClr>
                <a:srgbClr val="FF9900"/>
              </a:buClr>
            </a:pPr>
            <a:r>
              <a:rPr lang="zh-CN" altLang="en-US"/>
              <a:t>     幂集、空集</a:t>
            </a:r>
          </a:p>
          <a:p>
            <a:pPr marL="361950" indent="-361950">
              <a:buClr>
                <a:srgbClr val="FF9900"/>
              </a:buClr>
            </a:pPr>
            <a:r>
              <a:rPr lang="zh-CN" altLang="en-US"/>
              <a:t>     文氏图等</a:t>
            </a:r>
          </a:p>
          <a:p>
            <a:pPr marL="361950" indent="-361950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集合的基本运算</a:t>
            </a:r>
          </a:p>
          <a:p>
            <a:pPr marL="361950" indent="-361950">
              <a:buClr>
                <a:srgbClr val="FF9900"/>
              </a:buClr>
            </a:pPr>
            <a:r>
              <a:rPr lang="zh-CN" altLang="en-US"/>
              <a:t>     并、交、补、差等</a:t>
            </a:r>
          </a:p>
          <a:p>
            <a:pPr marL="361950" indent="-361950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集合恒等式</a:t>
            </a:r>
          </a:p>
          <a:p>
            <a:pPr marL="361950" indent="-361950">
              <a:buClr>
                <a:srgbClr val="FF9900"/>
              </a:buClr>
            </a:pPr>
            <a:r>
              <a:rPr lang="zh-CN" altLang="en-US"/>
              <a:t>     集合运算的算律、恒等式的证明方法 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28F3B135-7850-4215-A0EF-4E8B057FFC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第二部分  集合论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831C8BEE-5E27-4049-90F8-9C495B6CF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25538"/>
            <a:ext cx="2497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latin typeface="Arial" panose="020B0604020202020204" pitchFamily="34" charset="0"/>
              </a:rPr>
              <a:t>第六章  集合代数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275EEC1-A094-489B-9AE0-897BE5B00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3693461"/>
            <a:ext cx="5400600" cy="311782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1A06F0D-150D-4C35-9FF6-FD5D4B617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17" y="1067374"/>
            <a:ext cx="6394450" cy="3809777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1091A-79D3-4671-820C-46A361575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51D99-2481-4CD0-8353-DB8B5F01C628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268290" name="Rectangle 2">
            <a:extLst>
              <a:ext uri="{FF2B5EF4-FFF2-40B4-BE49-F238E27FC236}">
                <a16:creationId xmlns:a16="http://schemas.microsoft.com/office/drawing/2014/main" id="{FADC21F3-556F-4581-A1BA-26474A4775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</a:rPr>
              <a:t>6.1  </a:t>
            </a:r>
            <a:r>
              <a:rPr lang="zh-CN" altLang="en-US" dirty="0"/>
              <a:t>集合的基本概念</a:t>
            </a:r>
          </a:p>
        </p:txBody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806B18E3-8656-46F1-9AEF-17720BC8A8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229600" cy="2663825"/>
          </a:xfrm>
        </p:spPr>
        <p:txBody>
          <a:bodyPr/>
          <a:lstStyle/>
          <a:p>
            <a:pPr marL="625475" indent="-625475"/>
            <a:r>
              <a:rPr lang="en-US" altLang="zh-CN" dirty="0"/>
              <a:t>1. </a:t>
            </a:r>
            <a:r>
              <a:rPr lang="zh-CN" altLang="en-US" dirty="0"/>
              <a:t>集合定义</a:t>
            </a:r>
          </a:p>
          <a:p>
            <a:pPr marL="625475" indent="-625475"/>
            <a:r>
              <a:rPr lang="zh-CN" altLang="en-US" dirty="0"/>
              <a:t>    集合没有精确的数学定义</a:t>
            </a:r>
          </a:p>
          <a:p>
            <a:pPr marL="625475" indent="-625475"/>
            <a:r>
              <a:rPr lang="zh-CN" altLang="en-US" dirty="0"/>
              <a:t>    理解</a:t>
            </a:r>
            <a:r>
              <a:rPr lang="en-US" altLang="zh-CN" dirty="0"/>
              <a:t>: </a:t>
            </a:r>
            <a:r>
              <a:rPr lang="zh-CN" altLang="en-US" dirty="0"/>
              <a:t>由离散个体构成的整体称为</a:t>
            </a:r>
            <a:r>
              <a:rPr lang="zh-CN" altLang="en-US" dirty="0">
                <a:solidFill>
                  <a:srgbClr val="A50021"/>
                </a:solidFill>
              </a:rPr>
              <a:t>集合</a:t>
            </a:r>
            <a:r>
              <a:rPr lang="en-US" altLang="zh-CN" dirty="0"/>
              <a:t>, </a:t>
            </a:r>
            <a:r>
              <a:rPr lang="zh-CN" altLang="en-US" dirty="0"/>
              <a:t>称这些个体为集 </a:t>
            </a:r>
          </a:p>
          <a:p>
            <a:pPr marL="625475" indent="-625475"/>
            <a:r>
              <a:rPr lang="zh-CN" altLang="en-US" dirty="0"/>
              <a:t>            合的</a:t>
            </a:r>
            <a:r>
              <a:rPr lang="zh-CN" altLang="en-US" dirty="0">
                <a:solidFill>
                  <a:srgbClr val="A50021"/>
                </a:solidFill>
              </a:rPr>
              <a:t>元素</a:t>
            </a:r>
          </a:p>
          <a:p>
            <a:pPr marL="625475" indent="-625475"/>
            <a:r>
              <a:rPr lang="zh-CN" altLang="en-US" dirty="0"/>
              <a:t>    常见的数集</a:t>
            </a:r>
            <a:r>
              <a:rPr lang="en-US" altLang="zh-CN" dirty="0"/>
              <a:t>: N</a:t>
            </a:r>
            <a:r>
              <a:rPr lang="en-US" altLang="zh-CN" i="1" dirty="0"/>
              <a:t>, </a:t>
            </a:r>
            <a:r>
              <a:rPr lang="en-US" altLang="zh-CN" dirty="0"/>
              <a:t>Z</a:t>
            </a:r>
            <a:r>
              <a:rPr lang="en-US" altLang="zh-CN" i="1" dirty="0"/>
              <a:t>, </a:t>
            </a:r>
            <a:r>
              <a:rPr lang="en-US" altLang="zh-CN" dirty="0"/>
              <a:t>Q, R, C </a:t>
            </a:r>
            <a:r>
              <a:rPr lang="zh-CN" altLang="en-US" dirty="0"/>
              <a:t>等分别表示自然数、整数、有 </a:t>
            </a:r>
          </a:p>
          <a:p>
            <a:pPr marL="625475" indent="-625475"/>
            <a:r>
              <a:rPr lang="zh-CN" altLang="en-US" dirty="0"/>
              <a:t>             理数、实数、复数集合</a:t>
            </a:r>
          </a:p>
        </p:txBody>
      </p:sp>
      <p:sp>
        <p:nvSpPr>
          <p:cNvPr id="268292" name="Rectangle 4">
            <a:extLst>
              <a:ext uri="{FF2B5EF4-FFF2-40B4-BE49-F238E27FC236}">
                <a16:creationId xmlns:a16="http://schemas.microsoft.com/office/drawing/2014/main" id="{A276EB3E-78EA-4370-81F6-936904FFC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933825"/>
            <a:ext cx="8208962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25475" indent="-62547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90613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4986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906588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314575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771775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228975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686175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143375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dirty="0"/>
              <a:t>2. </a:t>
            </a:r>
            <a:r>
              <a:rPr lang="zh-CN" altLang="en-US" dirty="0"/>
              <a:t>集合表示法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    </a:t>
            </a:r>
            <a:r>
              <a:rPr lang="zh-CN" altLang="en-US" dirty="0">
                <a:solidFill>
                  <a:srgbClr val="A50021"/>
                </a:solidFill>
              </a:rPr>
              <a:t>枚举法</a:t>
            </a:r>
            <a:r>
              <a:rPr lang="en-US" altLang="zh-CN" dirty="0"/>
              <a:t>----</a:t>
            </a:r>
            <a:r>
              <a:rPr lang="zh-CN" altLang="en-US" dirty="0"/>
              <a:t>通过列出全体元素来表示集合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    </a:t>
            </a:r>
            <a:r>
              <a:rPr lang="zh-CN" altLang="en-US" dirty="0">
                <a:solidFill>
                  <a:srgbClr val="A50021"/>
                </a:solidFill>
              </a:rPr>
              <a:t>谓词表示法</a:t>
            </a:r>
            <a:r>
              <a:rPr lang="en-US" altLang="zh-CN" dirty="0"/>
              <a:t>----</a:t>
            </a:r>
            <a:r>
              <a:rPr lang="zh-CN" altLang="en-US" dirty="0"/>
              <a:t>通过谓词概括集合元素的性质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    实例：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               枚举法  自然数集合 </a:t>
            </a:r>
            <a:r>
              <a:rPr lang="en-US" altLang="zh-CN" dirty="0"/>
              <a:t>N={0,1,2,3,…}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               </a:t>
            </a:r>
            <a:r>
              <a:rPr lang="zh-CN" altLang="en-US" dirty="0"/>
              <a:t>谓词法  </a:t>
            </a:r>
            <a:r>
              <a:rPr lang="en-US" altLang="zh-CN" i="1" dirty="0"/>
              <a:t>S</a:t>
            </a:r>
            <a:r>
              <a:rPr lang="en-US" altLang="zh-CN" dirty="0"/>
              <a:t>={ </a:t>
            </a:r>
            <a:r>
              <a:rPr lang="en-US" altLang="zh-CN" i="1" dirty="0"/>
              <a:t>x </a:t>
            </a:r>
            <a:r>
              <a:rPr lang="en-US" altLang="zh-CN" dirty="0"/>
              <a:t>| </a:t>
            </a:r>
            <a:r>
              <a:rPr lang="en-US" altLang="zh-CN" i="1" dirty="0"/>
              <a:t>x</a:t>
            </a:r>
            <a:r>
              <a:rPr lang="zh-CN" altLang="en-US" dirty="0"/>
              <a:t>是实数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30000" dirty="0"/>
              <a:t>2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1=0}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479578-BB06-4A79-90CC-4582568B5BC4}"/>
              </a:ext>
            </a:extLst>
          </p:cNvPr>
          <p:cNvSpPr txBox="1"/>
          <p:nvPr/>
        </p:nvSpPr>
        <p:spPr>
          <a:xfrm>
            <a:off x="2685347" y="1196752"/>
            <a:ext cx="644420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英文教材定义为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 set is an </a:t>
            </a:r>
            <a:r>
              <a:rPr lang="en-US" altLang="zh-CN" sz="2000" b="1" dirty="0">
                <a:solidFill>
                  <a:srgbClr val="FF9900"/>
                </a:solidFill>
                <a:latin typeface="Times New Roman" panose="02020603050405020304" pitchFamily="18" charset="0"/>
              </a:rPr>
              <a:t>unordered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FF9900"/>
                </a:solidFill>
                <a:latin typeface="Times New Roman" panose="02020603050405020304" pitchFamily="18" charset="0"/>
              </a:rPr>
              <a:t>collection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zh-CN" sz="2000" b="1" dirty="0">
                <a:solidFill>
                  <a:srgbClr val="FF9900"/>
                </a:solidFill>
                <a:latin typeface="Times New Roman" panose="02020603050405020304" pitchFamily="18" charset="0"/>
              </a:rPr>
              <a:t>objects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A208B9-B9D2-49B2-952A-B8EE89263D17}"/>
              </a:ext>
            </a:extLst>
          </p:cNvPr>
          <p:cNvSpPr txBox="1"/>
          <p:nvPr/>
        </p:nvSpPr>
        <p:spPr>
          <a:xfrm>
            <a:off x="6804249" y="4311634"/>
            <a:ext cx="201622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Roster Method</a:t>
            </a:r>
            <a:endParaRPr lang="en-US" altLang="zh-CN" sz="2000" b="1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F424515-16C4-40F5-89AC-8D5BA6DBF930}"/>
              </a:ext>
            </a:extLst>
          </p:cNvPr>
          <p:cNvSpPr txBox="1"/>
          <p:nvPr/>
        </p:nvSpPr>
        <p:spPr>
          <a:xfrm>
            <a:off x="6804248" y="4711744"/>
            <a:ext cx="230425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Set-Builder Notation</a:t>
            </a:r>
            <a:endParaRPr lang="en-US" altLang="zh-CN" sz="2000" b="1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8CCB18-A9BE-412F-A046-32B6F52FC17C}"/>
              </a:ext>
            </a:extLst>
          </p:cNvPr>
          <p:cNvSpPr txBox="1"/>
          <p:nvPr/>
        </p:nvSpPr>
        <p:spPr>
          <a:xfrm>
            <a:off x="611560" y="4973355"/>
            <a:ext cx="1152128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1600" dirty="0">
                <a:solidFill>
                  <a:srgbClr val="FF9900"/>
                </a:solidFill>
                <a:latin typeface="Times New Roman" panose="02020603050405020304" pitchFamily="18" charset="0"/>
              </a:rPr>
              <a:t>predicate</a:t>
            </a:r>
            <a:endParaRPr lang="en-US" altLang="zh-CN" sz="1600" b="1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756E0C7-BBC2-4DAC-AFEA-775BDEA16CC8}"/>
              </a:ext>
            </a:extLst>
          </p:cNvPr>
          <p:cNvSpPr txBox="1"/>
          <p:nvPr/>
        </p:nvSpPr>
        <p:spPr>
          <a:xfrm>
            <a:off x="611560" y="4542467"/>
            <a:ext cx="1512168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1600" dirty="0">
                <a:solidFill>
                  <a:srgbClr val="FF9900"/>
                </a:solidFill>
                <a:latin typeface="Times New Roman" panose="02020603050405020304" pitchFamily="18" charset="0"/>
              </a:rPr>
              <a:t>enumeration</a:t>
            </a:r>
            <a:endParaRPr lang="en-US" altLang="zh-CN" sz="1600" b="1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3A0E34-5AA3-4EBB-8530-EF2A46A4C1CB}"/>
              </a:ext>
            </a:extLst>
          </p:cNvPr>
          <p:cNvSpPr txBox="1"/>
          <p:nvPr/>
        </p:nvSpPr>
        <p:spPr>
          <a:xfrm>
            <a:off x="0" y="6457890"/>
            <a:ext cx="731430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归纳法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文氏图法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…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2458F8A5-2DF1-4EC7-A712-2C271C509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EA3-71BE-479D-8EE8-13BF07F04221}" type="slidenum">
              <a:rPr lang="en-US" altLang="zh-CN" smtClean="0"/>
              <a:pPr/>
              <a:t>5</a:t>
            </a:fld>
            <a:endParaRPr lang="en-US" altLang="zh-CN"/>
          </a:p>
        </p:txBody>
      </p:sp>
      <p:sp>
        <p:nvSpPr>
          <p:cNvPr id="274434" name="Rectangle 2">
            <a:extLst>
              <a:ext uri="{FF2B5EF4-FFF2-40B4-BE49-F238E27FC236}">
                <a16:creationId xmlns:a16="http://schemas.microsoft.com/office/drawing/2014/main" id="{7F9BBD81-E8FA-432A-A6B0-DA84BA2B1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复习</a:t>
            </a:r>
            <a:r>
              <a:rPr lang="en-US" altLang="zh-CN" dirty="0"/>
              <a:t>/</a:t>
            </a:r>
            <a:r>
              <a:rPr lang="zh-CN" altLang="en-US" dirty="0"/>
              <a:t>预习</a:t>
            </a:r>
            <a:r>
              <a:rPr lang="en-US" altLang="zh-CN" dirty="0"/>
              <a:t>: </a:t>
            </a:r>
            <a:r>
              <a:rPr lang="zh-CN" altLang="en-US" dirty="0"/>
              <a:t>数理逻辑的基本概念</a:t>
            </a:r>
          </a:p>
        </p:txBody>
      </p:sp>
      <p:sp>
        <p:nvSpPr>
          <p:cNvPr id="274436" name="Rectangle 4">
            <a:extLst>
              <a:ext uri="{FF2B5EF4-FFF2-40B4-BE49-F238E27FC236}">
                <a16:creationId xmlns:a16="http://schemas.microsoft.com/office/drawing/2014/main" id="{3A8755FA-57A0-439E-A78D-6328D81E3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981075"/>
            <a:ext cx="7920037" cy="93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84C3B9-0671-444F-BBF0-CE02DD1A7FF4}"/>
              </a:ext>
            </a:extLst>
          </p:cNvPr>
          <p:cNvSpPr txBox="1"/>
          <p:nvPr/>
        </p:nvSpPr>
        <p:spPr>
          <a:xfrm>
            <a:off x="1835697" y="1372706"/>
            <a:ext cx="237626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Propositional Logic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B6FAE-F37A-42D6-A641-964C90920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r>
              <a:rPr lang="zh-CN" altLang="en-US" dirty="0"/>
              <a:t>命题逻辑</a:t>
            </a:r>
            <a:endParaRPr lang="en-US" altLang="zh-CN" dirty="0"/>
          </a:p>
          <a:p>
            <a:r>
              <a:rPr lang="zh-CN" altLang="en-US" dirty="0"/>
              <a:t>变元</a:t>
            </a:r>
            <a:r>
              <a:rPr lang="en-US" altLang="zh-CN" dirty="0"/>
              <a:t>: p, q, r, s, …</a:t>
            </a:r>
          </a:p>
          <a:p>
            <a:r>
              <a:rPr lang="zh-CN" altLang="en-US" dirty="0"/>
              <a:t>文字</a:t>
            </a:r>
            <a:r>
              <a:rPr lang="en-US" altLang="zh-CN" dirty="0"/>
              <a:t>: p, ¬p, …</a:t>
            </a:r>
          </a:p>
          <a:p>
            <a:r>
              <a:rPr lang="zh-CN" altLang="en-US" dirty="0"/>
              <a:t>真值</a:t>
            </a:r>
            <a:r>
              <a:rPr lang="en-US" altLang="zh-CN" dirty="0"/>
              <a:t>: </a:t>
            </a:r>
            <a:r>
              <a:rPr lang="zh-CN" altLang="en-US" dirty="0"/>
              <a:t>真 </a:t>
            </a:r>
            <a:r>
              <a:rPr lang="en-US" altLang="zh-CN" dirty="0"/>
              <a:t>(true, T), </a:t>
            </a:r>
            <a:r>
              <a:rPr lang="zh-CN" altLang="en-US" dirty="0"/>
              <a:t>假 </a:t>
            </a:r>
            <a:r>
              <a:rPr lang="en-US" altLang="zh-CN" dirty="0"/>
              <a:t>(false, F).</a:t>
            </a:r>
          </a:p>
          <a:p>
            <a:r>
              <a:rPr lang="zh-CN" altLang="en-US" dirty="0"/>
              <a:t>复合命题</a:t>
            </a:r>
            <a:r>
              <a:rPr lang="en-US" altLang="zh-CN" dirty="0"/>
              <a:t>: </a:t>
            </a:r>
            <a:r>
              <a:rPr lang="zh-CN" altLang="en-US" dirty="0"/>
              <a:t>由命题和运算符构成</a:t>
            </a:r>
            <a:endParaRPr lang="en-US" altLang="zh-CN" dirty="0"/>
          </a:p>
          <a:p>
            <a:r>
              <a:rPr lang="zh-CN" altLang="en-US" dirty="0"/>
              <a:t>  非</a:t>
            </a:r>
            <a:r>
              <a:rPr lang="en-US" altLang="zh-CN" dirty="0"/>
              <a:t> ¬</a:t>
            </a:r>
          </a:p>
          <a:p>
            <a:r>
              <a:rPr lang="zh-CN" altLang="en-US" dirty="0"/>
              <a:t>  与 </a:t>
            </a:r>
            <a:r>
              <a:rPr lang="en-US" altLang="zh-CN" dirty="0"/>
              <a:t>∧</a:t>
            </a:r>
          </a:p>
          <a:p>
            <a:r>
              <a:rPr lang="zh-CN" altLang="en-US" dirty="0"/>
              <a:t>  或</a:t>
            </a:r>
            <a:r>
              <a:rPr lang="en-US" altLang="zh-CN" dirty="0"/>
              <a:t> ∨</a:t>
            </a:r>
          </a:p>
          <a:p>
            <a:r>
              <a:rPr lang="zh-CN" altLang="en-US" dirty="0"/>
              <a:t>  蕴含 </a:t>
            </a:r>
            <a:r>
              <a:rPr lang="en-US" altLang="zh-CN" dirty="0"/>
              <a:t>→</a:t>
            </a:r>
          </a:p>
          <a:p>
            <a:r>
              <a:rPr lang="zh-CN" altLang="en-US" dirty="0"/>
              <a:t>  等价</a:t>
            </a:r>
            <a:r>
              <a:rPr lang="en-US" altLang="zh-CN" dirty="0"/>
              <a:t> ↔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6BD633-078B-4535-A524-558023E066C2}"/>
              </a:ext>
            </a:extLst>
          </p:cNvPr>
          <p:cNvSpPr txBox="1"/>
          <p:nvPr/>
        </p:nvSpPr>
        <p:spPr>
          <a:xfrm>
            <a:off x="4788024" y="3131066"/>
            <a:ext cx="409428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Compound Propositions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CD74CDD-4B29-45F3-B9E7-F9420707F2F8}"/>
              </a:ext>
            </a:extLst>
          </p:cNvPr>
          <p:cNvSpPr txBox="1"/>
          <p:nvPr/>
        </p:nvSpPr>
        <p:spPr>
          <a:xfrm>
            <a:off x="2164814" y="3555108"/>
            <a:ext cx="409428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反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否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Negation, Not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75B473A-A0F3-475A-94C7-FBDAA238A79E}"/>
              </a:ext>
            </a:extLst>
          </p:cNvPr>
          <p:cNvSpPr txBox="1"/>
          <p:nvPr/>
        </p:nvSpPr>
        <p:spPr>
          <a:xfrm>
            <a:off x="2164815" y="4019703"/>
            <a:ext cx="409428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合取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Conjunction, And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10AA020-5791-45C0-BEAF-8B73756C220D}"/>
              </a:ext>
            </a:extLst>
          </p:cNvPr>
          <p:cNvSpPr txBox="1"/>
          <p:nvPr/>
        </p:nvSpPr>
        <p:spPr>
          <a:xfrm>
            <a:off x="2164815" y="4481420"/>
            <a:ext cx="409428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析取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Disjunction, Or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79ACC5-DF4D-4300-9DAA-9F0EA15926D1}"/>
              </a:ext>
            </a:extLst>
          </p:cNvPr>
          <p:cNvSpPr txBox="1"/>
          <p:nvPr/>
        </p:nvSpPr>
        <p:spPr>
          <a:xfrm>
            <a:off x="2164815" y="4929395"/>
            <a:ext cx="409428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如果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…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那么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…, Implication, Imply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21ADCC3-6EE3-49EA-9685-4BE20F816B8C}"/>
              </a:ext>
            </a:extLst>
          </p:cNvPr>
          <p:cNvSpPr txBox="1"/>
          <p:nvPr/>
        </p:nvSpPr>
        <p:spPr>
          <a:xfrm>
            <a:off x="2164814" y="5333146"/>
            <a:ext cx="409428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当且仅当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Biconditional, Equivalence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DE64D21-DE61-4A32-A815-4B3EDFF76A5A}"/>
              </a:ext>
            </a:extLst>
          </p:cNvPr>
          <p:cNvSpPr txBox="1"/>
          <p:nvPr/>
        </p:nvSpPr>
        <p:spPr>
          <a:xfrm>
            <a:off x="4788023" y="1819214"/>
            <a:ext cx="409428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Variable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A444BB1-F259-435A-8D26-6B983C83772A}"/>
              </a:ext>
            </a:extLst>
          </p:cNvPr>
          <p:cNvSpPr txBox="1"/>
          <p:nvPr/>
        </p:nvSpPr>
        <p:spPr>
          <a:xfrm>
            <a:off x="4788022" y="2267599"/>
            <a:ext cx="409428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Literal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953C160-0D5A-43CE-9D47-1EC86980A2A8}"/>
              </a:ext>
            </a:extLst>
          </p:cNvPr>
          <p:cNvSpPr txBox="1"/>
          <p:nvPr/>
        </p:nvSpPr>
        <p:spPr>
          <a:xfrm>
            <a:off x="4788022" y="2697087"/>
            <a:ext cx="409428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Truth Value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70F323C-07BB-4E41-ADD2-D7356306E2AC}"/>
              </a:ext>
            </a:extLst>
          </p:cNvPr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命题是能区别真假的陈述语句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主谓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宾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状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完整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祈使句和疑问句都不是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62351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2458F8A5-2DF1-4EC7-A712-2C271C509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EA3-71BE-479D-8EE8-13BF07F04221}" type="slidenum">
              <a:rPr lang="en-US" altLang="zh-CN" smtClean="0"/>
              <a:pPr/>
              <a:t>6</a:t>
            </a:fld>
            <a:endParaRPr lang="en-US" altLang="zh-CN"/>
          </a:p>
        </p:txBody>
      </p:sp>
      <p:sp>
        <p:nvSpPr>
          <p:cNvPr id="274434" name="Rectangle 2">
            <a:extLst>
              <a:ext uri="{FF2B5EF4-FFF2-40B4-BE49-F238E27FC236}">
                <a16:creationId xmlns:a16="http://schemas.microsoft.com/office/drawing/2014/main" id="{7F9BBD81-E8FA-432A-A6B0-DA84BA2B1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复习</a:t>
            </a:r>
            <a:r>
              <a:rPr lang="en-US" altLang="zh-CN" dirty="0"/>
              <a:t>/</a:t>
            </a:r>
            <a:r>
              <a:rPr lang="zh-CN" altLang="en-US" dirty="0"/>
              <a:t>预习</a:t>
            </a:r>
            <a:r>
              <a:rPr lang="en-US" altLang="zh-CN" dirty="0"/>
              <a:t>: </a:t>
            </a:r>
            <a:r>
              <a:rPr lang="zh-CN" altLang="en-US" dirty="0"/>
              <a:t>数理逻辑的基本概念</a:t>
            </a:r>
          </a:p>
        </p:txBody>
      </p:sp>
      <p:sp>
        <p:nvSpPr>
          <p:cNvPr id="274436" name="Rectangle 4">
            <a:extLst>
              <a:ext uri="{FF2B5EF4-FFF2-40B4-BE49-F238E27FC236}">
                <a16:creationId xmlns:a16="http://schemas.microsoft.com/office/drawing/2014/main" id="{3A8755FA-57A0-439E-A78D-6328D81E3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981075"/>
            <a:ext cx="7920037" cy="93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B6FAE-F37A-42D6-A641-964C90920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r>
              <a:rPr lang="zh-CN" altLang="en-US" dirty="0"/>
              <a:t>谓词逻辑</a:t>
            </a:r>
            <a:endParaRPr lang="en-US" altLang="zh-CN" dirty="0"/>
          </a:p>
          <a:p>
            <a:r>
              <a:rPr lang="zh-CN" altLang="en-US" dirty="0"/>
              <a:t>变元</a:t>
            </a:r>
            <a:r>
              <a:rPr lang="en-US" altLang="zh-CN" dirty="0"/>
              <a:t>: x, y, z</a:t>
            </a:r>
          </a:p>
          <a:p>
            <a:r>
              <a:rPr lang="zh-CN" altLang="en-US" dirty="0"/>
              <a:t>谓词</a:t>
            </a:r>
            <a:r>
              <a:rPr lang="en-US" altLang="zh-CN" dirty="0"/>
              <a:t>: P(x), M(x)</a:t>
            </a:r>
          </a:p>
          <a:p>
            <a:r>
              <a:rPr lang="zh-CN" altLang="en-US" dirty="0"/>
              <a:t>量词</a:t>
            </a:r>
            <a:r>
              <a:rPr lang="en-US" altLang="zh-CN" dirty="0"/>
              <a:t>:</a:t>
            </a:r>
          </a:p>
          <a:p>
            <a:r>
              <a:rPr lang="zh-CN" altLang="en-US" dirty="0"/>
              <a:t>  两个最重要的量词</a:t>
            </a:r>
            <a:r>
              <a:rPr lang="en-US" altLang="zh-CN" dirty="0"/>
              <a:t>:</a:t>
            </a:r>
          </a:p>
          <a:p>
            <a:r>
              <a:rPr lang="zh-CN" altLang="en-US" dirty="0"/>
              <a:t>  全称量词</a:t>
            </a:r>
            <a:r>
              <a:rPr lang="en-US" altLang="zh-CN" dirty="0"/>
              <a:t>: </a:t>
            </a:r>
            <a:r>
              <a:rPr lang="zh-CN" altLang="en-US" dirty="0">
                <a:latin typeface="Times New Roman" panose="02020603050405020304" pitchFamily="18" charset="0"/>
              </a:rPr>
              <a:t>∀</a:t>
            </a:r>
            <a:endParaRPr lang="en-US" altLang="zh-CN" dirty="0"/>
          </a:p>
          <a:p>
            <a:r>
              <a:rPr lang="zh-CN" altLang="en-US" dirty="0"/>
              <a:t>  存在量词</a:t>
            </a:r>
            <a:r>
              <a:rPr lang="en-US" altLang="zh-CN" dirty="0"/>
              <a:t>: </a:t>
            </a:r>
            <a:r>
              <a:rPr lang="zh-CN" altLang="en-US" dirty="0">
                <a:latin typeface="Times New Roman" panose="02020603050405020304" pitchFamily="18" charset="0"/>
              </a:rPr>
              <a:t>∃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∀x P(x) </a:t>
            </a:r>
            <a:r>
              <a:rPr lang="zh-CN" altLang="en-US" dirty="0"/>
              <a:t>要求</a:t>
            </a:r>
            <a:r>
              <a:rPr lang="en-US" altLang="zh-CN" dirty="0"/>
              <a:t> P(x) </a:t>
            </a:r>
            <a:r>
              <a:rPr lang="zh-CN" altLang="en-US" dirty="0"/>
              <a:t>对定义域中的</a:t>
            </a:r>
            <a:r>
              <a:rPr lang="zh-CN" altLang="en-US" u="sng" dirty="0"/>
              <a:t>每个</a:t>
            </a:r>
            <a:r>
              <a:rPr lang="zh-CN" altLang="en-US" dirty="0"/>
              <a:t> </a:t>
            </a:r>
            <a:r>
              <a:rPr lang="en-US" altLang="zh-CN" dirty="0"/>
              <a:t>x </a:t>
            </a:r>
            <a:r>
              <a:rPr lang="zh-CN" altLang="en-US" dirty="0"/>
              <a:t>为真</a:t>
            </a:r>
            <a:r>
              <a:rPr lang="en-US" altLang="zh-CN" dirty="0"/>
              <a:t>.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∃</a:t>
            </a:r>
            <a:r>
              <a:rPr lang="en-US" altLang="zh-CN" dirty="0"/>
              <a:t>x P(x) </a:t>
            </a:r>
            <a:r>
              <a:rPr lang="zh-CN" altLang="en-US" dirty="0"/>
              <a:t>要求</a:t>
            </a:r>
            <a:r>
              <a:rPr lang="en-US" altLang="zh-CN" dirty="0"/>
              <a:t> P(x) </a:t>
            </a:r>
            <a:r>
              <a:rPr lang="zh-CN" altLang="en-US" dirty="0"/>
              <a:t>对定义域中的</a:t>
            </a:r>
            <a:r>
              <a:rPr lang="zh-CN" altLang="en-US" u="sng" dirty="0"/>
              <a:t>某个</a:t>
            </a:r>
            <a:r>
              <a:rPr lang="zh-CN" altLang="en-US" dirty="0"/>
              <a:t> </a:t>
            </a:r>
            <a:r>
              <a:rPr lang="en-US" altLang="zh-CN" dirty="0"/>
              <a:t>x </a:t>
            </a:r>
            <a:r>
              <a:rPr lang="zh-CN" altLang="en-US" dirty="0"/>
              <a:t>为真</a:t>
            </a:r>
            <a:r>
              <a:rPr lang="en-US" altLang="zh-CN" dirty="0"/>
              <a:t>.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8DF676D-C766-4D2E-8719-095FE299771C}"/>
              </a:ext>
            </a:extLst>
          </p:cNvPr>
          <p:cNvSpPr txBox="1"/>
          <p:nvPr/>
        </p:nvSpPr>
        <p:spPr>
          <a:xfrm>
            <a:off x="1835697" y="1372706"/>
            <a:ext cx="237626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Predicate Logic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D3FA554-858A-461C-A9ED-7A248B087197}"/>
              </a:ext>
            </a:extLst>
          </p:cNvPr>
          <p:cNvSpPr txBox="1"/>
          <p:nvPr/>
        </p:nvSpPr>
        <p:spPr>
          <a:xfrm>
            <a:off x="2995651" y="2253062"/>
            <a:ext cx="237626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Predicate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E16DF7-9E9C-4668-BC96-B87EFD14E963}"/>
              </a:ext>
            </a:extLst>
          </p:cNvPr>
          <p:cNvSpPr txBox="1"/>
          <p:nvPr/>
        </p:nvSpPr>
        <p:spPr>
          <a:xfrm>
            <a:off x="3023829" y="2668850"/>
            <a:ext cx="237626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Quantifier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912BAE6-CC61-460F-949B-36E4008F3E7C}"/>
              </a:ext>
            </a:extLst>
          </p:cNvPr>
          <p:cNvSpPr txBox="1"/>
          <p:nvPr/>
        </p:nvSpPr>
        <p:spPr>
          <a:xfrm>
            <a:off x="2958003" y="3602211"/>
            <a:ext cx="3313001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Universal Quantifier, For all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511CAC1-613E-40A0-ADDA-D8622760BBC7}"/>
              </a:ext>
            </a:extLst>
          </p:cNvPr>
          <p:cNvSpPr txBox="1"/>
          <p:nvPr/>
        </p:nvSpPr>
        <p:spPr>
          <a:xfrm>
            <a:off x="2958003" y="3980705"/>
            <a:ext cx="3852082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Existential Quantifier, There exists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60203E8-1B47-4525-870D-A034EFAF99ED}"/>
              </a:ext>
            </a:extLst>
          </p:cNvPr>
          <p:cNvSpPr txBox="1"/>
          <p:nvPr/>
        </p:nvSpPr>
        <p:spPr>
          <a:xfrm>
            <a:off x="7125455" y="3626762"/>
            <a:ext cx="1561345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人固有一死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或重于泰山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99632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7C56E96-601D-489B-983C-72741CC0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E877-528C-456B-9FD4-FE949D95F561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270338" name="Rectangle 2">
            <a:extLst>
              <a:ext uri="{FF2B5EF4-FFF2-40B4-BE49-F238E27FC236}">
                <a16:creationId xmlns:a16="http://schemas.microsoft.com/office/drawing/2014/main" id="{BCC8D1BA-EECB-4C04-892B-7BBD2662FC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元素与集合</a:t>
            </a:r>
          </a:p>
        </p:txBody>
      </p:sp>
      <p:pic>
        <p:nvPicPr>
          <p:cNvPr id="270341" name="Picture 5" descr="图片1">
            <a:extLst>
              <a:ext uri="{FF2B5EF4-FFF2-40B4-BE49-F238E27FC236}">
                <a16:creationId xmlns:a16="http://schemas.microsoft.com/office/drawing/2014/main" id="{9AE76B59-1023-4E79-9EC5-96A5BBA78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1773238"/>
            <a:ext cx="3386138" cy="3367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0345" name="Text Box 9">
            <a:extLst>
              <a:ext uri="{FF2B5EF4-FFF2-40B4-BE49-F238E27FC236}">
                <a16:creationId xmlns:a16="http://schemas.microsoft.com/office/drawing/2014/main" id="{30B4253A-8216-4218-A346-1ABD2D753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1341438"/>
            <a:ext cx="462915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25475" indent="-6254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874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6681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latin typeface="Times New Roman" panose="02020603050405020304" pitchFamily="18" charset="0"/>
              </a:rPr>
              <a:t>1.  </a:t>
            </a:r>
            <a:r>
              <a:rPr lang="zh-CN" altLang="en-US" b="1" dirty="0">
                <a:latin typeface="Times New Roman" panose="02020603050405020304" pitchFamily="18" charset="0"/>
              </a:rPr>
              <a:t>集合的元素具有的性质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     无序性：元素列出的顺序无关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     相异性：集合的每个元素只计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                     数一次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     确定性：对任何元素和集合都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                     能确定这个元素是否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                     为该集合的元素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     任意性：集合的元素也可以是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                     集合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．元素与集合的关系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      隶属关系：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zh-CN" altLang="en-US" b="1" dirty="0">
                <a:latin typeface="Times New Roman" panose="02020603050405020304" pitchFamily="18" charset="0"/>
              </a:rPr>
              <a:t>或者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．集合的树型层次结构</a:t>
            </a:r>
          </a:p>
        </p:txBody>
      </p:sp>
      <p:sp>
        <p:nvSpPr>
          <p:cNvPr id="270346" name="Rectangle 10">
            <a:extLst>
              <a:ext uri="{FF2B5EF4-FFF2-40B4-BE49-F238E27FC236}">
                <a16:creationId xmlns:a16="http://schemas.microsoft.com/office/drawing/2014/main" id="{CF7FCC72-F123-40C3-9528-D480F3815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5516563"/>
            <a:ext cx="1711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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22ADCD-5393-4E1A-B15A-9395FCE3CE8A}"/>
              </a:ext>
            </a:extLst>
          </p:cNvPr>
          <p:cNvSpPr txBox="1"/>
          <p:nvPr/>
        </p:nvSpPr>
        <p:spPr>
          <a:xfrm>
            <a:off x="0" y="6457890"/>
            <a:ext cx="731430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属于集合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x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是集合中的元素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集合包含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9C32E47-CAEA-49B3-A110-E960D68E65A4}"/>
              </a:ext>
            </a:extLst>
          </p:cNvPr>
          <p:cNvSpPr txBox="1"/>
          <p:nvPr/>
        </p:nvSpPr>
        <p:spPr>
          <a:xfrm>
            <a:off x="3923928" y="5746323"/>
            <a:ext cx="237791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集合也可以是元素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6">
            <a:extLst>
              <a:ext uri="{FF2B5EF4-FFF2-40B4-BE49-F238E27FC236}">
                <a16:creationId xmlns:a16="http://schemas.microsoft.com/office/drawing/2014/main" id="{A84F31D4-468B-44D3-B659-AF002CC24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B99C-9F0E-4C52-880E-14BD0012C6CB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272386" name="Rectangle 2">
            <a:extLst>
              <a:ext uri="{FF2B5EF4-FFF2-40B4-BE49-F238E27FC236}">
                <a16:creationId xmlns:a16="http://schemas.microsoft.com/office/drawing/2014/main" id="{465C5D56-297A-4CE0-A822-A9A9A767FB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集合与集合</a:t>
            </a:r>
          </a:p>
        </p:txBody>
      </p:sp>
      <p:sp>
        <p:nvSpPr>
          <p:cNvPr id="272387" name="Rectangle 3">
            <a:extLst>
              <a:ext uri="{FF2B5EF4-FFF2-40B4-BE49-F238E27FC236}">
                <a16:creationId xmlns:a16="http://schemas.microsoft.com/office/drawing/2014/main" id="{AA3A9100-EF6B-4E90-9BC7-FA7452407C6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68413"/>
            <a:ext cx="7859713" cy="4525962"/>
          </a:xfrm>
        </p:spPr>
        <p:txBody>
          <a:bodyPr/>
          <a:lstStyle/>
          <a:p>
            <a:pPr marL="457200" indent="-457200"/>
            <a:r>
              <a:rPr lang="zh-CN" altLang="en-US" dirty="0"/>
              <a:t>集合与集合之间的关系：</a:t>
            </a:r>
            <a:r>
              <a:rPr lang="zh-CN" altLang="en-US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, =, </a:t>
            </a:r>
            <a:r>
              <a:rPr lang="en-US" altLang="zh-CN" dirty="0">
                <a:latin typeface="Lucida Sans Unicode" panose="020B0602030504020204" pitchFamily="34" charset="0"/>
                <a:ea typeface="MingLiU" panose="02020509000000000000" pitchFamily="49" charset="-120"/>
              </a:rPr>
              <a:t>⊈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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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</a:t>
            </a:r>
            <a:endParaRPr lang="en-US" altLang="zh-CN" i="1" dirty="0">
              <a:latin typeface="Arial" panose="020B0604020202020204" pitchFamily="34" charset="0"/>
              <a:ea typeface="Arial Unicode MS" pitchFamily="34" charset="-122"/>
            </a:endParaRPr>
          </a:p>
          <a:p>
            <a:pPr marL="457200" indent="-457200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6.1</a:t>
            </a:r>
            <a:r>
              <a:rPr lang="en-US" altLang="zh-CN" i="1" dirty="0"/>
              <a:t>    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  </a:t>
            </a:r>
            <a:r>
              <a:rPr lang="en-US" altLang="zh-CN" dirty="0">
                <a:sym typeface="Symbol" panose="05050102010706020507" pitchFamily="18" charset="2"/>
              </a:rPr>
              <a:t> </a:t>
            </a:r>
            <a:r>
              <a:rPr lang="en-US" altLang="zh-CN" i="1" dirty="0"/>
              <a:t>x</a:t>
            </a:r>
            <a:r>
              <a:rPr lang="en-US" altLang="zh-CN" dirty="0"/>
              <a:t> (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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B</a:t>
            </a:r>
            <a:r>
              <a:rPr lang="en-US" altLang="zh-CN" i="1" dirty="0"/>
              <a:t> </a:t>
            </a:r>
            <a:r>
              <a:rPr lang="en-US" altLang="zh-CN" dirty="0"/>
              <a:t>)</a:t>
            </a:r>
            <a:endParaRPr lang="en-US" altLang="zh-CN" i="1" dirty="0"/>
          </a:p>
          <a:p>
            <a:pPr marL="457200" indent="-457200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6.2</a:t>
            </a:r>
            <a:r>
              <a:rPr lang="en-US" altLang="zh-CN" i="1" dirty="0"/>
              <a:t>    A</a:t>
            </a:r>
            <a:r>
              <a:rPr lang="en-US" altLang="zh-CN" dirty="0"/>
              <a:t> = </a:t>
            </a:r>
            <a:r>
              <a:rPr lang="en-US" altLang="zh-CN" i="1" dirty="0"/>
              <a:t>B</a:t>
            </a:r>
            <a:r>
              <a:rPr lang="en-US" altLang="zh-CN" dirty="0"/>
              <a:t>  </a:t>
            </a:r>
            <a:r>
              <a:rPr lang="en-US" altLang="zh-CN" dirty="0">
                <a:sym typeface="Symbol" panose="05050102010706020507" pitchFamily="18" charset="2"/>
              </a:rPr>
              <a:t> 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</a:p>
          <a:p>
            <a:pPr marL="457200" indent="-457200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6.3</a:t>
            </a:r>
            <a:r>
              <a:rPr lang="en-US" altLang="zh-CN" i="1" dirty="0"/>
              <a:t>    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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  </a:t>
            </a:r>
            <a:r>
              <a:rPr lang="en-US" altLang="zh-CN" dirty="0">
                <a:sym typeface="Symbol" panose="05050102010706020507" pitchFamily="18" charset="2"/>
              </a:rPr>
              <a:t> 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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endParaRPr lang="en-US" altLang="zh-CN" i="1" dirty="0"/>
          </a:p>
          <a:p>
            <a:pPr marL="457200" indent="-457200"/>
            <a:r>
              <a:rPr lang="en-US" altLang="zh-CN" i="1" dirty="0"/>
              <a:t>                 A</a:t>
            </a:r>
            <a:r>
              <a:rPr lang="en-US" altLang="zh-CN" dirty="0"/>
              <a:t> </a:t>
            </a:r>
            <a:r>
              <a:rPr lang="en-US" altLang="zh-CN" dirty="0">
                <a:latin typeface="Lucida Sans Unicode" panose="020B0602030504020204" pitchFamily="34" charset="0"/>
                <a:ea typeface="Arial Unicode MS" pitchFamily="34" charset="-122"/>
              </a:rPr>
              <a:t>⊈</a:t>
            </a:r>
            <a:r>
              <a:rPr lang="en-US" altLang="zh-CN" dirty="0">
                <a:solidFill>
                  <a:srgbClr val="000000"/>
                </a:solidFill>
                <a:latin typeface="Lucida Sans Unicode" panose="020B0602030504020204" pitchFamily="34" charset="0"/>
                <a:ea typeface="华文中宋" panose="02010600040101010101" pitchFamily="2" charset="-122"/>
                <a:cs typeface="Lucida Sans Unicode" panose="020B0602030504020204" pitchFamily="34" charset="0"/>
              </a:rPr>
              <a:t> </a:t>
            </a:r>
            <a:r>
              <a:rPr lang="en-US" altLang="zh-CN" i="1" dirty="0"/>
              <a:t>B</a:t>
            </a:r>
            <a:r>
              <a:rPr lang="en-US" altLang="zh-CN" dirty="0"/>
              <a:t>  </a:t>
            </a:r>
            <a:r>
              <a:rPr lang="en-US" altLang="zh-CN" dirty="0">
                <a:sym typeface="Symbol" panose="05050102010706020507" pitchFamily="18" charset="2"/>
              </a:rPr>
              <a:t> 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x</a:t>
            </a:r>
            <a:r>
              <a:rPr lang="en-US" altLang="zh-CN" dirty="0"/>
              <a:t> (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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</a:t>
            </a:r>
            <a:r>
              <a:rPr lang="en-US" altLang="zh-CN" i="1" dirty="0" err="1"/>
              <a:t>B</a:t>
            </a:r>
            <a:r>
              <a:rPr lang="en-US" altLang="zh-CN" i="1" dirty="0"/>
              <a:t> </a:t>
            </a:r>
            <a:r>
              <a:rPr lang="en-US" altLang="zh-CN" dirty="0"/>
              <a:t>) </a:t>
            </a:r>
          </a:p>
          <a:p>
            <a:pPr marL="457200" indent="-457200"/>
            <a:endParaRPr lang="en-US" altLang="zh-CN" dirty="0"/>
          </a:p>
          <a:p>
            <a:pPr marL="457200" indent="-457200"/>
            <a:r>
              <a:rPr lang="zh-CN" altLang="en-US" dirty="0"/>
              <a:t>思考：</a:t>
            </a:r>
            <a:r>
              <a:rPr lang="zh-CN" altLang="en-US" dirty="0">
                <a:sym typeface="Symbol" panose="05050102010706020507" pitchFamily="18" charset="2"/>
              </a:rPr>
              <a:t></a:t>
            </a:r>
            <a:r>
              <a:rPr lang="zh-CN" altLang="en-US" dirty="0"/>
              <a:t> 和 </a:t>
            </a:r>
            <a:r>
              <a:rPr lang="zh-CN" altLang="en-US" dirty="0">
                <a:sym typeface="Symbol" panose="05050102010706020507" pitchFamily="18" charset="2"/>
              </a:rPr>
              <a:t></a:t>
            </a:r>
            <a:r>
              <a:rPr lang="zh-CN" altLang="en-US" dirty="0"/>
              <a:t> 的定义  </a:t>
            </a:r>
          </a:p>
          <a:p>
            <a:pPr marL="457200" indent="-457200"/>
            <a:endParaRPr lang="zh-CN" altLang="en-US" dirty="0"/>
          </a:p>
          <a:p>
            <a:pPr marL="457200" indent="-457200"/>
            <a:r>
              <a:rPr lang="zh-CN" altLang="en-US" dirty="0"/>
              <a:t>注意 </a:t>
            </a:r>
            <a:r>
              <a:rPr lang="zh-CN" altLang="en-US" dirty="0">
                <a:sym typeface="Symbol" panose="05050102010706020507" pitchFamily="18" charset="2"/>
              </a:rPr>
              <a:t> </a:t>
            </a:r>
            <a:r>
              <a:rPr lang="zh-CN" altLang="en-US" dirty="0"/>
              <a:t>和 </a:t>
            </a:r>
            <a:r>
              <a:rPr lang="zh-CN" altLang="en-US" dirty="0">
                <a:sym typeface="Symbol" panose="05050102010706020507" pitchFamily="18" charset="2"/>
              </a:rPr>
              <a:t> </a:t>
            </a:r>
            <a:r>
              <a:rPr lang="zh-CN" altLang="en-US" dirty="0"/>
              <a:t>是不同层次的问题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116369-0D71-47BF-B985-87CB01EF291A}"/>
              </a:ext>
            </a:extLst>
          </p:cNvPr>
          <p:cNvSpPr txBox="1"/>
          <p:nvPr/>
        </p:nvSpPr>
        <p:spPr>
          <a:xfrm>
            <a:off x="5723096" y="1772816"/>
            <a:ext cx="296370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的子集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包含于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endParaRPr lang="zh-CN" altLang="en-US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C40D24-864B-42ED-BCF9-E3697DEE6978}"/>
              </a:ext>
            </a:extLst>
          </p:cNvPr>
          <p:cNvSpPr txBox="1"/>
          <p:nvPr/>
        </p:nvSpPr>
        <p:spPr>
          <a:xfrm>
            <a:off x="5723096" y="2623776"/>
            <a:ext cx="331340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的真子集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真包含于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endParaRPr lang="zh-CN" altLang="en-US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ADE460-7113-4CEF-9C6B-39D064751EB6}"/>
              </a:ext>
            </a:extLst>
          </p:cNvPr>
          <p:cNvSpPr txBox="1"/>
          <p:nvPr/>
        </p:nvSpPr>
        <p:spPr>
          <a:xfrm>
            <a:off x="0" y="6154575"/>
            <a:ext cx="5796136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∀x (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x∈A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 ↔ 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x∈B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表示什么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?</a:t>
            </a:r>
          </a:p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∀x (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x∈A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 → 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x∈B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 ∧ ∃x (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x∉A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 ∧ 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x∈B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表示什么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?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2458F8A5-2DF1-4EC7-A712-2C271C509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EA3-71BE-479D-8EE8-13BF07F04221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274434" name="Rectangle 2">
            <a:extLst>
              <a:ext uri="{FF2B5EF4-FFF2-40B4-BE49-F238E27FC236}">
                <a16:creationId xmlns:a16="http://schemas.microsoft.com/office/drawing/2014/main" id="{7F9BBD81-E8FA-432A-A6B0-DA84BA2B1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空集、全集和幂集</a:t>
            </a:r>
          </a:p>
        </p:txBody>
      </p:sp>
      <p:sp>
        <p:nvSpPr>
          <p:cNvPr id="274435" name="Rectangle 3">
            <a:extLst>
              <a:ext uri="{FF2B5EF4-FFF2-40B4-BE49-F238E27FC236}">
                <a16:creationId xmlns:a16="http://schemas.microsoft.com/office/drawing/2014/main" id="{BF6D4D70-9D9B-408D-B381-78F16C3942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2119918"/>
            <a:ext cx="7704137" cy="2879725"/>
          </a:xfrm>
        </p:spPr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．</a:t>
            </a: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6.4</a:t>
            </a:r>
            <a:r>
              <a:rPr lang="en-US" altLang="zh-CN" dirty="0"/>
              <a:t>  </a:t>
            </a:r>
            <a:r>
              <a:rPr lang="zh-CN" altLang="en-US" dirty="0">
                <a:solidFill>
                  <a:srgbClr val="A50021"/>
                </a:solidFill>
              </a:rPr>
              <a:t>空集 </a:t>
            </a:r>
            <a:r>
              <a:rPr lang="zh-CN" altLang="en-US" dirty="0">
                <a:sym typeface="Symbol" panose="05050102010706020507" pitchFamily="18" charset="2"/>
              </a:rPr>
              <a:t></a:t>
            </a:r>
            <a:r>
              <a:rPr lang="zh-CN" altLang="en-US" dirty="0"/>
              <a:t> ：不含有任何元素的集合</a:t>
            </a:r>
          </a:p>
          <a:p>
            <a:r>
              <a:rPr lang="zh-CN" altLang="en-US" dirty="0"/>
              <a:t>      实例：  </a:t>
            </a:r>
            <a:r>
              <a:rPr lang="en-US" altLang="zh-CN" dirty="0"/>
              <a:t>{ </a:t>
            </a:r>
            <a:r>
              <a:rPr lang="en-US" altLang="zh-CN" i="1" dirty="0"/>
              <a:t>x </a:t>
            </a:r>
            <a:r>
              <a:rPr lang="en-US" altLang="zh-CN" dirty="0"/>
              <a:t>|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R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 </a:t>
            </a:r>
            <a:r>
              <a:rPr lang="en-US" altLang="zh-CN" i="1" dirty="0"/>
              <a:t>x</a:t>
            </a:r>
            <a:r>
              <a:rPr lang="en-US" altLang="zh-CN" baseline="30000" dirty="0"/>
              <a:t>2</a:t>
            </a:r>
            <a:r>
              <a:rPr lang="en-US" altLang="zh-CN" dirty="0"/>
              <a:t>+1=0 } 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A50021"/>
                </a:solidFill>
              </a:rPr>
              <a:t>      </a:t>
            </a: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6.1</a:t>
            </a:r>
            <a:r>
              <a:rPr lang="en-US" altLang="zh-CN" dirty="0"/>
              <a:t>  </a:t>
            </a:r>
            <a:r>
              <a:rPr lang="zh-CN" altLang="en-US" dirty="0"/>
              <a:t>空集是任何集合的子集。</a:t>
            </a:r>
          </a:p>
          <a:p>
            <a:r>
              <a:rPr lang="zh-CN" altLang="en-US" dirty="0"/>
              <a:t>      证 对于任意集合</a:t>
            </a:r>
            <a:r>
              <a:rPr lang="en-US" altLang="zh-CN" i="1" dirty="0"/>
              <a:t>A</a:t>
            </a:r>
            <a:r>
              <a:rPr lang="zh-CN" altLang="en-US" dirty="0"/>
              <a:t>，</a:t>
            </a:r>
          </a:p>
          <a:p>
            <a:r>
              <a:rPr lang="zh-CN" altLang="en-US" dirty="0"/>
              <a:t>              </a:t>
            </a:r>
            <a:r>
              <a:rPr lang="zh-CN" altLang="en-US" dirty="0">
                <a:sym typeface="Symbol" panose="05050102010706020507" pitchFamily="18" charset="2"/>
              </a:rPr>
              <a:t>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 (</a:t>
            </a:r>
            <a:r>
              <a:rPr lang="en-US" altLang="zh-CN" i="1" dirty="0"/>
              <a:t>x</a:t>
            </a:r>
            <a:r>
              <a:rPr lang="en-US" altLang="zh-CN" dirty="0">
                <a:sym typeface="Symbol" panose="05050102010706020507" pitchFamily="18" charset="2"/>
              </a:rPr>
              <a:t>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i="1" dirty="0"/>
              <a:t>T</a:t>
            </a:r>
            <a:r>
              <a:rPr lang="en-US" altLang="zh-CN" dirty="0"/>
              <a:t> (</a:t>
            </a:r>
            <a:r>
              <a:rPr lang="zh-CN" altLang="en-US" dirty="0"/>
              <a:t>恒真命题</a:t>
            </a:r>
            <a:r>
              <a:rPr lang="en-US" altLang="zh-CN" dirty="0"/>
              <a:t>) </a:t>
            </a:r>
          </a:p>
          <a:p>
            <a:pPr>
              <a:spcBef>
                <a:spcPct val="50000"/>
              </a:spcBef>
            </a:pPr>
            <a:r>
              <a:rPr lang="en-US" altLang="zh-CN" dirty="0"/>
              <a:t>      </a:t>
            </a:r>
            <a:r>
              <a:rPr lang="zh-CN" altLang="en-US" dirty="0">
                <a:solidFill>
                  <a:srgbClr val="A50021"/>
                </a:solidFill>
              </a:rPr>
              <a:t>推论 </a:t>
            </a:r>
            <a:r>
              <a:rPr lang="zh-CN" altLang="en-US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</a:t>
            </a:r>
            <a:r>
              <a:rPr lang="zh-CN" altLang="en-US" dirty="0"/>
              <a:t>是惟一的</a:t>
            </a:r>
          </a:p>
          <a:p>
            <a:endParaRPr lang="en-US" altLang="zh-CN" dirty="0"/>
          </a:p>
        </p:txBody>
      </p:sp>
      <p:sp>
        <p:nvSpPr>
          <p:cNvPr id="274436" name="Rectangle 4">
            <a:extLst>
              <a:ext uri="{FF2B5EF4-FFF2-40B4-BE49-F238E27FC236}">
                <a16:creationId xmlns:a16="http://schemas.microsoft.com/office/drawing/2014/main" id="{3A8755FA-57A0-439E-A78D-6328D81E3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981075"/>
            <a:ext cx="7920037" cy="93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/>
              <a:t>1.   </a:t>
            </a: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6.6</a:t>
            </a:r>
            <a:r>
              <a:rPr lang="en-US" altLang="zh-CN" dirty="0"/>
              <a:t>  </a:t>
            </a:r>
            <a:r>
              <a:rPr lang="zh-CN" altLang="en-US" dirty="0">
                <a:solidFill>
                  <a:srgbClr val="A50021"/>
                </a:solidFill>
              </a:rPr>
              <a:t>全集 </a:t>
            </a:r>
            <a:r>
              <a:rPr lang="en-US" altLang="zh-CN" i="1" dirty="0"/>
              <a:t>E</a:t>
            </a:r>
            <a:r>
              <a:rPr lang="zh-CN" altLang="en-US" dirty="0"/>
              <a:t>：包含了所有集合的集合</a:t>
            </a:r>
          </a:p>
          <a:p>
            <a:r>
              <a:rPr lang="zh-CN" altLang="en-US" dirty="0"/>
              <a:t>      全集具有相对性：与问题有关，不存在绝对的全集</a:t>
            </a:r>
          </a:p>
        </p:txBody>
      </p:sp>
      <p:sp>
        <p:nvSpPr>
          <p:cNvPr id="274437" name="Rectangle 5">
            <a:extLst>
              <a:ext uri="{FF2B5EF4-FFF2-40B4-BE49-F238E27FC236}">
                <a16:creationId xmlns:a16="http://schemas.microsoft.com/office/drawing/2014/main" id="{142E0205-E81F-425F-8919-437E3BC95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229225"/>
            <a:ext cx="7993062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/>
              <a:t>3.   </a:t>
            </a: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6.5</a:t>
            </a:r>
            <a:r>
              <a:rPr lang="en-US" altLang="zh-CN" dirty="0"/>
              <a:t>  </a:t>
            </a:r>
            <a:r>
              <a:rPr lang="zh-CN" altLang="en-US" dirty="0">
                <a:solidFill>
                  <a:srgbClr val="A50021"/>
                </a:solidFill>
              </a:rPr>
              <a:t>幂集</a:t>
            </a:r>
            <a:r>
              <a:rPr lang="zh-CN" altLang="en-US" dirty="0"/>
              <a:t>：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)={ </a:t>
            </a:r>
            <a:r>
              <a:rPr lang="en-US" altLang="zh-CN" i="1" dirty="0"/>
              <a:t>x</a:t>
            </a:r>
            <a:r>
              <a:rPr lang="en-US" altLang="zh-CN" dirty="0"/>
              <a:t> | </a:t>
            </a:r>
            <a:r>
              <a:rPr lang="en-US" altLang="zh-CN" i="1" dirty="0"/>
              <a:t>x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A </a:t>
            </a:r>
            <a:r>
              <a:rPr lang="en-US" altLang="zh-CN" dirty="0"/>
              <a:t>}  </a:t>
            </a:r>
          </a:p>
          <a:p>
            <a:r>
              <a:rPr lang="en-US" altLang="zh-CN" dirty="0"/>
              <a:t>      </a:t>
            </a:r>
            <a:r>
              <a:rPr lang="zh-CN" altLang="en-US" dirty="0"/>
              <a:t>实例：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)={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},    </a:t>
            </a:r>
            <a:r>
              <a:rPr lang="en-US" altLang="zh-CN" i="1" dirty="0"/>
              <a:t>P</a:t>
            </a:r>
            <a:r>
              <a:rPr lang="en-US" altLang="zh-CN" dirty="0"/>
              <a:t>({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})={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,{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}}</a:t>
            </a:r>
          </a:p>
          <a:p>
            <a:r>
              <a:rPr lang="en-US" altLang="zh-CN" dirty="0"/>
              <a:t>      </a:t>
            </a:r>
            <a:r>
              <a:rPr lang="zh-CN" altLang="en-US" dirty="0"/>
              <a:t>计数：如果 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/>
              <a:t>|=</a:t>
            </a:r>
            <a:r>
              <a:rPr lang="en-US" altLang="zh-CN" i="1" dirty="0"/>
              <a:t>n</a:t>
            </a:r>
            <a:r>
              <a:rPr lang="zh-CN" altLang="en-US" dirty="0"/>
              <a:t>，则 </a:t>
            </a:r>
            <a:r>
              <a:rPr lang="en-US" altLang="zh-CN" dirty="0"/>
              <a:t>|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)|=</a:t>
            </a:r>
            <a:r>
              <a:rPr lang="en-US" altLang="zh-CN" u="sng" dirty="0"/>
              <a:t>  ?  </a:t>
            </a:r>
            <a:r>
              <a:rPr lang="en-US" altLang="zh-CN" dirty="0"/>
              <a:t>.</a:t>
            </a:r>
          </a:p>
          <a:p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139C6D-6064-4588-8728-FAF57E02A32C}"/>
              </a:ext>
            </a:extLst>
          </p:cNvPr>
          <p:cNvSpPr txBox="1"/>
          <p:nvPr/>
        </p:nvSpPr>
        <p:spPr>
          <a:xfrm>
            <a:off x="6096202" y="2561976"/>
            <a:ext cx="291639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也有场合用 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{}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表示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84C3B9-0671-444F-BBF0-CE02DD1A7FF4}"/>
              </a:ext>
            </a:extLst>
          </p:cNvPr>
          <p:cNvSpPr txBox="1"/>
          <p:nvPr/>
        </p:nvSpPr>
        <p:spPr>
          <a:xfrm>
            <a:off x="7500383" y="4461391"/>
            <a:ext cx="151221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∅  ≠ { ∅ } 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BCAFD7-0D28-4938-B1E5-044387C1CE49}"/>
              </a:ext>
            </a:extLst>
          </p:cNvPr>
          <p:cNvSpPr txBox="1"/>
          <p:nvPr/>
        </p:nvSpPr>
        <p:spPr>
          <a:xfrm>
            <a:off x="6042183" y="5291395"/>
            <a:ext cx="291639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的所有子集构成的集合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16E072-A3C8-4BF8-9B00-428B3A2112DB}"/>
              </a:ext>
            </a:extLst>
          </p:cNvPr>
          <p:cNvSpPr txBox="1"/>
          <p:nvPr/>
        </p:nvSpPr>
        <p:spPr>
          <a:xfrm>
            <a:off x="6219936" y="6450557"/>
            <a:ext cx="291639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集合的基数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305B6C9-FFD9-423E-947D-2E99322A8BDE}"/>
              </a:ext>
            </a:extLst>
          </p:cNvPr>
          <p:cNvSpPr txBox="1"/>
          <p:nvPr/>
        </p:nvSpPr>
        <p:spPr>
          <a:xfrm>
            <a:off x="6096202" y="3607950"/>
            <a:ext cx="291639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|ø| = ?  |{ø}| =?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3A3430-F3F9-404D-8F6D-FEE682D91B42}"/>
              </a:ext>
            </a:extLst>
          </p:cNvPr>
          <p:cNvSpPr txBox="1"/>
          <p:nvPr/>
        </p:nvSpPr>
        <p:spPr>
          <a:xfrm>
            <a:off x="6553200" y="972920"/>
            <a:ext cx="118641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Universe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2A903F8-E1D4-44F8-97FA-7917A7BC21B8}"/>
              </a:ext>
            </a:extLst>
          </p:cNvPr>
          <p:cNvSpPr txBox="1"/>
          <p:nvPr/>
        </p:nvSpPr>
        <p:spPr>
          <a:xfrm>
            <a:off x="6553200" y="2138659"/>
            <a:ext cx="1415942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Empty Set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C7A7AC3-D74D-4F47-85C9-EA595B2A9123}"/>
              </a:ext>
            </a:extLst>
          </p:cNvPr>
          <p:cNvSpPr txBox="1"/>
          <p:nvPr/>
        </p:nvSpPr>
        <p:spPr>
          <a:xfrm>
            <a:off x="2843808" y="4965739"/>
            <a:ext cx="1415942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Power Set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6" grpId="0"/>
      <p:bldP spid="2744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2458F8A5-2DF1-4EC7-A712-2C271C509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EA3-71BE-479D-8EE8-13BF07F04221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274434" name="Rectangle 2">
            <a:extLst>
              <a:ext uri="{FF2B5EF4-FFF2-40B4-BE49-F238E27FC236}">
                <a16:creationId xmlns:a16="http://schemas.microsoft.com/office/drawing/2014/main" id="{7F9BBD81-E8FA-432A-A6B0-DA84BA2B1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空集、全集和幂集</a:t>
            </a:r>
          </a:p>
        </p:txBody>
      </p:sp>
      <p:sp>
        <p:nvSpPr>
          <p:cNvPr id="274435" name="Rectangle 3">
            <a:extLst>
              <a:ext uri="{FF2B5EF4-FFF2-40B4-BE49-F238E27FC236}">
                <a16:creationId xmlns:a16="http://schemas.microsoft.com/office/drawing/2014/main" id="{BF6D4D70-9D9B-408D-B381-78F16C3942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2119918"/>
            <a:ext cx="7704137" cy="2879725"/>
          </a:xfrm>
        </p:spPr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．</a:t>
            </a: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6.4</a:t>
            </a:r>
            <a:r>
              <a:rPr lang="en-US" altLang="zh-CN" dirty="0"/>
              <a:t>  </a:t>
            </a:r>
            <a:r>
              <a:rPr lang="zh-CN" altLang="en-US" dirty="0">
                <a:solidFill>
                  <a:srgbClr val="A50021"/>
                </a:solidFill>
              </a:rPr>
              <a:t>空集 </a:t>
            </a:r>
            <a:r>
              <a:rPr lang="zh-CN" altLang="en-US" dirty="0">
                <a:sym typeface="Symbol" panose="05050102010706020507" pitchFamily="18" charset="2"/>
              </a:rPr>
              <a:t></a:t>
            </a:r>
            <a:r>
              <a:rPr lang="zh-CN" altLang="en-US" dirty="0"/>
              <a:t> ：不含有任何元素的集合</a:t>
            </a:r>
          </a:p>
          <a:p>
            <a:r>
              <a:rPr lang="zh-CN" altLang="en-US" dirty="0"/>
              <a:t>      实例：  </a:t>
            </a:r>
            <a:r>
              <a:rPr lang="en-US" altLang="zh-CN" dirty="0"/>
              <a:t>{ </a:t>
            </a:r>
            <a:r>
              <a:rPr lang="en-US" altLang="zh-CN" i="1" dirty="0"/>
              <a:t>x </a:t>
            </a:r>
            <a:r>
              <a:rPr lang="en-US" altLang="zh-CN" dirty="0"/>
              <a:t>|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R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 </a:t>
            </a:r>
            <a:r>
              <a:rPr lang="en-US" altLang="zh-CN" i="1" dirty="0"/>
              <a:t>x</a:t>
            </a:r>
            <a:r>
              <a:rPr lang="en-US" altLang="zh-CN" baseline="30000" dirty="0"/>
              <a:t>2</a:t>
            </a:r>
            <a:r>
              <a:rPr lang="en-US" altLang="zh-CN" dirty="0"/>
              <a:t>+1=0 } 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A50021"/>
                </a:solidFill>
              </a:rPr>
              <a:t>      </a:t>
            </a: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6.1</a:t>
            </a:r>
            <a:r>
              <a:rPr lang="en-US" altLang="zh-CN" dirty="0"/>
              <a:t>  </a:t>
            </a:r>
            <a:r>
              <a:rPr lang="zh-CN" altLang="en-US" dirty="0"/>
              <a:t>空集是任何集合的子集。</a:t>
            </a:r>
          </a:p>
          <a:p>
            <a:r>
              <a:rPr lang="zh-CN" altLang="en-US" dirty="0"/>
              <a:t>      证 对于任意集合</a:t>
            </a:r>
            <a:r>
              <a:rPr lang="en-US" altLang="zh-CN" i="1" dirty="0"/>
              <a:t>A</a:t>
            </a:r>
            <a:r>
              <a:rPr lang="zh-CN" altLang="en-US" dirty="0"/>
              <a:t>，</a:t>
            </a:r>
          </a:p>
          <a:p>
            <a:r>
              <a:rPr lang="zh-CN" altLang="en-US" dirty="0"/>
              <a:t>              </a:t>
            </a:r>
            <a:r>
              <a:rPr lang="zh-CN" altLang="en-US" dirty="0">
                <a:sym typeface="Symbol" panose="05050102010706020507" pitchFamily="18" charset="2"/>
              </a:rPr>
              <a:t>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 (</a:t>
            </a:r>
            <a:r>
              <a:rPr lang="en-US" altLang="zh-CN" i="1" dirty="0"/>
              <a:t>x</a:t>
            </a:r>
            <a:r>
              <a:rPr lang="en-US" altLang="zh-CN" dirty="0">
                <a:sym typeface="Symbol" panose="05050102010706020507" pitchFamily="18" charset="2"/>
              </a:rPr>
              <a:t>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i="1" dirty="0"/>
              <a:t>T</a:t>
            </a:r>
            <a:r>
              <a:rPr lang="en-US" altLang="zh-CN" dirty="0"/>
              <a:t> (</a:t>
            </a:r>
            <a:r>
              <a:rPr lang="zh-CN" altLang="en-US" dirty="0"/>
              <a:t>恒真命题</a:t>
            </a:r>
            <a:r>
              <a:rPr lang="en-US" altLang="zh-CN" dirty="0"/>
              <a:t>) </a:t>
            </a:r>
          </a:p>
          <a:p>
            <a:pPr>
              <a:spcBef>
                <a:spcPct val="50000"/>
              </a:spcBef>
            </a:pPr>
            <a:r>
              <a:rPr lang="en-US" altLang="zh-CN" dirty="0"/>
              <a:t>      </a:t>
            </a:r>
            <a:r>
              <a:rPr lang="zh-CN" altLang="en-US" dirty="0">
                <a:solidFill>
                  <a:srgbClr val="A50021"/>
                </a:solidFill>
              </a:rPr>
              <a:t>推论 </a:t>
            </a:r>
            <a:r>
              <a:rPr lang="zh-CN" altLang="en-US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</a:t>
            </a:r>
            <a:r>
              <a:rPr lang="zh-CN" altLang="en-US" dirty="0"/>
              <a:t>是惟一的</a:t>
            </a:r>
          </a:p>
          <a:p>
            <a:endParaRPr lang="en-US" altLang="zh-CN" dirty="0"/>
          </a:p>
        </p:txBody>
      </p:sp>
      <p:sp>
        <p:nvSpPr>
          <p:cNvPr id="274436" name="Rectangle 4">
            <a:extLst>
              <a:ext uri="{FF2B5EF4-FFF2-40B4-BE49-F238E27FC236}">
                <a16:creationId xmlns:a16="http://schemas.microsoft.com/office/drawing/2014/main" id="{3A8755FA-57A0-439E-A78D-6328D81E3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981075"/>
            <a:ext cx="7920037" cy="93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/>
              <a:t>1.   </a:t>
            </a: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6.6</a:t>
            </a:r>
            <a:r>
              <a:rPr lang="en-US" altLang="zh-CN" dirty="0"/>
              <a:t>  </a:t>
            </a:r>
            <a:r>
              <a:rPr lang="zh-CN" altLang="en-US" dirty="0">
                <a:solidFill>
                  <a:srgbClr val="A50021"/>
                </a:solidFill>
              </a:rPr>
              <a:t>全集 </a:t>
            </a:r>
            <a:r>
              <a:rPr lang="en-US" altLang="zh-CN" i="1" dirty="0"/>
              <a:t>E</a:t>
            </a:r>
            <a:r>
              <a:rPr lang="zh-CN" altLang="en-US" dirty="0"/>
              <a:t>：包含了所有集合的集合</a:t>
            </a:r>
          </a:p>
          <a:p>
            <a:r>
              <a:rPr lang="zh-CN" altLang="en-US" dirty="0"/>
              <a:t>      全集具有相对性：与问题有关，不存在绝对的全集</a:t>
            </a:r>
          </a:p>
        </p:txBody>
      </p:sp>
      <p:sp>
        <p:nvSpPr>
          <p:cNvPr id="274437" name="Rectangle 5">
            <a:extLst>
              <a:ext uri="{FF2B5EF4-FFF2-40B4-BE49-F238E27FC236}">
                <a16:creationId xmlns:a16="http://schemas.microsoft.com/office/drawing/2014/main" id="{142E0205-E81F-425F-8919-437E3BC95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229225"/>
            <a:ext cx="7993062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/>
              <a:t>3.   </a:t>
            </a: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6.5</a:t>
            </a:r>
            <a:r>
              <a:rPr lang="en-US" altLang="zh-CN" dirty="0"/>
              <a:t>  </a:t>
            </a:r>
            <a:r>
              <a:rPr lang="zh-CN" altLang="en-US" dirty="0">
                <a:solidFill>
                  <a:srgbClr val="A50021"/>
                </a:solidFill>
              </a:rPr>
              <a:t>幂集</a:t>
            </a:r>
            <a:r>
              <a:rPr lang="zh-CN" altLang="en-US" dirty="0"/>
              <a:t>：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)={ </a:t>
            </a:r>
            <a:r>
              <a:rPr lang="en-US" altLang="zh-CN" i="1" dirty="0"/>
              <a:t>x</a:t>
            </a:r>
            <a:r>
              <a:rPr lang="en-US" altLang="zh-CN" dirty="0"/>
              <a:t> | </a:t>
            </a:r>
            <a:r>
              <a:rPr lang="en-US" altLang="zh-CN" i="1" dirty="0"/>
              <a:t>x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A </a:t>
            </a:r>
            <a:r>
              <a:rPr lang="en-US" altLang="zh-CN" dirty="0"/>
              <a:t>}  </a:t>
            </a:r>
          </a:p>
          <a:p>
            <a:r>
              <a:rPr lang="en-US" altLang="zh-CN" dirty="0"/>
              <a:t>      </a:t>
            </a:r>
            <a:r>
              <a:rPr lang="zh-CN" altLang="en-US" dirty="0"/>
              <a:t>实例：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)={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},    </a:t>
            </a:r>
            <a:r>
              <a:rPr lang="en-US" altLang="zh-CN" i="1" dirty="0"/>
              <a:t>P</a:t>
            </a:r>
            <a:r>
              <a:rPr lang="en-US" altLang="zh-CN" dirty="0"/>
              <a:t>({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})={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,{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}}</a:t>
            </a:r>
          </a:p>
          <a:p>
            <a:r>
              <a:rPr lang="en-US" altLang="zh-CN" dirty="0"/>
              <a:t>      </a:t>
            </a:r>
            <a:r>
              <a:rPr lang="zh-CN" altLang="en-US" dirty="0"/>
              <a:t>计数：如果 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/>
              <a:t>|=</a:t>
            </a:r>
            <a:r>
              <a:rPr lang="en-US" altLang="zh-CN" i="1" dirty="0"/>
              <a:t>n</a:t>
            </a:r>
            <a:r>
              <a:rPr lang="zh-CN" altLang="en-US" dirty="0"/>
              <a:t>，则 </a:t>
            </a:r>
            <a:r>
              <a:rPr lang="en-US" altLang="zh-CN" dirty="0"/>
              <a:t>|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)|=2</a:t>
            </a:r>
            <a:r>
              <a:rPr lang="en-US" altLang="zh-CN" i="1" baseline="30000" dirty="0"/>
              <a:t>n</a:t>
            </a:r>
            <a:r>
              <a:rPr lang="en-US" altLang="zh-CN" dirty="0"/>
              <a:t>.</a:t>
            </a:r>
          </a:p>
          <a:p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139C6D-6064-4588-8728-FAF57E02A32C}"/>
              </a:ext>
            </a:extLst>
          </p:cNvPr>
          <p:cNvSpPr txBox="1"/>
          <p:nvPr/>
        </p:nvSpPr>
        <p:spPr>
          <a:xfrm>
            <a:off x="6096202" y="2561976"/>
            <a:ext cx="291639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也有场合用 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{}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表示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84C3B9-0671-444F-BBF0-CE02DD1A7FF4}"/>
              </a:ext>
            </a:extLst>
          </p:cNvPr>
          <p:cNvSpPr txBox="1"/>
          <p:nvPr/>
        </p:nvSpPr>
        <p:spPr>
          <a:xfrm>
            <a:off x="7500383" y="4461391"/>
            <a:ext cx="151221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∅  ≠ { ∅ } 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BCAFD7-0D28-4938-B1E5-044387C1CE49}"/>
              </a:ext>
            </a:extLst>
          </p:cNvPr>
          <p:cNvSpPr txBox="1"/>
          <p:nvPr/>
        </p:nvSpPr>
        <p:spPr>
          <a:xfrm>
            <a:off x="6042183" y="5291395"/>
            <a:ext cx="291639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的所有子集构成的集合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08B952-B3B7-4A91-8287-C9B0E63FF75C}"/>
              </a:ext>
            </a:extLst>
          </p:cNvPr>
          <p:cNvSpPr txBox="1"/>
          <p:nvPr/>
        </p:nvSpPr>
        <p:spPr>
          <a:xfrm>
            <a:off x="9144000" y="0"/>
            <a:ext cx="1905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（结合集合运算）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判断集合运算结果的包含或属于关系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71FD6D-905B-41C9-9364-70D4DD285E10}"/>
              </a:ext>
            </a:extLst>
          </p:cNvPr>
          <p:cNvSpPr txBox="1"/>
          <p:nvPr/>
        </p:nvSpPr>
        <p:spPr>
          <a:xfrm>
            <a:off x="3203849" y="6457890"/>
            <a:ext cx="593362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有限集合的基数很简单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无穷集合的基数及其比较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BF9FEF2-B319-4208-9D37-506E86741E71}"/>
              </a:ext>
            </a:extLst>
          </p:cNvPr>
          <p:cNvSpPr txBox="1"/>
          <p:nvPr/>
        </p:nvSpPr>
        <p:spPr>
          <a:xfrm>
            <a:off x="6096202" y="2564904"/>
            <a:ext cx="291639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也有场合用 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{}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表示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6953EA-1E49-4830-8BCA-E31BB2C458AA}"/>
              </a:ext>
            </a:extLst>
          </p:cNvPr>
          <p:cNvSpPr txBox="1"/>
          <p:nvPr/>
        </p:nvSpPr>
        <p:spPr>
          <a:xfrm>
            <a:off x="6096202" y="3607950"/>
            <a:ext cx="291639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|∅| = 0  |{∅}| =1</a:t>
            </a:r>
          </a:p>
        </p:txBody>
      </p:sp>
    </p:spTree>
    <p:extLst>
      <p:ext uri="{BB962C8B-B14F-4D97-AF65-F5344CB8AC3E}">
        <p14:creationId xmlns:p14="http://schemas.microsoft.com/office/powerpoint/2010/main" val="179432199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6" grpId="0"/>
      <p:bldP spid="2744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2458F8A5-2DF1-4EC7-A712-2C271C509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EA3-71BE-479D-8EE8-13BF07F04221}" type="slidenum">
              <a:rPr lang="en-US" altLang="zh-CN" smtClean="0"/>
              <a:pPr/>
              <a:t>11</a:t>
            </a:fld>
            <a:endParaRPr lang="en-US" altLang="zh-CN"/>
          </a:p>
        </p:txBody>
      </p:sp>
      <p:sp>
        <p:nvSpPr>
          <p:cNvPr id="274434" name="Rectangle 2">
            <a:extLst>
              <a:ext uri="{FF2B5EF4-FFF2-40B4-BE49-F238E27FC236}">
                <a16:creationId xmlns:a16="http://schemas.microsoft.com/office/drawing/2014/main" id="{7F9BBD81-E8FA-432A-A6B0-DA84BA2B1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罗素悖论</a:t>
            </a:r>
          </a:p>
        </p:txBody>
      </p:sp>
      <p:sp>
        <p:nvSpPr>
          <p:cNvPr id="274436" name="Rectangle 4">
            <a:extLst>
              <a:ext uri="{FF2B5EF4-FFF2-40B4-BE49-F238E27FC236}">
                <a16:creationId xmlns:a16="http://schemas.microsoft.com/office/drawing/2014/main" id="{3A8755FA-57A0-439E-A78D-6328D81E3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981075"/>
            <a:ext cx="7920037" cy="93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84C3B9-0671-444F-BBF0-CE02DD1A7FF4}"/>
              </a:ext>
            </a:extLst>
          </p:cNvPr>
          <p:cNvSpPr txBox="1"/>
          <p:nvPr/>
        </p:nvSpPr>
        <p:spPr>
          <a:xfrm>
            <a:off x="5049713" y="6457890"/>
            <a:ext cx="409428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有没有更简洁的表述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B6FAE-F37A-42D6-A641-964C90920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Russell’s Paradox:</a:t>
            </a:r>
          </a:p>
          <a:p>
            <a:r>
              <a:rPr lang="en-US" altLang="zh-CN" dirty="0"/>
              <a:t>Let </a:t>
            </a:r>
            <a:r>
              <a:rPr lang="en-US" altLang="zh-CN" i="1" dirty="0"/>
              <a:t>S</a:t>
            </a:r>
            <a:r>
              <a:rPr lang="en-US" altLang="zh-CN" dirty="0"/>
              <a:t> be the set of all sets which are not members of themselves. A paradox results from trying to answer the question “Is </a:t>
            </a:r>
            <a:r>
              <a:rPr lang="en-US" altLang="zh-CN" i="1" dirty="0"/>
              <a:t>S</a:t>
            </a:r>
            <a:r>
              <a:rPr lang="en-US" altLang="zh-CN" dirty="0"/>
              <a:t> a member of itself?”</a:t>
            </a:r>
          </a:p>
          <a:p>
            <a:r>
              <a:rPr lang="zh-CN" altLang="en-US" dirty="0"/>
              <a:t>更生活化的案例</a:t>
            </a:r>
            <a:r>
              <a:rPr lang="en-US" altLang="zh-CN" dirty="0"/>
              <a:t>:</a:t>
            </a:r>
            <a:endParaRPr lang="zh-CN" altLang="en-US" dirty="0"/>
          </a:p>
          <a:p>
            <a:r>
              <a:rPr lang="en-US" altLang="zh-CN" dirty="0"/>
              <a:t>Henry is a barber who shaves all people who do not shave themselves. A paradox results from trying to answer the question “Does Henry shave himself?”</a:t>
            </a:r>
          </a:p>
        </p:txBody>
      </p:sp>
      <p:pic>
        <p:nvPicPr>
          <p:cNvPr id="11" name="Picture 3" descr="A portrait of Bertrand Russell.&#10;">
            <a:extLst>
              <a:ext uri="{FF2B5EF4-FFF2-40B4-BE49-F238E27FC236}">
                <a16:creationId xmlns:a16="http://schemas.microsoft.com/office/drawing/2014/main" id="{7145A257-6F80-4496-A8DE-22B9F114E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21456" y="4964200"/>
            <a:ext cx="1538690" cy="17810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7523E8FD-8104-4024-A1BC-22629FD85594}"/>
              </a:ext>
            </a:extLst>
          </p:cNvPr>
          <p:cNvSpPr txBox="1">
            <a:spLocks/>
          </p:cNvSpPr>
          <p:nvPr/>
        </p:nvSpPr>
        <p:spPr>
          <a:xfrm>
            <a:off x="3574056" y="5207044"/>
            <a:ext cx="4094287" cy="1295400"/>
          </a:xfrm>
          <a:prstGeom prst="rect">
            <a:avLst/>
          </a:prstGeom>
        </p:spPr>
        <p:txBody>
          <a:bodyPr/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j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j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j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j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Bertrand Russell (1872-1970)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Cambridge, UK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Nobel Prize Winner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2E233CD-8367-44E6-BCF2-B0CD4FFD0B16}"/>
              </a:ext>
            </a:extLst>
          </p:cNvPr>
          <p:cNvSpPr txBox="1"/>
          <p:nvPr/>
        </p:nvSpPr>
        <p:spPr>
          <a:xfrm>
            <a:off x="9140624" y="6457890"/>
            <a:ext cx="1506863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我在说假话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41D3829-19B4-4EDA-93DF-25228E80DE46}"/>
              </a:ext>
            </a:extLst>
          </p:cNvPr>
          <p:cNvSpPr txBox="1"/>
          <p:nvPr/>
        </p:nvSpPr>
        <p:spPr>
          <a:xfrm>
            <a:off x="3360146" y="1378808"/>
            <a:ext cx="533776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悖论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命题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为真⇒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为假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p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为假⇒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为真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9620C1A-C452-4AC5-80B6-1CB4524DF430}"/>
              </a:ext>
            </a:extLst>
          </p:cNvPr>
          <p:cNvSpPr txBox="1"/>
          <p:nvPr/>
        </p:nvSpPr>
        <p:spPr>
          <a:xfrm>
            <a:off x="5148065" y="2521714"/>
            <a:ext cx="399256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S={A | A∉A},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那么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S∈S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还是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S∉S?</a:t>
            </a:r>
          </a:p>
        </p:txBody>
      </p:sp>
    </p:spTree>
    <p:extLst>
      <p:ext uri="{BB962C8B-B14F-4D97-AF65-F5344CB8AC3E}">
        <p14:creationId xmlns:p14="http://schemas.microsoft.com/office/powerpoint/2010/main" val="414180904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2458F8A5-2DF1-4EC7-A712-2C271C509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EA3-71BE-479D-8EE8-13BF07F04221}" type="slidenum">
              <a:rPr lang="en-US" altLang="zh-CN" smtClean="0"/>
              <a:pPr/>
              <a:t>12</a:t>
            </a:fld>
            <a:endParaRPr lang="en-US" altLang="zh-CN"/>
          </a:p>
        </p:txBody>
      </p:sp>
      <p:sp>
        <p:nvSpPr>
          <p:cNvPr id="274434" name="Rectangle 2">
            <a:extLst>
              <a:ext uri="{FF2B5EF4-FFF2-40B4-BE49-F238E27FC236}">
                <a16:creationId xmlns:a16="http://schemas.microsoft.com/office/drawing/2014/main" id="{7F9BBD81-E8FA-432A-A6B0-DA84BA2B1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罗素悖论</a:t>
            </a:r>
          </a:p>
        </p:txBody>
      </p:sp>
      <p:sp>
        <p:nvSpPr>
          <p:cNvPr id="274436" name="Rectangle 4">
            <a:extLst>
              <a:ext uri="{FF2B5EF4-FFF2-40B4-BE49-F238E27FC236}">
                <a16:creationId xmlns:a16="http://schemas.microsoft.com/office/drawing/2014/main" id="{3A8755FA-57A0-439E-A78D-6328D81E3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981075"/>
            <a:ext cx="7920037" cy="93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B6FAE-F37A-42D6-A641-964C90920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一位律师收徒弟，协议规定：“学成之后，每打赢一场官司交给律师一两银子，只要打输一场官司就都不用交。”</a:t>
            </a:r>
          </a:p>
          <a:p>
            <a:endParaRPr lang="zh-CN" altLang="en-US" dirty="0"/>
          </a:p>
          <a:p>
            <a:r>
              <a:rPr lang="zh-CN" altLang="en-US" dirty="0"/>
              <a:t>弟子出师后，打赢官司却一直不交钱给老律师，老律师告到县衙，和弟子打官司。</a:t>
            </a:r>
          </a:p>
          <a:p>
            <a:endParaRPr lang="zh-CN" altLang="en-US" dirty="0"/>
          </a:p>
          <a:p>
            <a:r>
              <a:rPr lang="zh-CN" altLang="en-US" dirty="0"/>
              <a:t>这场官司该如何裁决？</a:t>
            </a:r>
          </a:p>
        </p:txBody>
      </p:sp>
    </p:spTree>
    <p:extLst>
      <p:ext uri="{BB962C8B-B14F-4D97-AF65-F5344CB8AC3E}">
        <p14:creationId xmlns:p14="http://schemas.microsoft.com/office/powerpoint/2010/main" val="196817632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2458F8A5-2DF1-4EC7-A712-2C271C509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7EA3-71BE-479D-8EE8-13BF07F04221}" type="slidenum">
              <a:rPr lang="en-US" altLang="zh-CN" smtClean="0"/>
              <a:pPr/>
              <a:t>13</a:t>
            </a:fld>
            <a:endParaRPr lang="en-US" altLang="zh-CN"/>
          </a:p>
        </p:txBody>
      </p:sp>
      <p:sp>
        <p:nvSpPr>
          <p:cNvPr id="274434" name="Rectangle 2">
            <a:extLst>
              <a:ext uri="{FF2B5EF4-FFF2-40B4-BE49-F238E27FC236}">
                <a16:creationId xmlns:a16="http://schemas.microsoft.com/office/drawing/2014/main" id="{7F9BBD81-E8FA-432A-A6B0-DA84BA2B1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罗素悖论</a:t>
            </a:r>
          </a:p>
        </p:txBody>
      </p:sp>
      <p:sp>
        <p:nvSpPr>
          <p:cNvPr id="274436" name="Rectangle 4">
            <a:extLst>
              <a:ext uri="{FF2B5EF4-FFF2-40B4-BE49-F238E27FC236}">
                <a16:creationId xmlns:a16="http://schemas.microsoft.com/office/drawing/2014/main" id="{3A8755FA-57A0-439E-A78D-6328D81E3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981075"/>
            <a:ext cx="7920037" cy="93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B6FAE-F37A-42D6-A641-964C90920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在现代数学中为了防止这类悖论的出现</a:t>
            </a:r>
            <a:r>
              <a:rPr lang="en-US" altLang="zh-CN" dirty="0"/>
              <a:t>, </a:t>
            </a:r>
            <a:r>
              <a:rPr lang="zh-CN" altLang="en-US" dirty="0"/>
              <a:t>产生各种公理化的集合论和不同的学派：</a:t>
            </a:r>
          </a:p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）策梅罗</a:t>
            </a:r>
            <a:r>
              <a:rPr lang="en-US" altLang="zh-CN" dirty="0"/>
              <a:t>(</a:t>
            </a:r>
            <a:r>
              <a:rPr lang="en-US" altLang="zh-CN" dirty="0" err="1"/>
              <a:t>Zermelo</a:t>
            </a:r>
            <a:r>
              <a:rPr lang="en-US" altLang="zh-CN" dirty="0"/>
              <a:t>)</a:t>
            </a:r>
            <a:r>
              <a:rPr lang="zh-CN" altLang="en-US" dirty="0"/>
              <a:t>创立集合论的一个公理系统；经过费兰克尔</a:t>
            </a:r>
            <a:r>
              <a:rPr lang="en-US" altLang="zh-CN" dirty="0"/>
              <a:t>(A. Fraenkel)</a:t>
            </a:r>
            <a:r>
              <a:rPr lang="zh-CN" altLang="en-US" dirty="0"/>
              <a:t>改进，形成著名的</a:t>
            </a:r>
            <a:r>
              <a:rPr lang="en-US" altLang="zh-CN" dirty="0"/>
              <a:t>ZF</a:t>
            </a:r>
            <a:r>
              <a:rPr lang="zh-CN" altLang="en-US" dirty="0"/>
              <a:t>系统</a:t>
            </a:r>
          </a:p>
          <a:p>
            <a:pPr eaLnBrk="1" hangingPunct="1"/>
            <a:r>
              <a:rPr lang="en-US" altLang="zh-CN" dirty="0"/>
              <a:t>2</a:t>
            </a:r>
            <a:r>
              <a:rPr lang="zh-CN" altLang="en-US" dirty="0"/>
              <a:t>）罗素也发表了他的集合论公理系统</a:t>
            </a:r>
            <a:r>
              <a:rPr lang="en-US" altLang="zh-CN" dirty="0"/>
              <a:t>——</a:t>
            </a:r>
            <a:r>
              <a:rPr lang="zh-CN" altLang="en-US" dirty="0"/>
              <a:t>类型论</a:t>
            </a:r>
          </a:p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John von </a:t>
            </a:r>
            <a:r>
              <a:rPr lang="en-US" altLang="zh-CN" dirty="0" err="1"/>
              <a:t>Nenmann</a:t>
            </a:r>
            <a:r>
              <a:rPr lang="en-US" altLang="zh-CN" dirty="0"/>
              <a:t>, P. Bernays, </a:t>
            </a:r>
            <a:r>
              <a:rPr lang="en-US" altLang="zh-CN" dirty="0" err="1"/>
              <a:t>Godel</a:t>
            </a:r>
            <a:r>
              <a:rPr lang="zh-CN" altLang="en-US" dirty="0"/>
              <a:t>等相继建立了其他类型的公理系统</a:t>
            </a:r>
          </a:p>
        </p:txBody>
      </p:sp>
    </p:spTree>
    <p:extLst>
      <p:ext uri="{BB962C8B-B14F-4D97-AF65-F5344CB8AC3E}">
        <p14:creationId xmlns:p14="http://schemas.microsoft.com/office/powerpoint/2010/main" val="203746509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793ABD3-1D03-494E-AD6A-24406792E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925B9-92E6-4AC2-B14E-B0A94FCE28A2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278530" name="Rectangle 2">
            <a:extLst>
              <a:ext uri="{FF2B5EF4-FFF2-40B4-BE49-F238E27FC236}">
                <a16:creationId xmlns:a16="http://schemas.microsoft.com/office/drawing/2014/main" id="{FBF1F9B0-BF6E-4EAF-9E6A-C6E7ADF6C6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6.2 </a:t>
            </a:r>
            <a:r>
              <a:rPr lang="en-US" altLang="zh-CN"/>
              <a:t> </a:t>
            </a:r>
            <a:r>
              <a:rPr lang="zh-CN" altLang="en-US"/>
              <a:t>集合的运算</a:t>
            </a:r>
          </a:p>
        </p:txBody>
      </p:sp>
      <p:sp>
        <p:nvSpPr>
          <p:cNvPr id="278531" name="Rectangle 3">
            <a:extLst>
              <a:ext uri="{FF2B5EF4-FFF2-40B4-BE49-F238E27FC236}">
                <a16:creationId xmlns:a16="http://schemas.microsoft.com/office/drawing/2014/main" id="{8A98FC02-75BC-422F-A195-B8F407D0D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r>
              <a:rPr lang="zh-CN" altLang="en-US"/>
              <a:t>初级运算</a:t>
            </a:r>
          </a:p>
          <a:p>
            <a:r>
              <a:rPr lang="zh-CN" altLang="en-US"/>
              <a:t>集合的基本运算有</a:t>
            </a:r>
          </a:p>
          <a:p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6.7</a:t>
            </a:r>
            <a:r>
              <a:rPr lang="en-US" altLang="zh-CN"/>
              <a:t>   </a:t>
            </a:r>
            <a:r>
              <a:rPr lang="zh-CN" altLang="en-US">
                <a:solidFill>
                  <a:srgbClr val="A50021"/>
                </a:solidFill>
              </a:rPr>
              <a:t>并</a:t>
            </a:r>
            <a:r>
              <a:rPr lang="zh-CN" altLang="en-US"/>
              <a:t>           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B</a:t>
            </a:r>
            <a:r>
              <a:rPr lang="en-US" altLang="zh-CN"/>
              <a:t> = {</a:t>
            </a:r>
            <a:r>
              <a:rPr lang="en-US" altLang="zh-CN" i="1"/>
              <a:t>x</a:t>
            </a:r>
            <a:r>
              <a:rPr lang="en-US" altLang="zh-CN"/>
              <a:t> |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A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</a:t>
            </a:r>
            <a:r>
              <a:rPr lang="en-US" altLang="zh-CN"/>
              <a:t>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B</a:t>
            </a:r>
            <a:r>
              <a:rPr lang="en-US" altLang="zh-CN"/>
              <a:t>}</a:t>
            </a:r>
          </a:p>
          <a:p>
            <a:r>
              <a:rPr lang="en-US" altLang="zh-CN"/>
              <a:t>                </a:t>
            </a:r>
            <a:r>
              <a:rPr lang="zh-CN" altLang="en-US">
                <a:solidFill>
                  <a:srgbClr val="A50021"/>
                </a:solidFill>
              </a:rPr>
              <a:t>交</a:t>
            </a:r>
            <a:r>
              <a:rPr lang="zh-CN" altLang="en-US"/>
              <a:t>           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B</a:t>
            </a:r>
            <a:r>
              <a:rPr lang="en-US" altLang="zh-CN"/>
              <a:t> = {</a:t>
            </a:r>
            <a:r>
              <a:rPr lang="en-US" altLang="zh-CN" i="1"/>
              <a:t>x</a:t>
            </a:r>
            <a:r>
              <a:rPr lang="en-US" altLang="zh-CN"/>
              <a:t> |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A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</a:t>
            </a:r>
            <a:r>
              <a:rPr lang="en-US" altLang="zh-CN"/>
              <a:t>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B</a:t>
            </a:r>
            <a:r>
              <a:rPr lang="en-US" altLang="zh-CN"/>
              <a:t>}</a:t>
            </a:r>
          </a:p>
          <a:p>
            <a:r>
              <a:rPr lang="en-US" altLang="zh-CN"/>
              <a:t>       </a:t>
            </a:r>
            <a:r>
              <a:rPr lang="en-US" altLang="zh-CN">
                <a:solidFill>
                  <a:srgbClr val="A50021"/>
                </a:solidFill>
              </a:rPr>
              <a:t>         </a:t>
            </a:r>
            <a:r>
              <a:rPr lang="zh-CN" altLang="en-US">
                <a:solidFill>
                  <a:srgbClr val="A50021"/>
                </a:solidFill>
              </a:rPr>
              <a:t>相对补</a:t>
            </a:r>
            <a:r>
              <a:rPr lang="zh-CN" altLang="en-US"/>
              <a:t>   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</a:t>
            </a:r>
            <a:r>
              <a:rPr lang="en-US" altLang="zh-CN"/>
              <a:t> = {</a:t>
            </a:r>
            <a:r>
              <a:rPr lang="en-US" altLang="zh-CN" i="1"/>
              <a:t>x</a:t>
            </a:r>
            <a:r>
              <a:rPr lang="en-US" altLang="zh-CN"/>
              <a:t> |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A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</a:t>
            </a:r>
            <a:r>
              <a:rPr lang="en-US" altLang="zh-CN"/>
              <a:t>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</a:t>
            </a:r>
            <a:r>
              <a:rPr lang="en-US" altLang="zh-CN" i="1"/>
              <a:t>B</a:t>
            </a:r>
            <a:r>
              <a:rPr lang="en-US" altLang="zh-CN"/>
              <a:t>}</a:t>
            </a:r>
          </a:p>
          <a:p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6.8</a:t>
            </a:r>
            <a:r>
              <a:rPr lang="en-US" altLang="zh-CN"/>
              <a:t>   </a:t>
            </a:r>
            <a:r>
              <a:rPr lang="zh-CN" altLang="en-US">
                <a:solidFill>
                  <a:srgbClr val="A50021"/>
                </a:solidFill>
              </a:rPr>
              <a:t>对称差</a:t>
            </a:r>
            <a:r>
              <a:rPr lang="zh-CN" altLang="en-US"/>
              <a:t>   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B</a:t>
            </a:r>
            <a:r>
              <a:rPr lang="en-US" altLang="zh-CN"/>
              <a:t> = 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/>
              <a:t>(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A</a:t>
            </a:r>
            <a:r>
              <a:rPr lang="en-US" altLang="zh-CN"/>
              <a:t>) </a:t>
            </a:r>
          </a:p>
          <a:p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6.9</a:t>
            </a:r>
            <a:r>
              <a:rPr lang="en-US" altLang="zh-CN"/>
              <a:t>   </a:t>
            </a:r>
            <a:r>
              <a:rPr lang="zh-CN" altLang="en-US">
                <a:solidFill>
                  <a:srgbClr val="A50021"/>
                </a:solidFill>
              </a:rPr>
              <a:t>绝对补</a:t>
            </a:r>
            <a:r>
              <a:rPr lang="zh-CN" altLang="en-US"/>
              <a:t>     </a:t>
            </a:r>
            <a:r>
              <a:rPr lang="zh-CN" altLang="en-US">
                <a:sym typeface="Symbol" panose="05050102010706020507" pitchFamily="18" charset="2"/>
              </a:rPr>
              <a:t></a:t>
            </a:r>
            <a:r>
              <a:rPr lang="en-US" altLang="zh-CN" i="1"/>
              <a:t>A</a:t>
            </a:r>
            <a:r>
              <a:rPr lang="en-US" altLang="zh-CN"/>
              <a:t> = </a:t>
            </a:r>
            <a:r>
              <a:rPr lang="en-US" altLang="zh-CN" i="1"/>
              <a:t>E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A</a:t>
            </a:r>
            <a:r>
              <a:rPr lang="en-US" altLang="zh-CN"/>
              <a:t>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708219-2352-40A7-97EB-34D9926E06C7}"/>
              </a:ext>
            </a:extLst>
          </p:cNvPr>
          <p:cNvSpPr txBox="1"/>
          <p:nvPr/>
        </p:nvSpPr>
        <p:spPr>
          <a:xfrm>
            <a:off x="5940152" y="2132856"/>
            <a:ext cx="291639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Union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A11137-C01B-47A5-9CE6-73B33C014D6B}"/>
              </a:ext>
            </a:extLst>
          </p:cNvPr>
          <p:cNvSpPr txBox="1"/>
          <p:nvPr/>
        </p:nvSpPr>
        <p:spPr>
          <a:xfrm>
            <a:off x="5940152" y="2562825"/>
            <a:ext cx="291639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Intersection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87634A-13D8-4E46-8D76-7E91426F8367}"/>
              </a:ext>
            </a:extLst>
          </p:cNvPr>
          <p:cNvSpPr txBox="1"/>
          <p:nvPr/>
        </p:nvSpPr>
        <p:spPr>
          <a:xfrm>
            <a:off x="5940152" y="3895066"/>
            <a:ext cx="291639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Complement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60DE99-867D-46D3-BE6B-327D73FB3A58}"/>
              </a:ext>
            </a:extLst>
          </p:cNvPr>
          <p:cNvSpPr txBox="1"/>
          <p:nvPr/>
        </p:nvSpPr>
        <p:spPr>
          <a:xfrm>
            <a:off x="5940152" y="2992794"/>
            <a:ext cx="291639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差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Difference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7DF024-8944-4BDE-9368-FD695E07C24F}"/>
              </a:ext>
            </a:extLst>
          </p:cNvPr>
          <p:cNvSpPr txBox="1"/>
          <p:nvPr/>
        </p:nvSpPr>
        <p:spPr>
          <a:xfrm>
            <a:off x="5947345" y="3422763"/>
            <a:ext cx="291639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Symmetric Difference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95F5DBA-92C2-4F6B-953D-A27C24D98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797338"/>
            <a:ext cx="8229600" cy="107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j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j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j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j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z="2500" i="1" dirty="0"/>
              <a:t>A </a:t>
            </a:r>
            <a:r>
              <a:rPr lang="en-US" altLang="zh-CN" sz="2500" dirty="0">
                <a:sym typeface="Symbol" panose="05050102010706020507" pitchFamily="18" charset="2"/>
              </a:rPr>
              <a:t></a:t>
            </a:r>
            <a:r>
              <a:rPr lang="en-US" altLang="zh-CN" sz="2500" dirty="0"/>
              <a:t> </a:t>
            </a:r>
            <a:r>
              <a:rPr lang="en-US" altLang="zh-CN" sz="2500" i="1" dirty="0"/>
              <a:t>B </a:t>
            </a:r>
            <a:r>
              <a:rPr lang="en-US" altLang="zh-CN" sz="2500" dirty="0">
                <a:sym typeface="Symbol" panose="05050102010706020507" pitchFamily="18" charset="2"/>
              </a:rPr>
              <a:t></a:t>
            </a:r>
            <a:r>
              <a:rPr lang="en-US" altLang="zh-CN" sz="2500" dirty="0"/>
              <a:t> </a:t>
            </a:r>
            <a:r>
              <a:rPr lang="en-US" altLang="zh-CN" sz="2500" i="1" dirty="0"/>
              <a:t>A</a:t>
            </a:r>
            <a:r>
              <a:rPr lang="en-US" altLang="zh-CN" sz="2500" dirty="0">
                <a:sym typeface="Symbol" panose="05050102010706020507" pitchFamily="18" charset="2"/>
              </a:rPr>
              <a:t></a:t>
            </a:r>
            <a:r>
              <a:rPr lang="en-US" altLang="zh-CN" sz="2500" i="1" dirty="0"/>
              <a:t>B </a:t>
            </a:r>
            <a:r>
              <a:rPr lang="en-US" altLang="zh-CN" sz="2500" dirty="0"/>
              <a:t>= </a:t>
            </a:r>
            <a:r>
              <a:rPr lang="en-US" altLang="zh-CN" sz="2500" dirty="0">
                <a:sym typeface="Symbol" panose="05050102010706020507" pitchFamily="18" charset="2"/>
              </a:rPr>
              <a:t></a:t>
            </a:r>
            <a:endParaRPr lang="en-US" altLang="zh-CN" sz="2500" dirty="0"/>
          </a:p>
          <a:p>
            <a:pPr>
              <a:spcBef>
                <a:spcPct val="5000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z="2500" i="1" dirty="0"/>
              <a:t>A</a:t>
            </a:r>
            <a:r>
              <a:rPr lang="en-US" altLang="zh-CN" sz="2500" dirty="0">
                <a:sym typeface="Symbol" panose="05050102010706020507" pitchFamily="18" charset="2"/>
              </a:rPr>
              <a:t></a:t>
            </a:r>
            <a:r>
              <a:rPr lang="en-US" altLang="zh-CN" sz="2500" i="1" dirty="0"/>
              <a:t>B </a:t>
            </a:r>
            <a:r>
              <a:rPr lang="en-US" altLang="zh-CN" sz="2500" dirty="0"/>
              <a:t>= </a:t>
            </a:r>
            <a:r>
              <a:rPr lang="en-US" altLang="zh-CN" sz="2500" dirty="0">
                <a:sym typeface="Symbol" panose="05050102010706020507" pitchFamily="18" charset="2"/>
              </a:rPr>
              <a:t></a:t>
            </a:r>
            <a:r>
              <a:rPr lang="en-US" altLang="zh-CN" sz="2500" dirty="0"/>
              <a:t> </a:t>
            </a:r>
            <a:r>
              <a:rPr lang="en-US" altLang="zh-CN" sz="2500" dirty="0">
                <a:sym typeface="Symbol" panose="05050102010706020507" pitchFamily="18" charset="2"/>
              </a:rPr>
              <a:t></a:t>
            </a:r>
            <a:r>
              <a:rPr lang="en-US" altLang="zh-CN" sz="2500" dirty="0"/>
              <a:t> </a:t>
            </a:r>
            <a:r>
              <a:rPr lang="en-US" altLang="zh-CN" sz="2500" i="1" dirty="0"/>
              <a:t>A</a:t>
            </a:r>
            <a:r>
              <a:rPr lang="en-US" altLang="zh-CN" sz="2500" dirty="0">
                <a:sym typeface="Symbol" panose="05050102010706020507" pitchFamily="18" charset="2"/>
              </a:rPr>
              <a:t></a:t>
            </a:r>
            <a:r>
              <a:rPr lang="en-US" altLang="zh-CN" sz="2500" i="1" dirty="0"/>
              <a:t>B </a:t>
            </a:r>
            <a:r>
              <a:rPr lang="en-US" altLang="zh-CN" sz="2500" dirty="0"/>
              <a:t>= </a:t>
            </a:r>
            <a:r>
              <a:rPr lang="en-US" altLang="zh-CN" sz="2500" i="1" dirty="0"/>
              <a:t>A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5">
            <a:extLst>
              <a:ext uri="{FF2B5EF4-FFF2-40B4-BE49-F238E27FC236}">
                <a16:creationId xmlns:a16="http://schemas.microsoft.com/office/drawing/2014/main" id="{2415D1E8-41B5-448E-B9ED-5D7342126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81084-CB22-4D1E-A04B-DFA391EDD965}" type="slidenum">
              <a:rPr lang="en-US" altLang="zh-CN"/>
              <a:pPr/>
              <a:t>15</a:t>
            </a:fld>
            <a:endParaRPr lang="en-US" altLang="zh-CN"/>
          </a:p>
        </p:txBody>
      </p:sp>
      <p:pic>
        <p:nvPicPr>
          <p:cNvPr id="280606" name="Picture 30">
            <a:extLst>
              <a:ext uri="{FF2B5EF4-FFF2-40B4-BE49-F238E27FC236}">
                <a16:creationId xmlns:a16="http://schemas.microsoft.com/office/drawing/2014/main" id="{0D1C2628-DB1C-4E60-AD72-D16521D52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8" y="2241550"/>
            <a:ext cx="7445375" cy="385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0578" name="Rectangle 2">
            <a:extLst>
              <a:ext uri="{FF2B5EF4-FFF2-40B4-BE49-F238E27FC236}">
                <a16:creationId xmlns:a16="http://schemas.microsoft.com/office/drawing/2014/main" id="{B8561B49-049E-4274-92C4-69AF08DEF2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文氏图</a:t>
            </a:r>
          </a:p>
        </p:txBody>
      </p:sp>
      <p:sp>
        <p:nvSpPr>
          <p:cNvPr id="280589" name="Rectangle 13">
            <a:extLst>
              <a:ext uri="{FF2B5EF4-FFF2-40B4-BE49-F238E27FC236}">
                <a16:creationId xmlns:a16="http://schemas.microsoft.com/office/drawing/2014/main" id="{C69CC198-70AD-4F22-A03C-8F6F305FF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96975"/>
            <a:ext cx="540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>
                <a:latin typeface="Arial" panose="020B0604020202020204" pitchFamily="34" charset="0"/>
              </a:rPr>
              <a:t>集合运算的表示</a:t>
            </a:r>
          </a:p>
        </p:txBody>
      </p:sp>
      <p:sp>
        <p:nvSpPr>
          <p:cNvPr id="280590" name="Text Box 14">
            <a:extLst>
              <a:ext uri="{FF2B5EF4-FFF2-40B4-BE49-F238E27FC236}">
                <a16:creationId xmlns:a16="http://schemas.microsoft.com/office/drawing/2014/main" id="{CF4E8C79-025D-41FC-AE28-9CDE39399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6650" y="255905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80591" name="Text Box 15">
            <a:extLst>
              <a:ext uri="{FF2B5EF4-FFF2-40B4-BE49-F238E27FC236}">
                <a16:creationId xmlns:a16="http://schemas.microsoft.com/office/drawing/2014/main" id="{6C73203F-E6AB-43E5-9D32-5B692C43B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255905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80592" name="Text Box 16">
            <a:extLst>
              <a:ext uri="{FF2B5EF4-FFF2-40B4-BE49-F238E27FC236}">
                <a16:creationId xmlns:a16="http://schemas.microsoft.com/office/drawing/2014/main" id="{C7F7C668-7457-45FA-AF6C-9B4C9759F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0" y="2486025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80593" name="Text Box 17">
            <a:extLst>
              <a:ext uri="{FF2B5EF4-FFF2-40B4-BE49-F238E27FC236}">
                <a16:creationId xmlns:a16="http://schemas.microsoft.com/office/drawing/2014/main" id="{1E5712F0-DFF6-4790-8580-0362F4746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6813" y="2486025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80594" name="Text Box 18">
            <a:extLst>
              <a:ext uri="{FF2B5EF4-FFF2-40B4-BE49-F238E27FC236}">
                <a16:creationId xmlns:a16="http://schemas.microsoft.com/office/drawing/2014/main" id="{903CEED5-4A1C-47B9-90B3-870FF91F2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5" y="2486025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80595" name="Text Box 19">
            <a:extLst>
              <a:ext uri="{FF2B5EF4-FFF2-40B4-BE49-F238E27FC236}">
                <a16:creationId xmlns:a16="http://schemas.microsoft.com/office/drawing/2014/main" id="{DF4522F7-4665-4700-A8C4-23C29A97A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0638" y="2486025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80596" name="Text Box 20">
            <a:extLst>
              <a:ext uri="{FF2B5EF4-FFF2-40B4-BE49-F238E27FC236}">
                <a16:creationId xmlns:a16="http://schemas.microsoft.com/office/drawing/2014/main" id="{39DFCEF3-C9ED-491D-8FA7-31BBCC7A2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7888" y="486251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80597" name="Text Box 21">
            <a:extLst>
              <a:ext uri="{FF2B5EF4-FFF2-40B4-BE49-F238E27FC236}">
                <a16:creationId xmlns:a16="http://schemas.microsoft.com/office/drawing/2014/main" id="{21581A1B-10BB-4613-BD46-AF12C0927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1200" y="486251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80598" name="Text Box 22">
            <a:extLst>
              <a:ext uri="{FF2B5EF4-FFF2-40B4-BE49-F238E27FC236}">
                <a16:creationId xmlns:a16="http://schemas.microsoft.com/office/drawing/2014/main" id="{E080F169-3ACA-46BF-A7B2-9A75B496A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3013" y="46783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80599" name="Text Box 23">
            <a:extLst>
              <a:ext uri="{FF2B5EF4-FFF2-40B4-BE49-F238E27FC236}">
                <a16:creationId xmlns:a16="http://schemas.microsoft.com/office/drawing/2014/main" id="{53143076-7840-422F-8C09-88698E57D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3588" y="42211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80600" name="Text Box 24">
            <a:extLst>
              <a:ext uri="{FF2B5EF4-FFF2-40B4-BE49-F238E27FC236}">
                <a16:creationId xmlns:a16="http://schemas.microsoft.com/office/drawing/2014/main" id="{0D988F93-30E7-4B28-9FD6-FD8E20444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288" y="3608388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280601" name="Text Box 25">
            <a:extLst>
              <a:ext uri="{FF2B5EF4-FFF2-40B4-BE49-F238E27FC236}">
                <a16:creationId xmlns:a16="http://schemas.microsoft.com/office/drawing/2014/main" id="{6A05036F-4AEE-4374-9910-41BDB19D3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1788" y="3563938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280602" name="Text Box 26">
            <a:extLst>
              <a:ext uri="{FF2B5EF4-FFF2-40B4-BE49-F238E27FC236}">
                <a16:creationId xmlns:a16="http://schemas.microsoft.com/office/drawing/2014/main" id="{FB0B7F9A-DDE5-4613-BDAE-81845737D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3525838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 i="1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–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280603" name="Text Box 27">
            <a:extLst>
              <a:ext uri="{FF2B5EF4-FFF2-40B4-BE49-F238E27FC236}">
                <a16:creationId xmlns:a16="http://schemas.microsoft.com/office/drawing/2014/main" id="{5D43CD54-D622-471E-B998-0E59B41A5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1563" y="6008688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280604" name="Text Box 28">
            <a:extLst>
              <a:ext uri="{FF2B5EF4-FFF2-40B4-BE49-F238E27FC236}">
                <a16:creationId xmlns:a16="http://schemas.microsoft.com/office/drawing/2014/main" id="{DF0A8C2F-E126-4AB1-86C5-46724FC93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988" y="6081713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zh-CN" b="1" i="1">
                <a:latin typeface="Times New Roman" panose="02020603050405020304" pitchFamily="18" charset="0"/>
                <a:cs typeface="Arial" panose="020B0604020202020204" pitchFamily="34" charset="0"/>
              </a:rPr>
              <a:t>~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endParaRPr lang="en-US" altLang="zh-CN" b="1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8A589B5-A3F1-4248-AEF4-3D91A4AD4D8D}"/>
              </a:ext>
            </a:extLst>
          </p:cNvPr>
          <p:cNvSpPr txBox="1"/>
          <p:nvPr/>
        </p:nvSpPr>
        <p:spPr>
          <a:xfrm>
            <a:off x="6263680" y="6453894"/>
            <a:ext cx="288032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Venn Diagram,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韦恩图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8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8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8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80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0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0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80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80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8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8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8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8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8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90" grpId="0"/>
      <p:bldP spid="280591" grpId="0"/>
      <p:bldP spid="280592" grpId="0"/>
      <p:bldP spid="280593" grpId="0"/>
      <p:bldP spid="280594" grpId="0"/>
      <p:bldP spid="280595" grpId="0"/>
      <p:bldP spid="280596" grpId="0"/>
      <p:bldP spid="280597" grpId="0"/>
      <p:bldP spid="280598" grpId="0"/>
      <p:bldP spid="280599" grpId="0"/>
      <p:bldP spid="280600" grpId="0"/>
      <p:bldP spid="280601" grpId="0"/>
      <p:bldP spid="280602" grpId="0"/>
      <p:bldP spid="280603" grpId="0"/>
      <p:bldP spid="28060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0A634446-5C10-425F-BB41-572E9DC21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90325-8580-4214-941E-F028D0A3D8F5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284674" name="Rectangle 2">
            <a:extLst>
              <a:ext uri="{FF2B5EF4-FFF2-40B4-BE49-F238E27FC236}">
                <a16:creationId xmlns:a16="http://schemas.microsoft.com/office/drawing/2014/main" id="{78848742-7B1C-4778-9B16-0D44147D1B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广义运算</a:t>
            </a:r>
          </a:p>
        </p:txBody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D9329973-C8FC-4C65-BB19-024BD58879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>
              <a:buClr>
                <a:srgbClr val="FF9900"/>
              </a:buClr>
            </a:pPr>
            <a:r>
              <a:rPr lang="zh-CN" altLang="en-US" sz="2500" dirty="0"/>
              <a:t>并和交运算可以推广到有穷个集合上，即</a:t>
            </a:r>
          </a:p>
          <a:p>
            <a:pPr lvl="1"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 </a:t>
            </a:r>
            <a:r>
              <a:rPr lang="en-US" altLang="zh-CN" sz="2400" b="1" dirty="0">
                <a:latin typeface="Times New Roman" panose="02020603050405020304" pitchFamily="18" charset="0"/>
              </a:rPr>
              <a:t>…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{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 </a:t>
            </a:r>
            <a:r>
              <a:rPr lang="en-US" altLang="zh-CN" sz="2400" b="1" dirty="0">
                <a:latin typeface="Times New Roman" panose="02020603050405020304" pitchFamily="18" charset="0"/>
              </a:rPr>
              <a:t>|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400" b="1" dirty="0">
                <a:latin typeface="Times New Roman" panose="02020603050405020304" pitchFamily="18" charset="0"/>
              </a:rPr>
              <a:t>…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} </a:t>
            </a:r>
          </a:p>
          <a:p>
            <a:pPr lvl="1"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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 </a:t>
            </a:r>
            <a:r>
              <a:rPr lang="en-US" altLang="zh-CN" sz="2400" b="1" dirty="0">
                <a:latin typeface="Times New Roman" panose="02020603050405020304" pitchFamily="18" charset="0"/>
              </a:rPr>
              <a:t>…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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{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 </a:t>
            </a:r>
            <a:r>
              <a:rPr lang="en-US" altLang="zh-CN" sz="2400" b="1" dirty="0">
                <a:latin typeface="Times New Roman" panose="02020603050405020304" pitchFamily="18" charset="0"/>
              </a:rPr>
              <a:t>|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b="1" dirty="0">
                <a:latin typeface="Times New Roman" panose="02020603050405020304" pitchFamily="18" charset="0"/>
              </a:rPr>
              <a:t>…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altLang="zh-CN" dirty="0"/>
          </a:p>
          <a:p>
            <a:r>
              <a:rPr lang="en-US" altLang="zh-CN" dirty="0"/>
              <a:t>1.</a:t>
            </a:r>
            <a:r>
              <a:rPr lang="en-US" altLang="zh-CN" dirty="0">
                <a:solidFill>
                  <a:srgbClr val="A50021"/>
                </a:solidFill>
              </a:rPr>
              <a:t> </a:t>
            </a:r>
            <a:r>
              <a:rPr lang="zh-CN" altLang="en-US" dirty="0"/>
              <a:t>集合的广义并与广义交</a:t>
            </a:r>
            <a:r>
              <a:rPr lang="zh-CN" altLang="en-US" dirty="0">
                <a:solidFill>
                  <a:srgbClr val="A50021"/>
                </a:solidFill>
              </a:rPr>
              <a:t> </a:t>
            </a:r>
            <a:endParaRPr lang="zh-CN" altLang="en-US" dirty="0">
              <a:solidFill>
                <a:srgbClr val="A50021"/>
              </a:solidFill>
              <a:sym typeface="Symbol" panose="05050102010706020507" pitchFamily="18" charset="2"/>
            </a:endParaRPr>
          </a:p>
          <a:p>
            <a:r>
              <a:rPr lang="zh-CN" altLang="en-US" dirty="0">
                <a:solidFill>
                  <a:srgbClr val="A50021"/>
                </a:solidFill>
                <a:sym typeface="Symbol" panose="05050102010706020507" pitchFamily="18" charset="2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sym typeface="Symbol" panose="05050102010706020507" pitchFamily="18" charset="2"/>
              </a:rPr>
              <a:t>6.10   </a:t>
            </a:r>
            <a:r>
              <a:rPr lang="zh-CN" altLang="en-US" dirty="0">
                <a:solidFill>
                  <a:srgbClr val="A50021"/>
                </a:solidFill>
                <a:sym typeface="Symbol" panose="05050102010706020507" pitchFamily="18" charset="2"/>
              </a:rPr>
              <a:t>广义并</a:t>
            </a:r>
            <a:r>
              <a:rPr lang="zh-CN" altLang="en-US" dirty="0">
                <a:sym typeface="Symbol" panose="05050102010706020507" pitchFamily="18" charset="2"/>
              </a:rPr>
              <a:t>   </a:t>
            </a:r>
            <a:r>
              <a:rPr lang="en-US" altLang="zh-CN" i="1" dirty="0"/>
              <a:t>A </a:t>
            </a:r>
            <a:r>
              <a:rPr lang="en-US" altLang="zh-CN" dirty="0"/>
              <a:t>= { </a:t>
            </a:r>
            <a:r>
              <a:rPr lang="en-US" altLang="zh-CN" i="1" dirty="0"/>
              <a:t>x</a:t>
            </a:r>
            <a:r>
              <a:rPr lang="en-US" altLang="zh-CN" dirty="0"/>
              <a:t> |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z </a:t>
            </a:r>
            <a:r>
              <a:rPr lang="en-US" altLang="zh-CN" dirty="0"/>
              <a:t>( </a:t>
            </a:r>
            <a:r>
              <a:rPr lang="en-US" altLang="zh-CN" i="1" dirty="0" err="1"/>
              <a:t>z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z</a:t>
            </a:r>
            <a:r>
              <a:rPr lang="en-US" altLang="zh-CN" i="1" dirty="0"/>
              <a:t> </a:t>
            </a:r>
            <a:r>
              <a:rPr lang="en-US" altLang="zh-CN" dirty="0"/>
              <a:t>)}</a:t>
            </a:r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olidFill>
                  <a:srgbClr val="A50021"/>
                </a:solidFill>
                <a:sym typeface="Symbol" panose="05050102010706020507" pitchFamily="18" charset="2"/>
              </a:rPr>
              <a:t>                  </a:t>
            </a:r>
            <a:r>
              <a:rPr lang="zh-CN" altLang="en-US" dirty="0">
                <a:solidFill>
                  <a:srgbClr val="A50021"/>
                </a:solidFill>
                <a:sym typeface="Symbol" panose="05050102010706020507" pitchFamily="18" charset="2"/>
              </a:rPr>
              <a:t>广义交</a:t>
            </a:r>
            <a:r>
              <a:rPr lang="zh-CN" altLang="en-US" dirty="0">
                <a:sym typeface="Symbol" panose="05050102010706020507" pitchFamily="18" charset="2"/>
              </a:rPr>
              <a:t>   </a:t>
            </a:r>
            <a:r>
              <a:rPr lang="zh-CN" altLang="en-US" dirty="0"/>
              <a:t> </a:t>
            </a:r>
            <a:r>
              <a:rPr lang="en-US" altLang="zh-CN" i="1" dirty="0"/>
              <a:t>A</a:t>
            </a:r>
            <a:r>
              <a:rPr lang="en-US" altLang="zh-CN" dirty="0"/>
              <a:t>= { </a:t>
            </a:r>
            <a:r>
              <a:rPr lang="en-US" altLang="zh-CN" i="1" dirty="0"/>
              <a:t>x</a:t>
            </a:r>
            <a:r>
              <a:rPr lang="en-US" altLang="zh-CN" dirty="0"/>
              <a:t> |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z </a:t>
            </a:r>
            <a:r>
              <a:rPr lang="en-US" altLang="zh-CN" dirty="0"/>
              <a:t>( </a:t>
            </a:r>
            <a:r>
              <a:rPr lang="en-US" altLang="zh-CN" i="1" dirty="0" err="1"/>
              <a:t>z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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z</a:t>
            </a:r>
            <a:r>
              <a:rPr lang="en-US" altLang="zh-CN" i="1" dirty="0"/>
              <a:t> </a:t>
            </a:r>
            <a:r>
              <a:rPr lang="en-US" altLang="zh-CN" dirty="0"/>
              <a:t>)}  </a:t>
            </a:r>
          </a:p>
          <a:p>
            <a:r>
              <a:rPr lang="zh-CN" altLang="en-US" dirty="0"/>
              <a:t>实例</a:t>
            </a:r>
          </a:p>
          <a:p>
            <a:r>
              <a:rPr lang="zh-CN" altLang="en-US" dirty="0">
                <a:sym typeface="Symbol" panose="05050102010706020507" pitchFamily="18" charset="2"/>
              </a:rPr>
              <a:t>                 </a:t>
            </a:r>
            <a:r>
              <a:rPr lang="en-US" altLang="zh-CN" dirty="0"/>
              <a:t>{{1}, {1,2}, {1,2,3}}={1,2,3}</a:t>
            </a:r>
          </a:p>
          <a:p>
            <a:r>
              <a:rPr lang="en-US" altLang="zh-CN" dirty="0"/>
              <a:t>                 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dirty="0"/>
              <a:t>{{1}, {1,2}, {1,2,3}}={1}</a:t>
            </a:r>
          </a:p>
          <a:p>
            <a:r>
              <a:rPr lang="en-US" altLang="zh-CN" dirty="0"/>
              <a:t>                 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{{</a:t>
            </a:r>
            <a:r>
              <a:rPr lang="en-US" altLang="zh-CN" i="1" dirty="0"/>
              <a:t>a</a:t>
            </a:r>
            <a:r>
              <a:rPr lang="en-US" altLang="zh-CN" dirty="0"/>
              <a:t>}}={</a:t>
            </a:r>
            <a:r>
              <a:rPr lang="en-US" altLang="zh-CN" i="1" dirty="0"/>
              <a:t>a</a:t>
            </a:r>
            <a:r>
              <a:rPr lang="en-US" altLang="zh-CN" dirty="0"/>
              <a:t>}</a:t>
            </a:r>
            <a:r>
              <a:rPr lang="zh-CN" altLang="en-US" dirty="0"/>
              <a:t>， </a:t>
            </a:r>
            <a:r>
              <a:rPr lang="zh-CN" altLang="en-US" dirty="0">
                <a:sym typeface="Symbol" panose="05050102010706020507" pitchFamily="18" charset="2"/>
              </a:rPr>
              <a:t></a:t>
            </a:r>
            <a:r>
              <a:rPr lang="en-US" altLang="zh-CN" dirty="0"/>
              <a:t>{{</a:t>
            </a:r>
            <a:r>
              <a:rPr lang="en-US" altLang="zh-CN" i="1" dirty="0"/>
              <a:t>a</a:t>
            </a:r>
            <a:r>
              <a:rPr lang="en-US" altLang="zh-CN" dirty="0"/>
              <a:t>}}={</a:t>
            </a:r>
            <a:r>
              <a:rPr lang="en-US" altLang="zh-CN" i="1" dirty="0"/>
              <a:t>a</a:t>
            </a:r>
            <a:r>
              <a:rPr lang="en-US" altLang="zh-CN" dirty="0"/>
              <a:t>}</a:t>
            </a:r>
          </a:p>
          <a:p>
            <a:r>
              <a:rPr lang="en-US" altLang="zh-CN" dirty="0"/>
              <a:t>                 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{</a:t>
            </a:r>
            <a:r>
              <a:rPr lang="en-US" altLang="zh-CN" i="1" dirty="0"/>
              <a:t>a</a:t>
            </a:r>
            <a:r>
              <a:rPr lang="en-US" altLang="zh-CN" dirty="0"/>
              <a:t>}=</a:t>
            </a:r>
            <a:r>
              <a:rPr lang="en-US" altLang="zh-CN" i="1" dirty="0"/>
              <a:t>a</a:t>
            </a:r>
            <a:r>
              <a:rPr lang="zh-CN" altLang="en-US" dirty="0"/>
              <a:t>， </a:t>
            </a:r>
            <a:r>
              <a:rPr lang="zh-CN" altLang="en-US" dirty="0">
                <a:sym typeface="Symbol" panose="05050102010706020507" pitchFamily="18" charset="2"/>
              </a:rPr>
              <a:t></a:t>
            </a:r>
            <a:r>
              <a:rPr lang="en-US" altLang="zh-CN" dirty="0"/>
              <a:t>{</a:t>
            </a:r>
            <a:r>
              <a:rPr lang="en-US" altLang="zh-CN" i="1" dirty="0"/>
              <a:t>a</a:t>
            </a:r>
            <a:r>
              <a:rPr lang="en-US" altLang="zh-CN" dirty="0"/>
              <a:t>}=</a:t>
            </a:r>
            <a:r>
              <a:rPr lang="en-US" altLang="zh-CN" i="1" dirty="0"/>
              <a:t>a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DB913E-CDF2-4FBF-8A45-E5DF08FA041F}"/>
              </a:ext>
            </a:extLst>
          </p:cNvPr>
          <p:cNvSpPr txBox="1"/>
          <p:nvPr/>
        </p:nvSpPr>
        <p:spPr>
          <a:xfrm>
            <a:off x="6263680" y="6453894"/>
            <a:ext cx="288032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注意两者的区别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!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B57004-E090-4001-B723-B480FCBDB716}"/>
              </a:ext>
            </a:extLst>
          </p:cNvPr>
          <p:cNvSpPr txBox="1"/>
          <p:nvPr/>
        </p:nvSpPr>
        <p:spPr>
          <a:xfrm>
            <a:off x="7524328" y="3609330"/>
            <a:ext cx="1535832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扁平化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”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12D0DCEE-871E-45AF-BAF1-70E519176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4CE0A-2104-45A7-AAA7-78E0C0A3687E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286722" name="Rectangle 2">
            <a:extLst>
              <a:ext uri="{FF2B5EF4-FFF2-40B4-BE49-F238E27FC236}">
                <a16:creationId xmlns:a16="http://schemas.microsoft.com/office/drawing/2014/main" id="{F024B830-AA2B-4BF9-8EC7-234B434231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关于广义运算的说明</a:t>
            </a:r>
          </a:p>
        </p:txBody>
      </p:sp>
      <p:sp>
        <p:nvSpPr>
          <p:cNvPr id="286723" name="Rectangle 3">
            <a:extLst>
              <a:ext uri="{FF2B5EF4-FFF2-40B4-BE49-F238E27FC236}">
                <a16:creationId xmlns:a16="http://schemas.microsoft.com/office/drawing/2014/main" id="{F70DACE6-7297-41E8-A44E-47B4C6C94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327650"/>
          </a:xfrm>
        </p:spPr>
        <p:txBody>
          <a:bodyPr/>
          <a:lstStyle/>
          <a:p>
            <a:r>
              <a:rPr lang="en-US" altLang="zh-CN"/>
              <a:t>2.  </a:t>
            </a:r>
            <a:r>
              <a:rPr lang="zh-CN" altLang="en-US"/>
              <a:t>广义运算的性质</a:t>
            </a:r>
          </a:p>
          <a:p>
            <a:r>
              <a:rPr lang="zh-CN" altLang="en-US"/>
              <a:t>    </a:t>
            </a:r>
            <a:r>
              <a:rPr lang="en-US" altLang="zh-CN"/>
              <a:t>(1) </a:t>
            </a:r>
            <a:r>
              <a:rPr lang="en-US" altLang="zh-CN">
                <a:sym typeface="Symbol" panose="05050102010706020507" pitchFamily="18" charset="2"/>
              </a:rPr>
              <a:t></a:t>
            </a:r>
            <a:r>
              <a:rPr lang="en-US" altLang="zh-CN"/>
              <a:t>=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zh-CN" altLang="en-US"/>
              <a:t>，</a:t>
            </a:r>
            <a:r>
              <a:rPr lang="zh-CN" altLang="en-US">
                <a:sym typeface="Symbol" panose="05050102010706020507" pitchFamily="18" charset="2"/>
              </a:rPr>
              <a:t></a:t>
            </a:r>
            <a:r>
              <a:rPr lang="zh-CN" altLang="en-US"/>
              <a:t>无意义 </a:t>
            </a:r>
          </a:p>
          <a:p>
            <a:r>
              <a:rPr lang="zh-CN" altLang="en-US"/>
              <a:t>    </a:t>
            </a:r>
            <a:r>
              <a:rPr lang="en-US" altLang="zh-CN"/>
              <a:t>(2) </a:t>
            </a:r>
            <a:r>
              <a:rPr lang="zh-CN" altLang="en-US"/>
              <a:t>单元集</a:t>
            </a:r>
            <a:r>
              <a:rPr lang="en-US" altLang="zh-CN"/>
              <a:t>{</a:t>
            </a:r>
            <a:r>
              <a:rPr lang="en-US" altLang="zh-CN" i="1"/>
              <a:t>x</a:t>
            </a:r>
            <a:r>
              <a:rPr lang="en-US" altLang="zh-CN"/>
              <a:t>}</a:t>
            </a:r>
            <a:r>
              <a:rPr lang="zh-CN" altLang="en-US"/>
              <a:t>的广义并和广义交都等于</a:t>
            </a:r>
            <a:r>
              <a:rPr lang="en-US" altLang="zh-CN" i="1"/>
              <a:t>x</a:t>
            </a:r>
            <a:r>
              <a:rPr lang="en-US" altLang="zh-CN"/>
              <a:t> </a:t>
            </a:r>
          </a:p>
          <a:p>
            <a:r>
              <a:rPr lang="en-US" altLang="zh-CN"/>
              <a:t>    (3) </a:t>
            </a:r>
            <a:r>
              <a:rPr lang="zh-CN" altLang="en-US"/>
              <a:t>广义运算减少集合的层次（括弧减少一层）</a:t>
            </a:r>
          </a:p>
          <a:p>
            <a:r>
              <a:rPr lang="zh-CN" altLang="en-US"/>
              <a:t>    </a:t>
            </a:r>
            <a:r>
              <a:rPr lang="en-US" altLang="zh-CN"/>
              <a:t>(4) </a:t>
            </a:r>
            <a:r>
              <a:rPr lang="zh-CN" altLang="en-US"/>
              <a:t>广义运算的计算：一般情况下可以转变成初级运算</a:t>
            </a:r>
            <a:endParaRPr lang="zh-CN" altLang="en-US">
              <a:sym typeface="Symbol" panose="05050102010706020507" pitchFamily="18" charset="2"/>
            </a:endParaRPr>
          </a:p>
          <a:p>
            <a:r>
              <a:rPr lang="zh-CN" altLang="en-US">
                <a:sym typeface="Symbol" panose="05050102010706020507" pitchFamily="18" charset="2"/>
              </a:rPr>
              <a:t>                 </a:t>
            </a:r>
            <a:r>
              <a:rPr lang="en-US" altLang="zh-CN"/>
              <a:t>{</a:t>
            </a:r>
            <a:r>
              <a:rPr lang="en-US" altLang="zh-CN" i="1"/>
              <a:t>A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A</a:t>
            </a:r>
            <a:r>
              <a:rPr lang="en-US" altLang="zh-CN" baseline="-25000"/>
              <a:t>2</a:t>
            </a:r>
            <a:r>
              <a:rPr lang="en-US" altLang="zh-CN"/>
              <a:t>, … , </a:t>
            </a:r>
            <a:r>
              <a:rPr lang="en-US" altLang="zh-CN" i="1"/>
              <a:t>A</a:t>
            </a:r>
            <a:r>
              <a:rPr lang="en-US" altLang="zh-CN" i="1" baseline="-25000"/>
              <a:t>n</a:t>
            </a:r>
            <a:r>
              <a:rPr lang="en-US" altLang="zh-CN"/>
              <a:t>}=</a:t>
            </a:r>
            <a:r>
              <a:rPr lang="en-US" altLang="zh-CN" i="1"/>
              <a:t>A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A</a:t>
            </a:r>
            <a:r>
              <a:rPr lang="en-US" altLang="zh-CN" baseline="-25000"/>
              <a:t>2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/>
              <a:t>…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A</a:t>
            </a:r>
            <a:r>
              <a:rPr lang="en-US" altLang="zh-CN" i="1" baseline="-25000"/>
              <a:t>n</a:t>
            </a:r>
            <a:endParaRPr lang="en-US" altLang="zh-CN" baseline="-25000">
              <a:sym typeface="Symbol" panose="05050102010706020507" pitchFamily="18" charset="2"/>
            </a:endParaRPr>
          </a:p>
          <a:p>
            <a:r>
              <a:rPr lang="en-US" altLang="zh-CN">
                <a:sym typeface="Symbol" panose="05050102010706020507" pitchFamily="18" charset="2"/>
              </a:rPr>
              <a:t>                 </a:t>
            </a:r>
            <a:r>
              <a:rPr lang="en-US" altLang="zh-CN"/>
              <a:t>{</a:t>
            </a:r>
            <a:r>
              <a:rPr lang="en-US" altLang="zh-CN" i="1"/>
              <a:t>A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A</a:t>
            </a:r>
            <a:r>
              <a:rPr lang="en-US" altLang="zh-CN" baseline="-25000"/>
              <a:t>2</a:t>
            </a:r>
            <a:r>
              <a:rPr lang="en-US" altLang="zh-CN"/>
              <a:t>, … , </a:t>
            </a:r>
            <a:r>
              <a:rPr lang="en-US" altLang="zh-CN" i="1"/>
              <a:t>A</a:t>
            </a:r>
            <a:r>
              <a:rPr lang="en-US" altLang="zh-CN" i="1" baseline="-25000"/>
              <a:t>n</a:t>
            </a:r>
            <a:r>
              <a:rPr lang="en-US" altLang="zh-CN"/>
              <a:t>}=</a:t>
            </a:r>
            <a:r>
              <a:rPr lang="en-US" altLang="zh-CN" i="1"/>
              <a:t>A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A</a:t>
            </a:r>
            <a:r>
              <a:rPr lang="en-US" altLang="zh-CN" baseline="-25000"/>
              <a:t>2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/>
              <a:t>…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A</a:t>
            </a:r>
            <a:r>
              <a:rPr lang="en-US" altLang="zh-CN" i="1" baseline="-25000"/>
              <a:t>n</a:t>
            </a:r>
            <a:r>
              <a:rPr lang="en-US" altLang="zh-CN"/>
              <a:t>  </a:t>
            </a:r>
          </a:p>
          <a:p>
            <a:pPr>
              <a:spcBef>
                <a:spcPct val="60000"/>
              </a:spcBef>
            </a:pPr>
            <a:r>
              <a:rPr lang="en-US" altLang="zh-CN"/>
              <a:t>3.  </a:t>
            </a:r>
            <a:r>
              <a:rPr lang="zh-CN" altLang="en-US"/>
              <a:t>引入广义运算的意义</a:t>
            </a:r>
          </a:p>
          <a:p>
            <a:r>
              <a:rPr lang="zh-CN" altLang="en-US"/>
              <a:t>     可以表示无数个集合的并、交运算，例如</a:t>
            </a:r>
            <a:endParaRPr lang="zh-CN" altLang="en-US">
              <a:sym typeface="Symbol" panose="05050102010706020507" pitchFamily="18" charset="2"/>
            </a:endParaRPr>
          </a:p>
          <a:p>
            <a:r>
              <a:rPr lang="zh-CN" altLang="en-US">
                <a:sym typeface="Symbol" panose="05050102010706020507" pitchFamily="18" charset="2"/>
              </a:rPr>
              <a:t>               </a:t>
            </a:r>
            <a:r>
              <a:rPr lang="en-US" altLang="zh-CN"/>
              <a:t>{{</a:t>
            </a:r>
            <a:r>
              <a:rPr lang="en-US" altLang="zh-CN" i="1"/>
              <a:t>x</a:t>
            </a:r>
            <a:r>
              <a:rPr lang="en-US" altLang="zh-CN"/>
              <a:t>} |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/>
              <a:t>R}=R</a:t>
            </a:r>
          </a:p>
          <a:p>
            <a:r>
              <a:rPr lang="en-US" altLang="zh-CN"/>
              <a:t>      </a:t>
            </a:r>
            <a:r>
              <a:rPr lang="zh-CN" altLang="en-US"/>
              <a:t>这里的 </a:t>
            </a:r>
            <a:r>
              <a:rPr lang="en-US" altLang="zh-CN"/>
              <a:t>R </a:t>
            </a:r>
            <a:r>
              <a:rPr lang="zh-CN" altLang="en-US"/>
              <a:t>代表实数集合</a:t>
            </a:r>
            <a:r>
              <a:rPr lang="en-US" altLang="zh-CN"/>
              <a:t>. 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B34D20-7C93-46E2-A731-ECD1064A8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33DF-1F1A-4832-BBEC-86FB500F8107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289794" name="Rectangle 2">
            <a:extLst>
              <a:ext uri="{FF2B5EF4-FFF2-40B4-BE49-F238E27FC236}">
                <a16:creationId xmlns:a16="http://schemas.microsoft.com/office/drawing/2014/main" id="{807CCC98-A552-4685-8C80-0E14D61B40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运算的优先权规定</a:t>
            </a:r>
          </a:p>
        </p:txBody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D7047B9D-6C32-4F06-B534-3DD7FC9241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075613" cy="2305050"/>
          </a:xfrm>
        </p:spPr>
        <p:txBody>
          <a:bodyPr/>
          <a:lstStyle/>
          <a:p>
            <a:r>
              <a:rPr lang="en-US" altLang="zh-CN"/>
              <a:t>1 </a:t>
            </a:r>
            <a:r>
              <a:rPr lang="zh-CN" altLang="en-US"/>
              <a:t>类运算：初级运算</a:t>
            </a:r>
            <a:r>
              <a:rPr lang="zh-CN" altLang="en-US">
                <a:sym typeface="Symbol" panose="05050102010706020507" pitchFamily="18" charset="2"/>
              </a:rPr>
              <a:t>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zh-CN" altLang="en-US"/>
              <a:t>，</a:t>
            </a:r>
          </a:p>
          <a:p>
            <a:r>
              <a:rPr lang="zh-CN" altLang="en-US"/>
              <a:t>                   优先顺序由括号确定</a:t>
            </a:r>
          </a:p>
          <a:p>
            <a:r>
              <a:rPr lang="en-US" altLang="zh-CN"/>
              <a:t>2 </a:t>
            </a:r>
            <a:r>
              <a:rPr lang="zh-CN" altLang="en-US"/>
              <a:t>类运算：广义运算和</a:t>
            </a:r>
            <a:r>
              <a:rPr lang="zh-CN" altLang="en-US">
                <a:sym typeface="Symbol" panose="05050102010706020507" pitchFamily="18" charset="2"/>
              </a:rPr>
              <a:t></a:t>
            </a:r>
            <a:r>
              <a:rPr lang="zh-CN" altLang="en-US"/>
              <a:t>运算，</a:t>
            </a:r>
          </a:p>
          <a:p>
            <a:r>
              <a:rPr lang="zh-CN" altLang="en-US"/>
              <a:t>                   运算由右向左进行</a:t>
            </a:r>
          </a:p>
          <a:p>
            <a:r>
              <a:rPr lang="zh-CN" altLang="en-US"/>
              <a:t>混合运算：</a:t>
            </a:r>
            <a:r>
              <a:rPr lang="en-US" altLang="zh-CN"/>
              <a:t>2 </a:t>
            </a:r>
            <a:r>
              <a:rPr lang="zh-CN" altLang="en-US"/>
              <a:t>类运算优先于</a:t>
            </a:r>
            <a:r>
              <a:rPr lang="en-US" altLang="zh-CN"/>
              <a:t>1 </a:t>
            </a:r>
            <a:r>
              <a:rPr lang="zh-CN" altLang="en-US"/>
              <a:t>类运算</a:t>
            </a:r>
          </a:p>
        </p:txBody>
      </p:sp>
      <p:sp>
        <p:nvSpPr>
          <p:cNvPr id="289796" name="Rectangle 4">
            <a:extLst>
              <a:ext uri="{FF2B5EF4-FFF2-40B4-BE49-F238E27FC236}">
                <a16:creationId xmlns:a16="http://schemas.microsoft.com/office/drawing/2014/main" id="{BD103B8C-A145-4D1E-9F3A-18166538C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860800"/>
            <a:ext cx="8208963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60000"/>
              </a:spcBef>
            </a:pPr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1</a:t>
            </a:r>
            <a:r>
              <a:rPr lang="en-US" altLang="zh-CN"/>
              <a:t>    </a:t>
            </a:r>
            <a:r>
              <a:rPr lang="en-US" altLang="zh-CN" i="1"/>
              <a:t>A</a:t>
            </a:r>
            <a:r>
              <a:rPr lang="en-US" altLang="zh-CN"/>
              <a:t>={{</a:t>
            </a:r>
            <a:r>
              <a:rPr lang="en-US" altLang="zh-CN" i="1"/>
              <a:t>a</a:t>
            </a:r>
            <a:r>
              <a:rPr lang="en-US" altLang="zh-CN"/>
              <a:t>},{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}}</a:t>
            </a:r>
            <a:r>
              <a:rPr lang="zh-CN" altLang="en-US"/>
              <a:t>，计算</a:t>
            </a:r>
            <a:r>
              <a:rPr lang="zh-CN" altLang="en-US">
                <a:sym typeface="Symbol" panose="05050102010706020507" pitchFamily="18" charset="2"/>
              </a:rPr>
              <a:t>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/>
              <a:t>(</a:t>
            </a:r>
            <a:r>
              <a:rPr lang="en-US" altLang="zh-CN">
                <a:sym typeface="Symbol" panose="05050102010706020507" pitchFamily="18" charset="2"/>
              </a:rPr>
              <a:t>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</a:t>
            </a:r>
            <a:r>
              <a:rPr lang="en-US" altLang="zh-CN" i="1"/>
              <a:t>A</a:t>
            </a:r>
            <a:r>
              <a:rPr lang="en-US" altLang="zh-CN"/>
              <a:t>).  </a:t>
            </a:r>
          </a:p>
          <a:p>
            <a:pPr>
              <a:lnSpc>
                <a:spcPct val="90000"/>
              </a:lnSpc>
            </a:pPr>
            <a:r>
              <a:rPr lang="zh-CN" altLang="en-US"/>
              <a:t>解：                 </a:t>
            </a:r>
            <a:r>
              <a:rPr lang="zh-CN" altLang="en-US">
                <a:sym typeface="Symbol" panose="05050102010706020507" pitchFamily="18" charset="2"/>
              </a:rPr>
              <a:t>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/>
              <a:t>(</a:t>
            </a:r>
            <a:r>
              <a:rPr lang="en-US" altLang="zh-CN">
                <a:sym typeface="Symbol" panose="05050102010706020507" pitchFamily="18" charset="2"/>
              </a:rPr>
              <a:t>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</a:t>
            </a:r>
            <a:r>
              <a:rPr lang="en-US" altLang="zh-CN" i="1"/>
              <a:t>A</a:t>
            </a:r>
            <a:r>
              <a:rPr lang="en-US" altLang="zh-CN"/>
              <a:t>) </a:t>
            </a:r>
          </a:p>
          <a:p>
            <a:pPr>
              <a:lnSpc>
                <a:spcPct val="90000"/>
              </a:lnSpc>
            </a:pPr>
            <a:r>
              <a:rPr lang="en-US" altLang="zh-CN"/>
              <a:t>                      = 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/>
              <a:t>{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}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/>
              <a:t>(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/>
              <a:t>{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}</a:t>
            </a:r>
            <a:r>
              <a:rPr lang="en-US" altLang="zh-CN">
                <a:sym typeface="Symbol" panose="05050102010706020507" pitchFamily="18" charset="2"/>
              </a:rPr>
              <a:t></a:t>
            </a:r>
            <a:r>
              <a:rPr lang="en-US" altLang="zh-CN"/>
              <a:t>{</a:t>
            </a:r>
            <a:r>
              <a:rPr lang="en-US" altLang="zh-CN" i="1"/>
              <a:t>a</a:t>
            </a:r>
            <a:r>
              <a:rPr lang="en-US" altLang="zh-CN"/>
              <a:t>})</a:t>
            </a:r>
          </a:p>
          <a:p>
            <a:pPr>
              <a:lnSpc>
                <a:spcPct val="90000"/>
              </a:lnSpc>
            </a:pPr>
            <a:r>
              <a:rPr lang="en-US" altLang="zh-CN"/>
              <a:t>                      = 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b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/>
              <a:t>((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b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a</a:t>
            </a:r>
            <a:r>
              <a:rPr lang="en-US" altLang="zh-CN"/>
              <a:t>)</a:t>
            </a:r>
          </a:p>
          <a:p>
            <a:pPr>
              <a:lnSpc>
                <a:spcPct val="90000"/>
              </a:lnSpc>
            </a:pPr>
            <a:r>
              <a:rPr lang="en-US" altLang="zh-CN"/>
              <a:t>                      = 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b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/>
              <a:t>(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a</a:t>
            </a:r>
            <a:r>
              <a:rPr lang="en-US" altLang="zh-CN"/>
              <a:t>) = </a:t>
            </a:r>
            <a:r>
              <a:rPr lang="en-US" altLang="zh-CN" i="1"/>
              <a:t>b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EEBBBD-75D0-4BFC-AA09-88C340C09F6A}"/>
              </a:ext>
            </a:extLst>
          </p:cNvPr>
          <p:cNvSpPr txBox="1"/>
          <p:nvPr/>
        </p:nvSpPr>
        <p:spPr>
          <a:xfrm>
            <a:off x="5652120" y="6457890"/>
            <a:ext cx="349188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没有什么优先级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一律加括号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1AE520A-20CF-409F-A062-F6DB0BBF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70D68-573B-483C-9B3A-D77A5C25B8C9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293890" name="Rectangle 2">
            <a:extLst>
              <a:ext uri="{FF2B5EF4-FFF2-40B4-BE49-F238E27FC236}">
                <a16:creationId xmlns:a16="http://schemas.microsoft.com/office/drawing/2014/main" id="{B8285A0C-23EF-499D-8C12-CFA448BE7B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有穷集合元素的计数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5B4163F3-D665-477A-8BCC-36AE74F22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936625"/>
          </a:xfrm>
        </p:spPr>
        <p:txBody>
          <a:bodyPr/>
          <a:lstStyle/>
          <a:p>
            <a:pPr marL="441325" indent="-441325"/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2</a:t>
            </a:r>
            <a:r>
              <a:rPr lang="en-US" altLang="zh-CN"/>
              <a:t>   </a:t>
            </a:r>
            <a:r>
              <a:rPr lang="zh-CN" altLang="en-US"/>
              <a:t>求</a:t>
            </a:r>
            <a:r>
              <a:rPr lang="en-US" altLang="zh-CN"/>
              <a:t>1</a:t>
            </a:r>
            <a:r>
              <a:rPr lang="zh-CN" altLang="en-US"/>
              <a:t>到</a:t>
            </a:r>
            <a:r>
              <a:rPr lang="en-US" altLang="zh-CN"/>
              <a:t>1000</a:t>
            </a:r>
            <a:r>
              <a:rPr lang="zh-CN" altLang="en-US"/>
              <a:t>之间（包含</a:t>
            </a:r>
            <a:r>
              <a:rPr lang="en-US" altLang="zh-CN"/>
              <a:t>1</a:t>
            </a:r>
            <a:r>
              <a:rPr lang="zh-CN" altLang="en-US"/>
              <a:t>和</a:t>
            </a:r>
            <a:r>
              <a:rPr lang="en-US" altLang="zh-CN"/>
              <a:t>1000</a:t>
            </a:r>
            <a:r>
              <a:rPr lang="zh-CN" altLang="en-US"/>
              <a:t>在内）既不能被</a:t>
            </a:r>
            <a:r>
              <a:rPr lang="en-US" altLang="zh-CN"/>
              <a:t>5</a:t>
            </a:r>
            <a:r>
              <a:rPr lang="zh-CN" altLang="en-US"/>
              <a:t>和</a:t>
            </a:r>
            <a:r>
              <a:rPr lang="en-US" altLang="zh-CN"/>
              <a:t>6</a:t>
            </a:r>
            <a:r>
              <a:rPr lang="zh-CN" altLang="en-US"/>
              <a:t>整</a:t>
            </a:r>
          </a:p>
          <a:p>
            <a:pPr marL="441325" indent="-441325"/>
            <a:r>
              <a:rPr lang="zh-CN" altLang="en-US"/>
              <a:t>除，也不能被</a:t>
            </a:r>
            <a:r>
              <a:rPr lang="en-US" altLang="zh-CN"/>
              <a:t>8</a:t>
            </a:r>
            <a:r>
              <a:rPr lang="zh-CN" altLang="en-US"/>
              <a:t>整除的数有多少个？</a:t>
            </a:r>
          </a:p>
        </p:txBody>
      </p:sp>
      <p:pic>
        <p:nvPicPr>
          <p:cNvPr id="293893" name="Picture 5" descr="图片2">
            <a:extLst>
              <a:ext uri="{FF2B5EF4-FFF2-40B4-BE49-F238E27FC236}">
                <a16:creationId xmlns:a16="http://schemas.microsoft.com/office/drawing/2014/main" id="{799160C0-C49C-466B-9CE2-B1191003B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2781300"/>
            <a:ext cx="3240088" cy="2713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3894" name="Rectangle 6">
            <a:extLst>
              <a:ext uri="{FF2B5EF4-FFF2-40B4-BE49-F238E27FC236}">
                <a16:creationId xmlns:a16="http://schemas.microsoft.com/office/drawing/2014/main" id="{83DBC36D-16F3-4D35-B236-DF4812532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349500"/>
            <a:ext cx="4392613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b="1">
                <a:latin typeface="Arial" panose="020B0604020202020204" pitchFamily="34" charset="0"/>
              </a:rPr>
              <a:t>解  方法一：文氏图</a:t>
            </a:r>
          </a:p>
          <a:p>
            <a:r>
              <a:rPr lang="zh-CN" altLang="en-US" b="1">
                <a:latin typeface="Arial" panose="020B0604020202020204" pitchFamily="34" charset="0"/>
              </a:rPr>
              <a:t>     定义以下集合：  </a:t>
            </a:r>
          </a:p>
          <a:p>
            <a:r>
              <a:rPr lang="zh-CN" altLang="en-US" b="1">
                <a:latin typeface="Arial" panose="020B0604020202020204" pitchFamily="34" charset="0"/>
              </a:rPr>
              <a:t>      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r>
              <a:rPr lang="en-US" altLang="zh-CN" b="1">
                <a:latin typeface="Times New Roman" panose="02020603050405020304" pitchFamily="18" charset="0"/>
              </a:rPr>
              <a:t>={ </a:t>
            </a:r>
            <a:r>
              <a:rPr lang="en-US" altLang="zh-CN" b="1" i="1">
                <a:latin typeface="Times New Roman" panose="02020603050405020304" pitchFamily="18" charset="0"/>
              </a:rPr>
              <a:t>x </a:t>
            </a:r>
            <a:r>
              <a:rPr lang="en-US" altLang="zh-CN" b="1">
                <a:latin typeface="Times New Roman" panose="02020603050405020304" pitchFamily="18" charset="0"/>
              </a:rPr>
              <a:t>|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>
                <a:latin typeface="Times New Roman" panose="02020603050405020304" pitchFamily="18" charset="0"/>
              </a:rPr>
              <a:t>Z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b="1">
                <a:latin typeface="Times New Roman" panose="02020603050405020304" pitchFamily="18" charset="0"/>
              </a:rPr>
              <a:t>1000}</a:t>
            </a:r>
            <a:endParaRPr lang="en-US" altLang="zh-CN" b="1" i="1">
              <a:latin typeface="Times New Roman" panose="02020603050405020304" pitchFamily="18" charset="0"/>
            </a:endParaRPr>
          </a:p>
          <a:p>
            <a:r>
              <a:rPr lang="en-US" altLang="zh-CN" b="1" i="1">
                <a:latin typeface="Times New Roman" panose="02020603050405020304" pitchFamily="18" charset="0"/>
              </a:rPr>
              <a:t>       A</a:t>
            </a:r>
            <a:r>
              <a:rPr lang="en-US" altLang="zh-CN" b="1">
                <a:latin typeface="Times New Roman" panose="02020603050405020304" pitchFamily="18" charset="0"/>
              </a:rPr>
              <a:t>={ </a:t>
            </a:r>
            <a:r>
              <a:rPr lang="en-US" altLang="zh-CN" b="1" i="1">
                <a:latin typeface="Times New Roman" panose="02020603050405020304" pitchFamily="18" charset="0"/>
              </a:rPr>
              <a:t>x </a:t>
            </a:r>
            <a:r>
              <a:rPr lang="en-US" altLang="zh-CN" b="1">
                <a:latin typeface="Times New Roman" panose="02020603050405020304" pitchFamily="18" charset="0"/>
              </a:rPr>
              <a:t>|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>
                <a:latin typeface="Times New Roman" panose="02020603050405020304" pitchFamily="18" charset="0"/>
              </a:rPr>
              <a:t>S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zh-CN" altLang="en-US" b="1">
                <a:latin typeface="Times New Roman" panose="02020603050405020304" pitchFamily="18" charset="0"/>
              </a:rPr>
              <a:t>可被</a:t>
            </a:r>
            <a:r>
              <a:rPr lang="en-US" altLang="zh-CN" b="1">
                <a:latin typeface="Times New Roman" panose="02020603050405020304" pitchFamily="18" charset="0"/>
              </a:rPr>
              <a:t>5</a:t>
            </a:r>
            <a:r>
              <a:rPr lang="zh-CN" altLang="en-US" b="1">
                <a:latin typeface="Times New Roman" panose="02020603050405020304" pitchFamily="18" charset="0"/>
              </a:rPr>
              <a:t>整除</a:t>
            </a:r>
            <a:r>
              <a:rPr lang="en-US" altLang="zh-CN" b="1">
                <a:latin typeface="Times New Roman" panose="02020603050405020304" pitchFamily="18" charset="0"/>
              </a:rPr>
              <a:t>}</a:t>
            </a:r>
            <a:endParaRPr lang="en-US" altLang="zh-CN" b="1" i="1">
              <a:latin typeface="Times New Roman" panose="02020603050405020304" pitchFamily="18" charset="0"/>
            </a:endParaRPr>
          </a:p>
          <a:p>
            <a:r>
              <a:rPr lang="en-US" altLang="zh-CN" b="1" i="1">
                <a:latin typeface="Times New Roman" panose="02020603050405020304" pitchFamily="18" charset="0"/>
              </a:rPr>
              <a:t>       B</a:t>
            </a:r>
            <a:r>
              <a:rPr lang="en-US" altLang="zh-CN" b="1">
                <a:latin typeface="Times New Roman" panose="02020603050405020304" pitchFamily="18" charset="0"/>
              </a:rPr>
              <a:t>={ </a:t>
            </a:r>
            <a:r>
              <a:rPr lang="en-US" altLang="zh-CN" b="1" i="1">
                <a:latin typeface="Times New Roman" panose="02020603050405020304" pitchFamily="18" charset="0"/>
              </a:rPr>
              <a:t>x </a:t>
            </a:r>
            <a:r>
              <a:rPr lang="en-US" altLang="zh-CN" b="1">
                <a:latin typeface="Times New Roman" panose="02020603050405020304" pitchFamily="18" charset="0"/>
              </a:rPr>
              <a:t>|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>
                <a:latin typeface="Times New Roman" panose="02020603050405020304" pitchFamily="18" charset="0"/>
              </a:rPr>
              <a:t>S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zh-CN" altLang="en-US" b="1">
                <a:latin typeface="Times New Roman" panose="02020603050405020304" pitchFamily="18" charset="0"/>
              </a:rPr>
              <a:t>可被</a:t>
            </a:r>
            <a:r>
              <a:rPr lang="en-US" altLang="zh-CN" b="1">
                <a:latin typeface="Times New Roman" panose="02020603050405020304" pitchFamily="18" charset="0"/>
              </a:rPr>
              <a:t>6</a:t>
            </a:r>
            <a:r>
              <a:rPr lang="zh-CN" altLang="en-US" b="1">
                <a:latin typeface="Times New Roman" panose="02020603050405020304" pitchFamily="18" charset="0"/>
              </a:rPr>
              <a:t>整除</a:t>
            </a:r>
            <a:r>
              <a:rPr lang="en-US" altLang="zh-CN" b="1">
                <a:latin typeface="Times New Roman" panose="02020603050405020304" pitchFamily="18" charset="0"/>
              </a:rPr>
              <a:t>}</a:t>
            </a:r>
            <a:endParaRPr lang="en-US" altLang="zh-CN" b="1" i="1">
              <a:latin typeface="Times New Roman" panose="02020603050405020304" pitchFamily="18" charset="0"/>
            </a:endParaRPr>
          </a:p>
          <a:p>
            <a:r>
              <a:rPr lang="en-US" altLang="zh-CN" b="1" i="1">
                <a:latin typeface="Times New Roman" panose="02020603050405020304" pitchFamily="18" charset="0"/>
              </a:rPr>
              <a:t>       C</a:t>
            </a:r>
            <a:r>
              <a:rPr lang="en-US" altLang="zh-CN" b="1">
                <a:latin typeface="Times New Roman" panose="02020603050405020304" pitchFamily="18" charset="0"/>
              </a:rPr>
              <a:t>={ </a:t>
            </a:r>
            <a:r>
              <a:rPr lang="en-US" altLang="zh-CN" b="1" i="1">
                <a:latin typeface="Times New Roman" panose="02020603050405020304" pitchFamily="18" charset="0"/>
              </a:rPr>
              <a:t>x </a:t>
            </a:r>
            <a:r>
              <a:rPr lang="en-US" altLang="zh-CN" b="1">
                <a:latin typeface="Times New Roman" panose="02020603050405020304" pitchFamily="18" charset="0"/>
              </a:rPr>
              <a:t>|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>
                <a:latin typeface="Times New Roman" panose="02020603050405020304" pitchFamily="18" charset="0"/>
              </a:rPr>
              <a:t>S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zh-CN" altLang="en-US" b="1">
                <a:latin typeface="Times New Roman" panose="02020603050405020304" pitchFamily="18" charset="0"/>
              </a:rPr>
              <a:t>可被</a:t>
            </a:r>
            <a:r>
              <a:rPr lang="en-US" altLang="zh-CN" b="1">
                <a:latin typeface="Times New Roman" panose="02020603050405020304" pitchFamily="18" charset="0"/>
              </a:rPr>
              <a:t>8</a:t>
            </a:r>
            <a:r>
              <a:rPr lang="zh-CN" altLang="en-US" b="1">
                <a:latin typeface="Times New Roman" panose="02020603050405020304" pitchFamily="18" charset="0"/>
              </a:rPr>
              <a:t>整除</a:t>
            </a:r>
            <a:r>
              <a:rPr lang="en-US" altLang="zh-CN" b="1">
                <a:latin typeface="Times New Roman" panose="02020603050405020304" pitchFamily="18" charset="0"/>
              </a:rPr>
              <a:t>}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</a:p>
          <a:p>
            <a:endParaRPr lang="en-US" altLang="zh-CN">
              <a:latin typeface="Times New Roman" panose="02020603050405020304" pitchFamily="18" charset="0"/>
            </a:endParaRPr>
          </a:p>
          <a:p>
            <a:r>
              <a:rPr lang="zh-CN" altLang="en-US" b="1">
                <a:latin typeface="Times New Roman" panose="02020603050405020304" pitchFamily="18" charset="0"/>
              </a:rPr>
              <a:t>画出文氏图，然后填入相应的数字，解得</a:t>
            </a:r>
          </a:p>
          <a:p>
            <a:r>
              <a:rPr lang="zh-CN" altLang="en-US" b="1">
                <a:latin typeface="Times New Roman" panose="02020603050405020304" pitchFamily="18" charset="0"/>
              </a:rPr>
              <a:t>       </a:t>
            </a:r>
            <a:r>
              <a:rPr lang="en-US" altLang="zh-CN" b="1">
                <a:latin typeface="Times New Roman" panose="02020603050405020304" pitchFamily="18" charset="0"/>
              </a:rPr>
              <a:t>N=1000</a:t>
            </a:r>
            <a:r>
              <a:rPr lang="zh-CN" altLang="en-US" b="1"/>
              <a:t>－</a:t>
            </a:r>
            <a:r>
              <a:rPr lang="en-US" altLang="zh-CN" b="1">
                <a:latin typeface="Times New Roman" panose="02020603050405020304" pitchFamily="18" charset="0"/>
              </a:rPr>
              <a:t>(200+100+33+67)</a:t>
            </a:r>
          </a:p>
          <a:p>
            <a:r>
              <a:rPr lang="en-US" altLang="zh-CN" b="1">
                <a:latin typeface="Times New Roman" panose="02020603050405020304" pitchFamily="18" charset="0"/>
              </a:rPr>
              <a:t>          =600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46AE71-0DE0-404F-8B42-17FE1C294BCD}"/>
              </a:ext>
            </a:extLst>
          </p:cNvPr>
          <p:cNvSpPr txBox="1"/>
          <p:nvPr/>
        </p:nvSpPr>
        <p:spPr>
          <a:xfrm>
            <a:off x="0" y="6457890"/>
            <a:ext cx="395942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容斥原理的特例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D1558D-D315-4CDF-8F21-05D036A82B5C}"/>
              </a:ext>
            </a:extLst>
          </p:cNvPr>
          <p:cNvSpPr txBox="1"/>
          <p:nvPr/>
        </p:nvSpPr>
        <p:spPr>
          <a:xfrm>
            <a:off x="3131840" y="5350031"/>
            <a:ext cx="1147242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的基数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94368D3-76DB-403A-B050-636219F2D95D}"/>
              </a:ext>
            </a:extLst>
          </p:cNvPr>
          <p:cNvCxnSpPr>
            <a:cxnSpLocks/>
          </p:cNvCxnSpPr>
          <p:nvPr/>
        </p:nvCxnSpPr>
        <p:spPr>
          <a:xfrm flipH="1">
            <a:off x="2809373" y="5589587"/>
            <a:ext cx="397573" cy="160554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A967582-EBB0-4B24-9E1B-8FDA0D999904}"/>
              </a:ext>
            </a:extLst>
          </p:cNvPr>
          <p:cNvSpPr txBox="1"/>
          <p:nvPr/>
        </p:nvSpPr>
        <p:spPr>
          <a:xfrm>
            <a:off x="4178139" y="5350031"/>
            <a:ext cx="150844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Cardinality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EBBA01-30C1-4305-809B-33BD6647AF9A}"/>
              </a:ext>
            </a:extLst>
          </p:cNvPr>
          <p:cNvSpPr txBox="1"/>
          <p:nvPr/>
        </p:nvSpPr>
        <p:spPr>
          <a:xfrm>
            <a:off x="1835696" y="6456578"/>
            <a:ext cx="730830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|A⋃B⋃C| = |A| + |B| + |C| − |A⋂B| − |A⋂C| − |B⋂C| + |A⋂B⋂C|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CD5A7B3B-5F8D-4DED-A35B-72E2F728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FD33-53BF-422C-984C-6FDCD0CE899A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295938" name="Rectangle 2">
            <a:extLst>
              <a:ext uri="{FF2B5EF4-FFF2-40B4-BE49-F238E27FC236}">
                <a16:creationId xmlns:a16="http://schemas.microsoft.com/office/drawing/2014/main" id="{29153129-9FE7-4B72-980D-54D285C48F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有穷集合元素的计数</a:t>
            </a:r>
          </a:p>
        </p:txBody>
      </p:sp>
      <p:sp>
        <p:nvSpPr>
          <p:cNvPr id="295939" name="Rectangle 3">
            <a:extLst>
              <a:ext uri="{FF2B5EF4-FFF2-40B4-BE49-F238E27FC236}">
                <a16:creationId xmlns:a16="http://schemas.microsoft.com/office/drawing/2014/main" id="{8F75CEE9-9ED2-46F3-A925-2ECC5E58E52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12875"/>
            <a:ext cx="8075613" cy="4525963"/>
          </a:xfrm>
        </p:spPr>
        <p:txBody>
          <a:bodyPr/>
          <a:lstStyle/>
          <a:p>
            <a:pPr marL="0" indent="0"/>
            <a:r>
              <a:rPr lang="zh-CN" altLang="en-US" dirty="0"/>
              <a:t>方法二  </a:t>
            </a:r>
          </a:p>
          <a:p>
            <a:pPr marL="0" indent="0"/>
            <a:r>
              <a:rPr lang="zh-CN" altLang="en-US" dirty="0"/>
              <a:t>    </a:t>
            </a:r>
            <a:r>
              <a:rPr lang="en-US" altLang="zh-CN" dirty="0"/>
              <a:t>|</a:t>
            </a:r>
            <a:r>
              <a:rPr lang="en-US" altLang="zh-CN" i="1" dirty="0"/>
              <a:t>S</a:t>
            </a:r>
            <a:r>
              <a:rPr lang="en-US" altLang="zh-CN" dirty="0"/>
              <a:t>| = 1000</a:t>
            </a:r>
          </a:p>
          <a:p>
            <a:pPr marL="0" indent="0"/>
            <a:r>
              <a:rPr lang="en-US" altLang="zh-CN" dirty="0"/>
              <a:t>    |</a:t>
            </a:r>
            <a:r>
              <a:rPr lang="en-US" altLang="zh-CN" i="1" dirty="0"/>
              <a:t>A</a:t>
            </a:r>
            <a:r>
              <a:rPr lang="en-US" altLang="zh-CN" dirty="0"/>
              <a:t>|=</a:t>
            </a:r>
            <a:r>
              <a:rPr lang="en-US" altLang="zh-CN" dirty="0">
                <a:sym typeface="Symbol" panose="05050102010706020507" pitchFamily="18" charset="2"/>
              </a:rPr>
              <a:t></a:t>
            </a:r>
            <a:r>
              <a:rPr lang="en-US" altLang="zh-CN" dirty="0"/>
              <a:t>1000/5</a:t>
            </a:r>
            <a:r>
              <a:rPr lang="en-US" altLang="zh-CN" dirty="0">
                <a:sym typeface="Symbol" panose="05050102010706020507" pitchFamily="18" charset="2"/>
              </a:rPr>
              <a:t></a:t>
            </a:r>
            <a:r>
              <a:rPr lang="en-US" altLang="zh-CN" dirty="0"/>
              <a:t>=200,  |</a:t>
            </a:r>
            <a:r>
              <a:rPr lang="en-US" altLang="zh-CN" i="1" dirty="0"/>
              <a:t>B</a:t>
            </a:r>
            <a:r>
              <a:rPr lang="en-US" altLang="zh-CN" dirty="0"/>
              <a:t>|=</a:t>
            </a:r>
            <a:r>
              <a:rPr lang="en-US" altLang="zh-CN" dirty="0">
                <a:sym typeface="Symbol" panose="05050102010706020507" pitchFamily="18" charset="2"/>
              </a:rPr>
              <a:t></a:t>
            </a:r>
            <a:r>
              <a:rPr lang="en-US" altLang="zh-CN" dirty="0"/>
              <a:t>1000/6</a:t>
            </a:r>
            <a:r>
              <a:rPr lang="en-US" altLang="zh-CN" dirty="0">
                <a:sym typeface="Symbol" panose="05050102010706020507" pitchFamily="18" charset="2"/>
              </a:rPr>
              <a:t></a:t>
            </a:r>
            <a:r>
              <a:rPr lang="en-US" altLang="zh-CN" dirty="0"/>
              <a:t>=166,  |</a:t>
            </a:r>
            <a:r>
              <a:rPr lang="en-US" altLang="zh-CN" i="1" dirty="0"/>
              <a:t>C</a:t>
            </a:r>
            <a:r>
              <a:rPr lang="en-US" altLang="zh-CN" dirty="0"/>
              <a:t>|=</a:t>
            </a:r>
            <a:r>
              <a:rPr lang="en-US" altLang="zh-CN" dirty="0">
                <a:sym typeface="Symbol" panose="05050102010706020507" pitchFamily="18" charset="2"/>
              </a:rPr>
              <a:t></a:t>
            </a:r>
            <a:r>
              <a:rPr lang="en-US" altLang="zh-CN" dirty="0"/>
              <a:t>1000/8</a:t>
            </a:r>
            <a:r>
              <a:rPr lang="en-US" altLang="zh-CN" dirty="0">
                <a:sym typeface="Symbol" panose="05050102010706020507" pitchFamily="18" charset="2"/>
              </a:rPr>
              <a:t></a:t>
            </a:r>
            <a:r>
              <a:rPr lang="en-US" altLang="zh-CN" dirty="0"/>
              <a:t>=125</a:t>
            </a:r>
          </a:p>
          <a:p>
            <a:pPr marL="0" indent="0"/>
            <a:r>
              <a:rPr lang="en-US" altLang="zh-CN" dirty="0"/>
              <a:t>    |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i="1" dirty="0"/>
              <a:t>B</a:t>
            </a:r>
            <a:r>
              <a:rPr lang="en-US" altLang="zh-CN" dirty="0"/>
              <a:t>| = </a:t>
            </a:r>
            <a:r>
              <a:rPr lang="en-US" altLang="zh-CN" dirty="0">
                <a:sym typeface="Symbol" panose="05050102010706020507" pitchFamily="18" charset="2"/>
              </a:rPr>
              <a:t></a:t>
            </a:r>
            <a:r>
              <a:rPr lang="en-US" altLang="zh-CN" dirty="0"/>
              <a:t>1000/lcm(5,6)</a:t>
            </a:r>
            <a:r>
              <a:rPr lang="en-US" altLang="zh-CN" dirty="0">
                <a:sym typeface="Symbol" panose="05050102010706020507" pitchFamily="18" charset="2"/>
              </a:rPr>
              <a:t></a:t>
            </a:r>
            <a:r>
              <a:rPr lang="en-US" altLang="zh-CN" dirty="0"/>
              <a:t> = </a:t>
            </a:r>
            <a:r>
              <a:rPr lang="en-US" altLang="zh-CN" dirty="0">
                <a:sym typeface="Symbol" panose="05050102010706020507" pitchFamily="18" charset="2"/>
              </a:rPr>
              <a:t></a:t>
            </a:r>
            <a:r>
              <a:rPr lang="en-US" altLang="zh-CN" dirty="0"/>
              <a:t>1000/30</a:t>
            </a:r>
            <a:r>
              <a:rPr lang="en-US" altLang="zh-CN" dirty="0">
                <a:sym typeface="Symbol" panose="05050102010706020507" pitchFamily="18" charset="2"/>
              </a:rPr>
              <a:t></a:t>
            </a:r>
            <a:r>
              <a:rPr lang="en-US" altLang="zh-CN" dirty="0"/>
              <a:t> = 33</a:t>
            </a:r>
          </a:p>
          <a:p>
            <a:pPr marL="0" indent="0"/>
            <a:r>
              <a:rPr lang="en-US" altLang="zh-CN" dirty="0"/>
              <a:t>    |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i="1" dirty="0"/>
              <a:t>C</a:t>
            </a:r>
            <a:r>
              <a:rPr lang="en-US" altLang="zh-CN" dirty="0"/>
              <a:t>| = </a:t>
            </a:r>
            <a:r>
              <a:rPr lang="en-US" altLang="zh-CN" dirty="0">
                <a:sym typeface="Symbol" panose="05050102010706020507" pitchFamily="18" charset="2"/>
              </a:rPr>
              <a:t></a:t>
            </a:r>
            <a:r>
              <a:rPr lang="en-US" altLang="zh-CN" dirty="0"/>
              <a:t>1000/lcm(5,8)</a:t>
            </a:r>
            <a:r>
              <a:rPr lang="en-US" altLang="zh-CN" dirty="0">
                <a:sym typeface="Symbol" panose="05050102010706020507" pitchFamily="18" charset="2"/>
              </a:rPr>
              <a:t></a:t>
            </a:r>
            <a:r>
              <a:rPr lang="en-US" altLang="zh-CN" dirty="0"/>
              <a:t> = </a:t>
            </a:r>
            <a:r>
              <a:rPr lang="en-US" altLang="zh-CN" dirty="0">
                <a:sym typeface="Symbol" panose="05050102010706020507" pitchFamily="18" charset="2"/>
              </a:rPr>
              <a:t></a:t>
            </a:r>
            <a:r>
              <a:rPr lang="en-US" altLang="zh-CN" dirty="0"/>
              <a:t>1000/40</a:t>
            </a:r>
            <a:r>
              <a:rPr lang="en-US" altLang="zh-CN" dirty="0">
                <a:sym typeface="Symbol" panose="05050102010706020507" pitchFamily="18" charset="2"/>
              </a:rPr>
              <a:t></a:t>
            </a:r>
            <a:r>
              <a:rPr lang="en-US" altLang="zh-CN" dirty="0"/>
              <a:t> = 25</a:t>
            </a:r>
          </a:p>
          <a:p>
            <a:pPr marL="0" indent="0"/>
            <a:r>
              <a:rPr lang="en-US" altLang="zh-CN" dirty="0"/>
              <a:t>    |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i="1" dirty="0"/>
              <a:t>C</a:t>
            </a:r>
            <a:r>
              <a:rPr lang="en-US" altLang="zh-CN" dirty="0"/>
              <a:t>| = </a:t>
            </a:r>
            <a:r>
              <a:rPr lang="en-US" altLang="zh-CN" dirty="0">
                <a:sym typeface="Symbol" panose="05050102010706020507" pitchFamily="18" charset="2"/>
              </a:rPr>
              <a:t></a:t>
            </a:r>
            <a:r>
              <a:rPr lang="en-US" altLang="zh-CN" dirty="0"/>
              <a:t>1000/lcm(6,8)</a:t>
            </a:r>
            <a:r>
              <a:rPr lang="en-US" altLang="zh-CN" dirty="0">
                <a:sym typeface="Symbol" panose="05050102010706020507" pitchFamily="18" charset="2"/>
              </a:rPr>
              <a:t></a:t>
            </a:r>
            <a:r>
              <a:rPr lang="en-US" altLang="zh-CN" dirty="0"/>
              <a:t> = </a:t>
            </a:r>
            <a:r>
              <a:rPr lang="en-US" altLang="zh-CN" dirty="0">
                <a:sym typeface="Symbol" panose="05050102010706020507" pitchFamily="18" charset="2"/>
              </a:rPr>
              <a:t></a:t>
            </a:r>
            <a:r>
              <a:rPr lang="en-US" altLang="zh-CN" dirty="0"/>
              <a:t>1000/24</a:t>
            </a:r>
            <a:r>
              <a:rPr lang="en-US" altLang="zh-CN" dirty="0">
                <a:sym typeface="Symbol" panose="05050102010706020507" pitchFamily="18" charset="2"/>
              </a:rPr>
              <a:t></a:t>
            </a:r>
            <a:r>
              <a:rPr lang="en-US" altLang="zh-CN" dirty="0"/>
              <a:t> = 41</a:t>
            </a:r>
          </a:p>
          <a:p>
            <a:pPr marL="0" indent="0"/>
            <a:r>
              <a:rPr lang="en-US" altLang="zh-CN" dirty="0"/>
              <a:t>    |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i="1" dirty="0"/>
              <a:t>C</a:t>
            </a:r>
            <a:r>
              <a:rPr lang="en-US" altLang="zh-CN" dirty="0"/>
              <a:t>| = </a:t>
            </a:r>
            <a:r>
              <a:rPr lang="en-US" altLang="zh-CN" dirty="0">
                <a:sym typeface="Symbol" panose="05050102010706020507" pitchFamily="18" charset="2"/>
              </a:rPr>
              <a:t></a:t>
            </a:r>
            <a:r>
              <a:rPr lang="en-US" altLang="zh-CN" dirty="0"/>
              <a:t>1000/lcm(5,6,8)</a:t>
            </a:r>
            <a:r>
              <a:rPr lang="en-US" altLang="zh-CN" dirty="0">
                <a:sym typeface="Symbol" panose="05050102010706020507" pitchFamily="18" charset="2"/>
              </a:rPr>
              <a:t></a:t>
            </a:r>
            <a:r>
              <a:rPr lang="en-US" altLang="zh-CN" dirty="0"/>
              <a:t> = </a:t>
            </a:r>
            <a:r>
              <a:rPr lang="en-US" altLang="zh-CN" dirty="0">
                <a:sym typeface="Symbol" panose="05050102010706020507" pitchFamily="18" charset="2"/>
              </a:rPr>
              <a:t></a:t>
            </a:r>
            <a:r>
              <a:rPr lang="en-US" altLang="zh-CN" dirty="0"/>
              <a:t>1000/120</a:t>
            </a:r>
            <a:r>
              <a:rPr lang="en-US" altLang="zh-CN" dirty="0">
                <a:sym typeface="Symbol" panose="05050102010706020507" pitchFamily="18" charset="2"/>
              </a:rPr>
              <a:t></a:t>
            </a:r>
            <a:r>
              <a:rPr lang="en-US" altLang="zh-CN" dirty="0"/>
              <a:t> = 8</a:t>
            </a:r>
          </a:p>
          <a:p>
            <a:pPr marL="0" indent="0"/>
            <a:r>
              <a:rPr lang="en-US" altLang="zh-CN" dirty="0"/>
              <a:t>     </a:t>
            </a:r>
          </a:p>
          <a:p>
            <a:pPr marL="0" indent="0"/>
            <a:r>
              <a:rPr lang="en-US" altLang="zh-CN" dirty="0"/>
              <a:t>   </a:t>
            </a:r>
          </a:p>
          <a:p>
            <a:pPr marL="0" indent="0"/>
            <a:r>
              <a:rPr lang="en-US" altLang="zh-CN" dirty="0"/>
              <a:t>   = 1000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(200+166+125)+(33+25+41)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8 = 600 </a:t>
            </a:r>
          </a:p>
        </p:txBody>
      </p:sp>
      <p:graphicFrame>
        <p:nvGraphicFramePr>
          <p:cNvPr id="295940" name="Object 4">
            <a:extLst>
              <a:ext uri="{FF2B5EF4-FFF2-40B4-BE49-F238E27FC236}">
                <a16:creationId xmlns:a16="http://schemas.microsoft.com/office/drawing/2014/main" id="{AF4BE65B-8119-4111-806C-36394DF19E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4797425"/>
          <a:ext cx="158432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68" name="公式" r:id="rId4" imgW="825480" imgH="241200" progId="Equation.3">
                  <p:embed/>
                </p:oleObj>
              </mc:Choice>
              <mc:Fallback>
                <p:oleObj name="公式" r:id="rId4" imgW="82548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797425"/>
                        <a:ext cx="158432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8E3D2CE-E068-4079-8FC0-517216568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42A3-3284-4EE6-81B6-270F05F599DC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291842" name="Rectangle 2">
            <a:extLst>
              <a:ext uri="{FF2B5EF4-FFF2-40B4-BE49-F238E27FC236}">
                <a16:creationId xmlns:a16="http://schemas.microsoft.com/office/drawing/2014/main" id="{FAF565FE-7A8B-4441-80B8-0D18C9210E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有穷集合元素的计数</a:t>
            </a:r>
          </a:p>
        </p:txBody>
      </p:sp>
      <p:sp>
        <p:nvSpPr>
          <p:cNvPr id="291843" name="Rectangle 3">
            <a:extLst>
              <a:ext uri="{FF2B5EF4-FFF2-40B4-BE49-F238E27FC236}">
                <a16:creationId xmlns:a16="http://schemas.microsoft.com/office/drawing/2014/main" id="{F4B7B81C-E4A5-4B0A-B678-D3FF430356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981075"/>
            <a:ext cx="8229600" cy="4525963"/>
          </a:xfrm>
        </p:spPr>
        <p:txBody>
          <a:bodyPr/>
          <a:lstStyle/>
          <a:p>
            <a:pPr>
              <a:tabLst>
                <a:tab pos="1249363" algn="l"/>
              </a:tabLst>
            </a:pPr>
            <a:r>
              <a:rPr lang="en-US" altLang="zh-CN"/>
              <a:t>1. </a:t>
            </a:r>
            <a:r>
              <a:rPr lang="zh-CN" altLang="en-US"/>
              <a:t>文氏图法</a:t>
            </a:r>
          </a:p>
          <a:p>
            <a:pPr>
              <a:tabLst>
                <a:tab pos="1249363" algn="l"/>
              </a:tabLst>
            </a:pPr>
            <a:r>
              <a:rPr lang="en-US" altLang="zh-CN"/>
              <a:t>2. </a:t>
            </a:r>
            <a:r>
              <a:rPr lang="zh-CN" altLang="en-US"/>
              <a:t>包含排斥原理</a:t>
            </a:r>
          </a:p>
          <a:p>
            <a:pPr>
              <a:tabLst>
                <a:tab pos="1249363" algn="l"/>
              </a:tabLst>
            </a:pPr>
            <a:r>
              <a:rPr lang="zh-CN" altLang="en-US">
                <a:solidFill>
                  <a:srgbClr val="A50021"/>
                </a:solidFill>
              </a:rPr>
              <a:t>定理</a:t>
            </a:r>
            <a:r>
              <a:rPr lang="en-US" altLang="zh-CN">
                <a:solidFill>
                  <a:srgbClr val="A50021"/>
                </a:solidFill>
              </a:rPr>
              <a:t>6.2</a:t>
            </a:r>
            <a:r>
              <a:rPr lang="en-US" altLang="zh-CN"/>
              <a:t>   </a:t>
            </a:r>
            <a:r>
              <a:rPr lang="zh-CN" altLang="en-US"/>
              <a:t>设集合</a:t>
            </a:r>
            <a:r>
              <a:rPr lang="en-US" altLang="zh-CN" i="1"/>
              <a:t>S</a:t>
            </a:r>
            <a:r>
              <a:rPr lang="zh-CN" altLang="en-US"/>
              <a:t>上定义了</a:t>
            </a:r>
            <a:r>
              <a:rPr lang="en-US" altLang="zh-CN" i="1"/>
              <a:t>n</a:t>
            </a:r>
            <a:r>
              <a:rPr lang="zh-CN" altLang="en-US"/>
              <a:t>条性质，其中具有第 </a:t>
            </a:r>
            <a:r>
              <a:rPr lang="en-US" altLang="zh-CN" i="1"/>
              <a:t>i </a:t>
            </a:r>
            <a:r>
              <a:rPr lang="zh-CN" altLang="en-US"/>
              <a:t>条性质的</a:t>
            </a:r>
          </a:p>
          <a:p>
            <a:pPr>
              <a:tabLst>
                <a:tab pos="1249363" algn="l"/>
              </a:tabLst>
            </a:pPr>
            <a:r>
              <a:rPr lang="zh-CN" altLang="en-US"/>
              <a:t>元素构成子集</a:t>
            </a:r>
            <a:r>
              <a:rPr lang="en-US" altLang="zh-CN" i="1"/>
              <a:t>A</a:t>
            </a:r>
            <a:r>
              <a:rPr lang="en-US" altLang="zh-CN" i="1" baseline="-25000"/>
              <a:t>i</a:t>
            </a:r>
            <a:r>
              <a:rPr lang="en-US" altLang="zh-CN"/>
              <a:t>, </a:t>
            </a:r>
            <a:r>
              <a:rPr lang="zh-CN" altLang="en-US"/>
              <a:t>那么集合中不具有任何性质的元素数为</a:t>
            </a:r>
          </a:p>
          <a:p>
            <a:pPr algn="just">
              <a:tabLst>
                <a:tab pos="1249363" algn="l"/>
              </a:tabLst>
            </a:pPr>
            <a:r>
              <a:rPr lang="zh-CN" altLang="en-US"/>
              <a:t> </a:t>
            </a:r>
          </a:p>
        </p:txBody>
      </p:sp>
      <p:graphicFrame>
        <p:nvGraphicFramePr>
          <p:cNvPr id="291844" name="Object 4">
            <a:extLst>
              <a:ext uri="{FF2B5EF4-FFF2-40B4-BE49-F238E27FC236}">
                <a16:creationId xmlns:a16="http://schemas.microsoft.com/office/drawing/2014/main" id="{FCC7ACBD-A3D0-47E1-84ED-659F53F4C5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2852738"/>
          <a:ext cx="6083300" cy="1436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898" name="公式" r:id="rId4" imgW="3390840" imgH="749160" progId="Equation.3">
                  <p:embed/>
                </p:oleObj>
              </mc:Choice>
              <mc:Fallback>
                <p:oleObj name="公式" r:id="rId4" imgW="3390840" imgH="7491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852738"/>
                        <a:ext cx="6083300" cy="1436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1847" name="Group 7">
            <a:extLst>
              <a:ext uri="{FF2B5EF4-FFF2-40B4-BE49-F238E27FC236}">
                <a16:creationId xmlns:a16="http://schemas.microsoft.com/office/drawing/2014/main" id="{99FDED7C-C7B8-4B4F-8866-06D8496DEE31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4411663"/>
            <a:ext cx="7993062" cy="2141537"/>
            <a:chOff x="158" y="2779"/>
            <a:chExt cx="5035" cy="1349"/>
          </a:xfrm>
        </p:grpSpPr>
        <p:sp>
          <p:nvSpPr>
            <p:cNvPr id="291846" name="Rectangle 6">
              <a:extLst>
                <a:ext uri="{FF2B5EF4-FFF2-40B4-BE49-F238E27FC236}">
                  <a16:creationId xmlns:a16="http://schemas.microsoft.com/office/drawing/2014/main" id="{9684BE52-11BC-41CA-9C95-B80B74D48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2779"/>
              <a:ext cx="34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000" b="1"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en-US" b="1">
                  <a:solidFill>
                    <a:srgbClr val="A5002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推论</a:t>
              </a:r>
              <a:r>
                <a:rPr lang="zh-CN" altLang="en-US" b="1"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中至少具有一条性质的元素数为</a:t>
              </a:r>
              <a:endParaRPr lang="zh-CN" altLang="en-US" b="1">
                <a:latin typeface="Arial" panose="020B0604020202020204" pitchFamily="34" charset="0"/>
              </a:endParaRPr>
            </a:p>
          </p:txBody>
        </p:sp>
        <p:graphicFrame>
          <p:nvGraphicFramePr>
            <p:cNvPr id="291845" name="Object 5">
              <a:extLst>
                <a:ext uri="{FF2B5EF4-FFF2-40B4-BE49-F238E27FC236}">
                  <a16:creationId xmlns:a16="http://schemas.microsoft.com/office/drawing/2014/main" id="{6F63F861-2A4E-466E-A87A-B273C00F8F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3" y="3067"/>
            <a:ext cx="4490" cy="10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899" name="公式" r:id="rId6" imgW="3555720" imgH="838080" progId="Equation.3">
                    <p:embed/>
                  </p:oleObj>
                </mc:Choice>
                <mc:Fallback>
                  <p:oleObj name="公式" r:id="rId6" imgW="3555720" imgH="83808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3067"/>
                          <a:ext cx="4490" cy="106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3A9E0EC1-DF8E-4695-B444-1CC54256848B}"/>
              </a:ext>
            </a:extLst>
          </p:cNvPr>
          <p:cNvSpPr txBox="1"/>
          <p:nvPr/>
        </p:nvSpPr>
        <p:spPr>
          <a:xfrm>
            <a:off x="2957572" y="1444714"/>
            <a:ext cx="180020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容斥原理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CFB13C-944F-4A3B-933F-B94432346041}"/>
              </a:ext>
            </a:extLst>
          </p:cNvPr>
          <p:cNvSpPr txBox="1"/>
          <p:nvPr/>
        </p:nvSpPr>
        <p:spPr>
          <a:xfrm>
            <a:off x="4572000" y="6457890"/>
            <a:ext cx="457200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显然定理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6.2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及其推论的数量之和为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|S|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C0A158-22B4-44D1-A5F3-451741DB7914}"/>
              </a:ext>
            </a:extLst>
          </p:cNvPr>
          <p:cNvSpPr txBox="1"/>
          <p:nvPr/>
        </p:nvSpPr>
        <p:spPr>
          <a:xfrm>
            <a:off x="4424363" y="4026466"/>
            <a:ext cx="457200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简言之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: A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都是全集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的子集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D3D90F8-43D6-4121-8456-42F8FEDB4A86}"/>
              </a:ext>
            </a:extLst>
          </p:cNvPr>
          <p:cNvSpPr txBox="1"/>
          <p:nvPr/>
        </p:nvSpPr>
        <p:spPr>
          <a:xfrm>
            <a:off x="9144000" y="0"/>
            <a:ext cx="1905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（结合解方程）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给定集合及其交集间的数量关系求集合的基数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8E3D2CE-E068-4079-8FC0-517216568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42A3-3284-4EE6-81B6-270F05F599DC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291842" name="Rectangle 2">
            <a:extLst>
              <a:ext uri="{FF2B5EF4-FFF2-40B4-BE49-F238E27FC236}">
                <a16:creationId xmlns:a16="http://schemas.microsoft.com/office/drawing/2014/main" id="{FAF565FE-7A8B-4441-80B8-0D18C9210E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有穷集合元素的计数</a:t>
            </a:r>
          </a:p>
        </p:txBody>
      </p:sp>
      <p:sp>
        <p:nvSpPr>
          <p:cNvPr id="291843" name="Rectangle 3">
            <a:extLst>
              <a:ext uri="{FF2B5EF4-FFF2-40B4-BE49-F238E27FC236}">
                <a16:creationId xmlns:a16="http://schemas.microsoft.com/office/drawing/2014/main" id="{F4B7B81C-E4A5-4B0A-B678-D3FF430356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981075"/>
            <a:ext cx="8229600" cy="4525963"/>
          </a:xfrm>
        </p:spPr>
        <p:txBody>
          <a:bodyPr/>
          <a:lstStyle/>
          <a:p>
            <a:r>
              <a:rPr lang="en-US" altLang="zh-CN" dirty="0"/>
              <a:t>Proof: An element in the union must be counted exactly once in the right-hand side of the equation.</a:t>
            </a:r>
          </a:p>
          <a:p>
            <a:r>
              <a:rPr lang="en-US" altLang="zh-CN" dirty="0"/>
              <a:t>Consider an element </a:t>
            </a:r>
            <a:r>
              <a:rPr lang="en-US" altLang="zh-CN" i="1" dirty="0"/>
              <a:t>a</a:t>
            </a:r>
            <a:r>
              <a:rPr lang="en-US" altLang="zh-CN" dirty="0"/>
              <a:t> that is a member of </a:t>
            </a:r>
            <a:r>
              <a:rPr lang="en-US" altLang="zh-CN" i="1" dirty="0"/>
              <a:t>r</a:t>
            </a:r>
            <a:r>
              <a:rPr lang="en-US" altLang="zh-CN" dirty="0"/>
              <a:t> out of the sets 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,…,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where </a:t>
            </a:r>
            <a:r>
              <a:rPr lang="en-US" altLang="zh-CN" dirty="0">
                <a:ea typeface="Cambria Math" pitchFamily="18" charset="0"/>
              </a:rPr>
              <a:t>1</a:t>
            </a:r>
            <a:r>
              <a:rPr lang="en-US" altLang="zh-CN" dirty="0">
                <a:ea typeface="Cambria Math"/>
              </a:rPr>
              <a:t>≤</a:t>
            </a:r>
            <a:r>
              <a:rPr lang="en-US" altLang="zh-CN" i="1" dirty="0"/>
              <a:t> r</a:t>
            </a:r>
            <a:r>
              <a:rPr lang="en-US" altLang="zh-CN" i="1" dirty="0">
                <a:ea typeface="Cambria Math"/>
              </a:rPr>
              <a:t> </a:t>
            </a:r>
            <a:r>
              <a:rPr lang="en-US" altLang="zh-CN" dirty="0">
                <a:ea typeface="Cambria Math"/>
              </a:rPr>
              <a:t>≤</a:t>
            </a:r>
            <a:r>
              <a:rPr lang="en-US" altLang="zh-CN" i="1" dirty="0"/>
              <a:t> n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It is counted </a:t>
            </a:r>
            <a:r>
              <a:rPr lang="en-US" altLang="zh-CN" i="1" dirty="0"/>
              <a:t>C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,</a:t>
            </a:r>
            <a:r>
              <a:rPr lang="en-US" altLang="zh-CN" dirty="0">
                <a:ea typeface="Cambria Math" pitchFamily="18" charset="0"/>
              </a:rPr>
              <a:t>1</a:t>
            </a:r>
            <a:r>
              <a:rPr lang="en-US" altLang="zh-CN" dirty="0"/>
              <a:t>) times by </a:t>
            </a:r>
            <a:r>
              <a:rPr lang="en-US" altLang="zh-CN" dirty="0" err="1"/>
              <a:t>Σ|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i</a:t>
            </a:r>
            <a:r>
              <a:rPr lang="en-US" altLang="zh-CN" dirty="0"/>
              <a:t>|.</a:t>
            </a:r>
          </a:p>
          <a:p>
            <a:r>
              <a:rPr lang="en-US" altLang="zh-CN" dirty="0"/>
              <a:t>It is counted </a:t>
            </a:r>
            <a:r>
              <a:rPr lang="en-US" altLang="zh-CN" i="1" dirty="0"/>
              <a:t>C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,2) times by </a:t>
            </a:r>
            <a:r>
              <a:rPr lang="en-US" altLang="zh-CN" dirty="0" err="1"/>
              <a:t>Σ|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i</a:t>
            </a:r>
            <a:r>
              <a:rPr lang="en-US" altLang="zh-CN" dirty="0" err="1"/>
              <a:t>⋂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j</a:t>
            </a:r>
            <a:r>
              <a:rPr lang="en-US" altLang="zh-CN" dirty="0"/>
              <a:t>|.</a:t>
            </a:r>
          </a:p>
          <a:p>
            <a:r>
              <a:rPr lang="en-US" altLang="zh-CN" dirty="0"/>
              <a:t>In general, it is counted </a:t>
            </a:r>
            <a:r>
              <a:rPr lang="en-US" altLang="zh-CN" i="1" dirty="0"/>
              <a:t>C</a:t>
            </a:r>
            <a:r>
              <a:rPr lang="en-US" altLang="zh-CN" dirty="0"/>
              <a:t>(</a:t>
            </a:r>
            <a:r>
              <a:rPr lang="en-US" altLang="zh-CN" i="1" dirty="0" err="1"/>
              <a:t>r</a:t>
            </a:r>
            <a:r>
              <a:rPr lang="en-US" altLang="zh-CN" dirty="0" err="1"/>
              <a:t>,</a:t>
            </a:r>
            <a:r>
              <a:rPr lang="en-US" altLang="zh-CN" i="1" dirty="0" err="1"/>
              <a:t>m</a:t>
            </a:r>
            <a:r>
              <a:rPr lang="en-US" altLang="zh-CN" dirty="0"/>
              <a:t>) times by </a:t>
            </a:r>
            <a:r>
              <a:rPr lang="en-US" altLang="zh-CN" dirty="0" err="1"/>
              <a:t>Σ|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i</a:t>
            </a:r>
            <a:r>
              <a:rPr lang="en-US" altLang="zh-CN" dirty="0" err="1"/>
              <a:t>⋂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j</a:t>
            </a:r>
            <a:r>
              <a:rPr lang="en-US" altLang="zh-CN" dirty="0"/>
              <a:t>⋂…⋂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k</a:t>
            </a:r>
            <a:r>
              <a:rPr lang="en-US" altLang="zh-CN" dirty="0"/>
              <a:t>|.</a:t>
            </a:r>
          </a:p>
          <a:p>
            <a:r>
              <a:rPr lang="en-US" altLang="zh-CN" dirty="0"/>
              <a:t>Thus the element is counted exactly</a:t>
            </a:r>
          </a:p>
          <a:p>
            <a:endParaRPr lang="en-US" altLang="zh-CN" dirty="0"/>
          </a:p>
          <a:p>
            <a:r>
              <a:rPr lang="en-US" altLang="zh-CN" dirty="0"/>
              <a:t>times by the right hand side of the equation.</a:t>
            </a:r>
          </a:p>
          <a:p>
            <a:r>
              <a:rPr lang="en-US" altLang="zh-CN" dirty="0"/>
              <a:t>By Corollary 2 of Section 6.4, we have</a:t>
            </a:r>
          </a:p>
        </p:txBody>
      </p:sp>
      <p:graphicFrame>
        <p:nvGraphicFramePr>
          <p:cNvPr id="20" name="Object 5">
            <a:extLst>
              <a:ext uri="{FF2B5EF4-FFF2-40B4-BE49-F238E27FC236}">
                <a16:creationId xmlns:a16="http://schemas.microsoft.com/office/drawing/2014/main" id="{720BB1EF-2F33-4B4B-8DD8-E4D10D7E9E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8777923"/>
              </p:ext>
            </p:extLst>
          </p:nvPr>
        </p:nvGraphicFramePr>
        <p:xfrm>
          <a:off x="1455763" y="5666245"/>
          <a:ext cx="5449069" cy="499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1" name="Equation" r:id="rId4" imgW="3047760" imgH="279360" progId="Equation.DSMT4">
                  <p:embed/>
                </p:oleObj>
              </mc:Choice>
              <mc:Fallback>
                <p:oleObj name="Equation" r:id="rId4" imgW="3047760" imgH="279360" progId="Equation.DSMT4">
                  <p:embed/>
                  <p:pic>
                    <p:nvPicPr>
                      <p:cNvPr id="10" name="Object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55763" y="5666245"/>
                        <a:ext cx="5449069" cy="499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7">
            <a:extLst>
              <a:ext uri="{FF2B5EF4-FFF2-40B4-BE49-F238E27FC236}">
                <a16:creationId xmlns:a16="http://schemas.microsoft.com/office/drawing/2014/main" id="{396D0554-CB9A-4C7F-9A83-874384381A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950379"/>
              </p:ext>
            </p:extLst>
          </p:nvPr>
        </p:nvGraphicFramePr>
        <p:xfrm>
          <a:off x="1455763" y="6112667"/>
          <a:ext cx="5449069" cy="484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2" name="Equation" r:id="rId6" imgW="3136680" imgH="279360" progId="Equation.DSMT4">
                  <p:embed/>
                </p:oleObj>
              </mc:Choice>
              <mc:Fallback>
                <p:oleObj name="Equation" r:id="rId6" imgW="3136680" imgH="279360" progId="Equation.DSMT4">
                  <p:embed/>
                  <p:pic>
                    <p:nvPicPr>
                      <p:cNvPr id="11" name="Object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55763" y="6112667"/>
                        <a:ext cx="5449069" cy="4849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">
            <a:extLst>
              <a:ext uri="{FF2B5EF4-FFF2-40B4-BE49-F238E27FC236}">
                <a16:creationId xmlns:a16="http://schemas.microsoft.com/office/drawing/2014/main" id="{A024CB35-3D6B-4FC6-9133-583D016FB4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185678"/>
              </p:ext>
            </p:extLst>
          </p:nvPr>
        </p:nvGraphicFramePr>
        <p:xfrm>
          <a:off x="1455763" y="4309838"/>
          <a:ext cx="5449069" cy="487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3" name="Equation" r:id="rId8" imgW="3124080" imgH="279360" progId="Equation.DSMT4">
                  <p:embed/>
                </p:oleObj>
              </mc:Choice>
              <mc:Fallback>
                <p:oleObj name="Equation" r:id="rId8" imgW="3124080" imgH="279360" progId="Equation.DSMT4">
                  <p:embed/>
                  <p:pic>
                    <p:nvPicPr>
                      <p:cNvPr id="9" name="Object 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55763" y="4309838"/>
                        <a:ext cx="5449069" cy="487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右大括号 1">
            <a:extLst>
              <a:ext uri="{FF2B5EF4-FFF2-40B4-BE49-F238E27FC236}">
                <a16:creationId xmlns:a16="http://schemas.microsoft.com/office/drawing/2014/main" id="{768E6436-0C88-4519-93E9-24B4A1524665}"/>
              </a:ext>
            </a:extLst>
          </p:cNvPr>
          <p:cNvSpPr/>
          <p:nvPr/>
        </p:nvSpPr>
        <p:spPr>
          <a:xfrm rot="16200000">
            <a:off x="6812088" y="2564902"/>
            <a:ext cx="128339" cy="1728193"/>
          </a:xfrm>
          <a:prstGeom prst="rightBrace">
            <a:avLst>
              <a:gd name="adj1" fmla="val 60285"/>
              <a:gd name="adj2" fmla="val 6336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78EC56-3AD6-4867-95A7-2A065E127E36}"/>
              </a:ext>
            </a:extLst>
          </p:cNvPr>
          <p:cNvSpPr/>
          <p:nvPr/>
        </p:nvSpPr>
        <p:spPr>
          <a:xfrm>
            <a:off x="6732240" y="2924025"/>
            <a:ext cx="7328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latin typeface="+mn-lt"/>
              </a:rPr>
              <a:t>m</a:t>
            </a:r>
            <a:r>
              <a:rPr lang="zh-CN" altLang="en-US" b="1" dirty="0">
                <a:latin typeface="+mn-lt"/>
              </a:rPr>
              <a:t>个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55AEE33-89C0-4C4B-AF14-8B0810EF72F7}"/>
              </a:ext>
            </a:extLst>
          </p:cNvPr>
          <p:cNvSpPr txBox="1"/>
          <p:nvPr/>
        </p:nvSpPr>
        <p:spPr>
          <a:xfrm>
            <a:off x="4572000" y="6457890"/>
            <a:ext cx="457200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英文教材中容斥原理的证明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A233502-D73A-48F2-9E65-758036C2E220}"/>
              </a:ext>
            </a:extLst>
          </p:cNvPr>
          <p:cNvSpPr txBox="1"/>
          <p:nvPr/>
        </p:nvSpPr>
        <p:spPr>
          <a:xfrm>
            <a:off x="107504" y="5674640"/>
            <a:ext cx="134825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二项定理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0DDC66E-90F2-46E6-8C33-A6172AD00A40}"/>
              </a:ext>
            </a:extLst>
          </p:cNvPr>
          <p:cNvSpPr txBox="1"/>
          <p:nvPr/>
        </p:nvSpPr>
        <p:spPr>
          <a:xfrm>
            <a:off x="107503" y="6094721"/>
            <a:ext cx="134825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(-1+1)</a:t>
            </a:r>
            <a:r>
              <a:rPr lang="en-US" altLang="zh-CN" sz="2000" i="1" baseline="50000" dirty="0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=0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1284FB-84CE-4D5F-9FE4-0B27A57C5C36}"/>
              </a:ext>
            </a:extLst>
          </p:cNvPr>
          <p:cNvSpPr txBox="1"/>
          <p:nvPr/>
        </p:nvSpPr>
        <p:spPr>
          <a:xfrm>
            <a:off x="5508104" y="2186087"/>
            <a:ext cx="3501976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按上面的公式被数了多少次 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vs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实际应该被数 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次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505570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5">
            <a:extLst>
              <a:ext uri="{FF2B5EF4-FFF2-40B4-BE49-F238E27FC236}">
                <a16:creationId xmlns:a16="http://schemas.microsoft.com/office/drawing/2014/main" id="{392A2F00-F35F-4FBA-92DC-708AC01F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396E5-143C-4BDD-9E47-7D82C9516269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297986" name="Rectangle 2">
            <a:extLst>
              <a:ext uri="{FF2B5EF4-FFF2-40B4-BE49-F238E27FC236}">
                <a16:creationId xmlns:a16="http://schemas.microsoft.com/office/drawing/2014/main" id="{E8A6AE09-D9F4-44E3-8A6C-90FBBD275A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6.3 </a:t>
            </a:r>
            <a:r>
              <a:rPr lang="en-US" altLang="zh-CN"/>
              <a:t> </a:t>
            </a:r>
            <a:r>
              <a:rPr lang="zh-CN" altLang="en-US"/>
              <a:t>集合恒等式</a:t>
            </a:r>
          </a:p>
        </p:txBody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9EF3A3BC-0C4D-405C-88BB-F41C0FA3E9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1152525"/>
          </a:xfrm>
        </p:spPr>
        <p:txBody>
          <a:bodyPr/>
          <a:lstStyle/>
          <a:p>
            <a:pPr marL="715963" indent="-715963">
              <a:lnSpc>
                <a:spcPct val="80000"/>
              </a:lnSpc>
            </a:pPr>
            <a:r>
              <a:rPr lang="zh-CN" altLang="en-US"/>
              <a:t>集合算律</a:t>
            </a:r>
          </a:p>
          <a:p>
            <a:pPr marL="715963" indent="-715963">
              <a:lnSpc>
                <a:spcPct val="80000"/>
              </a:lnSpc>
            </a:pPr>
            <a:r>
              <a:rPr lang="en-US" altLang="zh-CN"/>
              <a:t>1</a:t>
            </a:r>
            <a:r>
              <a:rPr lang="zh-CN" altLang="en-US"/>
              <a:t>．只涉及一个运算的算律：</a:t>
            </a:r>
          </a:p>
          <a:p>
            <a:pPr marL="715963" indent="-715963">
              <a:lnSpc>
                <a:spcPct val="80000"/>
              </a:lnSpc>
            </a:pPr>
            <a:r>
              <a:rPr lang="zh-CN" altLang="en-US">
                <a:solidFill>
                  <a:srgbClr val="A50021"/>
                </a:solidFill>
              </a:rPr>
              <a:t>      交换律</a:t>
            </a:r>
            <a:r>
              <a:rPr lang="zh-CN" altLang="en-US"/>
              <a:t>、</a:t>
            </a:r>
            <a:r>
              <a:rPr lang="zh-CN" altLang="en-US">
                <a:solidFill>
                  <a:srgbClr val="A50021"/>
                </a:solidFill>
              </a:rPr>
              <a:t>结合律</a:t>
            </a:r>
            <a:r>
              <a:rPr lang="zh-CN" altLang="en-US"/>
              <a:t>、</a:t>
            </a:r>
            <a:r>
              <a:rPr lang="zh-CN" altLang="en-US">
                <a:solidFill>
                  <a:srgbClr val="A50021"/>
                </a:solidFill>
              </a:rPr>
              <a:t>幂等律</a:t>
            </a:r>
            <a:endParaRPr lang="zh-CN" altLang="en-US" sz="2000" i="1"/>
          </a:p>
        </p:txBody>
      </p:sp>
      <p:graphicFrame>
        <p:nvGraphicFramePr>
          <p:cNvPr id="298098" name="Group 114">
            <a:extLst>
              <a:ext uri="{FF2B5EF4-FFF2-40B4-BE49-F238E27FC236}">
                <a16:creationId xmlns:a16="http://schemas.microsoft.com/office/drawing/2014/main" id="{26603789-F639-443D-B5DB-2202107FDD04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2636838"/>
          <a:ext cx="7561263" cy="2453323"/>
        </p:xfrm>
        <a:graphic>
          <a:graphicData uri="http://schemas.openxmlformats.org/drawingml/2006/table">
            <a:tbl>
              <a:tblPr/>
              <a:tblGrid>
                <a:gridCol w="1081088">
                  <a:extLst>
                    <a:ext uri="{9D8B030D-6E8A-4147-A177-3AD203B41FA5}">
                      <a16:colId xmlns:a16="http://schemas.microsoft.com/office/drawing/2014/main" val="940103518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4070004784"/>
                    </a:ext>
                  </a:extLst>
                </a:gridCol>
                <a:gridCol w="2270125">
                  <a:extLst>
                    <a:ext uri="{9D8B030D-6E8A-4147-A177-3AD203B41FA5}">
                      <a16:colId xmlns:a16="http://schemas.microsoft.com/office/drawing/2014/main" val="2302974687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869943976"/>
                    </a:ext>
                  </a:extLst>
                </a:gridCol>
              </a:tblGrid>
              <a:tr h="603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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022110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交换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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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439024"/>
                  </a:ext>
                </a:extLst>
              </a:tr>
              <a:tr h="398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结合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)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)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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)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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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276890"/>
                  </a:ext>
                </a:extLst>
              </a:tr>
              <a:tr h="569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幂等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680651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987EB5CF-DB60-4C21-91D3-89C54D63CB1D}"/>
              </a:ext>
            </a:extLst>
          </p:cNvPr>
          <p:cNvSpPr txBox="1"/>
          <p:nvPr/>
        </p:nvSpPr>
        <p:spPr>
          <a:xfrm>
            <a:off x="827087" y="5013176"/>
            <a:ext cx="284380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Idempotent laws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32CCB8-CCBE-42C3-BFAA-A9AB65B4DCFA}"/>
              </a:ext>
            </a:extLst>
          </p:cNvPr>
          <p:cNvSpPr txBox="1"/>
          <p:nvPr/>
        </p:nvSpPr>
        <p:spPr>
          <a:xfrm>
            <a:off x="829022" y="2854146"/>
            <a:ext cx="284380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Commutative laws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EBA455-5297-49FF-9C7F-FD759563F2F9}"/>
              </a:ext>
            </a:extLst>
          </p:cNvPr>
          <p:cNvSpPr txBox="1"/>
          <p:nvPr/>
        </p:nvSpPr>
        <p:spPr>
          <a:xfrm>
            <a:off x="35496" y="3999587"/>
            <a:ext cx="284380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Associative laws</a:t>
            </a: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5">
            <a:extLst>
              <a:ext uri="{FF2B5EF4-FFF2-40B4-BE49-F238E27FC236}">
                <a16:creationId xmlns:a16="http://schemas.microsoft.com/office/drawing/2014/main" id="{517FD9DC-D49B-4700-B2FD-E4502E66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1AD20-37C6-4462-A1F5-3BDD13993B7D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304130" name="Rectangle 2">
            <a:extLst>
              <a:ext uri="{FF2B5EF4-FFF2-40B4-BE49-F238E27FC236}">
                <a16:creationId xmlns:a16="http://schemas.microsoft.com/office/drawing/2014/main" id="{97BF3F9F-C3C7-4D79-9CB9-0EFE9A239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集合算律</a:t>
            </a:r>
          </a:p>
        </p:txBody>
      </p:sp>
      <p:sp>
        <p:nvSpPr>
          <p:cNvPr id="304131" name="Rectangle 3">
            <a:extLst>
              <a:ext uri="{FF2B5EF4-FFF2-40B4-BE49-F238E27FC236}">
                <a16:creationId xmlns:a16="http://schemas.microsoft.com/office/drawing/2014/main" id="{3A120240-780C-4C97-AFC7-0FA0EE023D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936625"/>
          </a:xfrm>
        </p:spPr>
        <p:txBody>
          <a:bodyPr/>
          <a:lstStyle/>
          <a:p>
            <a:r>
              <a:rPr lang="en-US" altLang="zh-CN"/>
              <a:t> 2</a:t>
            </a:r>
            <a:r>
              <a:rPr lang="zh-CN" altLang="en-US"/>
              <a:t>．涉及两个不同运算的算律：</a:t>
            </a:r>
          </a:p>
          <a:p>
            <a:r>
              <a:rPr lang="zh-CN" altLang="en-US">
                <a:solidFill>
                  <a:srgbClr val="A50021"/>
                </a:solidFill>
              </a:rPr>
              <a:t>       分配律、吸收律</a:t>
            </a:r>
            <a:r>
              <a:rPr lang="zh-CN" altLang="en-US"/>
              <a:t> </a:t>
            </a:r>
          </a:p>
        </p:txBody>
      </p:sp>
      <p:graphicFrame>
        <p:nvGraphicFramePr>
          <p:cNvPr id="304197" name="Group 69">
            <a:extLst>
              <a:ext uri="{FF2B5EF4-FFF2-40B4-BE49-F238E27FC236}">
                <a16:creationId xmlns:a16="http://schemas.microsoft.com/office/drawing/2014/main" id="{A39F1F1D-B9CC-4D4C-9307-3FD14C78C9FD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2479675"/>
          <a:ext cx="7561263" cy="3040380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1125820659"/>
                    </a:ext>
                  </a:extLst>
                </a:gridCol>
                <a:gridCol w="3376613">
                  <a:extLst>
                    <a:ext uri="{9D8B030D-6E8A-4147-A177-3AD203B41FA5}">
                      <a16:colId xmlns:a16="http://schemas.microsoft.com/office/drawing/2014/main" val="1411879973"/>
                    </a:ext>
                  </a:extLst>
                </a:gridCol>
                <a:gridCol w="3308350">
                  <a:extLst>
                    <a:ext uri="{9D8B030D-6E8A-4147-A177-3AD203B41FA5}">
                      <a16:colId xmlns:a16="http://schemas.microsoft.com/office/drawing/2014/main" val="4104882730"/>
                    </a:ext>
                  </a:extLst>
                </a:gridCol>
              </a:tblGrid>
              <a:tr h="615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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433201"/>
                  </a:ext>
                </a:extLst>
              </a:tr>
              <a:tr h="942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分配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)=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)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)=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)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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)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676901"/>
                  </a:ext>
                </a:extLst>
              </a:tr>
              <a:tr h="869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吸收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)=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)=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57203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52B089DA-C5D9-41A8-B841-30839A09EBC3}"/>
              </a:ext>
            </a:extLst>
          </p:cNvPr>
          <p:cNvSpPr txBox="1"/>
          <p:nvPr/>
        </p:nvSpPr>
        <p:spPr>
          <a:xfrm>
            <a:off x="179512" y="3541017"/>
            <a:ext cx="284380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Distributive laws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E136D9-2F69-474D-81E9-897032C2BE5C}"/>
              </a:ext>
            </a:extLst>
          </p:cNvPr>
          <p:cNvSpPr txBox="1"/>
          <p:nvPr/>
        </p:nvSpPr>
        <p:spPr>
          <a:xfrm>
            <a:off x="179512" y="5520055"/>
            <a:ext cx="284380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Absorption laws</a:t>
            </a: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5">
            <a:extLst>
              <a:ext uri="{FF2B5EF4-FFF2-40B4-BE49-F238E27FC236}">
                <a16:creationId xmlns:a16="http://schemas.microsoft.com/office/drawing/2014/main" id="{1C25017C-FE89-4488-92F4-57BCFD2A2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A228A-F7FC-470B-8666-E3A132333FC7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306178" name="Rectangle 2">
            <a:extLst>
              <a:ext uri="{FF2B5EF4-FFF2-40B4-BE49-F238E27FC236}">
                <a16:creationId xmlns:a16="http://schemas.microsoft.com/office/drawing/2014/main" id="{F85629BC-9236-49A4-9ED5-3CB013F69F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集合算律</a:t>
            </a:r>
          </a:p>
        </p:txBody>
      </p:sp>
      <p:sp>
        <p:nvSpPr>
          <p:cNvPr id="306179" name="Rectangle 3">
            <a:extLst>
              <a:ext uri="{FF2B5EF4-FFF2-40B4-BE49-F238E27FC236}">
                <a16:creationId xmlns:a16="http://schemas.microsoft.com/office/drawing/2014/main" id="{28A11565-B025-4C30-80B7-8E8BF599DD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1008063"/>
          </a:xfrm>
        </p:spPr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．涉及补运算的算律：</a:t>
            </a:r>
          </a:p>
          <a:p>
            <a:r>
              <a:rPr lang="zh-CN" altLang="en-US" dirty="0">
                <a:solidFill>
                  <a:srgbClr val="A50021"/>
                </a:solidFill>
              </a:rPr>
              <a:t>      德摩根律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A50021"/>
                </a:solidFill>
              </a:rPr>
              <a:t>双重否定律</a:t>
            </a:r>
            <a:r>
              <a:rPr lang="zh-CN" altLang="en-US" dirty="0"/>
              <a:t> </a:t>
            </a:r>
          </a:p>
        </p:txBody>
      </p:sp>
      <p:graphicFrame>
        <p:nvGraphicFramePr>
          <p:cNvPr id="306244" name="Group 68">
            <a:extLst>
              <a:ext uri="{FF2B5EF4-FFF2-40B4-BE49-F238E27FC236}">
                <a16:creationId xmlns:a16="http://schemas.microsoft.com/office/drawing/2014/main" id="{FDFA2DB7-6BF9-4ECF-B13D-8100EEC04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464761"/>
              </p:ext>
            </p:extLst>
          </p:nvPr>
        </p:nvGraphicFramePr>
        <p:xfrm>
          <a:off x="900113" y="2754313"/>
          <a:ext cx="7632700" cy="1938973"/>
        </p:xfrm>
        <a:graphic>
          <a:graphicData uri="http://schemas.openxmlformats.org/drawingml/2006/table">
            <a:tbl>
              <a:tblPr/>
              <a:tblGrid>
                <a:gridCol w="1512887">
                  <a:extLst>
                    <a:ext uri="{9D8B030D-6E8A-4147-A177-3AD203B41FA5}">
                      <a16:colId xmlns:a16="http://schemas.microsoft.com/office/drawing/2014/main" val="1498581632"/>
                    </a:ext>
                  </a:extLst>
                </a:gridCol>
                <a:gridCol w="3382963">
                  <a:extLst>
                    <a:ext uri="{9D8B030D-6E8A-4147-A177-3AD203B41FA5}">
                      <a16:colId xmlns:a16="http://schemas.microsoft.com/office/drawing/2014/main" val="2910450677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251944173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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42858"/>
                  </a:ext>
                </a:extLst>
              </a:tr>
              <a:tr h="661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德摩根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律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)=(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)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)=(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)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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)=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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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)=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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748254"/>
                  </a:ext>
                </a:extLst>
              </a:tr>
              <a:tr h="658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双重否定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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98609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67C49499-6715-4519-96C8-337A5BFE3358}"/>
              </a:ext>
            </a:extLst>
          </p:cNvPr>
          <p:cNvSpPr txBox="1"/>
          <p:nvPr/>
        </p:nvSpPr>
        <p:spPr>
          <a:xfrm>
            <a:off x="900113" y="4693286"/>
            <a:ext cx="284380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Complementation law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596341-C129-456E-8D05-2023070B34D5}"/>
              </a:ext>
            </a:extLst>
          </p:cNvPr>
          <p:cNvSpPr txBox="1"/>
          <p:nvPr/>
        </p:nvSpPr>
        <p:spPr>
          <a:xfrm>
            <a:off x="9144000" y="0"/>
            <a:ext cx="1905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（结合集合相等、成员表表示法、对称差）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求两个集合运算表达式恒等 条件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B027A7-9105-4AF7-9858-5CEA14782A11}"/>
              </a:ext>
            </a:extLst>
          </p:cNvPr>
          <p:cNvSpPr txBox="1"/>
          <p:nvPr/>
        </p:nvSpPr>
        <p:spPr>
          <a:xfrm>
            <a:off x="971600" y="2796797"/>
            <a:ext cx="284380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De Morgan’s laws</a:t>
            </a: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5">
            <a:extLst>
              <a:ext uri="{FF2B5EF4-FFF2-40B4-BE49-F238E27FC236}">
                <a16:creationId xmlns:a16="http://schemas.microsoft.com/office/drawing/2014/main" id="{7FA86E5C-2CE7-4C1B-B2DE-50D2CC85D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2D6B3-0593-4505-B6A6-31ECDEE42C40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308226" name="Rectangle 2">
            <a:extLst>
              <a:ext uri="{FF2B5EF4-FFF2-40B4-BE49-F238E27FC236}">
                <a16:creationId xmlns:a16="http://schemas.microsoft.com/office/drawing/2014/main" id="{69BD8C6C-1DB3-4FE5-8860-05A9376A91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集合算律</a:t>
            </a:r>
          </a:p>
        </p:txBody>
      </p:sp>
      <p:sp>
        <p:nvSpPr>
          <p:cNvPr id="308227" name="Rectangle 3">
            <a:extLst>
              <a:ext uri="{FF2B5EF4-FFF2-40B4-BE49-F238E27FC236}">
                <a16:creationId xmlns:a16="http://schemas.microsoft.com/office/drawing/2014/main" id="{F7F9464E-3851-4CE8-A278-739A658FE0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863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/>
              <a:t>4</a:t>
            </a:r>
            <a:r>
              <a:rPr lang="zh-CN" altLang="en-US"/>
              <a:t>．涉及全集和空集的算律：</a:t>
            </a:r>
          </a:p>
          <a:p>
            <a:pPr>
              <a:lnSpc>
                <a:spcPct val="90000"/>
              </a:lnSpc>
            </a:pPr>
            <a:r>
              <a:rPr lang="zh-CN" altLang="en-US"/>
              <a:t>      </a:t>
            </a:r>
            <a:r>
              <a:rPr lang="zh-CN" altLang="en-US">
                <a:solidFill>
                  <a:srgbClr val="A50021"/>
                </a:solidFill>
              </a:rPr>
              <a:t>补元律</a:t>
            </a:r>
            <a:r>
              <a:rPr lang="zh-CN" altLang="en-US"/>
              <a:t>、</a:t>
            </a:r>
            <a:r>
              <a:rPr lang="zh-CN" altLang="en-US">
                <a:solidFill>
                  <a:srgbClr val="A50021"/>
                </a:solidFill>
              </a:rPr>
              <a:t>零律</a:t>
            </a:r>
            <a:r>
              <a:rPr lang="zh-CN" altLang="en-US"/>
              <a:t>、</a:t>
            </a:r>
            <a:r>
              <a:rPr lang="zh-CN" altLang="en-US">
                <a:solidFill>
                  <a:srgbClr val="A50021"/>
                </a:solidFill>
              </a:rPr>
              <a:t>同一律</a:t>
            </a:r>
            <a:r>
              <a:rPr lang="zh-CN" altLang="en-US"/>
              <a:t>、</a:t>
            </a:r>
            <a:r>
              <a:rPr lang="zh-CN" altLang="en-US">
                <a:solidFill>
                  <a:srgbClr val="A50021"/>
                </a:solidFill>
              </a:rPr>
              <a:t>否定律</a:t>
            </a:r>
          </a:p>
        </p:txBody>
      </p:sp>
      <p:graphicFrame>
        <p:nvGraphicFramePr>
          <p:cNvPr id="308327" name="Group 103">
            <a:extLst>
              <a:ext uri="{FF2B5EF4-FFF2-40B4-BE49-F238E27FC236}">
                <a16:creationId xmlns:a16="http://schemas.microsoft.com/office/drawing/2014/main" id="{A3016984-66DB-4BFC-BA4C-CF384291F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090777"/>
              </p:ext>
            </p:extLst>
          </p:nvPr>
        </p:nvGraphicFramePr>
        <p:xfrm>
          <a:off x="1042988" y="2686050"/>
          <a:ext cx="4969171" cy="3432398"/>
        </p:xfrm>
        <a:graphic>
          <a:graphicData uri="http://schemas.openxmlformats.org/drawingml/2006/table">
            <a:tbl>
              <a:tblPr/>
              <a:tblGrid>
                <a:gridCol w="1361842">
                  <a:extLst>
                    <a:ext uri="{9D8B030D-6E8A-4147-A177-3AD203B41FA5}">
                      <a16:colId xmlns:a16="http://schemas.microsoft.com/office/drawing/2014/main" val="4089529351"/>
                    </a:ext>
                  </a:extLst>
                </a:gridCol>
                <a:gridCol w="1735122">
                  <a:extLst>
                    <a:ext uri="{9D8B030D-6E8A-4147-A177-3AD203B41FA5}">
                      <a16:colId xmlns:a16="http://schemas.microsoft.com/office/drawing/2014/main" val="1344012043"/>
                    </a:ext>
                  </a:extLst>
                </a:gridCol>
                <a:gridCol w="1872207">
                  <a:extLst>
                    <a:ext uri="{9D8B030D-6E8A-4147-A177-3AD203B41FA5}">
                      <a16:colId xmlns:a16="http://schemas.microsoft.com/office/drawing/2014/main" val="2975087943"/>
                    </a:ext>
                  </a:extLst>
                </a:gridCol>
              </a:tblGrid>
              <a:tr h="504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589080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补元律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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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E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775171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零律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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E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579087"/>
                  </a:ext>
                </a:extLst>
              </a:tr>
              <a:tr h="155597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同一律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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1205793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否定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365125"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defTabSz="3651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defTabSz="3651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defTabSz="3651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defTabSz="3651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defTabSz="365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defTabSz="365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defTabSz="365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defTabSz="365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36512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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E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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060202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3575152-DBDF-463A-808A-CB3788F357AD}"/>
              </a:ext>
            </a:extLst>
          </p:cNvPr>
          <p:cNvSpPr txBox="1"/>
          <p:nvPr/>
        </p:nvSpPr>
        <p:spPr>
          <a:xfrm>
            <a:off x="6012159" y="3655823"/>
            <a:ext cx="3131841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Domination laws,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支配律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8413FD-D8A6-41EF-9D0F-4901E7E6B88A}"/>
              </a:ext>
            </a:extLst>
          </p:cNvPr>
          <p:cNvSpPr txBox="1"/>
          <p:nvPr/>
        </p:nvSpPr>
        <p:spPr>
          <a:xfrm>
            <a:off x="6012159" y="4137694"/>
            <a:ext cx="3131841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Identity laws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A9AFC1-4136-4C9B-874E-3C2782E4C9D6}"/>
              </a:ext>
            </a:extLst>
          </p:cNvPr>
          <p:cNvSpPr txBox="1"/>
          <p:nvPr/>
        </p:nvSpPr>
        <p:spPr>
          <a:xfrm>
            <a:off x="6012159" y="3202177"/>
            <a:ext cx="3131841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Complement laws,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互补律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CB62BA-A51E-46CB-8508-5D25EA1385E9}"/>
              </a:ext>
            </a:extLst>
          </p:cNvPr>
          <p:cNvSpPr txBox="1"/>
          <p:nvPr/>
        </p:nvSpPr>
        <p:spPr>
          <a:xfrm>
            <a:off x="2411760" y="4573577"/>
            <a:ext cx="3600399" cy="101566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并任意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的子集都是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</a:p>
          <a:p>
            <a:pPr algn="ct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交任意包含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的集合都是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</a:p>
          <a:p>
            <a:pPr algn="ct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A=A⋃(A⋂X)     A=A⋂(A⋃X)</a:t>
            </a: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4239C1FC-064C-4A54-BA18-F2337A6A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B6FD-2C74-43C3-A492-C592DD7C7D80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358402" name="Rectangle 2">
            <a:extLst>
              <a:ext uri="{FF2B5EF4-FFF2-40B4-BE49-F238E27FC236}">
                <a16:creationId xmlns:a16="http://schemas.microsoft.com/office/drawing/2014/main" id="{D96D6AB3-461D-4DC4-A4D5-51BC45939E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集合证明题</a:t>
            </a:r>
          </a:p>
        </p:txBody>
      </p:sp>
      <p:sp>
        <p:nvSpPr>
          <p:cNvPr id="358403" name="Rectangle 3">
            <a:extLst>
              <a:ext uri="{FF2B5EF4-FFF2-40B4-BE49-F238E27FC236}">
                <a16:creationId xmlns:a16="http://schemas.microsoft.com/office/drawing/2014/main" id="{C6FCF931-BC3C-4D82-B4A9-E48FEE7063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marL="814388" indent="-722313">
              <a:tabLst>
                <a:tab pos="625475" algn="l"/>
              </a:tabLst>
            </a:pPr>
            <a:r>
              <a:rPr lang="zh-CN" altLang="en-US" dirty="0"/>
              <a:t>证明方法：命题演算法、等式置换法</a:t>
            </a:r>
          </a:p>
          <a:p>
            <a:pPr marL="814388" indent="-722313">
              <a:spcBef>
                <a:spcPct val="55000"/>
              </a:spcBef>
              <a:tabLst>
                <a:tab pos="625475" algn="l"/>
              </a:tabLst>
            </a:pPr>
            <a:r>
              <a:rPr lang="zh-CN" altLang="en-US" dirty="0"/>
              <a:t>命题演算证明法的书写规范 </a:t>
            </a:r>
            <a:r>
              <a:rPr lang="en-US" altLang="zh-CN" dirty="0"/>
              <a:t>(</a:t>
            </a:r>
            <a:r>
              <a:rPr lang="zh-CN" altLang="en-US" dirty="0"/>
              <a:t>以下的</a:t>
            </a:r>
            <a:r>
              <a:rPr lang="en-US" altLang="zh-CN" i="1" dirty="0"/>
              <a:t>X</a:t>
            </a:r>
            <a:r>
              <a:rPr lang="zh-CN" altLang="en-US" dirty="0"/>
              <a:t>和</a:t>
            </a:r>
            <a:r>
              <a:rPr lang="en-US" altLang="zh-CN" i="1" dirty="0"/>
              <a:t>Y</a:t>
            </a:r>
            <a:r>
              <a:rPr lang="zh-CN" altLang="en-US" dirty="0"/>
              <a:t>代表集合公式</a:t>
            </a:r>
            <a:r>
              <a:rPr lang="en-US" altLang="zh-CN" dirty="0"/>
              <a:t>)</a:t>
            </a:r>
          </a:p>
          <a:p>
            <a:pPr marL="814388" indent="-722313">
              <a:tabLst>
                <a:tab pos="625475" algn="l"/>
              </a:tabLst>
            </a:pPr>
            <a:r>
              <a:rPr lang="en-US" altLang="zh-CN" dirty="0"/>
              <a:t>(1) </a:t>
            </a:r>
            <a:r>
              <a:rPr lang="zh-CN" altLang="en-US" dirty="0"/>
              <a:t>证</a:t>
            </a:r>
            <a:r>
              <a:rPr lang="en-US" altLang="zh-CN" i="1" dirty="0"/>
              <a:t>X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Y</a:t>
            </a:r>
            <a:endParaRPr lang="en-US" altLang="zh-CN" dirty="0"/>
          </a:p>
          <a:p>
            <a:pPr marL="814388" indent="-722313">
              <a:tabLst>
                <a:tab pos="625475" algn="l"/>
              </a:tabLst>
            </a:pPr>
            <a:r>
              <a:rPr lang="en-US" altLang="zh-CN" dirty="0"/>
              <a:t>              </a:t>
            </a:r>
            <a:r>
              <a:rPr lang="zh-CN" altLang="en-US" dirty="0"/>
              <a:t>任取</a:t>
            </a:r>
            <a:r>
              <a:rPr lang="en-US" altLang="zh-CN" i="1" dirty="0"/>
              <a:t>x</a:t>
            </a:r>
            <a:r>
              <a:rPr lang="zh-CN" altLang="en-US" dirty="0"/>
              <a:t>，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X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…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Y</a:t>
            </a:r>
            <a:r>
              <a:rPr lang="en-US" altLang="zh-CN" dirty="0"/>
              <a:t> </a:t>
            </a:r>
          </a:p>
          <a:p>
            <a:pPr marL="814388" indent="-722313">
              <a:tabLst>
                <a:tab pos="625475" algn="l"/>
              </a:tabLst>
            </a:pPr>
            <a:r>
              <a:rPr lang="en-US" altLang="zh-CN" dirty="0"/>
              <a:t>(2) </a:t>
            </a:r>
            <a:r>
              <a:rPr lang="zh-CN" altLang="en-US" dirty="0"/>
              <a:t>证</a:t>
            </a:r>
            <a:r>
              <a:rPr lang="en-US" altLang="zh-CN" i="1" dirty="0"/>
              <a:t>X</a:t>
            </a:r>
            <a:r>
              <a:rPr lang="en-US" altLang="zh-CN" dirty="0"/>
              <a:t>=</a:t>
            </a:r>
            <a:r>
              <a:rPr lang="en-US" altLang="zh-CN" i="1" dirty="0"/>
              <a:t>Y</a:t>
            </a:r>
            <a:endParaRPr lang="en-US" altLang="zh-CN" dirty="0"/>
          </a:p>
          <a:p>
            <a:pPr marL="814388" indent="-722313">
              <a:tabLst>
                <a:tab pos="625475" algn="l"/>
              </a:tabLst>
            </a:pPr>
            <a:r>
              <a:rPr lang="en-US" altLang="zh-CN" dirty="0"/>
              <a:t>          </a:t>
            </a:r>
            <a:r>
              <a:rPr lang="zh-CN" altLang="en-US" dirty="0">
                <a:solidFill>
                  <a:srgbClr val="C00000"/>
                </a:solidFill>
              </a:rPr>
              <a:t>方法一 </a:t>
            </a:r>
            <a:r>
              <a:rPr lang="zh-CN" altLang="en-US" dirty="0"/>
              <a:t>任取</a:t>
            </a:r>
            <a:r>
              <a:rPr lang="en-US" altLang="zh-CN" i="1" dirty="0"/>
              <a:t>x</a:t>
            </a:r>
            <a:r>
              <a:rPr lang="zh-CN" altLang="en-US" dirty="0"/>
              <a:t>，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X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…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Y</a:t>
            </a:r>
            <a:endParaRPr lang="en-US" altLang="zh-CN" dirty="0"/>
          </a:p>
          <a:p>
            <a:pPr marL="814388" indent="-722313">
              <a:tabLst>
                <a:tab pos="625475" algn="l"/>
              </a:tabLst>
            </a:pPr>
            <a:r>
              <a:rPr lang="en-US" altLang="zh-CN" dirty="0"/>
              <a:t>          </a:t>
            </a:r>
            <a:r>
              <a:rPr lang="zh-CN" altLang="en-US" dirty="0">
                <a:solidFill>
                  <a:srgbClr val="C00000"/>
                </a:solidFill>
              </a:rPr>
              <a:t>方法二</a:t>
            </a:r>
            <a:r>
              <a:rPr lang="zh-CN" altLang="en-US" dirty="0"/>
              <a:t> 基于集合恒等式等价变换</a:t>
            </a:r>
          </a:p>
          <a:p>
            <a:pPr marL="814388" indent="-722313">
              <a:tabLst>
                <a:tab pos="625475" algn="l"/>
              </a:tabLst>
            </a:pPr>
            <a:r>
              <a:rPr lang="zh-CN" altLang="en-US" dirty="0"/>
              <a:t>          </a:t>
            </a:r>
            <a:r>
              <a:rPr lang="zh-CN" altLang="en-US" dirty="0">
                <a:solidFill>
                  <a:srgbClr val="C00000"/>
                </a:solidFill>
              </a:rPr>
              <a:t>方法三</a:t>
            </a:r>
            <a:r>
              <a:rPr lang="zh-CN" altLang="en-US" dirty="0"/>
              <a:t> 分别证明 </a:t>
            </a:r>
            <a:r>
              <a:rPr lang="en-US" altLang="zh-CN" i="1" dirty="0"/>
              <a:t>X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Y </a:t>
            </a:r>
            <a:r>
              <a:rPr lang="zh-CN" altLang="en-US" dirty="0"/>
              <a:t>和 </a:t>
            </a:r>
            <a:r>
              <a:rPr lang="en-US" altLang="zh-CN" i="1" dirty="0"/>
              <a:t>Y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X</a:t>
            </a:r>
          </a:p>
          <a:p>
            <a:pPr marL="814388" indent="-722313">
              <a:tabLst>
                <a:tab pos="625475" algn="l"/>
              </a:tabLst>
            </a:pPr>
            <a:r>
              <a:rPr lang="zh-CN" altLang="en-US" dirty="0"/>
              <a:t>          </a:t>
            </a:r>
            <a:r>
              <a:rPr lang="zh-CN" altLang="en-US" dirty="0">
                <a:solidFill>
                  <a:srgbClr val="C00000"/>
                </a:solidFill>
              </a:rPr>
              <a:t>方法四 </a:t>
            </a:r>
            <a:r>
              <a:rPr lang="zh-CN" altLang="en-US" dirty="0"/>
              <a:t>证明成员表一致</a:t>
            </a:r>
            <a:endParaRPr lang="en-US" altLang="zh-CN" dirty="0"/>
          </a:p>
          <a:p>
            <a:pPr marL="814388" indent="-722313">
              <a:tabLst>
                <a:tab pos="625475" algn="l"/>
              </a:tabLst>
            </a:pPr>
            <a:r>
              <a:rPr lang="zh-CN" altLang="en-US" dirty="0"/>
              <a:t>注意：在使用方法一的格式时，必须保证每步推理都是充</a:t>
            </a:r>
          </a:p>
          <a:p>
            <a:pPr marL="814388" indent="-722313">
              <a:tabLst>
                <a:tab pos="625475" algn="l"/>
              </a:tabLst>
            </a:pPr>
            <a:r>
              <a:rPr lang="zh-CN" altLang="en-US" dirty="0"/>
              <a:t>分必要的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1AA96E-D5AC-4B65-8ABD-8845D138189D}"/>
              </a:ext>
            </a:extLst>
          </p:cNvPr>
          <p:cNvSpPr txBox="1"/>
          <p:nvPr/>
        </p:nvSpPr>
        <p:spPr>
          <a:xfrm>
            <a:off x="9144000" y="0"/>
            <a:ext cx="1905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（结合集合运算）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证明两个集合运算表达式恒等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470703-158B-4D76-BAB2-18BB2849218B}"/>
              </a:ext>
            </a:extLst>
          </p:cNvPr>
          <p:cNvSpPr txBox="1"/>
          <p:nvPr/>
        </p:nvSpPr>
        <p:spPr>
          <a:xfrm>
            <a:off x="4716016" y="4869160"/>
            <a:ext cx="22644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Membership Tables</a:t>
            </a:r>
            <a:endParaRPr lang="zh-CN" altLang="en-US" sz="2000" dirty="0">
              <a:solidFill>
                <a:srgbClr val="FF99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095D47-75F0-4269-8D2C-57482152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F4FD-3718-485E-9BD9-491D9EE9C105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300034" name="Rectangle 2">
            <a:extLst>
              <a:ext uri="{FF2B5EF4-FFF2-40B4-BE49-F238E27FC236}">
                <a16:creationId xmlns:a16="http://schemas.microsoft.com/office/drawing/2014/main" id="{C8AD3EA4-C4D6-41CF-8EA2-99F2F383C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集合等式的证明</a:t>
            </a:r>
          </a:p>
        </p:txBody>
      </p:sp>
      <p:sp>
        <p:nvSpPr>
          <p:cNvPr id="300035" name="Rectangle 3">
            <a:extLst>
              <a:ext uri="{FF2B5EF4-FFF2-40B4-BE49-F238E27FC236}">
                <a16:creationId xmlns:a16="http://schemas.microsoft.com/office/drawing/2014/main" id="{0E2F7B3D-E853-45D6-AC5B-0367A22DB9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2951162"/>
          </a:xfrm>
        </p:spPr>
        <p:txBody>
          <a:bodyPr/>
          <a:lstStyle/>
          <a:p>
            <a:pPr marL="1706563" indent="-1706563">
              <a:tabLst>
                <a:tab pos="1706563" algn="l"/>
              </a:tabLst>
            </a:pPr>
            <a:r>
              <a:rPr lang="zh-CN" altLang="en-US" dirty="0"/>
              <a:t>方法一：命题演算法</a:t>
            </a:r>
          </a:p>
          <a:p>
            <a:pPr marL="1706563" indent="-1706563">
              <a:tabLst>
                <a:tab pos="1706563" algn="l"/>
              </a:tabLst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3</a:t>
            </a:r>
            <a:r>
              <a:rPr lang="en-US" altLang="zh-CN" dirty="0"/>
              <a:t>  </a:t>
            </a:r>
            <a:r>
              <a:rPr lang="zh-CN" altLang="en-US" dirty="0"/>
              <a:t>证明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i="1" dirty="0"/>
              <a:t>B</a:t>
            </a:r>
            <a:r>
              <a:rPr lang="en-US" altLang="zh-CN" dirty="0"/>
              <a:t>) =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zh-CN" altLang="en-US" dirty="0"/>
              <a:t>（吸收律）</a:t>
            </a:r>
          </a:p>
          <a:p>
            <a:pPr marL="1706563" indent="-1706563">
              <a:spcBef>
                <a:spcPct val="60000"/>
              </a:spcBef>
              <a:tabLst>
                <a:tab pos="1706563" algn="l"/>
              </a:tabLst>
            </a:pPr>
            <a:r>
              <a:rPr lang="zh-CN" altLang="en-US" dirty="0"/>
              <a:t>证  任取</a:t>
            </a:r>
            <a:r>
              <a:rPr lang="en-US" altLang="zh-CN" i="1" dirty="0"/>
              <a:t>x</a:t>
            </a:r>
            <a:r>
              <a:rPr lang="en-US" altLang="zh-CN" dirty="0"/>
              <a:t>,</a:t>
            </a:r>
            <a:endParaRPr lang="en-US" altLang="zh-CN" i="1" dirty="0"/>
          </a:p>
          <a:p>
            <a:pPr marL="1706563" indent="-1706563">
              <a:tabLst>
                <a:tab pos="1706563" algn="l"/>
              </a:tabLst>
            </a:pPr>
            <a:r>
              <a:rPr lang="en-US" altLang="zh-CN" i="1" dirty="0"/>
              <a:t>                      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i="1" dirty="0"/>
              <a:t>B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 err="1">
                <a:sym typeface="Symbol" panose="05050102010706020507" pitchFamily="18" charset="2"/>
              </a:rPr>
              <a:t>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 err="1">
                <a:sym typeface="Symbol" panose="05050102010706020507" pitchFamily="18" charset="2"/>
              </a:rPr>
              <a:t></a:t>
            </a:r>
            <a:r>
              <a:rPr lang="en-US" altLang="zh-CN" i="1" dirty="0" err="1"/>
              <a:t>B</a:t>
            </a:r>
            <a:r>
              <a:rPr lang="en-US" altLang="zh-CN" i="1" dirty="0"/>
              <a:t> </a:t>
            </a:r>
          </a:p>
          <a:p>
            <a:pPr marL="1706563" indent="-1706563">
              <a:tabLst>
                <a:tab pos="1706563" algn="l"/>
              </a:tabLst>
            </a:pPr>
            <a:r>
              <a:rPr lang="en-US" altLang="zh-CN" i="1" dirty="0"/>
              <a:t>                 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>
                <a:sym typeface="Symbol" panose="05050102010706020507" pitchFamily="18" charset="2"/>
              </a:rPr>
              <a:t>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 err="1">
                <a:sym typeface="Symbol" panose="05050102010706020507" pitchFamily="18" charset="2"/>
              </a:rPr>
              <a:t>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B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/>
              <a:t> </a:t>
            </a:r>
          </a:p>
          <a:p>
            <a:pPr marL="1706563" indent="-1706563">
              <a:tabLst>
                <a:tab pos="1706563" algn="l"/>
              </a:tabLst>
            </a:pPr>
            <a:r>
              <a:rPr lang="zh-CN" altLang="en-US" dirty="0"/>
              <a:t>因此得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i="1" dirty="0"/>
              <a:t>B</a:t>
            </a:r>
            <a:r>
              <a:rPr lang="en-US" altLang="zh-CN" dirty="0"/>
              <a:t>) = </a:t>
            </a:r>
            <a:r>
              <a:rPr lang="en-US" altLang="zh-CN" i="1" dirty="0"/>
              <a:t>A.</a:t>
            </a:r>
            <a:endParaRPr lang="en-US" altLang="zh-CN" dirty="0"/>
          </a:p>
        </p:txBody>
      </p:sp>
      <p:sp>
        <p:nvSpPr>
          <p:cNvPr id="300036" name="Rectangle 4">
            <a:extLst>
              <a:ext uri="{FF2B5EF4-FFF2-40B4-BE49-F238E27FC236}">
                <a16:creationId xmlns:a16="http://schemas.microsoft.com/office/drawing/2014/main" id="{75531511-361A-4B37-BE18-3C3EA67E9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4221163"/>
            <a:ext cx="8208963" cy="208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06563" indent="-1706563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tabLst>
                <a:tab pos="1706563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2360613" indent="-285750">
              <a:spcBef>
                <a:spcPct val="20000"/>
              </a:spcBef>
              <a:buChar char="–"/>
              <a:tabLst>
                <a:tab pos="17065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2768600" indent="-228600">
              <a:spcBef>
                <a:spcPct val="20000"/>
              </a:spcBef>
              <a:buChar char="•"/>
              <a:tabLst>
                <a:tab pos="17065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3176588" indent="-228600">
              <a:spcBef>
                <a:spcPct val="20000"/>
              </a:spcBef>
              <a:buChar char="–"/>
              <a:tabLst>
                <a:tab pos="17065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3584575" indent="-228600">
              <a:spcBef>
                <a:spcPct val="20000"/>
              </a:spcBef>
              <a:buChar char="»"/>
              <a:tabLst>
                <a:tab pos="17065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4041775" indent="-22860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7065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4498975" indent="-22860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7065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4956175" indent="-22860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7065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5413375" indent="-22860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7065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5000"/>
              </a:spcBef>
            </a:pPr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4</a:t>
            </a:r>
            <a:r>
              <a:rPr lang="en-US" altLang="zh-CN"/>
              <a:t>   </a:t>
            </a:r>
            <a:r>
              <a:rPr lang="zh-CN" altLang="en-US"/>
              <a:t>证明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 </a:t>
            </a:r>
            <a:r>
              <a:rPr lang="en-US" altLang="zh-CN"/>
              <a:t>=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</a:t>
            </a:r>
            <a:r>
              <a:rPr lang="en-US" altLang="zh-CN" i="1"/>
              <a:t>B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zh-CN" altLang="en-US"/>
              <a:t>证  任取</a:t>
            </a:r>
            <a:r>
              <a:rPr lang="en-US" altLang="zh-CN" i="1"/>
              <a:t>x</a:t>
            </a:r>
            <a:r>
              <a:rPr lang="en-US" altLang="zh-CN"/>
              <a:t>,</a:t>
            </a:r>
            <a:endParaRPr lang="en-US" altLang="zh-CN" i="1"/>
          </a:p>
          <a:p>
            <a:pPr>
              <a:lnSpc>
                <a:spcPct val="90000"/>
              </a:lnSpc>
            </a:pPr>
            <a:r>
              <a:rPr lang="en-US" altLang="zh-CN" i="1"/>
              <a:t>                      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/>
              <a:t>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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</a:t>
            </a:r>
            <a:r>
              <a:rPr lang="en-US" altLang="zh-CN" i="1"/>
              <a:t>B</a:t>
            </a:r>
          </a:p>
          <a:p>
            <a:pPr>
              <a:lnSpc>
                <a:spcPct val="90000"/>
              </a:lnSpc>
            </a:pPr>
            <a:r>
              <a:rPr lang="en-US" altLang="zh-CN" i="1"/>
              <a:t>                 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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</a:t>
            </a:r>
            <a:r>
              <a:rPr lang="en-US" altLang="zh-CN" i="1"/>
              <a:t>B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</a:t>
            </a:r>
            <a:r>
              <a:rPr lang="en-US" altLang="zh-CN" i="1"/>
              <a:t>B</a:t>
            </a:r>
            <a:r>
              <a:rPr lang="en-US" altLang="zh-CN"/>
              <a:t> </a:t>
            </a:r>
          </a:p>
          <a:p>
            <a:pPr>
              <a:lnSpc>
                <a:spcPct val="90000"/>
              </a:lnSpc>
            </a:pPr>
            <a:r>
              <a:rPr lang="zh-CN" altLang="en-US"/>
              <a:t>因此得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 </a:t>
            </a:r>
            <a:r>
              <a:rPr lang="en-US" altLang="zh-CN"/>
              <a:t>=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</a:t>
            </a:r>
            <a:r>
              <a:rPr lang="en-US" altLang="zh-CN" i="1"/>
              <a:t>B</a:t>
            </a:r>
            <a:endParaRPr lang="en-US" altLang="zh-CN"/>
          </a:p>
          <a:p>
            <a:pPr>
              <a:lnSpc>
                <a:spcPct val="90000"/>
              </a:lnSpc>
            </a:pPr>
            <a:endParaRPr lang="en-US" altLang="zh-CN"/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217BEF21-8F17-49EC-81E1-D91A3EFA0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36AF7-66DB-47CF-8E56-A4B838A1B83B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302082" name="Rectangle 2">
            <a:extLst>
              <a:ext uri="{FF2B5EF4-FFF2-40B4-BE49-F238E27FC236}">
                <a16:creationId xmlns:a16="http://schemas.microsoft.com/office/drawing/2014/main" id="{297888F2-AFFE-4581-8D92-A68B94D72B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等式代入法</a:t>
            </a:r>
          </a:p>
        </p:txBody>
      </p:sp>
      <p:sp>
        <p:nvSpPr>
          <p:cNvPr id="302083" name="Rectangle 3">
            <a:extLst>
              <a:ext uri="{FF2B5EF4-FFF2-40B4-BE49-F238E27FC236}">
                <a16:creationId xmlns:a16="http://schemas.microsoft.com/office/drawing/2014/main" id="{BC7A693B-2ADA-452E-977C-FB9C457AA8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29600" cy="4525963"/>
          </a:xfrm>
        </p:spPr>
        <p:txBody>
          <a:bodyPr/>
          <a:lstStyle/>
          <a:p>
            <a:pPr marL="1249363" indent="-1249363"/>
            <a:r>
              <a:rPr lang="zh-CN" altLang="en-US"/>
              <a:t>方法二：等式置换法</a:t>
            </a:r>
          </a:p>
          <a:p>
            <a:pPr marL="1249363" indent="-1249363"/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5</a:t>
            </a:r>
            <a:r>
              <a:rPr lang="en-US" altLang="zh-CN"/>
              <a:t>   </a:t>
            </a:r>
            <a:r>
              <a:rPr lang="zh-CN" altLang="en-US"/>
              <a:t>假设交换律、分配律、同一律、零律已经成立，证明吸</a:t>
            </a:r>
          </a:p>
          <a:p>
            <a:pPr marL="1249363" indent="-1249363"/>
            <a:r>
              <a:rPr lang="zh-CN" altLang="en-US"/>
              <a:t>         收律</a:t>
            </a:r>
            <a:r>
              <a:rPr lang="en-US" altLang="zh-CN"/>
              <a:t>.  </a:t>
            </a:r>
            <a:endParaRPr lang="en-US" altLang="zh-CN" i="1"/>
          </a:p>
          <a:p>
            <a:pPr marL="1249363" indent="-1249363"/>
            <a:r>
              <a:rPr lang="zh-CN" altLang="en-US"/>
              <a:t>证 </a:t>
            </a:r>
            <a:r>
              <a:rPr lang="zh-CN" altLang="en-US" i="1"/>
              <a:t>            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B</a:t>
            </a:r>
            <a:r>
              <a:rPr lang="en-US" altLang="zh-CN"/>
              <a:t>) </a:t>
            </a:r>
          </a:p>
          <a:p>
            <a:pPr marL="1249363" indent="-1249363"/>
            <a:r>
              <a:rPr lang="en-US" altLang="zh-CN"/>
              <a:t>               = 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E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B</a:t>
            </a:r>
            <a:r>
              <a:rPr lang="en-US" altLang="zh-CN"/>
              <a:t>)               </a:t>
            </a:r>
            <a:r>
              <a:rPr lang="zh-CN" altLang="en-US"/>
              <a:t>（同一律）</a:t>
            </a:r>
          </a:p>
          <a:p>
            <a:pPr marL="1249363" indent="-1249363"/>
            <a:r>
              <a:rPr lang="zh-CN" altLang="en-US"/>
              <a:t>               </a:t>
            </a:r>
            <a:r>
              <a:rPr lang="en-US" altLang="zh-CN"/>
              <a:t>=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/>
              <a:t>(</a:t>
            </a:r>
            <a:r>
              <a:rPr lang="en-US" altLang="zh-CN" i="1"/>
              <a:t>E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B</a:t>
            </a:r>
            <a:r>
              <a:rPr lang="en-US" altLang="zh-CN"/>
              <a:t>)                       </a:t>
            </a:r>
            <a:r>
              <a:rPr lang="zh-CN" altLang="en-US"/>
              <a:t>（分配律）    </a:t>
            </a:r>
          </a:p>
          <a:p>
            <a:pPr marL="1249363" indent="-1249363"/>
            <a:r>
              <a:rPr lang="zh-CN" altLang="en-US"/>
              <a:t>               </a:t>
            </a:r>
            <a:r>
              <a:rPr lang="en-US" altLang="zh-CN"/>
              <a:t>=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/>
              <a:t>(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E</a:t>
            </a:r>
            <a:r>
              <a:rPr lang="en-US" altLang="zh-CN"/>
              <a:t>)                       </a:t>
            </a:r>
            <a:r>
              <a:rPr lang="zh-CN" altLang="en-US"/>
              <a:t>（交换律）</a:t>
            </a:r>
          </a:p>
          <a:p>
            <a:pPr marL="1249363" indent="-1249363"/>
            <a:r>
              <a:rPr lang="zh-CN" altLang="en-US"/>
              <a:t>               </a:t>
            </a:r>
            <a:r>
              <a:rPr lang="en-US" altLang="zh-CN"/>
              <a:t>=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E                                </a:t>
            </a:r>
            <a:r>
              <a:rPr lang="zh-CN" altLang="en-US"/>
              <a:t>（零律）</a:t>
            </a:r>
          </a:p>
          <a:p>
            <a:pPr marL="1249363" indent="-1249363"/>
            <a:r>
              <a:rPr lang="zh-CN" altLang="en-US" i="1"/>
              <a:t>               </a:t>
            </a:r>
            <a:r>
              <a:rPr lang="en-US" altLang="zh-CN"/>
              <a:t>= </a:t>
            </a:r>
            <a:r>
              <a:rPr lang="en-US" altLang="zh-CN" i="1"/>
              <a:t>A                                      </a:t>
            </a:r>
            <a:r>
              <a:rPr lang="zh-CN" altLang="en-US"/>
              <a:t>（同一律）</a:t>
            </a: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2FBA0DA3-CD1E-4DB2-AA41-A9CE7A00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72CF6-AC4C-460E-BF06-1F37CAE75122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310274" name="Rectangle 2">
            <a:extLst>
              <a:ext uri="{FF2B5EF4-FFF2-40B4-BE49-F238E27FC236}">
                <a16:creationId xmlns:a16="http://schemas.microsoft.com/office/drawing/2014/main" id="{3679CA75-77C4-4ACD-AC9F-B9F93E8401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包含等价条件的证明</a:t>
            </a:r>
          </a:p>
        </p:txBody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9759F4D0-72D8-4FE1-B0E3-80C83B5F0E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6</a:t>
            </a:r>
            <a:r>
              <a:rPr lang="en-US" altLang="zh-CN" dirty="0"/>
              <a:t>    </a:t>
            </a:r>
            <a:r>
              <a:rPr lang="zh-CN" altLang="en-US" dirty="0"/>
              <a:t>证明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B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i="1" dirty="0"/>
              <a:t>B</a:t>
            </a:r>
            <a:r>
              <a:rPr lang="en-US" altLang="zh-CN" dirty="0"/>
              <a:t>=</a:t>
            </a:r>
            <a:r>
              <a:rPr lang="en-US" altLang="zh-CN" i="1" dirty="0"/>
              <a:t>B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i="1" dirty="0"/>
              <a:t>B</a:t>
            </a:r>
            <a:r>
              <a:rPr lang="en-US" altLang="zh-CN" dirty="0"/>
              <a:t>=</a:t>
            </a:r>
            <a:r>
              <a:rPr lang="en-US" altLang="zh-CN" i="1" dirty="0"/>
              <a:t>A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i="1" dirty="0"/>
              <a:t>B</a:t>
            </a:r>
            <a:r>
              <a:rPr lang="en-US" altLang="zh-CN" dirty="0"/>
              <a:t>=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  </a:t>
            </a:r>
          </a:p>
          <a:p>
            <a:r>
              <a:rPr lang="en-US" altLang="zh-CN" dirty="0"/>
              <a:t>                    ①             ②               ③                ④</a:t>
            </a:r>
          </a:p>
          <a:p>
            <a:r>
              <a:rPr lang="zh-CN" altLang="en-US" dirty="0"/>
              <a:t>证明思路：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确定问题中含有的命题：本题含有命题 ①</a:t>
            </a:r>
            <a:r>
              <a:rPr lang="en-US" altLang="zh-CN" dirty="0"/>
              <a:t>, ②, ③, ④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确定命题间的关系（哪些命题是已知条件、哪些命题是要证明的结论）：本题中每个命题都可以作为已知条件，每个命题都是要证明的结论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确定证明顺序：①</a:t>
            </a:r>
            <a:r>
              <a:rPr lang="zh-CN" altLang="en-US" dirty="0">
                <a:sym typeface="Symbol" panose="05050102010706020507" pitchFamily="18" charset="2"/>
              </a:rPr>
              <a:t></a:t>
            </a:r>
            <a:r>
              <a:rPr lang="zh-CN" altLang="en-US" dirty="0"/>
              <a:t>②，②</a:t>
            </a:r>
            <a:r>
              <a:rPr lang="zh-CN" altLang="en-US" dirty="0">
                <a:sym typeface="Symbol" panose="05050102010706020507" pitchFamily="18" charset="2"/>
              </a:rPr>
              <a:t></a:t>
            </a:r>
            <a:r>
              <a:rPr lang="zh-CN" altLang="en-US" dirty="0"/>
              <a:t>③，③</a:t>
            </a:r>
            <a:r>
              <a:rPr lang="zh-CN" altLang="en-US" dirty="0">
                <a:sym typeface="Symbol" panose="05050102010706020507" pitchFamily="18" charset="2"/>
              </a:rPr>
              <a:t></a:t>
            </a:r>
            <a:r>
              <a:rPr lang="zh-CN" altLang="en-US" dirty="0"/>
              <a:t>④，④</a:t>
            </a:r>
            <a:r>
              <a:rPr lang="zh-CN" altLang="en-US" dirty="0">
                <a:sym typeface="Symbol" panose="05050102010706020507" pitchFamily="18" charset="2"/>
              </a:rPr>
              <a:t></a:t>
            </a:r>
            <a:r>
              <a:rPr lang="zh-CN" altLang="en-US" dirty="0"/>
              <a:t>① 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按照顺序依次完成每个证明（证明集合相等或者包含）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A5E2E6-88BB-4FD3-8F10-A67E3F76CAD7}"/>
              </a:ext>
            </a:extLst>
          </p:cNvPr>
          <p:cNvSpPr txBox="1"/>
          <p:nvPr/>
        </p:nvSpPr>
        <p:spPr>
          <a:xfrm>
            <a:off x="3635896" y="6457890"/>
            <a:ext cx="550810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用最少的有向边构造一个强连通分量 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图论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3978B777-B15F-4386-8A07-29B9C313A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303A-0997-4EFC-8AE6-0D84E7A73420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314370" name="Rectangle 2">
            <a:extLst>
              <a:ext uri="{FF2B5EF4-FFF2-40B4-BE49-F238E27FC236}">
                <a16:creationId xmlns:a16="http://schemas.microsoft.com/office/drawing/2014/main" id="{5CACAE81-950D-4D4C-81B1-A9BB88BEA7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证明</a:t>
            </a:r>
          </a:p>
        </p:txBody>
      </p:sp>
      <p:sp>
        <p:nvSpPr>
          <p:cNvPr id="314371" name="Rectangle 3">
            <a:extLst>
              <a:ext uri="{FF2B5EF4-FFF2-40B4-BE49-F238E27FC236}">
                <a16:creationId xmlns:a16="http://schemas.microsoft.com/office/drawing/2014/main" id="{9AC760B8-C7F2-48EC-B86C-D07291A93D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 marL="539750" indent="-539750"/>
            <a:r>
              <a:rPr lang="zh-CN" altLang="en-US" dirty="0"/>
              <a:t>证明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B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i="1" dirty="0"/>
              <a:t>B</a:t>
            </a:r>
            <a:r>
              <a:rPr lang="en-US" altLang="zh-CN" dirty="0"/>
              <a:t>=</a:t>
            </a:r>
            <a:r>
              <a:rPr lang="en-US" altLang="zh-CN" i="1" dirty="0"/>
              <a:t>B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i="1" dirty="0"/>
              <a:t>B</a:t>
            </a:r>
            <a:r>
              <a:rPr lang="en-US" altLang="zh-CN" dirty="0"/>
              <a:t>=</a:t>
            </a:r>
            <a:r>
              <a:rPr lang="en-US" altLang="zh-CN" i="1" dirty="0"/>
              <a:t>A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i="1" dirty="0"/>
              <a:t>B</a:t>
            </a:r>
            <a:r>
              <a:rPr lang="en-US" altLang="zh-CN" dirty="0"/>
              <a:t>=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  </a:t>
            </a:r>
          </a:p>
          <a:p>
            <a:pPr marL="539750" indent="-539750"/>
            <a:r>
              <a:rPr lang="en-US" altLang="zh-CN" dirty="0"/>
              <a:t>          ①            ②                 ③               ④</a:t>
            </a:r>
          </a:p>
          <a:p>
            <a:pPr marL="539750" indent="-539750"/>
            <a:r>
              <a:rPr lang="zh-CN" altLang="en-US" dirty="0"/>
              <a:t>证  ①</a:t>
            </a:r>
            <a:r>
              <a:rPr lang="zh-CN" altLang="en-US" dirty="0">
                <a:sym typeface="Symbol" panose="05050102010706020507" pitchFamily="18" charset="2"/>
              </a:rPr>
              <a:t></a:t>
            </a:r>
            <a:r>
              <a:rPr lang="zh-CN" altLang="en-US" dirty="0"/>
              <a:t>②  </a:t>
            </a:r>
          </a:p>
          <a:p>
            <a:pPr marL="539750" indent="-539750"/>
            <a:r>
              <a:rPr lang="zh-CN" altLang="en-US" dirty="0"/>
              <a:t>      显然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i="1" dirty="0"/>
              <a:t>B</a:t>
            </a:r>
            <a:r>
              <a:rPr lang="zh-CN" altLang="en-US" dirty="0"/>
              <a:t>，下面证明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B</a:t>
            </a:r>
            <a:r>
              <a:rPr lang="en-US" altLang="zh-CN" dirty="0"/>
              <a:t>. </a:t>
            </a:r>
          </a:p>
          <a:p>
            <a:pPr marL="539750" indent="-539750"/>
            <a:r>
              <a:rPr lang="en-US" altLang="zh-CN" dirty="0"/>
              <a:t>      </a:t>
            </a:r>
            <a:r>
              <a:rPr lang="zh-CN" altLang="en-US" dirty="0"/>
              <a:t>任取</a:t>
            </a:r>
            <a:r>
              <a:rPr lang="en-US" altLang="zh-CN" i="1" dirty="0"/>
              <a:t>x</a:t>
            </a:r>
            <a:r>
              <a:rPr lang="zh-CN" altLang="en-US" dirty="0"/>
              <a:t>， </a:t>
            </a:r>
          </a:p>
          <a:p>
            <a:pPr marL="539750" indent="-539750"/>
            <a:r>
              <a:rPr lang="zh-CN" altLang="en-US" dirty="0"/>
              <a:t>      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 err="1">
                <a:sym typeface="Symbol" panose="05050102010706020507" pitchFamily="18" charset="2"/>
              </a:rPr>
              <a:t></a:t>
            </a:r>
            <a:r>
              <a:rPr lang="en-US" altLang="zh-CN" i="1" dirty="0" err="1"/>
              <a:t>B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 err="1">
                <a:sym typeface="Symbol" panose="05050102010706020507" pitchFamily="18" charset="2"/>
              </a:rPr>
              <a:t>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B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B</a:t>
            </a:r>
            <a:r>
              <a:rPr lang="en-US" altLang="zh-CN" dirty="0" err="1">
                <a:sym typeface="Symbol" panose="05050102010706020507" pitchFamily="18" charset="2"/>
              </a:rPr>
              <a:t>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B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B</a:t>
            </a:r>
            <a:endParaRPr lang="en-US" altLang="zh-CN" dirty="0"/>
          </a:p>
          <a:p>
            <a:pPr marL="539750" indent="-539750"/>
            <a:r>
              <a:rPr lang="en-US" altLang="zh-CN" dirty="0"/>
              <a:t>       </a:t>
            </a:r>
            <a:r>
              <a:rPr lang="zh-CN" altLang="en-US" dirty="0"/>
              <a:t>因此有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B</a:t>
            </a:r>
            <a:r>
              <a:rPr lang="en-US" altLang="zh-CN" dirty="0"/>
              <a:t>. </a:t>
            </a:r>
            <a:r>
              <a:rPr lang="zh-CN" altLang="en-US" dirty="0"/>
              <a:t>综合上述②得证</a:t>
            </a:r>
            <a:r>
              <a:rPr lang="en-US" altLang="zh-CN" dirty="0"/>
              <a:t>. </a:t>
            </a:r>
          </a:p>
          <a:p>
            <a:pPr marL="539750" indent="-539750"/>
            <a:r>
              <a:rPr lang="en-US" altLang="zh-CN" dirty="0"/>
              <a:t>       ②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③</a:t>
            </a:r>
            <a:endParaRPr lang="en-US" altLang="zh-CN" i="1" dirty="0"/>
          </a:p>
          <a:p>
            <a:pPr marL="539750" indent="-539750"/>
            <a:r>
              <a:rPr lang="en-US" altLang="zh-CN" i="1" dirty="0"/>
              <a:t>       A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i="1" dirty="0"/>
              <a:t>B=A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i="1" dirty="0"/>
              <a:t>B</a:t>
            </a:r>
            <a:r>
              <a:rPr lang="en-US" altLang="zh-CN" dirty="0"/>
              <a:t>)=</a:t>
            </a:r>
            <a:r>
              <a:rPr lang="en-US" altLang="zh-CN" i="1" dirty="0"/>
              <a:t>A</a:t>
            </a:r>
            <a:r>
              <a:rPr lang="en-US" altLang="zh-CN" dirty="0"/>
              <a:t> (</a:t>
            </a:r>
            <a:r>
              <a:rPr lang="zh-CN" altLang="en-US" dirty="0"/>
              <a:t>由②知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i="1" dirty="0"/>
              <a:t>B</a:t>
            </a:r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zh-CN" altLang="en-US" dirty="0"/>
              <a:t>，将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i="1" dirty="0"/>
              <a:t>B</a:t>
            </a:r>
            <a:r>
              <a:rPr lang="zh-CN" altLang="en-US" dirty="0"/>
              <a:t>用</a:t>
            </a:r>
            <a:r>
              <a:rPr lang="en-US" altLang="zh-CN" i="1" dirty="0"/>
              <a:t>B</a:t>
            </a:r>
            <a:r>
              <a:rPr lang="zh-CN" altLang="en-US" dirty="0"/>
              <a:t>代入</a:t>
            </a:r>
            <a:r>
              <a:rPr lang="en-US" altLang="zh-CN" dirty="0"/>
              <a:t>) 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CDAD10B7-194A-474E-B025-E6EB7AAE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26491-B227-4C9B-9A3F-0964DB4FBD99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007BFD24-3C07-4873-8675-32092F6CB6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US" altLang="zh-CN"/>
              <a:t>③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④</a:t>
            </a:r>
          </a:p>
          <a:p>
            <a:r>
              <a:rPr lang="zh-CN" altLang="en-US"/>
              <a:t>假设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</a:t>
            </a:r>
            <a:r>
              <a:rPr lang="en-US" altLang="zh-CN"/>
              <a:t>, </a:t>
            </a:r>
            <a:r>
              <a:rPr lang="zh-CN" altLang="en-US"/>
              <a:t>即</a:t>
            </a:r>
            <a:r>
              <a:rPr lang="zh-CN" altLang="en-US">
                <a:sym typeface="Symbol" panose="05050102010706020507" pitchFamily="18" charset="2"/>
              </a:rPr>
              <a:t>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</a:t>
            </a:r>
            <a:r>
              <a:rPr lang="zh-CN" altLang="en-US"/>
              <a:t>，那么知道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A</a:t>
            </a:r>
            <a:r>
              <a:rPr lang="zh-CN" altLang="en-US"/>
              <a:t>且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</a:t>
            </a:r>
            <a:r>
              <a:rPr lang="en-US" altLang="zh-CN" i="1"/>
              <a:t>B</a:t>
            </a:r>
            <a:r>
              <a:rPr lang="en-US" altLang="zh-CN"/>
              <a:t>. </a:t>
            </a:r>
            <a:r>
              <a:rPr lang="zh-CN" altLang="en-US"/>
              <a:t>而</a:t>
            </a:r>
            <a:endParaRPr lang="zh-CN" altLang="en-US" i="1"/>
          </a:p>
          <a:p>
            <a:r>
              <a:rPr lang="zh-CN" altLang="en-US" i="1"/>
              <a:t>        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</a:t>
            </a:r>
            <a:r>
              <a:rPr lang="en-US" altLang="zh-CN" i="1"/>
              <a:t>B 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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B</a:t>
            </a:r>
            <a:r>
              <a:rPr lang="en-US" altLang="zh-CN"/>
              <a:t> </a:t>
            </a:r>
          </a:p>
          <a:p>
            <a:r>
              <a:rPr lang="zh-CN" altLang="en-US"/>
              <a:t>从而与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 i="1"/>
              <a:t>A</a:t>
            </a:r>
            <a:r>
              <a:rPr lang="zh-CN" altLang="en-US"/>
              <a:t>矛盾</a:t>
            </a:r>
            <a:r>
              <a:rPr lang="en-US" altLang="zh-CN"/>
              <a:t>.</a:t>
            </a:r>
          </a:p>
          <a:p>
            <a:r>
              <a:rPr lang="en-US" altLang="zh-CN"/>
              <a:t>④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①</a:t>
            </a:r>
          </a:p>
          <a:p>
            <a:r>
              <a:rPr lang="zh-CN" altLang="en-US"/>
              <a:t>假设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</a:t>
            </a:r>
            <a:r>
              <a:rPr lang="en-US" altLang="zh-CN" i="1"/>
              <a:t>B</a:t>
            </a:r>
            <a:r>
              <a:rPr lang="zh-CN" altLang="en-US"/>
              <a:t>不成立，那么</a:t>
            </a:r>
            <a:endParaRPr lang="zh-CN" altLang="en-US">
              <a:sym typeface="Symbol" panose="05050102010706020507" pitchFamily="18" charset="2"/>
            </a:endParaRPr>
          </a:p>
          <a:p>
            <a:r>
              <a:rPr lang="zh-CN" altLang="en-US">
                <a:sym typeface="Symbol" panose="05050102010706020507" pitchFamily="18" charset="2"/>
              </a:rPr>
              <a:t>         </a:t>
            </a:r>
            <a:r>
              <a:rPr lang="en-US" altLang="zh-CN" i="1"/>
              <a:t>x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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</a:t>
            </a:r>
            <a:r>
              <a:rPr lang="en-US" altLang="zh-CN" i="1"/>
              <a:t>B</a:t>
            </a:r>
            <a:r>
              <a:rPr lang="en-US" altLang="zh-CN"/>
              <a:t>) 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 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</a:t>
            </a:r>
            <a:endParaRPr lang="en-US" altLang="zh-CN"/>
          </a:p>
          <a:p>
            <a:r>
              <a:rPr lang="zh-CN" altLang="en-US"/>
              <a:t>与条件④矛盾</a:t>
            </a:r>
            <a:r>
              <a:rPr lang="en-US" altLang="zh-CN"/>
              <a:t>. </a:t>
            </a:r>
          </a:p>
        </p:txBody>
      </p:sp>
      <p:sp>
        <p:nvSpPr>
          <p:cNvPr id="316420" name="Rectangle 4">
            <a:extLst>
              <a:ext uri="{FF2B5EF4-FFF2-40B4-BE49-F238E27FC236}">
                <a16:creationId xmlns:a16="http://schemas.microsoft.com/office/drawing/2014/main" id="{AAF603D3-E531-40F8-8B37-B88DA7872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证明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96A24F-D2C5-43A7-B08A-412A9E4086E7}"/>
              </a:ext>
            </a:extLst>
          </p:cNvPr>
          <p:cNvSpPr txBox="1"/>
          <p:nvPr/>
        </p:nvSpPr>
        <p:spPr>
          <a:xfrm>
            <a:off x="3635896" y="6457890"/>
            <a:ext cx="550810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结论形式太简单时考虑反证法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9CDE2F1-4A71-4BE7-86E4-C61CF082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284A1-F25C-4B4A-8959-9EDE2DC84E86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318466" name="Rectangle 2">
            <a:extLst>
              <a:ext uri="{FF2B5EF4-FFF2-40B4-BE49-F238E27FC236}">
                <a16:creationId xmlns:a16="http://schemas.microsoft.com/office/drawing/2014/main" id="{F8BADA89-3E3E-4AED-9FCA-BC3D37CBC6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第六章 习题课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AB743DA4-537A-4EA7-81E7-67D3B0EDE4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70000"/>
            <a:ext cx="8229600" cy="3527425"/>
          </a:xfrm>
        </p:spPr>
        <p:txBody>
          <a:bodyPr/>
          <a:lstStyle/>
          <a:p>
            <a:pPr marL="457200" indent="-457200"/>
            <a:r>
              <a:rPr lang="zh-CN" altLang="en-US"/>
              <a:t>主要内容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集合的两种表示法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集合与元素之间的隶属关系、集合之间的包含关系的区别与联系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特殊集合：空集、全集、幂集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文氏图及有穷集合的计数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集合的</a:t>
            </a:r>
            <a:r>
              <a:rPr lang="zh-CN" altLang="en-US">
                <a:sym typeface="Symbol" panose="05050102010706020507" pitchFamily="18" charset="2"/>
              </a:rPr>
              <a:t>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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zh-CN" altLang="en-US"/>
              <a:t>等运算以及广义</a:t>
            </a:r>
            <a:r>
              <a:rPr lang="zh-CN" altLang="en-US">
                <a:sym typeface="Symbol" panose="05050102010706020507" pitchFamily="18" charset="2"/>
              </a:rPr>
              <a:t>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zh-CN" altLang="en-US"/>
              <a:t>运算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集合运算的算律及其应用</a:t>
            </a: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3A80701-1FE9-4EC4-94B7-E495D97DB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168A-E339-45B3-BC50-4E8900AAB49D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320514" name="Rectangle 2">
            <a:extLst>
              <a:ext uri="{FF2B5EF4-FFF2-40B4-BE49-F238E27FC236}">
                <a16:creationId xmlns:a16="http://schemas.microsoft.com/office/drawing/2014/main" id="{E87AF1A7-8775-4758-8152-5C5094507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基本要求</a:t>
            </a:r>
          </a:p>
        </p:txBody>
      </p:sp>
      <p:sp>
        <p:nvSpPr>
          <p:cNvPr id="320518" name="Rectangle 6">
            <a:extLst>
              <a:ext uri="{FF2B5EF4-FFF2-40B4-BE49-F238E27FC236}">
                <a16:creationId xmlns:a16="http://schemas.microsoft.com/office/drawing/2014/main" id="{B1F037E4-4B18-4C74-B9C9-9C1D22DB2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4525962"/>
          </a:xfrm>
        </p:spPr>
        <p:txBody>
          <a:bodyPr/>
          <a:lstStyle/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熟练掌握集合的两种表示法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能够判别元素是否属于给定的集合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能够判别两个集合之间是否存在包含、相等、真包含等关系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熟练掌握集合的基本运算（普通运算和广义运算）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掌握证明集合等式或者包含关系的基本方法</a:t>
            </a: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479583-C20B-4F40-8EF9-6FC51D752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7E8C1-6646-40DB-970E-E5B64CB2C536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322562" name="Rectangle 2">
            <a:extLst>
              <a:ext uri="{FF2B5EF4-FFF2-40B4-BE49-F238E27FC236}">
                <a16:creationId xmlns:a16="http://schemas.microsoft.com/office/drawing/2014/main" id="{6061DF4C-E4D2-4B0D-998E-9F0FAB333E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2563" name="Rectangle 3">
            <a:extLst>
              <a:ext uri="{FF2B5EF4-FFF2-40B4-BE49-F238E27FC236}">
                <a16:creationId xmlns:a16="http://schemas.microsoft.com/office/drawing/2014/main" id="{A5E8BB20-CD48-4A1F-ACE2-5ABC1515FE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032250"/>
          </a:xfrm>
        </p:spPr>
        <p:txBody>
          <a:bodyPr/>
          <a:lstStyle/>
          <a:p>
            <a:pPr marL="1249363" indent="-1249363">
              <a:tabLst>
                <a:tab pos="1249363" algn="l"/>
              </a:tabLst>
            </a:pPr>
            <a:r>
              <a:rPr lang="en-US" altLang="zh-CN"/>
              <a:t> 1</a:t>
            </a:r>
            <a:r>
              <a:rPr lang="zh-CN" altLang="en-US"/>
              <a:t>．判断下列命题是否为真</a:t>
            </a:r>
          </a:p>
          <a:p>
            <a:pPr marL="1249363" indent="-1249363">
              <a:tabLst>
                <a:tab pos="1249363" algn="l"/>
              </a:tabLst>
            </a:pPr>
            <a:r>
              <a:rPr lang="zh-CN" altLang="en-US"/>
              <a:t> </a:t>
            </a:r>
            <a:r>
              <a:rPr lang="en-US" altLang="zh-CN"/>
              <a:t>(1)  </a:t>
            </a:r>
            <a:r>
              <a:rPr lang="en-US" altLang="zh-CN">
                <a:sym typeface="Symbol" panose="05050102010706020507" pitchFamily="18" charset="2"/>
              </a:rPr>
              <a:t></a:t>
            </a:r>
            <a:endParaRPr lang="en-US" altLang="zh-CN"/>
          </a:p>
          <a:p>
            <a:pPr marL="1249363" indent="-1249363">
              <a:tabLst>
                <a:tab pos="1249363" algn="l"/>
              </a:tabLst>
            </a:pPr>
            <a:r>
              <a:rPr lang="en-US" altLang="zh-CN"/>
              <a:t> (2)  </a:t>
            </a:r>
            <a:r>
              <a:rPr lang="en-US" altLang="zh-CN">
                <a:sym typeface="Symbol" panose="05050102010706020507" pitchFamily="18" charset="2"/>
              </a:rPr>
              <a:t></a:t>
            </a:r>
            <a:endParaRPr lang="en-US" altLang="zh-CN"/>
          </a:p>
          <a:p>
            <a:pPr marL="1249363" indent="-1249363">
              <a:tabLst>
                <a:tab pos="1249363" algn="l"/>
              </a:tabLst>
            </a:pPr>
            <a:r>
              <a:rPr lang="en-US" altLang="zh-CN"/>
              <a:t> (3)  </a:t>
            </a:r>
            <a:r>
              <a:rPr lang="en-US" altLang="zh-CN">
                <a:sym typeface="Symbol" panose="05050102010706020507" pitchFamily="18" charset="2"/>
              </a:rPr>
              <a:t></a:t>
            </a:r>
            <a:r>
              <a:rPr lang="en-US" altLang="zh-CN"/>
              <a:t>{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}</a:t>
            </a:r>
          </a:p>
          <a:p>
            <a:pPr marL="1249363" indent="-1249363">
              <a:tabLst>
                <a:tab pos="1249363" algn="l"/>
              </a:tabLst>
            </a:pPr>
            <a:r>
              <a:rPr lang="en-US" altLang="zh-CN"/>
              <a:t> (4)  </a:t>
            </a:r>
            <a:r>
              <a:rPr lang="en-US" altLang="zh-CN">
                <a:sym typeface="Symbol" panose="05050102010706020507" pitchFamily="18" charset="2"/>
              </a:rPr>
              <a:t></a:t>
            </a:r>
            <a:r>
              <a:rPr lang="en-US" altLang="zh-CN"/>
              <a:t>{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}</a:t>
            </a:r>
          </a:p>
          <a:p>
            <a:pPr marL="1249363" indent="-1249363">
              <a:tabLst>
                <a:tab pos="1249363" algn="l"/>
              </a:tabLst>
            </a:pPr>
            <a:r>
              <a:rPr lang="en-US" altLang="zh-CN"/>
              <a:t> (5)  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 </a:t>
            </a:r>
            <a:r>
              <a:rPr lang="en-US" altLang="zh-CN"/>
              <a:t>} </a:t>
            </a:r>
            <a:r>
              <a:rPr lang="en-US" altLang="zh-CN">
                <a:sym typeface="Symbol" panose="05050102010706020507" pitchFamily="18" charset="2"/>
              </a:rPr>
              <a:t> </a:t>
            </a:r>
            <a:r>
              <a:rPr lang="en-US" altLang="zh-CN"/>
              <a:t>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/>
              <a:t>, {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/>
              <a:t>}}</a:t>
            </a:r>
          </a:p>
          <a:p>
            <a:pPr marL="1249363" indent="-1249363">
              <a:tabLst>
                <a:tab pos="1249363" algn="l"/>
              </a:tabLst>
            </a:pPr>
            <a:r>
              <a:rPr lang="en-US" altLang="zh-CN"/>
              <a:t> (6)  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 </a:t>
            </a:r>
            <a:r>
              <a:rPr lang="en-US" altLang="zh-CN"/>
              <a:t>} 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/>
              <a:t>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/>
              <a:t>, {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}}</a:t>
            </a:r>
          </a:p>
          <a:p>
            <a:pPr marL="1249363" indent="-1249363">
              <a:tabLst>
                <a:tab pos="1249363" algn="l"/>
              </a:tabLst>
            </a:pPr>
            <a:r>
              <a:rPr lang="en-US" altLang="zh-CN"/>
              <a:t> (7)  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} </a:t>
            </a:r>
            <a:r>
              <a:rPr lang="en-US" altLang="zh-CN">
                <a:sym typeface="Symbol" panose="05050102010706020507" pitchFamily="18" charset="2"/>
              </a:rPr>
              <a:t> </a:t>
            </a:r>
            <a:r>
              <a:rPr lang="en-US" altLang="zh-CN"/>
              <a:t>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, {{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}}} </a:t>
            </a:r>
          </a:p>
          <a:p>
            <a:pPr marL="1249363" indent="-1249363">
              <a:tabLst>
                <a:tab pos="1249363" algn="l"/>
              </a:tabLst>
            </a:pPr>
            <a:r>
              <a:rPr lang="en-US" altLang="zh-CN"/>
              <a:t> (8)  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} 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/>
              <a:t>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, {{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}}} </a:t>
            </a:r>
          </a:p>
          <a:p>
            <a:pPr marL="1249363" indent="-1249363">
              <a:tabLst>
                <a:tab pos="1249363" algn="l"/>
              </a:tabLst>
            </a:pPr>
            <a:endParaRPr lang="en-US" altLang="zh-CN"/>
          </a:p>
        </p:txBody>
      </p:sp>
      <p:sp>
        <p:nvSpPr>
          <p:cNvPr id="322564" name="Rectangle 4">
            <a:extLst>
              <a:ext uri="{FF2B5EF4-FFF2-40B4-BE49-F238E27FC236}">
                <a16:creationId xmlns:a16="http://schemas.microsoft.com/office/drawing/2014/main" id="{E6E93067-D29D-46DF-9885-852AB97C3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780088"/>
            <a:ext cx="8135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latin typeface="Times New Roman" panose="02020603050405020304" pitchFamily="18" charset="0"/>
              </a:rPr>
              <a:t>解   </a:t>
            </a:r>
            <a:r>
              <a:rPr lang="en-US" altLang="zh-CN" b="1">
                <a:latin typeface="Times New Roman" panose="02020603050405020304" pitchFamily="18" charset="0"/>
              </a:rPr>
              <a:t>(1)</a:t>
            </a:r>
            <a:r>
              <a:rPr lang="zh-CN" altLang="en-US" b="1">
                <a:latin typeface="Times New Roman" panose="02020603050405020304" pitchFamily="18" charset="0"/>
              </a:rPr>
              <a:t>、</a:t>
            </a:r>
            <a:r>
              <a:rPr lang="en-US" altLang="zh-CN" b="1">
                <a:latin typeface="Times New Roman" panose="02020603050405020304" pitchFamily="18" charset="0"/>
              </a:rPr>
              <a:t>(3)</a:t>
            </a:r>
            <a:r>
              <a:rPr lang="zh-CN" altLang="en-US" b="1">
                <a:latin typeface="Times New Roman" panose="02020603050405020304" pitchFamily="18" charset="0"/>
              </a:rPr>
              <a:t>、</a:t>
            </a:r>
            <a:r>
              <a:rPr lang="en-US" altLang="zh-CN" b="1">
                <a:latin typeface="Times New Roman" panose="02020603050405020304" pitchFamily="18" charset="0"/>
              </a:rPr>
              <a:t>(4)</a:t>
            </a:r>
            <a:r>
              <a:rPr lang="zh-CN" altLang="en-US" b="1">
                <a:latin typeface="Times New Roman" panose="02020603050405020304" pitchFamily="18" charset="0"/>
              </a:rPr>
              <a:t>、</a:t>
            </a:r>
            <a:r>
              <a:rPr lang="en-US" altLang="zh-CN" b="1">
                <a:latin typeface="Times New Roman" panose="02020603050405020304" pitchFamily="18" charset="0"/>
              </a:rPr>
              <a:t>(5)</a:t>
            </a:r>
            <a:r>
              <a:rPr lang="zh-CN" altLang="en-US" b="1">
                <a:latin typeface="Times New Roman" panose="02020603050405020304" pitchFamily="18" charset="0"/>
              </a:rPr>
              <a:t>、</a:t>
            </a:r>
            <a:r>
              <a:rPr lang="en-US" altLang="zh-CN" b="1">
                <a:latin typeface="Times New Roman" panose="02020603050405020304" pitchFamily="18" charset="0"/>
              </a:rPr>
              <a:t>(6)</a:t>
            </a:r>
            <a:r>
              <a:rPr lang="zh-CN" altLang="en-US" b="1">
                <a:latin typeface="Times New Roman" panose="02020603050405020304" pitchFamily="18" charset="0"/>
              </a:rPr>
              <a:t>、</a:t>
            </a:r>
            <a:r>
              <a:rPr lang="en-US" altLang="zh-CN" b="1">
                <a:latin typeface="Times New Roman" panose="02020603050405020304" pitchFamily="18" charset="0"/>
              </a:rPr>
              <a:t>(7)</a:t>
            </a:r>
            <a:r>
              <a:rPr lang="zh-CN" altLang="en-US" b="1">
                <a:latin typeface="Times New Roman" panose="02020603050405020304" pitchFamily="18" charset="0"/>
              </a:rPr>
              <a:t>为真，其余为假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410481E0-758B-4239-82D1-64DDD1ACA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CDB41-531A-49E1-B28D-FA5D8220B06E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332802" name="Rectangle 2">
            <a:extLst>
              <a:ext uri="{FF2B5EF4-FFF2-40B4-BE49-F238E27FC236}">
                <a16:creationId xmlns:a16="http://schemas.microsoft.com/office/drawing/2014/main" id="{940BAF99-5F57-4D8A-BF77-C6E14E869F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方法分析</a:t>
            </a:r>
          </a:p>
        </p:txBody>
      </p:sp>
      <p:sp>
        <p:nvSpPr>
          <p:cNvPr id="332807" name="Rectangle 7">
            <a:extLst>
              <a:ext uri="{FF2B5EF4-FFF2-40B4-BE49-F238E27FC236}">
                <a16:creationId xmlns:a16="http://schemas.microsoft.com/office/drawing/2014/main" id="{3283EA46-C4DA-4381-A9FC-801A2A7EDF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147050" cy="5040312"/>
          </a:xfrm>
        </p:spPr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判断元素</a:t>
            </a:r>
            <a:r>
              <a:rPr lang="en-US" altLang="zh-CN" i="1" dirty="0"/>
              <a:t>a</a:t>
            </a:r>
            <a:r>
              <a:rPr lang="zh-CN" altLang="en-US" dirty="0"/>
              <a:t>与集合</a:t>
            </a:r>
            <a:r>
              <a:rPr lang="en-US" altLang="zh-CN" i="1" dirty="0"/>
              <a:t>A</a:t>
            </a:r>
            <a:r>
              <a:rPr lang="zh-CN" altLang="en-US" dirty="0"/>
              <a:t>的隶属关系是否成立基本方法：</a:t>
            </a:r>
          </a:p>
          <a:p>
            <a:pPr>
              <a:buFontTx/>
              <a:buNone/>
            </a:pPr>
            <a:r>
              <a:rPr lang="zh-CN" altLang="en-US" dirty="0"/>
              <a:t>      把 </a:t>
            </a:r>
            <a:r>
              <a:rPr lang="en-US" altLang="zh-CN" i="1" dirty="0"/>
              <a:t>a </a:t>
            </a:r>
            <a:r>
              <a:rPr lang="zh-CN" altLang="en-US" dirty="0"/>
              <a:t>作为整体检查它在</a:t>
            </a:r>
            <a:r>
              <a:rPr lang="en-US" altLang="zh-CN" i="1" dirty="0"/>
              <a:t>A</a:t>
            </a:r>
            <a:r>
              <a:rPr lang="zh-CN" altLang="en-US" dirty="0"/>
              <a:t>中是否出现，注意这里的 </a:t>
            </a:r>
            <a:r>
              <a:rPr lang="en-US" altLang="zh-CN" i="1" dirty="0"/>
              <a:t>a </a:t>
            </a:r>
            <a:r>
              <a:rPr lang="zh-CN" altLang="en-US" dirty="0"/>
              <a:t>可</a:t>
            </a:r>
          </a:p>
          <a:p>
            <a:pPr>
              <a:buFontTx/>
              <a:buNone/>
            </a:pPr>
            <a:r>
              <a:rPr lang="zh-CN" altLang="en-US" dirty="0"/>
              <a:t>      能是集合表达式</a:t>
            </a:r>
            <a:r>
              <a:rPr lang="en-US" altLang="zh-CN" dirty="0"/>
              <a:t>. </a:t>
            </a:r>
          </a:p>
          <a:p>
            <a:r>
              <a:rPr lang="en-US" altLang="zh-CN" dirty="0"/>
              <a:t>(2) </a:t>
            </a:r>
            <a:r>
              <a:rPr lang="zh-CN" altLang="en-US" dirty="0"/>
              <a:t>判断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B</a:t>
            </a:r>
            <a:r>
              <a:rPr lang="zh-CN" altLang="en-US" dirty="0"/>
              <a:t>的四种方法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若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zh-CN" altLang="en-US" dirty="0"/>
              <a:t>是用枚举方式定义的，依次检查</a:t>
            </a:r>
            <a:r>
              <a:rPr lang="en-US" altLang="zh-CN" i="1" dirty="0"/>
              <a:t>A</a:t>
            </a:r>
            <a:r>
              <a:rPr lang="zh-CN" altLang="en-US" dirty="0"/>
              <a:t>的每个元素是否在</a:t>
            </a:r>
            <a:r>
              <a:rPr lang="en-US" altLang="zh-CN" i="1" dirty="0"/>
              <a:t>B</a:t>
            </a:r>
            <a:r>
              <a:rPr lang="zh-CN" altLang="en-US" dirty="0"/>
              <a:t>中出现</a:t>
            </a:r>
            <a:r>
              <a:rPr lang="en-US" altLang="zh-CN" dirty="0"/>
              <a:t>. 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若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zh-CN" altLang="en-US" dirty="0"/>
              <a:t>是谓词法定义的，且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zh-CN" altLang="en-US" dirty="0"/>
              <a:t>中元素性质分别为</a:t>
            </a:r>
            <a:r>
              <a:rPr lang="en-US" altLang="zh-CN" i="1" dirty="0"/>
              <a:t>P</a:t>
            </a:r>
            <a:r>
              <a:rPr lang="zh-CN" altLang="en-US" dirty="0"/>
              <a:t>和</a:t>
            </a:r>
            <a:r>
              <a:rPr lang="en-US" altLang="zh-CN" i="1" dirty="0"/>
              <a:t>Q</a:t>
            </a:r>
            <a:r>
              <a:rPr lang="en-US" altLang="zh-CN" dirty="0"/>
              <a:t>, </a:t>
            </a:r>
            <a:r>
              <a:rPr lang="zh-CN" altLang="en-US" dirty="0"/>
              <a:t>那么“若</a:t>
            </a:r>
            <a:r>
              <a:rPr lang="en-US" altLang="zh-CN" i="1" dirty="0"/>
              <a:t>P</a:t>
            </a:r>
            <a:r>
              <a:rPr lang="zh-CN" altLang="en-US" dirty="0"/>
              <a:t>则</a:t>
            </a:r>
            <a:r>
              <a:rPr lang="en-US" altLang="zh-CN" i="1" dirty="0"/>
              <a:t>Q</a:t>
            </a:r>
            <a:r>
              <a:rPr lang="en-US" altLang="zh-CN" dirty="0"/>
              <a:t>”</a:t>
            </a:r>
            <a:r>
              <a:rPr lang="zh-CN" altLang="en-US" dirty="0"/>
              <a:t>意味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B</a:t>
            </a:r>
            <a:r>
              <a:rPr lang="zh-CN" altLang="en-US" dirty="0"/>
              <a:t>，“</a:t>
            </a:r>
            <a:r>
              <a:rPr lang="en-US" altLang="zh-CN" i="1" dirty="0"/>
              <a:t>P</a:t>
            </a:r>
            <a:r>
              <a:rPr lang="zh-CN" altLang="en-US" dirty="0"/>
              <a:t>当且仅当</a:t>
            </a:r>
            <a:r>
              <a:rPr lang="en-US" altLang="zh-CN" i="1" dirty="0"/>
              <a:t>Q</a:t>
            </a:r>
            <a:r>
              <a:rPr lang="en-US" altLang="zh-CN" dirty="0"/>
              <a:t>”</a:t>
            </a:r>
            <a:r>
              <a:rPr lang="zh-CN" altLang="en-US" dirty="0"/>
              <a:t>意味</a:t>
            </a:r>
            <a:r>
              <a:rPr lang="en-US" altLang="zh-CN" i="1" dirty="0"/>
              <a:t>A</a:t>
            </a:r>
            <a:r>
              <a:rPr lang="en-US" altLang="zh-CN" i="1" dirty="0">
                <a:sym typeface="Symbol" panose="05050102010706020507" pitchFamily="18" charset="2"/>
              </a:rPr>
              <a:t>=</a:t>
            </a:r>
            <a:r>
              <a:rPr lang="en-US" altLang="zh-CN" i="1" dirty="0"/>
              <a:t>B</a:t>
            </a:r>
            <a:r>
              <a:rPr lang="zh-CN" altLang="en-US" dirty="0"/>
              <a:t>．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通过集合运算判断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B</a:t>
            </a:r>
            <a:r>
              <a:rPr lang="zh-CN" altLang="en-US" dirty="0"/>
              <a:t>，即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i="1" dirty="0"/>
              <a:t>B</a:t>
            </a:r>
            <a:r>
              <a:rPr lang="en-US" altLang="zh-CN" dirty="0"/>
              <a:t> = 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i="1" dirty="0"/>
              <a:t>B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i="1" dirty="0"/>
              <a:t>B</a:t>
            </a:r>
            <a:r>
              <a:rPr lang="en-US" altLang="zh-CN" dirty="0"/>
              <a:t> = 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zh-CN" altLang="en-US" dirty="0"/>
              <a:t>三个等式中有一个为真</a:t>
            </a:r>
            <a:r>
              <a:rPr lang="en-US" altLang="zh-CN" dirty="0"/>
              <a:t>.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通过文氏图判断集合的包含（注意这里是判断，而不是证明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53B510-A84F-43FE-A153-DB1F6A418121}"/>
              </a:ext>
            </a:extLst>
          </p:cNvPr>
          <p:cNvSpPr txBox="1"/>
          <p:nvPr/>
        </p:nvSpPr>
        <p:spPr>
          <a:xfrm>
            <a:off x="2555776" y="6457890"/>
            <a:ext cx="658822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交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并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对称差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包含 和 与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或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非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异或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蕴含的对应关系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A376268-4143-4E19-9023-54F80CA13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D982-49AA-4265-A56F-8D6FF757E48F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336898" name="Rectangle 2">
            <a:extLst>
              <a:ext uri="{FF2B5EF4-FFF2-40B4-BE49-F238E27FC236}">
                <a16:creationId xmlns:a16="http://schemas.microsoft.com/office/drawing/2014/main" id="{C7FDDE9C-3E8D-448E-BD7C-F3DBCCFE1A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36899" name="Rectangle 3">
            <a:extLst>
              <a:ext uri="{FF2B5EF4-FFF2-40B4-BE49-F238E27FC236}">
                <a16:creationId xmlns:a16="http://schemas.microsoft.com/office/drawing/2014/main" id="{6958FAAA-E502-40D0-A013-DE87559E05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924425"/>
          </a:xfrm>
        </p:spPr>
        <p:txBody>
          <a:bodyPr/>
          <a:lstStyle/>
          <a:p>
            <a:pPr marL="533400" indent="-533400"/>
            <a:r>
              <a:rPr lang="en-US" altLang="zh-CN"/>
              <a:t>2</a:t>
            </a:r>
            <a:r>
              <a:rPr lang="zh-CN" altLang="en-US"/>
              <a:t>．设</a:t>
            </a:r>
            <a:endParaRPr lang="zh-CN" altLang="en-US" i="1"/>
          </a:p>
          <a:p>
            <a:pPr marL="533400" indent="-533400"/>
            <a:r>
              <a:rPr lang="zh-CN" altLang="en-US" i="1"/>
              <a:t>               </a:t>
            </a:r>
            <a:r>
              <a:rPr lang="en-US" altLang="zh-CN" i="1"/>
              <a:t>S</a:t>
            </a:r>
            <a:r>
              <a:rPr lang="en-US" altLang="zh-CN" baseline="-25000"/>
              <a:t>1</a:t>
            </a:r>
            <a:r>
              <a:rPr lang="en-US" altLang="zh-CN"/>
              <a:t>={1, 2, … , 8, 9}</a:t>
            </a:r>
            <a:r>
              <a:rPr lang="zh-CN" altLang="en-US"/>
              <a:t>，          </a:t>
            </a:r>
            <a:r>
              <a:rPr lang="en-US" altLang="zh-CN" i="1"/>
              <a:t>S</a:t>
            </a:r>
            <a:r>
              <a:rPr lang="en-US" altLang="zh-CN" baseline="-25000"/>
              <a:t>2</a:t>
            </a:r>
            <a:r>
              <a:rPr lang="en-US" altLang="zh-CN"/>
              <a:t>={2, 4, 6, 8}</a:t>
            </a:r>
          </a:p>
          <a:p>
            <a:pPr marL="533400" indent="-533400"/>
            <a:r>
              <a:rPr lang="en-US" altLang="zh-CN"/>
              <a:t>               </a:t>
            </a:r>
            <a:r>
              <a:rPr lang="en-US" altLang="zh-CN" i="1"/>
              <a:t>S</a:t>
            </a:r>
            <a:r>
              <a:rPr lang="en-US" altLang="zh-CN" baseline="-25000"/>
              <a:t>3</a:t>
            </a:r>
            <a:r>
              <a:rPr lang="en-US" altLang="zh-CN"/>
              <a:t>={1, 3, 5, 7, 9}                 </a:t>
            </a:r>
            <a:r>
              <a:rPr lang="en-US" altLang="zh-CN" i="1"/>
              <a:t>S</a:t>
            </a:r>
            <a:r>
              <a:rPr lang="en-US" altLang="zh-CN" baseline="-25000"/>
              <a:t>4</a:t>
            </a:r>
            <a:r>
              <a:rPr lang="en-US" altLang="zh-CN"/>
              <a:t>={3, 4, 5}</a:t>
            </a:r>
          </a:p>
          <a:p>
            <a:pPr marL="533400" indent="-533400"/>
            <a:r>
              <a:rPr lang="en-US" altLang="zh-CN"/>
              <a:t>               </a:t>
            </a:r>
            <a:r>
              <a:rPr lang="en-US" altLang="zh-CN" i="1"/>
              <a:t>S</a:t>
            </a:r>
            <a:r>
              <a:rPr lang="en-US" altLang="zh-CN" baseline="-25000"/>
              <a:t>5</a:t>
            </a:r>
            <a:r>
              <a:rPr lang="en-US" altLang="zh-CN"/>
              <a:t>={3, 5}</a:t>
            </a:r>
          </a:p>
          <a:p>
            <a:pPr marL="533400" indent="-533400"/>
            <a:r>
              <a:rPr lang="en-US" altLang="zh-CN"/>
              <a:t>       </a:t>
            </a:r>
            <a:r>
              <a:rPr lang="zh-CN" altLang="en-US"/>
              <a:t>确定在以下条件下</a:t>
            </a:r>
            <a:r>
              <a:rPr lang="en-US" altLang="zh-CN" i="1"/>
              <a:t>X</a:t>
            </a:r>
            <a:r>
              <a:rPr lang="zh-CN" altLang="en-US"/>
              <a:t>是否与</a:t>
            </a:r>
            <a:r>
              <a:rPr lang="en-US" altLang="zh-CN" i="1"/>
              <a:t>S</a:t>
            </a:r>
            <a:r>
              <a:rPr lang="en-US" altLang="zh-CN" baseline="-25000"/>
              <a:t>1</a:t>
            </a:r>
            <a:r>
              <a:rPr lang="en-US" altLang="zh-CN"/>
              <a:t>,…,</a:t>
            </a:r>
            <a:r>
              <a:rPr lang="en-US" altLang="zh-CN" i="1"/>
              <a:t>S</a:t>
            </a:r>
            <a:r>
              <a:rPr lang="en-US" altLang="zh-CN" baseline="-25000"/>
              <a:t>5</a:t>
            </a:r>
            <a:r>
              <a:rPr lang="zh-CN" altLang="en-US"/>
              <a:t>中某个集合相等？如果是，又与哪个集合相等？</a:t>
            </a:r>
          </a:p>
          <a:p>
            <a:pPr marL="533400" indent="-533400"/>
            <a:r>
              <a:rPr lang="zh-CN" altLang="en-US"/>
              <a:t>     （</a:t>
            </a:r>
            <a:r>
              <a:rPr lang="en-US" altLang="zh-CN"/>
              <a:t>1</a:t>
            </a:r>
            <a:r>
              <a:rPr lang="zh-CN" altLang="en-US"/>
              <a:t>）若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S</a:t>
            </a:r>
            <a:r>
              <a:rPr lang="en-US" altLang="zh-CN" baseline="-25000"/>
              <a:t>5</a:t>
            </a:r>
            <a:r>
              <a:rPr lang="en-US" altLang="zh-CN"/>
              <a:t>=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endParaRPr lang="en-US" altLang="zh-CN"/>
          </a:p>
          <a:p>
            <a:pPr marL="533400" indent="-533400"/>
            <a:r>
              <a:rPr lang="en-US" altLang="zh-CN"/>
              <a:t>     </a:t>
            </a: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）若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</a:t>
            </a:r>
            <a:r>
              <a:rPr lang="en-US" altLang="zh-CN" i="1"/>
              <a:t>S</a:t>
            </a:r>
            <a:r>
              <a:rPr lang="en-US" altLang="zh-CN" baseline="-25000"/>
              <a:t>4</a:t>
            </a:r>
            <a:r>
              <a:rPr lang="zh-CN" altLang="en-US"/>
              <a:t>但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S</a:t>
            </a:r>
            <a:r>
              <a:rPr lang="en-US" altLang="zh-CN" baseline="-25000"/>
              <a:t>2</a:t>
            </a:r>
            <a:r>
              <a:rPr lang="en-US" altLang="zh-CN"/>
              <a:t>=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endParaRPr lang="en-US" altLang="zh-CN"/>
          </a:p>
          <a:p>
            <a:pPr marL="533400" indent="-533400"/>
            <a:r>
              <a:rPr lang="en-US" altLang="zh-CN"/>
              <a:t>     </a:t>
            </a: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）若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</a:t>
            </a:r>
            <a:r>
              <a:rPr lang="en-US" altLang="zh-CN" i="1"/>
              <a:t>S</a:t>
            </a:r>
            <a:r>
              <a:rPr lang="en-US" altLang="zh-CN" baseline="-25000"/>
              <a:t>1</a:t>
            </a:r>
            <a:r>
              <a:rPr lang="zh-CN" altLang="en-US"/>
              <a:t>且 </a:t>
            </a:r>
            <a:r>
              <a:rPr lang="en-US" altLang="zh-CN" i="1"/>
              <a:t>X</a:t>
            </a:r>
            <a:r>
              <a:rPr lang="en-US" altLang="zh-CN" sz="2800" b="0"/>
              <a:t> </a:t>
            </a:r>
            <a:r>
              <a:rPr lang="en-US" altLang="zh-CN" b="0">
                <a:latin typeface="Arial" panose="020B0604020202020204" pitchFamily="34" charset="0"/>
                <a:ea typeface="Arial Unicode MS" pitchFamily="34" charset="-122"/>
              </a:rPr>
              <a:t>⊈</a:t>
            </a:r>
            <a:r>
              <a:rPr lang="en-US" altLang="zh-CN" i="1"/>
              <a:t>S</a:t>
            </a:r>
            <a:r>
              <a:rPr lang="en-US" altLang="zh-CN" baseline="-25000"/>
              <a:t>3</a:t>
            </a:r>
          </a:p>
          <a:p>
            <a:pPr marL="533400" indent="-533400"/>
            <a:r>
              <a:rPr lang="en-US" altLang="zh-CN"/>
              <a:t>     </a:t>
            </a:r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）若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S</a:t>
            </a:r>
            <a:r>
              <a:rPr lang="en-US" altLang="zh-CN" baseline="-25000"/>
              <a:t>3</a:t>
            </a:r>
            <a:r>
              <a:rPr lang="en-US" altLang="zh-CN"/>
              <a:t>=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endParaRPr lang="en-US" altLang="zh-CN"/>
          </a:p>
          <a:p>
            <a:pPr marL="533400" indent="-533400"/>
            <a:r>
              <a:rPr lang="en-US" altLang="zh-CN"/>
              <a:t>     </a:t>
            </a:r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）若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</a:t>
            </a:r>
            <a:r>
              <a:rPr lang="en-US" altLang="zh-CN" i="1"/>
              <a:t>S</a:t>
            </a:r>
            <a:r>
              <a:rPr lang="en-US" altLang="zh-CN" baseline="-25000"/>
              <a:t>3 </a:t>
            </a:r>
            <a:r>
              <a:rPr lang="zh-CN" altLang="en-US"/>
              <a:t>且 </a:t>
            </a:r>
            <a:r>
              <a:rPr lang="en-US" altLang="zh-CN" i="1"/>
              <a:t>X </a:t>
            </a:r>
            <a:r>
              <a:rPr lang="en-US" altLang="zh-CN">
                <a:latin typeface="Arial" panose="020B0604020202020204" pitchFamily="34" charset="0"/>
                <a:ea typeface="Arial Unicode MS" pitchFamily="34" charset="-122"/>
              </a:rPr>
              <a:t>⊈ </a:t>
            </a:r>
            <a:r>
              <a:rPr lang="en-US" altLang="zh-CN" i="1"/>
              <a:t>S</a:t>
            </a:r>
            <a:r>
              <a:rPr lang="en-US" altLang="zh-CN" baseline="-25000"/>
              <a:t>1</a:t>
            </a:r>
          </a:p>
        </p:txBody>
      </p:sp>
    </p:spTree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88262D40-7952-4323-B1BB-BBFDD3868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2A4FE-3E7C-4013-8831-0F9ED59A1C6A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338946" name="Rectangle 2">
            <a:extLst>
              <a:ext uri="{FF2B5EF4-FFF2-40B4-BE49-F238E27FC236}">
                <a16:creationId xmlns:a16="http://schemas.microsoft.com/office/drawing/2014/main" id="{CEB080FF-0467-4470-AA27-E6EFF8D050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解答</a:t>
            </a:r>
          </a:p>
        </p:txBody>
      </p:sp>
      <p:sp>
        <p:nvSpPr>
          <p:cNvPr id="338947" name="Rectangle 3">
            <a:extLst>
              <a:ext uri="{FF2B5EF4-FFF2-40B4-BE49-F238E27FC236}">
                <a16:creationId xmlns:a16="http://schemas.microsoft.com/office/drawing/2014/main" id="{CFCD4192-E1AB-4773-AF10-07E560AD75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 marL="1089025" indent="-1089025"/>
            <a:r>
              <a:rPr lang="zh-CN" altLang="en-US"/>
              <a:t>解</a:t>
            </a:r>
          </a:p>
          <a:p>
            <a:pPr marL="1089025" indent="-1089025"/>
            <a:r>
              <a:rPr lang="en-US" altLang="zh-CN"/>
              <a:t>(1) </a:t>
            </a:r>
            <a:r>
              <a:rPr lang="zh-CN" altLang="en-US"/>
              <a:t>和</a:t>
            </a:r>
            <a:r>
              <a:rPr lang="en-US" altLang="zh-CN" i="1"/>
              <a:t>S</a:t>
            </a:r>
            <a:r>
              <a:rPr lang="en-US" altLang="zh-CN" baseline="-25000"/>
              <a:t>5</a:t>
            </a:r>
            <a:r>
              <a:rPr lang="zh-CN" altLang="en-US"/>
              <a:t>不交的子集不含有</a:t>
            </a:r>
            <a:r>
              <a:rPr lang="en-US" altLang="zh-CN"/>
              <a:t>3</a:t>
            </a:r>
            <a:r>
              <a:rPr lang="zh-CN" altLang="en-US"/>
              <a:t>和</a:t>
            </a:r>
            <a:r>
              <a:rPr lang="en-US" altLang="zh-CN"/>
              <a:t>5</a:t>
            </a:r>
            <a:r>
              <a:rPr lang="zh-CN" altLang="en-US"/>
              <a:t>，因此 </a:t>
            </a:r>
            <a:r>
              <a:rPr lang="en-US" altLang="zh-CN" i="1"/>
              <a:t>X</a:t>
            </a:r>
            <a:r>
              <a:rPr lang="en-US" altLang="zh-CN"/>
              <a:t>=</a:t>
            </a:r>
            <a:r>
              <a:rPr lang="en-US" altLang="zh-CN" i="1"/>
              <a:t>S</a:t>
            </a:r>
            <a:r>
              <a:rPr lang="en-US" altLang="zh-CN" baseline="-25000"/>
              <a:t>2</a:t>
            </a:r>
            <a:r>
              <a:rPr lang="en-US" altLang="zh-CN"/>
              <a:t>. </a:t>
            </a:r>
          </a:p>
          <a:p>
            <a:pPr marL="1089025" indent="-1089025"/>
            <a:r>
              <a:rPr lang="en-US" altLang="zh-CN"/>
              <a:t>(2)</a:t>
            </a:r>
            <a:r>
              <a:rPr lang="en-US" altLang="zh-CN" i="1"/>
              <a:t>  S</a:t>
            </a:r>
            <a:r>
              <a:rPr lang="en-US" altLang="zh-CN" baseline="-25000"/>
              <a:t>4</a:t>
            </a:r>
            <a:r>
              <a:rPr lang="zh-CN" altLang="en-US"/>
              <a:t>的子集只能是</a:t>
            </a:r>
            <a:r>
              <a:rPr lang="en-US" altLang="zh-CN" i="1"/>
              <a:t>S</a:t>
            </a:r>
            <a:r>
              <a:rPr lang="en-US" altLang="zh-CN" baseline="-25000"/>
              <a:t>4</a:t>
            </a:r>
            <a:r>
              <a:rPr lang="zh-CN" altLang="en-US"/>
              <a:t>和</a:t>
            </a:r>
            <a:r>
              <a:rPr lang="en-US" altLang="zh-CN" i="1"/>
              <a:t>S</a:t>
            </a:r>
            <a:r>
              <a:rPr lang="en-US" altLang="zh-CN" baseline="-25000"/>
              <a:t>5</a:t>
            </a:r>
            <a:r>
              <a:rPr lang="en-US" altLang="zh-CN"/>
              <a:t>. </a:t>
            </a:r>
            <a:r>
              <a:rPr lang="zh-CN" altLang="en-US"/>
              <a:t>由于与</a:t>
            </a:r>
            <a:r>
              <a:rPr lang="en-US" altLang="zh-CN" i="1"/>
              <a:t>S</a:t>
            </a:r>
            <a:r>
              <a:rPr lang="en-US" altLang="zh-CN" baseline="-25000"/>
              <a:t>2</a:t>
            </a:r>
            <a:r>
              <a:rPr lang="zh-CN" altLang="en-US"/>
              <a:t>不交，不能含有偶数，</a:t>
            </a:r>
          </a:p>
          <a:p>
            <a:pPr marL="1089025" indent="-1089025"/>
            <a:r>
              <a:rPr lang="zh-CN" altLang="en-US"/>
              <a:t>      因此 </a:t>
            </a:r>
            <a:r>
              <a:rPr lang="en-US" altLang="zh-CN" i="1"/>
              <a:t>X</a:t>
            </a:r>
            <a:r>
              <a:rPr lang="en-US" altLang="zh-CN"/>
              <a:t>=</a:t>
            </a:r>
            <a:r>
              <a:rPr lang="en-US" altLang="zh-CN" i="1"/>
              <a:t>S</a:t>
            </a:r>
            <a:r>
              <a:rPr lang="en-US" altLang="zh-CN" baseline="-25000"/>
              <a:t>5</a:t>
            </a:r>
            <a:r>
              <a:rPr lang="en-US" altLang="zh-CN"/>
              <a:t>.</a:t>
            </a:r>
          </a:p>
          <a:p>
            <a:pPr marL="1089025" indent="-1089025"/>
            <a:r>
              <a:rPr lang="en-US" altLang="zh-CN"/>
              <a:t>(3)  </a:t>
            </a:r>
            <a:r>
              <a:rPr lang="en-US" altLang="zh-CN" i="1"/>
              <a:t>S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S</a:t>
            </a:r>
            <a:r>
              <a:rPr lang="en-US" altLang="zh-CN" baseline="-25000"/>
              <a:t>2</a:t>
            </a:r>
            <a:r>
              <a:rPr lang="en-US" altLang="zh-CN"/>
              <a:t>, </a:t>
            </a:r>
            <a:r>
              <a:rPr lang="en-US" altLang="zh-CN" i="1"/>
              <a:t>S</a:t>
            </a:r>
            <a:r>
              <a:rPr lang="en-US" altLang="zh-CN" baseline="-25000"/>
              <a:t>3</a:t>
            </a:r>
            <a:r>
              <a:rPr lang="en-US" altLang="zh-CN"/>
              <a:t>, </a:t>
            </a:r>
            <a:r>
              <a:rPr lang="en-US" altLang="zh-CN" i="1"/>
              <a:t>S</a:t>
            </a:r>
            <a:r>
              <a:rPr lang="en-US" altLang="zh-CN" baseline="-25000"/>
              <a:t>4</a:t>
            </a:r>
            <a:r>
              <a:rPr lang="zh-CN" altLang="en-US"/>
              <a:t>和</a:t>
            </a:r>
            <a:r>
              <a:rPr lang="en-US" altLang="zh-CN" i="1"/>
              <a:t>S</a:t>
            </a:r>
            <a:r>
              <a:rPr lang="en-US" altLang="zh-CN" baseline="-25000"/>
              <a:t>5</a:t>
            </a:r>
            <a:r>
              <a:rPr lang="zh-CN" altLang="en-US"/>
              <a:t>都是</a:t>
            </a:r>
            <a:r>
              <a:rPr lang="en-US" altLang="zh-CN" i="1"/>
              <a:t>S</a:t>
            </a:r>
            <a:r>
              <a:rPr lang="en-US" altLang="zh-CN" baseline="-25000"/>
              <a:t>1</a:t>
            </a:r>
            <a:r>
              <a:rPr lang="zh-CN" altLang="en-US"/>
              <a:t>的子集，不包含在</a:t>
            </a:r>
            <a:r>
              <a:rPr lang="en-US" altLang="zh-CN" i="1"/>
              <a:t>S</a:t>
            </a:r>
            <a:r>
              <a:rPr lang="en-US" altLang="zh-CN" baseline="-25000"/>
              <a:t>3</a:t>
            </a:r>
            <a:r>
              <a:rPr lang="zh-CN" altLang="en-US"/>
              <a:t>的子集含有</a:t>
            </a:r>
          </a:p>
          <a:p>
            <a:pPr marL="1089025" indent="-1089025"/>
            <a:r>
              <a:rPr lang="zh-CN" altLang="en-US"/>
              <a:t>      偶数，因此 </a:t>
            </a:r>
            <a:r>
              <a:rPr lang="en-US" altLang="zh-CN" i="1"/>
              <a:t>X</a:t>
            </a:r>
            <a:r>
              <a:rPr lang="en-US" altLang="zh-CN"/>
              <a:t>=</a:t>
            </a:r>
            <a:r>
              <a:rPr lang="en-US" altLang="zh-CN" i="1"/>
              <a:t>S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S</a:t>
            </a:r>
            <a:r>
              <a:rPr lang="en-US" altLang="zh-CN" baseline="-25000"/>
              <a:t>2</a:t>
            </a:r>
            <a:r>
              <a:rPr lang="zh-CN" altLang="en-US"/>
              <a:t>或</a:t>
            </a:r>
            <a:r>
              <a:rPr lang="en-US" altLang="zh-CN" i="1"/>
              <a:t>S</a:t>
            </a:r>
            <a:r>
              <a:rPr lang="en-US" altLang="zh-CN" baseline="-25000"/>
              <a:t>4</a:t>
            </a:r>
            <a:r>
              <a:rPr lang="en-US" altLang="zh-CN"/>
              <a:t>. </a:t>
            </a:r>
          </a:p>
          <a:p>
            <a:pPr marL="1089025" indent="-1089025"/>
            <a:r>
              <a:rPr lang="en-US" altLang="zh-CN"/>
              <a:t>(4) 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S</a:t>
            </a:r>
            <a:r>
              <a:rPr lang="en-US" altLang="zh-CN" baseline="-25000"/>
              <a:t>3</a:t>
            </a:r>
            <a:r>
              <a:rPr lang="en-US" altLang="zh-CN"/>
              <a:t>=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zh-CN" altLang="en-US"/>
              <a:t>意味着 </a:t>
            </a:r>
            <a:r>
              <a:rPr lang="en-US" altLang="zh-CN" i="1"/>
              <a:t>X</a:t>
            </a:r>
            <a:r>
              <a:rPr lang="zh-CN" altLang="en-US"/>
              <a:t>是</a:t>
            </a:r>
            <a:r>
              <a:rPr lang="en-US" altLang="zh-CN" i="1"/>
              <a:t>S</a:t>
            </a:r>
            <a:r>
              <a:rPr lang="en-US" altLang="zh-CN" baseline="-25000"/>
              <a:t>3</a:t>
            </a:r>
            <a:r>
              <a:rPr lang="zh-CN" altLang="en-US"/>
              <a:t>的子集，因此 </a:t>
            </a:r>
            <a:r>
              <a:rPr lang="en-US" altLang="zh-CN" i="1"/>
              <a:t>X</a:t>
            </a:r>
            <a:r>
              <a:rPr lang="en-US" altLang="zh-CN"/>
              <a:t>=</a:t>
            </a:r>
            <a:r>
              <a:rPr lang="en-US" altLang="zh-CN" i="1"/>
              <a:t>S</a:t>
            </a:r>
            <a:r>
              <a:rPr lang="en-US" altLang="zh-CN" baseline="-25000"/>
              <a:t>3</a:t>
            </a:r>
            <a:r>
              <a:rPr lang="zh-CN" altLang="en-US"/>
              <a:t>或 </a:t>
            </a:r>
            <a:r>
              <a:rPr lang="en-US" altLang="zh-CN" i="1"/>
              <a:t>S</a:t>
            </a:r>
            <a:r>
              <a:rPr lang="en-US" altLang="zh-CN" baseline="-25000"/>
              <a:t>5</a:t>
            </a:r>
            <a:r>
              <a:rPr lang="en-US" altLang="zh-CN"/>
              <a:t>.</a:t>
            </a:r>
          </a:p>
          <a:p>
            <a:pPr marL="1089025" indent="-1089025"/>
            <a:r>
              <a:rPr lang="en-US" altLang="zh-CN"/>
              <a:t>(5)  </a:t>
            </a:r>
            <a:r>
              <a:rPr lang="zh-CN" altLang="en-US"/>
              <a:t>由于</a:t>
            </a:r>
            <a:r>
              <a:rPr lang="en-US" altLang="zh-CN" i="1"/>
              <a:t>S</a:t>
            </a:r>
            <a:r>
              <a:rPr lang="en-US" altLang="zh-CN" baseline="-25000"/>
              <a:t>3</a:t>
            </a:r>
            <a:r>
              <a:rPr lang="zh-CN" altLang="en-US"/>
              <a:t>是</a:t>
            </a:r>
            <a:r>
              <a:rPr lang="en-US" altLang="zh-CN" i="1"/>
              <a:t>S</a:t>
            </a:r>
            <a:r>
              <a:rPr lang="en-US" altLang="zh-CN" baseline="-25000"/>
              <a:t>1</a:t>
            </a:r>
            <a:r>
              <a:rPr lang="zh-CN" altLang="en-US"/>
              <a:t>的子集，因此这样的</a:t>
            </a:r>
            <a:r>
              <a:rPr lang="en-US" altLang="zh-CN" i="1"/>
              <a:t>X</a:t>
            </a:r>
            <a:r>
              <a:rPr lang="zh-CN" altLang="en-US"/>
              <a:t>不存在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7A9130DE-6C99-4F39-95CB-0A1DC2EC3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A9628-A14B-4CA6-97FB-3E3AB886AFCE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340994" name="Rectangle 2">
            <a:extLst>
              <a:ext uri="{FF2B5EF4-FFF2-40B4-BE49-F238E27FC236}">
                <a16:creationId xmlns:a16="http://schemas.microsoft.com/office/drawing/2014/main" id="{CDA7DBF1-1913-4C59-9939-CEF48A18D9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40995" name="Rectangle 3">
            <a:extLst>
              <a:ext uri="{FF2B5EF4-FFF2-40B4-BE49-F238E27FC236}">
                <a16:creationId xmlns:a16="http://schemas.microsoft.com/office/drawing/2014/main" id="{772AC110-0A10-48E1-A994-4FA3875E4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marL="457200" indent="-457200"/>
            <a:r>
              <a:rPr lang="en-US" altLang="zh-CN" dirty="0"/>
              <a:t>3. </a:t>
            </a:r>
            <a:r>
              <a:rPr lang="zh-CN" altLang="en-US" dirty="0"/>
              <a:t>判断以下命题的真假，并说明理由</a:t>
            </a:r>
            <a:r>
              <a:rPr lang="en-US" altLang="zh-CN" dirty="0"/>
              <a:t>. </a:t>
            </a:r>
          </a:p>
          <a:p>
            <a:pPr marL="457200" indent="-457200"/>
            <a:r>
              <a:rPr lang="en-US" altLang="zh-CN" dirty="0"/>
              <a:t>  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i="1" dirty="0"/>
              <a:t>B</a:t>
            </a:r>
            <a:r>
              <a:rPr lang="en-US" altLang="zh-CN" dirty="0"/>
              <a:t>=</a:t>
            </a:r>
            <a:r>
              <a:rPr lang="en-US" altLang="zh-CN" i="1" dirty="0"/>
              <a:t>A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=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endParaRPr lang="en-US" altLang="zh-CN" dirty="0"/>
          </a:p>
          <a:p>
            <a:pPr marL="457200" indent="-457200"/>
            <a:r>
              <a:rPr lang="en-US" altLang="zh-CN" dirty="0"/>
              <a:t> 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i="1" dirty="0"/>
              <a:t>C</a:t>
            </a:r>
            <a:r>
              <a:rPr lang="en-US" altLang="zh-CN" dirty="0"/>
              <a:t>) = 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i="1" dirty="0"/>
              <a:t>C</a:t>
            </a:r>
            <a:r>
              <a:rPr lang="en-US" altLang="zh-CN" dirty="0"/>
              <a:t>)</a:t>
            </a:r>
          </a:p>
          <a:p>
            <a:pPr marL="457200" indent="-457200"/>
            <a:r>
              <a:rPr lang="en-US" altLang="zh-CN" dirty="0"/>
              <a:t>  </a:t>
            </a: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i="1" dirty="0"/>
              <a:t>A </a:t>
            </a:r>
            <a:r>
              <a:rPr lang="en-US" altLang="zh-CN" dirty="0"/>
              <a:t>= </a:t>
            </a:r>
            <a:r>
              <a:rPr lang="en-US" altLang="zh-CN" i="1" dirty="0"/>
              <a:t>A</a:t>
            </a:r>
            <a:endParaRPr lang="en-US" altLang="zh-CN" dirty="0"/>
          </a:p>
          <a:p>
            <a:pPr marL="457200" indent="-457200"/>
            <a:r>
              <a:rPr lang="en-US" altLang="zh-CN" dirty="0"/>
              <a:t>  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）如果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i="1" dirty="0"/>
              <a:t>B </a:t>
            </a:r>
            <a:r>
              <a:rPr lang="en-US" altLang="zh-CN" dirty="0"/>
              <a:t>= </a:t>
            </a:r>
            <a:r>
              <a:rPr lang="en-US" altLang="zh-CN" i="1" dirty="0"/>
              <a:t>B</a:t>
            </a:r>
            <a:r>
              <a:rPr lang="zh-CN" altLang="en-US" dirty="0"/>
              <a:t>，则</a:t>
            </a:r>
            <a:r>
              <a:rPr lang="en-US" altLang="zh-CN" i="1" dirty="0"/>
              <a:t>A </a:t>
            </a:r>
            <a:r>
              <a:rPr lang="en-US" altLang="zh-CN" dirty="0"/>
              <a:t>= </a:t>
            </a:r>
            <a:r>
              <a:rPr lang="en-US" altLang="zh-CN" i="1" dirty="0"/>
              <a:t>E</a:t>
            </a:r>
            <a:r>
              <a:rPr lang="en-US" altLang="zh-CN" dirty="0"/>
              <a:t>. </a:t>
            </a:r>
          </a:p>
          <a:p>
            <a:pPr marL="457200" indent="-457200"/>
            <a:r>
              <a:rPr lang="en-US" altLang="zh-CN" dirty="0"/>
              <a:t>  </a:t>
            </a:r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r>
              <a:rPr lang="en-US" altLang="zh-CN" i="1" dirty="0"/>
              <a:t>A </a:t>
            </a:r>
            <a:r>
              <a:rPr lang="en-US" altLang="zh-CN" dirty="0"/>
              <a:t>= {</a:t>
            </a:r>
            <a:r>
              <a:rPr lang="en-US" altLang="zh-CN" i="1" dirty="0"/>
              <a:t>x</a:t>
            </a:r>
            <a:r>
              <a:rPr lang="en-US" altLang="zh-CN" dirty="0"/>
              <a:t>}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i="1" dirty="0"/>
              <a:t>x</a:t>
            </a:r>
            <a:r>
              <a:rPr lang="zh-CN" altLang="en-US" dirty="0"/>
              <a:t>，则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zh-CN" altLang="en-US" dirty="0"/>
              <a:t>且</a:t>
            </a:r>
            <a:r>
              <a:rPr lang="en-US" altLang="zh-CN" i="1" dirty="0"/>
              <a:t>x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/>
              <a:t>. </a:t>
            </a:r>
          </a:p>
        </p:txBody>
      </p:sp>
    </p:spTree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DD4398C-9367-4D3C-87AE-D970D731C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CDEC8-4993-4372-AD4D-C18CD53BBF51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324610" name="Rectangle 2">
            <a:extLst>
              <a:ext uri="{FF2B5EF4-FFF2-40B4-BE49-F238E27FC236}">
                <a16:creationId xmlns:a16="http://schemas.microsoft.com/office/drawing/2014/main" id="{867C4238-5C04-4A94-BD8C-19F4934650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解题思路</a:t>
            </a:r>
          </a:p>
        </p:txBody>
      </p:sp>
      <p:sp>
        <p:nvSpPr>
          <p:cNvPr id="324611" name="Rectangle 3">
            <a:extLst>
              <a:ext uri="{FF2B5EF4-FFF2-40B4-BE49-F238E27FC236}">
                <a16:creationId xmlns:a16="http://schemas.microsoft.com/office/drawing/2014/main" id="{B26C7576-79F3-4BAC-9501-3332D5C260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先将等式化简或恒等变形</a:t>
            </a:r>
            <a:r>
              <a:rPr lang="en-US" altLang="zh-CN"/>
              <a:t>.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查找集合运算的相关的算律，如果与算律相符，结果为真</a:t>
            </a:r>
            <a:r>
              <a:rPr lang="en-US" altLang="zh-CN"/>
              <a:t>.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注意以下两个重要的充要条件</a:t>
            </a:r>
            <a:endParaRPr lang="zh-CN" altLang="en-US" i="1"/>
          </a:p>
          <a:p>
            <a:pPr>
              <a:buClr>
                <a:srgbClr val="FF9900"/>
              </a:buClr>
            </a:pPr>
            <a:r>
              <a:rPr lang="zh-CN" altLang="en-US" i="1"/>
              <a:t>    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</a:t>
            </a:r>
            <a:r>
              <a:rPr lang="en-US" altLang="zh-CN"/>
              <a:t> = </a:t>
            </a:r>
            <a:r>
              <a:rPr lang="en-US" altLang="zh-CN" i="1"/>
              <a:t>A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B</a:t>
            </a:r>
            <a:r>
              <a:rPr lang="en-US" altLang="zh-CN"/>
              <a:t> = 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 </a:t>
            </a:r>
            <a:endParaRPr lang="en-US" altLang="zh-CN" i="1"/>
          </a:p>
          <a:p>
            <a:pPr>
              <a:buClr>
                <a:srgbClr val="FF9900"/>
              </a:buClr>
            </a:pPr>
            <a:r>
              <a:rPr lang="en-US" altLang="zh-CN" i="1"/>
              <a:t>     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</a:t>
            </a:r>
            <a:r>
              <a:rPr lang="en-US" altLang="zh-CN"/>
              <a:t> = 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</a:t>
            </a:r>
            <a:r>
              <a:rPr lang="en-US" altLang="zh-CN" i="1"/>
              <a:t>B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/>
              <a:t>B = B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/>
              <a:t>B = A </a:t>
            </a:r>
          </a:p>
          <a:p>
            <a:pPr>
              <a:buClr>
                <a:srgbClr val="FF9900"/>
              </a:buClr>
            </a:pPr>
            <a:r>
              <a:rPr lang="en-US" altLang="zh-CN"/>
              <a:t>    </a:t>
            </a:r>
            <a:r>
              <a:rPr lang="zh-CN" altLang="en-US"/>
              <a:t>如果与条件相符，则命题为真</a:t>
            </a:r>
            <a:r>
              <a:rPr lang="en-US" altLang="zh-CN"/>
              <a:t>.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如果不符合算律，也不符合上述条件，可以用文氏图表示集合，看看命题是否成立</a:t>
            </a:r>
            <a:r>
              <a:rPr lang="en-US" altLang="zh-CN"/>
              <a:t>.</a:t>
            </a:r>
            <a:r>
              <a:rPr lang="zh-CN" altLang="en-US"/>
              <a:t>如果成立，再给出证明</a:t>
            </a:r>
            <a:r>
              <a:rPr lang="en-US" altLang="zh-CN"/>
              <a:t>.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试着举出反例，证明命题为假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18031B7-9C77-4038-829D-FAE83D289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34FDC-4489-4B3A-8519-65D9243B01DF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326658" name="Rectangle 2">
            <a:extLst>
              <a:ext uri="{FF2B5EF4-FFF2-40B4-BE49-F238E27FC236}">
                <a16:creationId xmlns:a16="http://schemas.microsoft.com/office/drawing/2014/main" id="{C53B660E-021C-46F1-8FE8-E41DC3CB11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解答</a:t>
            </a:r>
          </a:p>
        </p:txBody>
      </p:sp>
      <p:sp>
        <p:nvSpPr>
          <p:cNvPr id="326659" name="Rectangle 3">
            <a:extLst>
              <a:ext uri="{FF2B5EF4-FFF2-40B4-BE49-F238E27FC236}">
                <a16:creationId xmlns:a16="http://schemas.microsoft.com/office/drawing/2014/main" id="{63336D7E-91EA-4EEC-A85D-51E9480EFB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4525963"/>
          </a:xfrm>
        </p:spPr>
        <p:txBody>
          <a:bodyPr/>
          <a:lstStyle/>
          <a:p>
            <a:pPr marL="1082675" indent="-1082675"/>
            <a:r>
              <a:rPr lang="zh-CN" altLang="en-US"/>
              <a:t>解</a:t>
            </a:r>
          </a:p>
          <a:p>
            <a:pPr marL="1082675" indent="-1082675"/>
            <a:r>
              <a:rPr lang="en-US" altLang="zh-CN"/>
              <a:t>(1) 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zh-CN" altLang="en-US"/>
              <a:t>是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 i="1"/>
              <a:t>A</a:t>
            </a:r>
            <a:r>
              <a:rPr lang="zh-CN" altLang="en-US"/>
              <a:t>的充分条件，但不是必要条件</a:t>
            </a:r>
            <a:r>
              <a:rPr lang="en-US" altLang="zh-CN"/>
              <a:t>. </a:t>
            </a:r>
            <a:r>
              <a:rPr lang="zh-CN" altLang="en-US"/>
              <a:t>当</a:t>
            </a:r>
            <a:r>
              <a:rPr lang="en-US" altLang="zh-CN" i="1"/>
              <a:t>B</a:t>
            </a:r>
            <a:r>
              <a:rPr lang="zh-CN" altLang="en-US"/>
              <a:t>不空但</a:t>
            </a:r>
          </a:p>
          <a:p>
            <a:pPr marL="1082675" indent="-1082675"/>
            <a:r>
              <a:rPr lang="zh-CN" altLang="en-US"/>
              <a:t>     是与</a:t>
            </a:r>
            <a:r>
              <a:rPr lang="en-US" altLang="zh-CN" i="1"/>
              <a:t>A</a:t>
            </a:r>
            <a:r>
              <a:rPr lang="zh-CN" altLang="en-US"/>
              <a:t>不交时也有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 i="1"/>
              <a:t>A</a:t>
            </a:r>
            <a:r>
              <a:rPr lang="en-US" altLang="zh-CN"/>
              <a:t>. </a:t>
            </a:r>
          </a:p>
          <a:p>
            <a:pPr marL="1082675" indent="-1082675"/>
            <a:r>
              <a:rPr lang="en-US" altLang="zh-CN"/>
              <a:t>(2) </a:t>
            </a:r>
            <a:r>
              <a:rPr lang="zh-CN" altLang="en-US"/>
              <a:t>这是</a:t>
            </a:r>
            <a:r>
              <a:rPr lang="en-US" altLang="zh-CN"/>
              <a:t>DM</a:t>
            </a:r>
            <a:r>
              <a:rPr lang="zh-CN" altLang="en-US"/>
              <a:t>律，命题为真</a:t>
            </a:r>
            <a:r>
              <a:rPr lang="en-US" altLang="zh-CN"/>
              <a:t>.</a:t>
            </a:r>
          </a:p>
          <a:p>
            <a:pPr marL="1082675" indent="-1082675"/>
            <a:r>
              <a:rPr lang="en-US" altLang="zh-CN"/>
              <a:t>(3) </a:t>
            </a:r>
            <a:r>
              <a:rPr lang="zh-CN" altLang="en-US"/>
              <a:t>不符合算律，反例如下：</a:t>
            </a:r>
          </a:p>
          <a:p>
            <a:pPr marL="1082675" indent="-1082675"/>
            <a:r>
              <a:rPr lang="zh-CN" altLang="en-US"/>
              <a:t>              </a:t>
            </a:r>
            <a:r>
              <a:rPr lang="en-US" altLang="zh-CN" i="1"/>
              <a:t>A</a:t>
            </a:r>
            <a:r>
              <a:rPr lang="en-US" altLang="zh-CN"/>
              <a:t>={1}</a:t>
            </a:r>
            <a:r>
              <a:rPr lang="zh-CN" altLang="en-US"/>
              <a:t>，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A</a:t>
            </a:r>
            <a:r>
              <a:rPr lang="en-US" altLang="zh-CN"/>
              <a:t>=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zh-CN" altLang="en-US"/>
              <a:t>，但是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</a:t>
            </a:r>
            <a:r>
              <a:rPr lang="en-US" altLang="zh-CN"/>
              <a:t>.</a:t>
            </a:r>
          </a:p>
          <a:p>
            <a:pPr marL="1082675" indent="-1082675"/>
            <a:r>
              <a:rPr lang="en-US" altLang="zh-CN"/>
              <a:t>(4) </a:t>
            </a:r>
            <a:r>
              <a:rPr lang="zh-CN" altLang="en-US"/>
              <a:t>命题不为真</a:t>
            </a:r>
            <a:r>
              <a:rPr lang="en-US" altLang="zh-CN"/>
              <a:t>.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 i="1"/>
              <a:t>B</a:t>
            </a:r>
            <a:r>
              <a:rPr lang="zh-CN" altLang="en-US"/>
              <a:t>的充分必要条件是 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</a:t>
            </a:r>
            <a:r>
              <a:rPr lang="en-US" altLang="zh-CN" i="1"/>
              <a:t>A</a:t>
            </a:r>
            <a:r>
              <a:rPr lang="zh-CN" altLang="en-US"/>
              <a:t>，不是</a:t>
            </a:r>
            <a:r>
              <a:rPr lang="en-US" altLang="zh-CN" i="1"/>
              <a:t>A</a:t>
            </a:r>
            <a:r>
              <a:rPr lang="en-US" altLang="zh-CN"/>
              <a:t>=</a:t>
            </a:r>
            <a:r>
              <a:rPr lang="en-US" altLang="zh-CN" i="1"/>
              <a:t>E</a:t>
            </a:r>
            <a:r>
              <a:rPr lang="en-US" altLang="zh-CN"/>
              <a:t>. </a:t>
            </a:r>
          </a:p>
          <a:p>
            <a:pPr marL="1082675" indent="-1082675"/>
            <a:r>
              <a:rPr lang="en-US" altLang="zh-CN"/>
              <a:t>(5) </a:t>
            </a:r>
            <a:r>
              <a:rPr lang="zh-CN" altLang="en-US"/>
              <a:t>命题为真，因为 </a:t>
            </a:r>
            <a:r>
              <a:rPr lang="en-US" altLang="zh-CN" i="1"/>
              <a:t>x </a:t>
            </a:r>
            <a:r>
              <a:rPr lang="zh-CN" altLang="en-US"/>
              <a:t>既是 </a:t>
            </a:r>
            <a:r>
              <a:rPr lang="en-US" altLang="zh-CN" i="1"/>
              <a:t>A </a:t>
            </a:r>
            <a:r>
              <a:rPr lang="zh-CN" altLang="en-US"/>
              <a:t>的元素，也是 </a:t>
            </a:r>
            <a:r>
              <a:rPr lang="en-US" altLang="zh-CN" i="1"/>
              <a:t>A </a:t>
            </a:r>
            <a:r>
              <a:rPr lang="zh-CN" altLang="en-US"/>
              <a:t>的子集 </a:t>
            </a:r>
          </a:p>
        </p:txBody>
      </p:sp>
    </p:spTree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EB899D-95C1-441A-BF7D-827D2B320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89AA-F421-4EE3-ACFE-574CE484F71F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328706" name="Rectangle 2">
            <a:extLst>
              <a:ext uri="{FF2B5EF4-FFF2-40B4-BE49-F238E27FC236}">
                <a16:creationId xmlns:a16="http://schemas.microsoft.com/office/drawing/2014/main" id="{42977B8B-64F2-4E72-8893-C6B97ABA99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28707" name="Rectangle 3">
            <a:extLst>
              <a:ext uri="{FF2B5EF4-FFF2-40B4-BE49-F238E27FC236}">
                <a16:creationId xmlns:a16="http://schemas.microsoft.com/office/drawing/2014/main" id="{0D693023-3066-4E5C-92E6-6540E457B7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18488" cy="503238"/>
          </a:xfrm>
        </p:spPr>
        <p:txBody>
          <a:bodyPr/>
          <a:lstStyle/>
          <a:p>
            <a:r>
              <a:rPr lang="en-US" altLang="zh-CN"/>
              <a:t>4</a:t>
            </a:r>
            <a:r>
              <a:rPr lang="zh-CN" altLang="en-US"/>
              <a:t>．证明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B</a:t>
            </a:r>
            <a:r>
              <a:rPr lang="en-US" altLang="zh-CN"/>
              <a:t> =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C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</a:t>
            </a:r>
            <a:r>
              <a:rPr lang="en-US" altLang="zh-CN"/>
              <a:t>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B</a:t>
            </a:r>
            <a:r>
              <a:rPr lang="en-US" altLang="zh-CN"/>
              <a:t> =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C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 </a:t>
            </a:r>
            <a:r>
              <a:rPr lang="en-US" altLang="zh-CN" i="1"/>
              <a:t>B</a:t>
            </a:r>
            <a:r>
              <a:rPr lang="en-US" altLang="zh-CN"/>
              <a:t> = </a:t>
            </a:r>
            <a:r>
              <a:rPr lang="en-US" altLang="zh-CN" i="1"/>
              <a:t>C</a:t>
            </a:r>
          </a:p>
        </p:txBody>
      </p:sp>
      <p:sp>
        <p:nvSpPr>
          <p:cNvPr id="328709" name="Rectangle 5">
            <a:extLst>
              <a:ext uri="{FF2B5EF4-FFF2-40B4-BE49-F238E27FC236}">
                <a16:creationId xmlns:a16="http://schemas.microsoft.com/office/drawing/2014/main" id="{3FC4DBF7-E1EF-4A00-9980-EEAD2C08D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773238"/>
            <a:ext cx="8207375" cy="482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/>
              <a:t>解题思路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宋体" panose="02010600030101010101" pitchFamily="2" charset="-122"/>
              </a:rPr>
              <a:t>分析命题：含有</a:t>
            </a:r>
            <a:r>
              <a:rPr lang="en-US" altLang="zh-CN">
                <a:latin typeface="宋体" panose="02010600030101010101" pitchFamily="2" charset="-122"/>
              </a:rPr>
              <a:t>3</a:t>
            </a:r>
            <a:r>
              <a:rPr lang="zh-CN" altLang="en-US">
                <a:latin typeface="宋体" panose="02010600030101010101" pitchFamily="2" charset="-122"/>
              </a:rPr>
              <a:t>个命题：</a:t>
            </a:r>
          </a:p>
          <a:p>
            <a:pPr>
              <a:buClr>
                <a:srgbClr val="FF9900"/>
              </a:buClr>
            </a:pPr>
            <a:r>
              <a:rPr lang="zh-CN" altLang="en-US"/>
              <a:t>         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B</a:t>
            </a:r>
            <a:r>
              <a:rPr lang="en-US" altLang="zh-CN"/>
              <a:t> =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C</a:t>
            </a:r>
            <a:r>
              <a:rPr lang="en-US" altLang="zh-CN"/>
              <a:t> ,  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B</a:t>
            </a:r>
            <a:r>
              <a:rPr lang="en-US" altLang="zh-CN"/>
              <a:t> =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C,</a:t>
            </a:r>
            <a:r>
              <a:rPr lang="en-US" altLang="zh-CN"/>
              <a:t>     </a:t>
            </a:r>
            <a:r>
              <a:rPr lang="en-US" altLang="zh-CN" i="1"/>
              <a:t>B</a:t>
            </a:r>
            <a:r>
              <a:rPr lang="en-US" altLang="zh-CN"/>
              <a:t> = </a:t>
            </a:r>
            <a:r>
              <a:rPr lang="en-US" altLang="zh-CN" i="1"/>
              <a:t>C</a:t>
            </a:r>
            <a:endParaRPr lang="en-US" altLang="zh-CN"/>
          </a:p>
          <a:p>
            <a:pPr>
              <a:buClr>
                <a:srgbClr val="FF9900"/>
              </a:buClr>
            </a:pPr>
            <a:r>
              <a:rPr lang="en-US" altLang="zh-CN"/>
              <a:t>             ①                            ②                  ③      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500"/>
              <a:t>证明要求</a:t>
            </a:r>
          </a:p>
          <a:p>
            <a:pPr>
              <a:buClr>
                <a:srgbClr val="FF9900"/>
              </a:buClr>
            </a:pPr>
            <a:r>
              <a:rPr lang="zh-CN" altLang="en-US"/>
              <a:t>     前提：命题①和②</a:t>
            </a:r>
          </a:p>
          <a:p>
            <a:pPr>
              <a:buClr>
                <a:srgbClr val="FF9900"/>
              </a:buClr>
            </a:pPr>
            <a:r>
              <a:rPr lang="zh-CN" altLang="en-US"/>
              <a:t>     结论：命题③ 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500"/>
              <a:t>证明方法：</a:t>
            </a:r>
          </a:p>
          <a:p>
            <a:pPr>
              <a:buClr>
                <a:srgbClr val="FF9900"/>
              </a:buClr>
            </a:pPr>
            <a:r>
              <a:rPr lang="zh-CN" altLang="en-US"/>
              <a:t>     恒等式代入</a:t>
            </a:r>
          </a:p>
          <a:p>
            <a:pPr>
              <a:buClr>
                <a:srgbClr val="FF9900"/>
              </a:buClr>
            </a:pPr>
            <a:r>
              <a:rPr lang="zh-CN" altLang="en-US"/>
              <a:t>     反证法</a:t>
            </a:r>
          </a:p>
          <a:p>
            <a:pPr>
              <a:buClr>
                <a:srgbClr val="FF9900"/>
              </a:buClr>
            </a:pPr>
            <a:r>
              <a:rPr lang="zh-CN" altLang="en-US"/>
              <a:t>     利用已知等式通过运算得到新的等式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5C07861-C42D-4FFB-B6BF-1056999A90CF}"/>
              </a:ext>
            </a:extLst>
          </p:cNvPr>
          <p:cNvSpPr txBox="1"/>
          <p:nvPr/>
        </p:nvSpPr>
        <p:spPr>
          <a:xfrm>
            <a:off x="2555776" y="5013176"/>
            <a:ext cx="6264696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从结论等式左边出发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利用条件和恒等式变形得到右边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结论形式太简单时考虑先用同一律扩充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9A6FD60-D871-4EFC-94D8-82A3992DFEA7}"/>
              </a:ext>
            </a:extLst>
          </p:cNvPr>
          <p:cNvSpPr txBox="1"/>
          <p:nvPr/>
        </p:nvSpPr>
        <p:spPr>
          <a:xfrm>
            <a:off x="4427984" y="6483350"/>
            <a:ext cx="453650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从条件出发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利用恒等式变形得到结论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01F7A2-F571-45BC-89E6-081B4071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26B15-1905-4401-AF7B-04FD1E9A0D40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330754" name="Rectangle 2">
            <a:extLst>
              <a:ext uri="{FF2B5EF4-FFF2-40B4-BE49-F238E27FC236}">
                <a16:creationId xmlns:a16="http://schemas.microsoft.com/office/drawing/2014/main" id="{497E0BC0-8B53-4BB3-9F6F-1FEDBB399D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解答</a:t>
            </a:r>
          </a:p>
        </p:txBody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0B84588C-F3DE-4E2D-BA64-BEEAF063C0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7931150" cy="2232025"/>
          </a:xfrm>
        </p:spPr>
        <p:txBody>
          <a:bodyPr/>
          <a:lstStyle/>
          <a:p>
            <a:pPr marL="1530350" indent="-1530350"/>
            <a:r>
              <a:rPr lang="zh-CN" altLang="en-US"/>
              <a:t>方法一：恒等变形法  </a:t>
            </a:r>
            <a:endParaRPr lang="zh-CN" altLang="en-US" i="1"/>
          </a:p>
          <a:p>
            <a:pPr marL="1530350" indent="-1530350"/>
            <a:r>
              <a:rPr lang="zh-CN" altLang="en-US" i="1"/>
              <a:t>                    </a:t>
            </a:r>
            <a:r>
              <a:rPr lang="en-US" altLang="zh-CN" i="1"/>
              <a:t>B</a:t>
            </a:r>
            <a:r>
              <a:rPr lang="en-US" altLang="zh-CN"/>
              <a:t> = 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/>
              <a:t>(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A</a:t>
            </a:r>
            <a:r>
              <a:rPr lang="en-US" altLang="zh-CN"/>
              <a:t>) = 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B</a:t>
            </a:r>
            <a:r>
              <a:rPr lang="en-US" altLang="zh-CN"/>
              <a:t>) </a:t>
            </a:r>
          </a:p>
          <a:p>
            <a:pPr marL="1530350" indent="-1530350"/>
            <a:r>
              <a:rPr lang="en-US" altLang="zh-CN"/>
              <a:t>                 = 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C</a:t>
            </a:r>
            <a:r>
              <a:rPr lang="en-US" altLang="zh-CN"/>
              <a:t>) = (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A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/>
              <a:t>(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C</a:t>
            </a:r>
            <a:r>
              <a:rPr lang="en-US" altLang="zh-CN"/>
              <a:t>)</a:t>
            </a:r>
          </a:p>
          <a:p>
            <a:pPr marL="1530350" indent="-1530350"/>
            <a:r>
              <a:rPr lang="en-US" altLang="zh-CN"/>
              <a:t>                 = 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C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/>
              <a:t>(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C</a:t>
            </a:r>
            <a:r>
              <a:rPr lang="en-US" altLang="zh-CN"/>
              <a:t>) = 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B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C</a:t>
            </a:r>
            <a:r>
              <a:rPr lang="en-US" altLang="zh-CN"/>
              <a:t> </a:t>
            </a:r>
          </a:p>
          <a:p>
            <a:pPr marL="1530350" indent="-1530350"/>
            <a:r>
              <a:rPr lang="en-US" altLang="zh-CN"/>
              <a:t>                 = 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C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C</a:t>
            </a:r>
            <a:r>
              <a:rPr lang="en-US" altLang="zh-CN"/>
              <a:t> = </a:t>
            </a:r>
            <a:r>
              <a:rPr lang="en-US" altLang="zh-CN" i="1"/>
              <a:t>C</a:t>
            </a:r>
            <a:r>
              <a:rPr lang="en-US" altLang="zh-CN"/>
              <a:t> </a:t>
            </a:r>
          </a:p>
          <a:p>
            <a:pPr marL="1530350" indent="-1530350"/>
            <a:endParaRPr lang="en-US" altLang="zh-CN"/>
          </a:p>
        </p:txBody>
      </p:sp>
      <p:sp>
        <p:nvSpPr>
          <p:cNvPr id="330756" name="Rectangle 4">
            <a:extLst>
              <a:ext uri="{FF2B5EF4-FFF2-40B4-BE49-F238E27FC236}">
                <a16:creationId xmlns:a16="http://schemas.microsoft.com/office/drawing/2014/main" id="{C882F737-B3A1-4C46-87DC-6DDCC1437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787775"/>
            <a:ext cx="8208962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530350" indent="-153035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2528888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2936875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3344863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375285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421005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466725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512445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558165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/>
              <a:t>方法二：反证法</a:t>
            </a:r>
            <a:r>
              <a:rPr lang="en-US" altLang="zh-CN"/>
              <a:t>.</a:t>
            </a:r>
          </a:p>
          <a:p>
            <a:r>
              <a:rPr lang="zh-CN" altLang="en-US"/>
              <a:t>假设 </a:t>
            </a:r>
            <a:r>
              <a:rPr lang="en-US" altLang="zh-CN" i="1"/>
              <a:t>B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</a:t>
            </a:r>
            <a:r>
              <a:rPr lang="en-US" altLang="zh-CN"/>
              <a:t> </a:t>
            </a:r>
            <a:r>
              <a:rPr lang="en-US" altLang="zh-CN" i="1"/>
              <a:t>C</a:t>
            </a:r>
            <a:r>
              <a:rPr lang="zh-CN" altLang="en-US"/>
              <a:t>，则存在 </a:t>
            </a:r>
            <a:r>
              <a:rPr lang="en-US" altLang="zh-CN" i="1"/>
              <a:t>x</a:t>
            </a:r>
            <a:r>
              <a:rPr lang="en-US" altLang="zh-CN"/>
              <a:t> (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B</a:t>
            </a:r>
            <a:r>
              <a:rPr lang="zh-CN" altLang="en-US"/>
              <a:t>且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</a:t>
            </a:r>
            <a:r>
              <a:rPr lang="en-US" altLang="zh-CN" i="1"/>
              <a:t>C</a:t>
            </a:r>
            <a:r>
              <a:rPr lang="en-US" altLang="zh-CN"/>
              <a:t>), </a:t>
            </a:r>
            <a:r>
              <a:rPr lang="zh-CN" altLang="en-US"/>
              <a:t>或存在 </a:t>
            </a:r>
            <a:r>
              <a:rPr lang="en-US" altLang="zh-CN" i="1"/>
              <a:t>x</a:t>
            </a:r>
            <a:r>
              <a:rPr lang="en-US" altLang="zh-CN"/>
              <a:t> (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C</a:t>
            </a:r>
            <a:r>
              <a:rPr lang="zh-CN" altLang="en-US"/>
              <a:t>且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</a:t>
            </a:r>
            <a:r>
              <a:rPr lang="en-US" altLang="zh-CN" i="1"/>
              <a:t>B</a:t>
            </a:r>
            <a:r>
              <a:rPr lang="en-US" altLang="zh-CN"/>
              <a:t>).  </a:t>
            </a:r>
          </a:p>
          <a:p>
            <a:r>
              <a:rPr lang="zh-CN" altLang="en-US"/>
              <a:t>不妨设为前者</a:t>
            </a:r>
            <a:r>
              <a:rPr lang="en-US" altLang="zh-CN"/>
              <a:t>. </a:t>
            </a:r>
          </a:p>
          <a:p>
            <a:r>
              <a:rPr lang="zh-CN" altLang="en-US"/>
              <a:t>若</a:t>
            </a:r>
            <a:r>
              <a:rPr lang="en-US" altLang="zh-CN" i="1"/>
              <a:t>x</a:t>
            </a:r>
            <a:r>
              <a:rPr lang="zh-CN" altLang="en-US"/>
              <a:t>属于</a:t>
            </a:r>
            <a:r>
              <a:rPr lang="en-US" altLang="zh-CN" i="1"/>
              <a:t>A</a:t>
            </a:r>
            <a:r>
              <a:rPr lang="zh-CN" altLang="en-US"/>
              <a:t>，则</a:t>
            </a:r>
            <a:r>
              <a:rPr lang="en-US" altLang="zh-CN" i="1"/>
              <a:t>x</a:t>
            </a:r>
            <a:r>
              <a:rPr lang="zh-CN" altLang="en-US"/>
              <a:t>属于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B </a:t>
            </a:r>
            <a:r>
              <a:rPr lang="zh-CN" altLang="en-US"/>
              <a:t>但</a:t>
            </a:r>
            <a:r>
              <a:rPr lang="en-US" altLang="zh-CN" i="1"/>
              <a:t>x</a:t>
            </a:r>
            <a:r>
              <a:rPr lang="zh-CN" altLang="en-US"/>
              <a:t>不属于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C</a:t>
            </a:r>
            <a:r>
              <a:rPr lang="zh-CN" altLang="en-US"/>
              <a:t>，与已知矛盾；</a:t>
            </a:r>
          </a:p>
          <a:p>
            <a:r>
              <a:rPr lang="zh-CN" altLang="en-US"/>
              <a:t>若</a:t>
            </a:r>
            <a:r>
              <a:rPr lang="en-US" altLang="zh-CN" i="1"/>
              <a:t>x</a:t>
            </a:r>
            <a:r>
              <a:rPr lang="zh-CN" altLang="en-US"/>
              <a:t>不属于</a:t>
            </a:r>
            <a:r>
              <a:rPr lang="en-US" altLang="zh-CN" i="1"/>
              <a:t>A</a:t>
            </a:r>
            <a:r>
              <a:rPr lang="zh-CN" altLang="en-US"/>
              <a:t>，则</a:t>
            </a:r>
            <a:r>
              <a:rPr lang="en-US" altLang="zh-CN" i="1"/>
              <a:t>x</a:t>
            </a:r>
            <a:r>
              <a:rPr lang="zh-CN" altLang="en-US"/>
              <a:t>属于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B</a:t>
            </a:r>
            <a:r>
              <a:rPr lang="zh-CN" altLang="en-US"/>
              <a:t>但</a:t>
            </a:r>
            <a:r>
              <a:rPr lang="en-US" altLang="zh-CN" i="1"/>
              <a:t>x</a:t>
            </a:r>
            <a:r>
              <a:rPr lang="zh-CN" altLang="en-US"/>
              <a:t>不属于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C</a:t>
            </a:r>
            <a:r>
              <a:rPr lang="zh-CN" altLang="en-US"/>
              <a:t>，也与已知矛盾</a:t>
            </a:r>
            <a:r>
              <a:rPr lang="en-US" altLang="zh-CN"/>
              <a:t>. </a:t>
            </a:r>
          </a:p>
        </p:txBody>
      </p:sp>
    </p:spTree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16FA6EDD-9A96-45DB-BC58-78EDE36E9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EA753-AB6C-4938-8149-92E980681EB5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343042" name="Rectangle 2">
            <a:extLst>
              <a:ext uri="{FF2B5EF4-FFF2-40B4-BE49-F238E27FC236}">
                <a16:creationId xmlns:a16="http://schemas.microsoft.com/office/drawing/2014/main" id="{62FCD652-64A5-418F-9A7D-8F73327EF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解答</a:t>
            </a:r>
          </a:p>
        </p:txBody>
      </p:sp>
      <p:sp>
        <p:nvSpPr>
          <p:cNvPr id="343043" name="Rectangle 3">
            <a:extLst>
              <a:ext uri="{FF2B5EF4-FFF2-40B4-BE49-F238E27FC236}">
                <a16:creationId xmlns:a16="http://schemas.microsoft.com/office/drawing/2014/main" id="{55AFE88A-7173-4EEF-A24D-AAB5D43AE7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r>
              <a:rPr lang="zh-CN" altLang="en-US" dirty="0"/>
              <a:t>方法三：利用已知等式通过运算得到新的等式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由已知等式①和②可以得到</a:t>
            </a:r>
          </a:p>
          <a:p>
            <a:r>
              <a:rPr lang="zh-CN" altLang="en-US" dirty="0"/>
              <a:t>                 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i="1" dirty="0"/>
              <a:t>B</a:t>
            </a:r>
            <a:r>
              <a:rPr lang="en-US" altLang="zh-CN" dirty="0"/>
              <a:t>) = 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i="1" dirty="0"/>
              <a:t>C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i="1" dirty="0"/>
              <a:t>C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即 </a:t>
            </a:r>
          </a:p>
          <a:p>
            <a:r>
              <a:rPr lang="zh-CN" altLang="en-US" dirty="0"/>
              <a:t>                            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i="1" dirty="0"/>
              <a:t>B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i="1" dirty="0"/>
              <a:t>C</a:t>
            </a:r>
            <a:r>
              <a:rPr lang="en-US" altLang="zh-CN" dirty="0"/>
              <a:t>  </a:t>
            </a:r>
          </a:p>
          <a:p>
            <a:r>
              <a:rPr lang="zh-CN" altLang="en-US" dirty="0"/>
              <a:t>从而有</a:t>
            </a:r>
            <a:endParaRPr lang="zh-CN" altLang="en-US" i="1" dirty="0"/>
          </a:p>
          <a:p>
            <a:r>
              <a:rPr lang="zh-CN" altLang="en-US" i="1" dirty="0"/>
              <a:t>                     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i="1" dirty="0"/>
              <a:t>B</a:t>
            </a:r>
            <a:r>
              <a:rPr lang="en-US" altLang="zh-CN" dirty="0"/>
              <a:t>) =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i="1" dirty="0"/>
              <a:t>C</a:t>
            </a:r>
            <a:r>
              <a:rPr lang="en-US" altLang="zh-CN" dirty="0"/>
              <a:t>) </a:t>
            </a:r>
          </a:p>
          <a:p>
            <a:r>
              <a:rPr lang="zh-CN" altLang="en-US" dirty="0"/>
              <a:t>根据结合律得</a:t>
            </a:r>
          </a:p>
          <a:p>
            <a:r>
              <a:rPr lang="zh-CN" altLang="en-US" dirty="0"/>
              <a:t>                      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i="1" dirty="0"/>
              <a:t>B</a:t>
            </a:r>
            <a:r>
              <a:rPr lang="en-US" altLang="zh-CN" dirty="0"/>
              <a:t> = 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i="1" dirty="0"/>
              <a:t>A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i="1" dirty="0"/>
              <a:t>C</a:t>
            </a:r>
            <a:r>
              <a:rPr lang="en-US" altLang="zh-CN" dirty="0"/>
              <a:t>   </a:t>
            </a:r>
          </a:p>
          <a:p>
            <a:r>
              <a:rPr lang="zh-CN" altLang="en-US" dirty="0"/>
              <a:t>由于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i="1" dirty="0"/>
              <a:t>A</a:t>
            </a:r>
            <a:r>
              <a:rPr lang="en-US" altLang="zh-CN" dirty="0"/>
              <a:t> = 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, </a:t>
            </a:r>
            <a:r>
              <a:rPr lang="zh-CN" altLang="en-US" dirty="0"/>
              <a:t>化简上式得</a:t>
            </a:r>
            <a:r>
              <a:rPr lang="en-US" altLang="zh-CN" i="1" dirty="0"/>
              <a:t>B</a:t>
            </a:r>
            <a:r>
              <a:rPr lang="en-US" altLang="zh-CN" dirty="0"/>
              <a:t> = </a:t>
            </a:r>
            <a:r>
              <a:rPr lang="en-US" altLang="zh-CN" i="1" dirty="0"/>
              <a:t>C</a:t>
            </a:r>
            <a:r>
              <a:rPr lang="en-US" altLang="zh-CN" dirty="0"/>
              <a:t>.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635422-52AE-497A-A5BC-E1CFFD69B4CE}"/>
              </a:ext>
            </a:extLst>
          </p:cNvPr>
          <p:cNvSpPr txBox="1"/>
          <p:nvPr/>
        </p:nvSpPr>
        <p:spPr>
          <a:xfrm>
            <a:off x="2555776" y="6457890"/>
            <a:ext cx="658822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拓展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差相等的集合后相等是否是集合相等的充要条件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CF1E2F-079A-4843-8A09-DC3EDA438111}"/>
              </a:ext>
            </a:extLst>
          </p:cNvPr>
          <p:cNvSpPr/>
          <p:nvPr/>
        </p:nvSpPr>
        <p:spPr>
          <a:xfrm>
            <a:off x="3672880" y="5724812"/>
            <a:ext cx="936104" cy="6046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7A52D7-F99E-454C-8A29-C4CE3D78D208}"/>
              </a:ext>
            </a:extLst>
          </p:cNvPr>
          <p:cNvSpPr/>
          <p:nvPr/>
        </p:nvSpPr>
        <p:spPr>
          <a:xfrm>
            <a:off x="3672880" y="6234106"/>
            <a:ext cx="1296144" cy="95337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178E83-702C-4A83-B3ED-AFE3BD5BF5D5}"/>
              </a:ext>
            </a:extLst>
          </p:cNvPr>
          <p:cNvSpPr/>
          <p:nvPr/>
        </p:nvSpPr>
        <p:spPr>
          <a:xfrm>
            <a:off x="4608984" y="5900651"/>
            <a:ext cx="648072" cy="438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49FC8C1-9DD2-41CB-937B-F7D6637C971E}"/>
              </a:ext>
            </a:extLst>
          </p:cNvPr>
          <p:cNvSpPr/>
          <p:nvPr/>
        </p:nvSpPr>
        <p:spPr>
          <a:xfrm>
            <a:off x="5905128" y="5731081"/>
            <a:ext cx="936104" cy="6046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EDB920-887A-4C2F-A8F1-6C7612B967CB}"/>
              </a:ext>
            </a:extLst>
          </p:cNvPr>
          <p:cNvSpPr/>
          <p:nvPr/>
        </p:nvSpPr>
        <p:spPr>
          <a:xfrm>
            <a:off x="5905128" y="5935603"/>
            <a:ext cx="1296144" cy="40011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35155D-AB75-47B6-965D-C12B5341B715}"/>
              </a:ext>
            </a:extLst>
          </p:cNvPr>
          <p:cNvSpPr/>
          <p:nvPr/>
        </p:nvSpPr>
        <p:spPr>
          <a:xfrm>
            <a:off x="6841232" y="5906920"/>
            <a:ext cx="648072" cy="438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C707B28-1382-4D5A-8A05-AF216C0A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246-6CE9-42D3-AF71-527FA937ACE2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79F62362-269C-41F2-B3A2-F15A646CE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46FEC291-51F4-4C78-9381-661E8D025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US" altLang="zh-CN"/>
              <a:t>5</a:t>
            </a:r>
            <a:r>
              <a:rPr lang="zh-CN" altLang="en-US"/>
              <a:t>．设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zh-CN" altLang="en-US"/>
              <a:t>为集合，试确定下列各式成立的充分必要条件：</a:t>
            </a:r>
          </a:p>
          <a:p>
            <a:r>
              <a:rPr lang="en-US" altLang="zh-CN"/>
              <a:t>(1) 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 i="1"/>
              <a:t>B</a:t>
            </a:r>
            <a:endParaRPr lang="en-US" altLang="zh-CN"/>
          </a:p>
          <a:p>
            <a:r>
              <a:rPr lang="en-US" altLang="zh-CN"/>
              <a:t>(2) 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A</a:t>
            </a:r>
            <a:endParaRPr lang="en-US" altLang="zh-CN"/>
          </a:p>
          <a:p>
            <a:r>
              <a:rPr lang="en-US" altLang="zh-CN"/>
              <a:t>(3) 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B</a:t>
            </a:r>
            <a:endParaRPr lang="en-US" altLang="zh-CN"/>
          </a:p>
          <a:p>
            <a:r>
              <a:rPr lang="en-US" altLang="zh-CN"/>
              <a:t>(4) 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 i="1"/>
              <a:t>A</a:t>
            </a:r>
          </a:p>
        </p:txBody>
      </p:sp>
    </p:spTree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3733041D-2576-4E8E-BA28-F8D06DDB0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2F22-7C44-4116-BE56-1C8B0DB2A3D7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347138" name="Rectangle 2">
            <a:extLst>
              <a:ext uri="{FF2B5EF4-FFF2-40B4-BE49-F238E27FC236}">
                <a16:creationId xmlns:a16="http://schemas.microsoft.com/office/drawing/2014/main" id="{CE6A32BF-259F-44C9-92A3-E58252AF0B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分析</a:t>
            </a:r>
          </a:p>
        </p:txBody>
      </p:sp>
      <p:sp>
        <p:nvSpPr>
          <p:cNvPr id="347139" name="Rectangle 3">
            <a:extLst>
              <a:ext uri="{FF2B5EF4-FFF2-40B4-BE49-F238E27FC236}">
                <a16:creationId xmlns:a16="http://schemas.microsoft.com/office/drawing/2014/main" id="{929E2985-C467-4576-B97D-794475AB9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marL="0" indent="0"/>
            <a:r>
              <a:rPr lang="zh-CN" altLang="en-US" dirty="0"/>
              <a:t>解题思路</a:t>
            </a:r>
            <a:r>
              <a:rPr lang="en-US" altLang="zh-CN" dirty="0"/>
              <a:t>: </a:t>
            </a:r>
          </a:p>
          <a:p>
            <a:pPr marL="0" indent="0"/>
            <a:r>
              <a:rPr lang="zh-CN" altLang="en-US" dirty="0"/>
              <a:t>求解集合等式成立的充分必要条件可能用到集合的算律、不同集合之间的包含关系、以及文氏图等</a:t>
            </a:r>
            <a:r>
              <a:rPr lang="en-US" altLang="zh-CN" dirty="0"/>
              <a:t>. </a:t>
            </a:r>
            <a:r>
              <a:rPr lang="zh-CN" altLang="en-US" dirty="0"/>
              <a:t>具体求解过程说明如下：</a:t>
            </a:r>
          </a:p>
          <a:p>
            <a:pPr marL="0" indent="0"/>
            <a:r>
              <a:rPr lang="zh-CN" altLang="en-US" dirty="0"/>
              <a:t>      </a:t>
            </a:r>
            <a:r>
              <a:rPr lang="en-US" altLang="zh-CN" dirty="0"/>
              <a:t>(1) </a:t>
            </a:r>
            <a:r>
              <a:rPr lang="zh-CN" altLang="en-US" dirty="0"/>
              <a:t>化简给定的集合等式</a:t>
            </a:r>
          </a:p>
          <a:p>
            <a:pPr marL="0" indent="0"/>
            <a:r>
              <a:rPr lang="zh-CN" altLang="en-US" dirty="0"/>
              <a:t>      </a:t>
            </a:r>
            <a:r>
              <a:rPr lang="en-US" altLang="zh-CN" dirty="0"/>
              <a:t>(2) </a:t>
            </a:r>
            <a:r>
              <a:rPr lang="zh-CN" altLang="en-US" dirty="0"/>
              <a:t>求解方法如下：</a:t>
            </a:r>
          </a:p>
          <a:p>
            <a:pPr marL="830263" lvl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利用已知的算律或者充分必要条件进行判断</a:t>
            </a:r>
          </a:p>
          <a:p>
            <a:pPr marL="830263" lvl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先求必要条件，然后验证充分性</a:t>
            </a:r>
          </a:p>
          <a:p>
            <a:pPr marL="830263" lvl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利用文氏图的直观性找出相关的条件，再利用集合论的证明方法加以验证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C16495-1407-4832-A6DF-5E757A45E74E}"/>
              </a:ext>
            </a:extLst>
          </p:cNvPr>
          <p:cNvSpPr txBox="1"/>
          <p:nvPr/>
        </p:nvSpPr>
        <p:spPr>
          <a:xfrm>
            <a:off x="1277888" y="5589587"/>
            <a:ext cx="658822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集合不多时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推荐使用成员表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78D672-4824-4A25-9997-5839A5E0D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CAD17-2833-42AD-9EC8-8189D754A260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349186" name="Rectangle 2">
            <a:extLst>
              <a:ext uri="{FF2B5EF4-FFF2-40B4-BE49-F238E27FC236}">
                <a16:creationId xmlns:a16="http://schemas.microsoft.com/office/drawing/2014/main" id="{2AF3B7DD-F232-4DAD-88A5-A6F35BCE3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解答</a:t>
            </a:r>
          </a:p>
        </p:txBody>
      </p:sp>
      <p:sp>
        <p:nvSpPr>
          <p:cNvPr id="349187" name="Rectangle 3">
            <a:extLst>
              <a:ext uri="{FF2B5EF4-FFF2-40B4-BE49-F238E27FC236}">
                <a16:creationId xmlns:a16="http://schemas.microsoft.com/office/drawing/2014/main" id="{546F8DAD-7381-423B-A966-E0D8CEC5A2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8075613" cy="3168650"/>
          </a:xfrm>
        </p:spPr>
        <p:txBody>
          <a:bodyPr/>
          <a:lstStyle/>
          <a:p>
            <a:pPr marL="990600" indent="-990600"/>
            <a:r>
              <a:rPr lang="zh-CN" altLang="en-US"/>
              <a:t>解</a:t>
            </a:r>
          </a:p>
          <a:p>
            <a:pPr marL="990600" indent="-990600"/>
            <a:r>
              <a:rPr lang="en-US" altLang="zh-CN"/>
              <a:t>(1) 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 i="1"/>
              <a:t>B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 i="1"/>
              <a:t>A</a:t>
            </a:r>
            <a:r>
              <a:rPr lang="en-US" altLang="zh-CN"/>
              <a:t>=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. </a:t>
            </a:r>
            <a:r>
              <a:rPr lang="zh-CN" altLang="en-US"/>
              <a:t>求解过程如下： </a:t>
            </a:r>
          </a:p>
          <a:p>
            <a:pPr marL="990600" indent="-990600"/>
            <a:r>
              <a:rPr lang="zh-CN" altLang="en-US"/>
              <a:t>由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 i="1"/>
              <a:t>B</a:t>
            </a:r>
            <a:r>
              <a:rPr lang="zh-CN" altLang="en-US"/>
              <a:t>得</a:t>
            </a:r>
          </a:p>
          <a:p>
            <a:pPr marL="990600" indent="-990600"/>
            <a:r>
              <a:rPr lang="zh-CN" altLang="en-US"/>
              <a:t>                     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</a:t>
            </a:r>
            <a:r>
              <a:rPr lang="en-US" altLang="zh-CN" i="1"/>
              <a:t>B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B</a:t>
            </a:r>
            <a:r>
              <a:rPr lang="en-US" altLang="zh-CN"/>
              <a:t> = 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B</a:t>
            </a:r>
            <a:r>
              <a:rPr lang="en-US" altLang="zh-CN"/>
              <a:t> </a:t>
            </a:r>
          </a:p>
          <a:p>
            <a:pPr marL="990600" indent="-990600"/>
            <a:r>
              <a:rPr lang="zh-CN" altLang="en-US"/>
              <a:t>化简得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. </a:t>
            </a:r>
            <a:r>
              <a:rPr lang="zh-CN" altLang="en-US"/>
              <a:t>再将这个结果代入原来的等式得</a:t>
            </a:r>
            <a:r>
              <a:rPr lang="en-US" altLang="zh-CN" i="1"/>
              <a:t>A</a:t>
            </a:r>
            <a:r>
              <a:rPr lang="en-US" altLang="zh-CN"/>
              <a:t>= 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. </a:t>
            </a:r>
            <a:r>
              <a:rPr lang="zh-CN" altLang="en-US"/>
              <a:t>从</a:t>
            </a:r>
          </a:p>
          <a:p>
            <a:pPr marL="990600" indent="-990600"/>
            <a:r>
              <a:rPr lang="zh-CN" altLang="en-US"/>
              <a:t>而得到必要条件</a:t>
            </a:r>
            <a:r>
              <a:rPr lang="en-US" altLang="zh-CN" i="1"/>
              <a:t>A</a:t>
            </a:r>
            <a:r>
              <a:rPr lang="en-US" altLang="zh-CN"/>
              <a:t>=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.</a:t>
            </a:r>
          </a:p>
          <a:p>
            <a:pPr marL="990600" indent="-990600"/>
            <a:r>
              <a:rPr lang="zh-CN" altLang="en-US"/>
              <a:t>再验证充分性</a:t>
            </a:r>
            <a:r>
              <a:rPr lang="en-US" altLang="zh-CN"/>
              <a:t>. </a:t>
            </a:r>
            <a:r>
              <a:rPr lang="zh-CN" altLang="en-US"/>
              <a:t>如果</a:t>
            </a:r>
            <a:r>
              <a:rPr lang="en-US" altLang="zh-CN" i="1"/>
              <a:t>A</a:t>
            </a:r>
            <a:r>
              <a:rPr lang="en-US" altLang="zh-CN"/>
              <a:t>=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zh-CN" altLang="en-US"/>
              <a:t>成立，则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=</a:t>
            </a:r>
            <a:r>
              <a:rPr lang="en-US" altLang="zh-CN" i="1"/>
              <a:t>B</a:t>
            </a:r>
            <a:r>
              <a:rPr lang="zh-CN" altLang="en-US"/>
              <a:t>也成立</a:t>
            </a:r>
            <a:r>
              <a:rPr lang="en-US" altLang="zh-CN"/>
              <a:t>.</a:t>
            </a:r>
          </a:p>
        </p:txBody>
      </p:sp>
      <p:sp>
        <p:nvSpPr>
          <p:cNvPr id="349188" name="Rectangle 4">
            <a:extLst>
              <a:ext uri="{FF2B5EF4-FFF2-40B4-BE49-F238E27FC236}">
                <a16:creationId xmlns:a16="http://schemas.microsoft.com/office/drawing/2014/main" id="{D9ED5235-8A97-49AC-A8F1-6B66B38F6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503738"/>
            <a:ext cx="8207375" cy="187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990600" indent="-9906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455738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863725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2271713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6797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31369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5941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40513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5085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/>
              <a:t> (2)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A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 i="1"/>
              <a:t>A</a:t>
            </a:r>
            <a:r>
              <a:rPr lang="en-US" altLang="zh-CN"/>
              <a:t>=</a:t>
            </a:r>
            <a:r>
              <a:rPr lang="en-US" altLang="zh-CN" i="1"/>
              <a:t>B</a:t>
            </a:r>
            <a:r>
              <a:rPr lang="en-US" altLang="zh-CN"/>
              <a:t>. </a:t>
            </a:r>
            <a:r>
              <a:rPr lang="zh-CN" altLang="en-US"/>
              <a:t>求解过程如下：</a:t>
            </a:r>
          </a:p>
          <a:p>
            <a:r>
              <a:rPr lang="zh-CN" altLang="en-US"/>
              <a:t>充分性是显然的，下面验证必要性</a:t>
            </a:r>
            <a:r>
              <a:rPr lang="en-US" altLang="zh-CN"/>
              <a:t>. </a:t>
            </a:r>
            <a:r>
              <a:rPr lang="zh-CN" altLang="en-US"/>
              <a:t>由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A</a:t>
            </a:r>
            <a:r>
              <a:rPr lang="zh-CN" altLang="en-US"/>
              <a:t>得</a:t>
            </a:r>
          </a:p>
          <a:p>
            <a:r>
              <a:rPr lang="zh-CN" altLang="en-US"/>
              <a:t>                   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B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A</a:t>
            </a:r>
            <a:r>
              <a:rPr lang="en-US" altLang="zh-CN"/>
              <a:t>=(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A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A</a:t>
            </a:r>
            <a:endParaRPr lang="en-US" altLang="zh-CN"/>
          </a:p>
          <a:p>
            <a:r>
              <a:rPr lang="zh-CN" altLang="en-US"/>
              <a:t>从而有</a:t>
            </a:r>
            <a:r>
              <a:rPr lang="en-US" altLang="zh-CN" i="1"/>
              <a:t>A</a:t>
            </a:r>
            <a:r>
              <a:rPr lang="en-US" altLang="zh-CN"/>
              <a:t>=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zh-CN" altLang="en-US"/>
              <a:t>即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</a:t>
            </a:r>
            <a:r>
              <a:rPr lang="en-US" altLang="zh-CN" i="1"/>
              <a:t>B</a:t>
            </a:r>
            <a:r>
              <a:rPr lang="en-US" altLang="zh-CN"/>
              <a:t>. </a:t>
            </a:r>
            <a:r>
              <a:rPr lang="zh-CN" altLang="en-US"/>
              <a:t>同理可证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</a:t>
            </a:r>
            <a:r>
              <a:rPr lang="en-US" altLang="zh-CN" i="1"/>
              <a:t>A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6FF541-D597-483D-AEE9-C885684E7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A5A7E-C6BF-440E-A9EC-04777ADCE7C0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351234" name="Rectangle 2">
            <a:extLst>
              <a:ext uri="{FF2B5EF4-FFF2-40B4-BE49-F238E27FC236}">
                <a16:creationId xmlns:a16="http://schemas.microsoft.com/office/drawing/2014/main" id="{EC3456C9-5F15-4B1B-A124-3F2218BC64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解答</a:t>
            </a:r>
          </a:p>
        </p:txBody>
      </p:sp>
      <p:sp>
        <p:nvSpPr>
          <p:cNvPr id="351235" name="Rectangle 3">
            <a:extLst>
              <a:ext uri="{FF2B5EF4-FFF2-40B4-BE49-F238E27FC236}">
                <a16:creationId xmlns:a16="http://schemas.microsoft.com/office/drawing/2014/main" id="{4DFE4346-C9A1-42FC-98DB-22B669FD8B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18488" cy="1871663"/>
          </a:xfrm>
        </p:spPr>
        <p:txBody>
          <a:bodyPr/>
          <a:lstStyle/>
          <a:p>
            <a:r>
              <a:rPr lang="en-US" altLang="zh-CN"/>
              <a:t>(3)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B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 i="1"/>
              <a:t>A</a:t>
            </a:r>
            <a:r>
              <a:rPr lang="en-US" altLang="zh-CN"/>
              <a:t>=</a:t>
            </a:r>
            <a:r>
              <a:rPr lang="en-US" altLang="zh-CN" i="1"/>
              <a:t>B</a:t>
            </a:r>
            <a:r>
              <a:rPr lang="en-US" altLang="zh-CN"/>
              <a:t>. </a:t>
            </a:r>
            <a:r>
              <a:rPr lang="zh-CN" altLang="en-US"/>
              <a:t>求解过程如下：</a:t>
            </a:r>
          </a:p>
          <a:p>
            <a:r>
              <a:rPr lang="zh-CN" altLang="en-US"/>
              <a:t>充分性是显然的，下面验证必要性</a:t>
            </a:r>
            <a:r>
              <a:rPr lang="en-US" altLang="zh-CN"/>
              <a:t>. </a:t>
            </a:r>
            <a:r>
              <a:rPr lang="zh-CN" altLang="en-US"/>
              <a:t>由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B</a:t>
            </a:r>
            <a:r>
              <a:rPr lang="zh-CN" altLang="en-US"/>
              <a:t>得</a:t>
            </a:r>
          </a:p>
          <a:p>
            <a:r>
              <a:rPr lang="zh-CN" altLang="en-US"/>
              <a:t>                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B</a:t>
            </a:r>
            <a:r>
              <a:rPr lang="en-US" altLang="zh-CN"/>
              <a:t>) =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B</a:t>
            </a:r>
            <a:r>
              <a:rPr lang="en-US" altLang="zh-CN"/>
              <a:t>)</a:t>
            </a:r>
          </a:p>
          <a:p>
            <a:r>
              <a:rPr lang="zh-CN" altLang="en-US"/>
              <a:t>化简得</a:t>
            </a:r>
            <a:r>
              <a:rPr lang="en-US" altLang="zh-CN" i="1"/>
              <a:t>A </a:t>
            </a:r>
            <a:r>
              <a:rPr lang="en-US" altLang="zh-CN"/>
              <a:t>=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B</a:t>
            </a:r>
            <a:r>
              <a:rPr lang="zh-CN" altLang="en-US"/>
              <a:t>，从而有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</a:t>
            </a:r>
            <a:r>
              <a:rPr lang="en-US" altLang="zh-CN" i="1"/>
              <a:t>B</a:t>
            </a:r>
            <a:r>
              <a:rPr lang="en-US" altLang="zh-CN"/>
              <a:t>. </a:t>
            </a:r>
            <a:r>
              <a:rPr lang="zh-CN" altLang="en-US"/>
              <a:t>类似可以证明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</a:t>
            </a:r>
            <a:r>
              <a:rPr lang="en-US" altLang="zh-CN" i="1"/>
              <a:t>A</a:t>
            </a:r>
            <a:r>
              <a:rPr lang="en-US" altLang="zh-CN"/>
              <a:t>.      </a:t>
            </a:r>
          </a:p>
        </p:txBody>
      </p:sp>
      <p:sp>
        <p:nvSpPr>
          <p:cNvPr id="351236" name="Rectangle 4">
            <a:extLst>
              <a:ext uri="{FF2B5EF4-FFF2-40B4-BE49-F238E27FC236}">
                <a16:creationId xmlns:a16="http://schemas.microsoft.com/office/drawing/2014/main" id="{C8ECA63D-57F0-4FDC-9E54-D2F179968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500438"/>
            <a:ext cx="8208962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/>
              <a:t>(4) 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 i="1"/>
              <a:t>A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 i="1"/>
              <a:t>B</a:t>
            </a:r>
            <a:r>
              <a:rPr lang="en-US" altLang="zh-CN"/>
              <a:t>=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. </a:t>
            </a:r>
            <a:r>
              <a:rPr lang="zh-CN" altLang="en-US"/>
              <a:t>求解过程如下：</a:t>
            </a:r>
          </a:p>
          <a:p>
            <a:r>
              <a:rPr lang="zh-CN" altLang="en-US"/>
              <a:t>充分性是显然的，下面验证必要性</a:t>
            </a:r>
            <a:r>
              <a:rPr lang="en-US" altLang="zh-CN"/>
              <a:t>. </a:t>
            </a:r>
            <a:r>
              <a:rPr lang="zh-CN" altLang="en-US"/>
              <a:t>由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B</a:t>
            </a:r>
            <a:r>
              <a:rPr lang="en-US" altLang="zh-CN"/>
              <a:t> = </a:t>
            </a:r>
            <a:r>
              <a:rPr lang="en-US" altLang="zh-CN" i="1"/>
              <a:t>A</a:t>
            </a:r>
            <a:r>
              <a:rPr lang="zh-CN" altLang="en-US"/>
              <a:t>得</a:t>
            </a:r>
          </a:p>
          <a:p>
            <a:r>
              <a:rPr lang="zh-CN" altLang="en-US"/>
              <a:t>                      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B</a:t>
            </a:r>
            <a:r>
              <a:rPr lang="en-US" altLang="zh-CN"/>
              <a:t>) =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A</a:t>
            </a:r>
            <a:endParaRPr lang="en-US" altLang="zh-CN"/>
          </a:p>
          <a:p>
            <a:r>
              <a:rPr lang="zh-CN" altLang="en-US"/>
              <a:t>根据结合律有</a:t>
            </a:r>
          </a:p>
          <a:p>
            <a:r>
              <a:rPr lang="zh-CN" altLang="en-US"/>
              <a:t>                        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A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B </a:t>
            </a:r>
            <a:r>
              <a:rPr lang="en-US" altLang="zh-CN"/>
              <a:t>=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A</a:t>
            </a:r>
            <a:endParaRPr lang="en-US" altLang="zh-CN"/>
          </a:p>
          <a:p>
            <a:r>
              <a:rPr lang="zh-CN" altLang="en-US"/>
              <a:t>即 </a:t>
            </a:r>
            <a:r>
              <a:rPr lang="zh-CN" altLang="en-US">
                <a:sym typeface="Symbol" panose="05050102010706020507" pitchFamily="18" charset="2"/>
              </a:rPr>
              <a:t></a:t>
            </a:r>
            <a:r>
              <a:rPr lang="en-US" altLang="zh-CN" i="1"/>
              <a:t>B </a:t>
            </a:r>
            <a:r>
              <a:rPr lang="en-US" altLang="zh-CN"/>
              <a:t>= 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, </a:t>
            </a:r>
            <a:r>
              <a:rPr lang="zh-CN" altLang="en-US"/>
              <a:t>就是</a:t>
            </a:r>
            <a:r>
              <a:rPr lang="en-US" altLang="zh-CN" i="1"/>
              <a:t>B </a:t>
            </a:r>
            <a:r>
              <a:rPr lang="en-US" altLang="zh-CN"/>
              <a:t>= 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. </a:t>
            </a:r>
          </a:p>
        </p:txBody>
      </p:sp>
    </p:spTree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C707B28-1382-4D5A-8A05-AF216C0A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246-6CE9-42D3-AF71-527FA937ACE2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79F62362-269C-41F2-B3A2-F15A646CE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练习</a:t>
            </a:r>
            <a:r>
              <a:rPr lang="en-US" altLang="zh-CN" dirty="0"/>
              <a:t>6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46FEC291-51F4-4C78-9381-661E8D025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．</a:t>
            </a:r>
            <a:r>
              <a:rPr lang="pt-BR" altLang="zh-CN" dirty="0"/>
              <a:t>C∈P(A)  ⇔  C </a:t>
            </a:r>
            <a:r>
              <a:rPr lang="pt-BR" altLang="zh-CN" u="sng" dirty="0"/>
              <a:t>  ?  </a:t>
            </a:r>
            <a:r>
              <a:rPr lang="pt-BR" altLang="zh-CN" dirty="0"/>
              <a:t> A</a:t>
            </a:r>
          </a:p>
          <a:p>
            <a:r>
              <a:rPr lang="pt-BR" altLang="zh-CN" dirty="0"/>
              <a:t>      a∈A  ⇔  {a} </a:t>
            </a:r>
            <a:r>
              <a:rPr lang="pt-BR" altLang="zh-CN" u="sng" dirty="0"/>
              <a:t>  ?  </a:t>
            </a:r>
            <a:r>
              <a:rPr lang="pt-BR" altLang="zh-CN" dirty="0"/>
              <a:t> A  ⇔  {a} </a:t>
            </a:r>
            <a:r>
              <a:rPr lang="pt-BR" altLang="zh-CN" u="sng" dirty="0"/>
              <a:t>  ?  </a:t>
            </a:r>
            <a:r>
              <a:rPr lang="pt-BR" altLang="zh-CN" dirty="0"/>
              <a:t> P(A)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07734585"/>
      </p:ext>
    </p:extLst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C707B28-1382-4D5A-8A05-AF216C0A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246-6CE9-42D3-AF71-527FA937ACE2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79F62362-269C-41F2-B3A2-F15A646CE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练习</a:t>
            </a:r>
            <a:r>
              <a:rPr lang="en-US" altLang="zh-CN" dirty="0"/>
              <a:t>6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46FEC291-51F4-4C78-9381-661E8D025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．</a:t>
            </a:r>
            <a:r>
              <a:rPr lang="pt-BR" altLang="zh-CN" dirty="0"/>
              <a:t>C∈P(A)  ⇔  C ⊆ A</a:t>
            </a:r>
          </a:p>
          <a:p>
            <a:r>
              <a:rPr lang="pt-BR" altLang="zh-CN" dirty="0"/>
              <a:t>      a∈A  ⇔  {a} ⊆ A  ⇔  {a}∈P(A)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05378711"/>
      </p:ext>
    </p:extLst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C707B28-1382-4D5A-8A05-AF216C0A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246-6CE9-42D3-AF71-527FA937ACE2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79F62362-269C-41F2-B3A2-F15A646CE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练习</a:t>
            </a:r>
            <a:r>
              <a:rPr lang="en-US" altLang="zh-CN" dirty="0"/>
              <a:t>7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46FEC291-51F4-4C78-9381-661E8D025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US" altLang="zh-CN" dirty="0"/>
              <a:t>7</a:t>
            </a:r>
            <a:r>
              <a:rPr lang="zh-CN" altLang="en-US" dirty="0"/>
              <a:t>．证明：</a:t>
            </a:r>
            <a:r>
              <a:rPr lang="en-US" altLang="zh-CN" dirty="0"/>
              <a:t>A⊕B = (A−B)⋃(B−A) = (A⋃B)−(A⋂B).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43738215"/>
      </p:ext>
    </p:extLst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C707B28-1382-4D5A-8A05-AF216C0A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246-6CE9-42D3-AF71-527FA937ACE2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79F62362-269C-41F2-B3A2-F15A646CE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练习</a:t>
            </a:r>
            <a:r>
              <a:rPr lang="en-US" altLang="zh-CN" dirty="0"/>
              <a:t>7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46FEC291-51F4-4C78-9381-661E8D025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US" altLang="zh-CN" dirty="0"/>
              <a:t>7</a:t>
            </a:r>
            <a:r>
              <a:rPr lang="zh-CN" altLang="en-US" dirty="0"/>
              <a:t>．证明：</a:t>
            </a:r>
            <a:r>
              <a:rPr lang="en-US" altLang="zh-CN" dirty="0"/>
              <a:t>A⊕B = (A−B)⋃(B−A) = (A⋃B)−(A⋂B).</a:t>
            </a:r>
          </a:p>
          <a:p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5">
                <a:extLst>
                  <a:ext uri="{FF2B5EF4-FFF2-40B4-BE49-F238E27FC236}">
                    <a16:creationId xmlns:a16="http://schemas.microsoft.com/office/drawing/2014/main" id="{194B59E6-7955-4992-81D0-469555029E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1803472"/>
                  </p:ext>
                </p:extLst>
              </p:nvPr>
            </p:nvGraphicFramePr>
            <p:xfrm>
              <a:off x="987388" y="3068960"/>
              <a:ext cx="7169224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5608">
                      <a:extLst>
                        <a:ext uri="{9D8B030D-6E8A-4147-A177-3AD203B41FA5}">
                          <a16:colId xmlns:a16="http://schemas.microsoft.com/office/drawing/2014/main" val="1083418368"/>
                        </a:ext>
                      </a:extLst>
                    </a:gridCol>
                    <a:gridCol w="415608">
                      <a:extLst>
                        <a:ext uri="{9D8B030D-6E8A-4147-A177-3AD203B41FA5}">
                          <a16:colId xmlns:a16="http://schemas.microsoft.com/office/drawing/2014/main" val="2523832045"/>
                        </a:ext>
                      </a:extLst>
                    </a:gridCol>
                    <a:gridCol w="771316">
                      <a:extLst>
                        <a:ext uri="{9D8B030D-6E8A-4147-A177-3AD203B41FA5}">
                          <a16:colId xmlns:a16="http://schemas.microsoft.com/office/drawing/2014/main" val="3594459888"/>
                        </a:ext>
                      </a:extLst>
                    </a:gridCol>
                    <a:gridCol w="759094">
                      <a:extLst>
                        <a:ext uri="{9D8B030D-6E8A-4147-A177-3AD203B41FA5}">
                          <a16:colId xmlns:a16="http://schemas.microsoft.com/office/drawing/2014/main" val="4130070648"/>
                        </a:ext>
                      </a:extLst>
                    </a:gridCol>
                    <a:gridCol w="1686876">
                      <a:extLst>
                        <a:ext uri="{9D8B030D-6E8A-4147-A177-3AD203B41FA5}">
                          <a16:colId xmlns:a16="http://schemas.microsoft.com/office/drawing/2014/main" val="3314860136"/>
                        </a:ext>
                      </a:extLst>
                    </a:gridCol>
                    <a:gridCol w="674750">
                      <a:extLst>
                        <a:ext uri="{9D8B030D-6E8A-4147-A177-3AD203B41FA5}">
                          <a16:colId xmlns:a16="http://schemas.microsoft.com/office/drawing/2014/main" val="4024246663"/>
                        </a:ext>
                      </a:extLst>
                    </a:gridCol>
                    <a:gridCol w="674750">
                      <a:extLst>
                        <a:ext uri="{9D8B030D-6E8A-4147-A177-3AD203B41FA5}">
                          <a16:colId xmlns:a16="http://schemas.microsoft.com/office/drawing/2014/main" val="3060255362"/>
                        </a:ext>
                      </a:extLst>
                    </a:gridCol>
                    <a:gridCol w="1771222">
                      <a:extLst>
                        <a:ext uri="{9D8B030D-6E8A-4147-A177-3AD203B41FA5}">
                          <a16:colId xmlns:a16="http://schemas.microsoft.com/office/drawing/2014/main" val="20754881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1F3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1F3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i="1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altLang="zh-CN" i="1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1F3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i="1" kern="1200" dirty="0">
                              <a:solidFill>
                                <a:schemeClr val="tx1"/>
                              </a:solidFill>
                              <a:ea typeface="+mn-ea"/>
                              <a:cs typeface="+mn-cs"/>
                            </a:rPr>
                            <a:t>B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1F3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i="1" dirty="0">
                              <a:solidFill>
                                <a:schemeClr val="tx1"/>
                              </a:solidFill>
                            </a:rPr>
                            <a:t>(A−B)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∪</m:t>
                              </m:r>
                            </m:oMath>
                          </a14:m>
                          <a:r>
                            <a:rPr lang="en-US" b="1" i="1" dirty="0">
                              <a:solidFill>
                                <a:schemeClr val="tx1"/>
                              </a:solidFill>
                            </a:rPr>
                            <a:t>(B−A)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1F3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i="1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∪</m:t>
                              </m:r>
                            </m:oMath>
                          </a14:m>
                          <a:r>
                            <a:rPr lang="en-US" altLang="zh-CN" i="1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1F3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∩</m:t>
                              </m:r>
                            </m:oMath>
                          </a14:m>
                          <a:r>
                            <a:rPr lang="en-US" altLang="zh-CN" i="1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US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1F3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chemeClr val="tx1"/>
                              </a:solidFill>
                            </a:rPr>
                            <a:t>(A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∪</m:t>
                              </m:r>
                            </m:oMath>
                          </a14:m>
                          <a:r>
                            <a:rPr lang="en-US" b="1" i="1" dirty="0">
                              <a:solidFill>
                                <a:schemeClr val="tx1"/>
                              </a:solidFill>
                            </a:rPr>
                            <a:t>B)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b="1" i="1" dirty="0">
                              <a:solidFill>
                                <a:schemeClr val="tx1"/>
                              </a:solidFill>
                            </a:rPr>
                            <a:t>(A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∩</m:t>
                              </m:r>
                            </m:oMath>
                          </a14:m>
                          <a:r>
                            <a:rPr lang="en-US" b="1" i="1" dirty="0">
                              <a:solidFill>
                                <a:schemeClr val="tx1"/>
                              </a:solidFill>
                            </a:rPr>
                            <a:t>B)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1F3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24076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349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324319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415941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48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5">
                <a:extLst>
                  <a:ext uri="{FF2B5EF4-FFF2-40B4-BE49-F238E27FC236}">
                    <a16:creationId xmlns:a16="http://schemas.microsoft.com/office/drawing/2014/main" id="{194B59E6-7955-4992-81D0-469555029E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1803472"/>
                  </p:ext>
                </p:extLst>
              </p:nvPr>
            </p:nvGraphicFramePr>
            <p:xfrm>
              <a:off x="987388" y="3068960"/>
              <a:ext cx="7169224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5608">
                      <a:extLst>
                        <a:ext uri="{9D8B030D-6E8A-4147-A177-3AD203B41FA5}">
                          <a16:colId xmlns:a16="http://schemas.microsoft.com/office/drawing/2014/main" val="1083418368"/>
                        </a:ext>
                      </a:extLst>
                    </a:gridCol>
                    <a:gridCol w="415608">
                      <a:extLst>
                        <a:ext uri="{9D8B030D-6E8A-4147-A177-3AD203B41FA5}">
                          <a16:colId xmlns:a16="http://schemas.microsoft.com/office/drawing/2014/main" val="2523832045"/>
                        </a:ext>
                      </a:extLst>
                    </a:gridCol>
                    <a:gridCol w="771316">
                      <a:extLst>
                        <a:ext uri="{9D8B030D-6E8A-4147-A177-3AD203B41FA5}">
                          <a16:colId xmlns:a16="http://schemas.microsoft.com/office/drawing/2014/main" val="3594459888"/>
                        </a:ext>
                      </a:extLst>
                    </a:gridCol>
                    <a:gridCol w="759094">
                      <a:extLst>
                        <a:ext uri="{9D8B030D-6E8A-4147-A177-3AD203B41FA5}">
                          <a16:colId xmlns:a16="http://schemas.microsoft.com/office/drawing/2014/main" val="4130070648"/>
                        </a:ext>
                      </a:extLst>
                    </a:gridCol>
                    <a:gridCol w="1686876">
                      <a:extLst>
                        <a:ext uri="{9D8B030D-6E8A-4147-A177-3AD203B41FA5}">
                          <a16:colId xmlns:a16="http://schemas.microsoft.com/office/drawing/2014/main" val="3314860136"/>
                        </a:ext>
                      </a:extLst>
                    </a:gridCol>
                    <a:gridCol w="674750">
                      <a:extLst>
                        <a:ext uri="{9D8B030D-6E8A-4147-A177-3AD203B41FA5}">
                          <a16:colId xmlns:a16="http://schemas.microsoft.com/office/drawing/2014/main" val="4024246663"/>
                        </a:ext>
                      </a:extLst>
                    </a:gridCol>
                    <a:gridCol w="674750">
                      <a:extLst>
                        <a:ext uri="{9D8B030D-6E8A-4147-A177-3AD203B41FA5}">
                          <a16:colId xmlns:a16="http://schemas.microsoft.com/office/drawing/2014/main" val="3060255362"/>
                        </a:ext>
                      </a:extLst>
                    </a:gridCol>
                    <a:gridCol w="1771222">
                      <a:extLst>
                        <a:ext uri="{9D8B030D-6E8A-4147-A177-3AD203B41FA5}">
                          <a16:colId xmlns:a16="http://schemas.microsoft.com/office/drawing/2014/main" val="20754881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1F3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1F3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9524" t="-8197" r="-72777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1200" t="-8197" r="-633600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0433" t="-8197" r="-185921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0000" t="-8197" r="-363964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0000" t="-8197" r="-263964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5155" t="-8197" r="-687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24076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349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324319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415941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48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26223676"/>
      </p:ext>
    </p:extLst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C707B28-1382-4D5A-8A05-AF216C0A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246-6CE9-42D3-AF71-527FA937ACE2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79F62362-269C-41F2-B3A2-F15A646CE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练习</a:t>
            </a:r>
            <a:r>
              <a:rPr lang="en-US" altLang="zh-CN" dirty="0"/>
              <a:t>8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46FEC291-51F4-4C78-9381-661E8D025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US" altLang="zh-CN" dirty="0"/>
              <a:t>8</a:t>
            </a:r>
            <a:r>
              <a:rPr lang="zh-CN" altLang="en-US" dirty="0"/>
              <a:t>．给出</a:t>
            </a:r>
            <a:r>
              <a:rPr lang="en-US" altLang="zh-CN" dirty="0"/>
              <a:t>(A−B)∪(A−C) = A</a:t>
            </a:r>
            <a:r>
              <a:rPr lang="zh-CN" altLang="en-US" dirty="0"/>
              <a:t>成立的充要条件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6411861"/>
      </p:ext>
    </p:extLst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C707B28-1382-4D5A-8A05-AF216C0A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246-6CE9-42D3-AF71-527FA937ACE2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79F62362-269C-41F2-B3A2-F15A646CE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练习</a:t>
            </a:r>
            <a:r>
              <a:rPr lang="en-US" altLang="zh-CN" dirty="0"/>
              <a:t>8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46FEC291-51F4-4C78-9381-661E8D025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US" altLang="zh-CN" dirty="0"/>
              <a:t>8</a:t>
            </a:r>
            <a:r>
              <a:rPr lang="zh-CN" altLang="en-US" dirty="0"/>
              <a:t>．给出</a:t>
            </a:r>
            <a:r>
              <a:rPr lang="en-US" altLang="zh-CN" dirty="0"/>
              <a:t>(A−B)∪(A−C) = A</a:t>
            </a:r>
            <a:r>
              <a:rPr lang="zh-CN" altLang="en-US" dirty="0"/>
              <a:t>成立的充要条件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zh-CN" altLang="en-US" dirty="0"/>
              <a:t>思路</a:t>
            </a:r>
            <a:r>
              <a:rPr lang="en-US" altLang="zh-CN" dirty="0"/>
              <a:t>:</a:t>
            </a:r>
          </a:p>
          <a:p>
            <a:r>
              <a:rPr lang="zh-CN" altLang="en-US" dirty="0"/>
              <a:t>可考虑韦恩图 </a:t>
            </a:r>
            <a:r>
              <a:rPr lang="en-US" altLang="zh-CN" dirty="0"/>
              <a:t>(</a:t>
            </a:r>
            <a:r>
              <a:rPr lang="zh-CN" altLang="en-US" dirty="0"/>
              <a:t>容易疏忽写出非必要条件</a:t>
            </a:r>
            <a:r>
              <a:rPr lang="en-US" altLang="zh-CN" dirty="0"/>
              <a:t>)</a:t>
            </a:r>
            <a:r>
              <a:rPr lang="zh-CN" altLang="en-US" dirty="0"/>
              <a:t>、成员表、恒等变换证明</a:t>
            </a:r>
            <a:r>
              <a:rPr lang="en-US" altLang="zh-CN" dirty="0"/>
              <a:t>.</a:t>
            </a:r>
            <a:endParaRPr lang="zh-CN" altLang="en-US" dirty="0"/>
          </a:p>
          <a:p>
            <a:r>
              <a:rPr lang="en-US" altLang="zh-CN" dirty="0"/>
              <a:t>(</a:t>
            </a:r>
            <a:r>
              <a:rPr lang="zh-CN" altLang="en-US" dirty="0"/>
              <a:t>为方便排版</a:t>
            </a:r>
            <a:r>
              <a:rPr lang="en-US" altLang="zh-CN" dirty="0"/>
              <a:t>,</a:t>
            </a:r>
            <a:r>
              <a:rPr lang="zh-CN" altLang="en-US" dirty="0"/>
              <a:t> 用</a:t>
            </a:r>
            <a:r>
              <a:rPr lang="en-US" altLang="zh-CN" dirty="0"/>
              <a:t>~A</a:t>
            </a:r>
            <a:r>
              <a:rPr lang="zh-CN" altLang="en-US" dirty="0"/>
              <a:t>表示</a:t>
            </a:r>
            <a:r>
              <a:rPr lang="en-US" altLang="zh-CN" dirty="0"/>
              <a:t>A</a:t>
            </a:r>
            <a:r>
              <a:rPr lang="zh-CN" altLang="en-US" dirty="0"/>
              <a:t>的补集</a:t>
            </a:r>
            <a:r>
              <a:rPr lang="en-US" altLang="zh-CN" dirty="0"/>
              <a:t>, </a:t>
            </a:r>
            <a:r>
              <a:rPr lang="zh-CN" altLang="en-US" dirty="0"/>
              <a:t>考试禁止使用此写法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zh-CN" altLang="en-US" dirty="0"/>
              <a:t>   </a:t>
            </a:r>
            <a:r>
              <a:rPr lang="en-US" altLang="zh-CN" dirty="0"/>
              <a:t>(A−B)∪(A−C)</a:t>
            </a:r>
            <a:br>
              <a:rPr lang="en-US" altLang="zh-CN" dirty="0"/>
            </a:br>
            <a:r>
              <a:rPr lang="en-US" altLang="zh-CN" dirty="0"/>
              <a:t>= (A∩~B)∪(A∩~C)</a:t>
            </a:r>
            <a:br>
              <a:rPr lang="en-US" altLang="zh-CN" dirty="0"/>
            </a:br>
            <a:r>
              <a:rPr lang="en-US" altLang="zh-CN" dirty="0"/>
              <a:t>= A∩(~B∪~C)</a:t>
            </a:r>
            <a:br>
              <a:rPr lang="en-US" altLang="zh-CN" dirty="0"/>
            </a:br>
            <a:r>
              <a:rPr lang="en-US" altLang="zh-CN" dirty="0"/>
              <a:t>= A∩~(B∩C)</a:t>
            </a:r>
          </a:p>
          <a:p>
            <a:r>
              <a:rPr lang="zh-CN" altLang="en-US" dirty="0"/>
              <a:t>故</a:t>
            </a:r>
            <a:r>
              <a:rPr lang="en-US" altLang="zh-CN" dirty="0"/>
              <a:t>B∩C ⊆ ~A</a:t>
            </a:r>
            <a:r>
              <a:rPr lang="zh-CN" altLang="en-US" dirty="0"/>
              <a:t>时命题成立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8030683"/>
      </p:ext>
    </p:extLst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C707B28-1382-4D5A-8A05-AF216C0A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246-6CE9-42D3-AF71-527FA937ACE2}" type="slidenum">
              <a:rPr lang="en-US" altLang="zh-CN"/>
              <a:pPr/>
              <a:t>55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79F62362-269C-41F2-B3A2-F15A646CE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练习</a:t>
            </a:r>
            <a:r>
              <a:rPr lang="en-US" altLang="zh-CN" dirty="0"/>
              <a:t>9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46FEC291-51F4-4C78-9381-661E8D025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US" altLang="zh-CN" dirty="0"/>
              <a:t>9</a:t>
            </a:r>
            <a:r>
              <a:rPr lang="zh-CN" altLang="en-US" dirty="0"/>
              <a:t>．给出</a:t>
            </a:r>
            <a:r>
              <a:rPr lang="en-US" altLang="zh-CN" dirty="0"/>
              <a:t>(A−B)</a:t>
            </a:r>
            <a:r>
              <a:rPr lang="zh-CN" altLang="en-US" dirty="0">
                <a:latin typeface="Times New Roman" panose="02020603050405020304" pitchFamily="18" charset="0"/>
              </a:rPr>
              <a:t>⊕</a:t>
            </a:r>
            <a:r>
              <a:rPr lang="en-US" altLang="zh-CN" dirty="0"/>
              <a:t>(A−C) = Ø</a:t>
            </a:r>
            <a:r>
              <a:rPr lang="zh-CN" altLang="en-US" dirty="0"/>
              <a:t>成立的充要条件</a:t>
            </a:r>
            <a:r>
              <a:rPr lang="en-US" altLang="zh-CN" dirty="0"/>
              <a:t>.</a:t>
            </a:r>
            <a:endParaRPr lang="zh-CN" altLang="en-US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77448739"/>
      </p:ext>
    </p:extLst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C707B28-1382-4D5A-8A05-AF216C0A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246-6CE9-42D3-AF71-527FA937ACE2}" type="slidenum">
              <a:rPr lang="en-US" altLang="zh-CN"/>
              <a:pPr/>
              <a:t>56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79F62362-269C-41F2-B3A2-F15A646CE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练习</a:t>
            </a:r>
            <a:r>
              <a:rPr lang="en-US" altLang="zh-CN" dirty="0"/>
              <a:t>9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46FEC291-51F4-4C78-9381-661E8D025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US" altLang="zh-CN" dirty="0"/>
              <a:t>9</a:t>
            </a:r>
            <a:r>
              <a:rPr lang="zh-CN" altLang="en-US" dirty="0"/>
              <a:t>．给出</a:t>
            </a:r>
            <a:r>
              <a:rPr lang="en-US" altLang="zh-CN" dirty="0"/>
              <a:t>(A−B)</a:t>
            </a:r>
            <a:r>
              <a:rPr lang="zh-CN" altLang="en-US" dirty="0">
                <a:latin typeface="Times New Roman" panose="02020603050405020304" pitchFamily="18" charset="0"/>
              </a:rPr>
              <a:t>⊕</a:t>
            </a:r>
            <a:r>
              <a:rPr lang="en-US" altLang="zh-CN" dirty="0"/>
              <a:t>(A−C) = Ø</a:t>
            </a:r>
            <a:r>
              <a:rPr lang="zh-CN" altLang="en-US" dirty="0"/>
              <a:t>成立的充要条件</a:t>
            </a:r>
            <a:r>
              <a:rPr lang="en-US" altLang="zh-CN" dirty="0"/>
              <a:t>.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加粗的两行对应的情况不存在时结果为空集</a:t>
            </a:r>
            <a:r>
              <a:rPr lang="en-US" altLang="zh-CN" dirty="0"/>
              <a:t>, </a:t>
            </a:r>
            <a:r>
              <a:rPr lang="zh-CN" altLang="en-US" dirty="0"/>
              <a:t>即</a:t>
            </a:r>
            <a:r>
              <a:rPr lang="en-US" altLang="zh-CN" dirty="0"/>
              <a:t>:</a:t>
            </a:r>
          </a:p>
          <a:p>
            <a:r>
              <a:rPr lang="zh-CN" altLang="en-US" dirty="0"/>
              <a:t>不存在元素</a:t>
            </a:r>
            <a:r>
              <a:rPr lang="en-US" altLang="zh-CN" dirty="0"/>
              <a:t>a,</a:t>
            </a:r>
            <a:r>
              <a:rPr lang="zh-CN" altLang="en-US" dirty="0"/>
              <a:t> </a:t>
            </a:r>
            <a:r>
              <a:rPr lang="en-US" altLang="zh-CN" dirty="0" err="1"/>
              <a:t>a∈A</a:t>
            </a:r>
            <a:r>
              <a:rPr lang="zh-CN" altLang="en-US" dirty="0"/>
              <a:t>且 </a:t>
            </a:r>
            <a:r>
              <a:rPr lang="en-US" altLang="zh-CN" dirty="0"/>
              <a:t>a∈~B</a:t>
            </a:r>
            <a:r>
              <a:rPr lang="zh-CN" altLang="en-US" dirty="0"/>
              <a:t>且</a:t>
            </a:r>
            <a:r>
              <a:rPr lang="en-US" altLang="zh-CN" dirty="0" err="1"/>
              <a:t>a∈C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zh-CN" altLang="en-US" dirty="0"/>
              <a:t>同时</a:t>
            </a:r>
            <a:r>
              <a:rPr lang="en-US" altLang="zh-CN" dirty="0"/>
              <a:t>, </a:t>
            </a:r>
            <a:r>
              <a:rPr lang="zh-CN" altLang="en-US" dirty="0"/>
              <a:t>不存在元素</a:t>
            </a:r>
            <a:r>
              <a:rPr lang="en-US" altLang="zh-CN" dirty="0"/>
              <a:t>b,</a:t>
            </a:r>
            <a:r>
              <a:rPr lang="zh-CN" altLang="en-US" dirty="0"/>
              <a:t> </a:t>
            </a:r>
            <a:r>
              <a:rPr lang="en-US" altLang="zh-CN" dirty="0" err="1"/>
              <a:t>b∈A</a:t>
            </a:r>
            <a:r>
              <a:rPr lang="zh-CN" altLang="en-US" dirty="0"/>
              <a:t>且 </a:t>
            </a:r>
            <a:r>
              <a:rPr lang="en-US" altLang="zh-CN" dirty="0" err="1"/>
              <a:t>b∈B</a:t>
            </a:r>
            <a:r>
              <a:rPr lang="zh-CN" altLang="en-US" dirty="0"/>
              <a:t>且</a:t>
            </a:r>
            <a:r>
              <a:rPr lang="en-US" altLang="zh-CN" dirty="0"/>
              <a:t>b∈~C.</a:t>
            </a:r>
            <a:endParaRPr lang="zh-CN" altLang="en-US" dirty="0"/>
          </a:p>
          <a:p>
            <a:r>
              <a:rPr lang="en-US" altLang="zh-CN" dirty="0"/>
              <a:t>(A∩~B∩C)∪(A∩B∩~C) = Ø</a:t>
            </a:r>
            <a:br>
              <a:rPr lang="en-US" altLang="zh-CN" dirty="0"/>
            </a:br>
            <a:r>
              <a:rPr lang="en-US" altLang="zh-CN" dirty="0"/>
              <a:t>A∩((~B∩C)∪(B∩~C)) = Ø</a:t>
            </a:r>
            <a:br>
              <a:rPr lang="en-US" altLang="zh-CN" dirty="0"/>
            </a:br>
            <a:r>
              <a:rPr lang="en-US" altLang="zh-CN" dirty="0"/>
              <a:t>A∩(B</a:t>
            </a:r>
            <a:r>
              <a:rPr lang="zh-CN" altLang="en-US" dirty="0">
                <a:latin typeface="Times New Roman" panose="02020603050405020304" pitchFamily="18" charset="0"/>
              </a:rPr>
              <a:t>⊕</a:t>
            </a:r>
            <a:r>
              <a:rPr lang="en-US" altLang="zh-CN" dirty="0"/>
              <a:t>C) = Ø</a:t>
            </a:r>
          </a:p>
          <a:p>
            <a:endParaRPr lang="en-US" altLang="zh-CN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DC5AA94-8137-476E-B652-4307D2A2E20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683854" y="1844824"/>
          <a:ext cx="5776292" cy="248602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46477">
                  <a:extLst>
                    <a:ext uri="{9D8B030D-6E8A-4147-A177-3AD203B41FA5}">
                      <a16:colId xmlns:a16="http://schemas.microsoft.com/office/drawing/2014/main" val="3151311570"/>
                    </a:ext>
                  </a:extLst>
                </a:gridCol>
                <a:gridCol w="446477">
                  <a:extLst>
                    <a:ext uri="{9D8B030D-6E8A-4147-A177-3AD203B41FA5}">
                      <a16:colId xmlns:a16="http://schemas.microsoft.com/office/drawing/2014/main" val="1534273150"/>
                    </a:ext>
                  </a:extLst>
                </a:gridCol>
                <a:gridCol w="673497">
                  <a:extLst>
                    <a:ext uri="{9D8B030D-6E8A-4147-A177-3AD203B41FA5}">
                      <a16:colId xmlns:a16="http://schemas.microsoft.com/office/drawing/2014/main" val="204492888"/>
                    </a:ext>
                  </a:extLst>
                </a:gridCol>
                <a:gridCol w="1076936">
                  <a:extLst>
                    <a:ext uri="{9D8B030D-6E8A-4147-A177-3AD203B41FA5}">
                      <a16:colId xmlns:a16="http://schemas.microsoft.com/office/drawing/2014/main" val="1996400688"/>
                    </a:ext>
                  </a:extLst>
                </a:gridCol>
                <a:gridCol w="1174839">
                  <a:extLst>
                    <a:ext uri="{9D8B030D-6E8A-4147-A177-3AD203B41FA5}">
                      <a16:colId xmlns:a16="http://schemas.microsoft.com/office/drawing/2014/main" val="3929284025"/>
                    </a:ext>
                  </a:extLst>
                </a:gridCol>
                <a:gridCol w="1958066">
                  <a:extLst>
                    <a:ext uri="{9D8B030D-6E8A-4147-A177-3AD203B41FA5}">
                      <a16:colId xmlns:a16="http://schemas.microsoft.com/office/drawing/2014/main" val="26797340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A−B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A−C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(A−B) 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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 (A−C)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102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161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77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223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639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526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zh-CN" sz="16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zh-CN" sz="16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zh-CN" sz="16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zh-CN" sz="16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531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zh-CN" sz="16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zh-CN" sz="16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zh-CN" sz="16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zh-CN" sz="16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647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012865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CC01029C-D09C-4B02-AE6E-856CBF4FEF10}"/>
              </a:ext>
            </a:extLst>
          </p:cNvPr>
          <p:cNvSpPr txBox="1"/>
          <p:nvPr/>
        </p:nvSpPr>
        <p:spPr>
          <a:xfrm>
            <a:off x="2555776" y="6457890"/>
            <a:ext cx="658822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逻辑表达式化简的通用方法：见附加内容</a:t>
            </a:r>
          </a:p>
        </p:txBody>
      </p:sp>
    </p:spTree>
    <p:extLst>
      <p:ext uri="{BB962C8B-B14F-4D97-AF65-F5344CB8AC3E}">
        <p14:creationId xmlns:p14="http://schemas.microsoft.com/office/powerpoint/2010/main" val="2305553190"/>
      </p:ext>
    </p:extLst>
  </p:cSld>
  <p:clrMapOvr>
    <a:masterClrMapping/>
  </p:clrMapOvr>
  <p:transition spd="slow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C707B28-1382-4D5A-8A05-AF216C0A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246-6CE9-42D3-AF71-527FA937ACE2}" type="slidenum">
              <a:rPr lang="en-US" altLang="zh-CN"/>
              <a:pPr/>
              <a:t>57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79F62362-269C-41F2-B3A2-F15A646CE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练习</a:t>
            </a:r>
            <a:r>
              <a:rPr lang="en-US" altLang="zh-CN" dirty="0"/>
              <a:t>10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46FEC291-51F4-4C78-9381-661E8D025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US" altLang="zh-CN" dirty="0"/>
              <a:t>10</a:t>
            </a:r>
            <a:r>
              <a:rPr lang="zh-CN" altLang="en-US" dirty="0"/>
              <a:t>．判断</a:t>
            </a:r>
            <a:r>
              <a:rPr lang="en-US" altLang="zh-CN" dirty="0"/>
              <a:t>A×(B∩C) = (A×B)∩(A×C)</a:t>
            </a:r>
            <a:r>
              <a:rPr lang="zh-CN" altLang="en-US" dirty="0"/>
              <a:t>是否成立</a:t>
            </a:r>
            <a:r>
              <a:rPr lang="en-US" altLang="zh-CN" dirty="0"/>
              <a:t>, </a:t>
            </a:r>
            <a:r>
              <a:rPr lang="zh-CN" altLang="en-US" dirty="0"/>
              <a:t>如果成立给出证明</a:t>
            </a:r>
            <a:r>
              <a:rPr lang="en-US" altLang="zh-CN" dirty="0"/>
              <a:t>, </a:t>
            </a:r>
            <a:r>
              <a:rPr lang="zh-CN" altLang="en-US" dirty="0"/>
              <a:t>不成立则给出反例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9970871"/>
      </p:ext>
    </p:extLst>
  </p:cSld>
  <p:clrMapOvr>
    <a:masterClrMapping/>
  </p:clrMapOvr>
  <p:transition spd="slow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C707B28-1382-4D5A-8A05-AF216C0A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246-6CE9-42D3-AF71-527FA937ACE2}" type="slidenum">
              <a:rPr lang="en-US" altLang="zh-CN"/>
              <a:pPr/>
              <a:t>58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79F62362-269C-41F2-B3A2-F15A646CE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练习</a:t>
            </a:r>
            <a:r>
              <a:rPr lang="en-US" altLang="zh-CN" dirty="0"/>
              <a:t>10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46FEC291-51F4-4C78-9381-661E8D025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US" altLang="zh-CN" dirty="0"/>
              <a:t>10</a:t>
            </a:r>
            <a:r>
              <a:rPr lang="zh-CN" altLang="en-US" dirty="0"/>
              <a:t>．判断</a:t>
            </a:r>
            <a:r>
              <a:rPr lang="en-US" altLang="zh-CN" dirty="0"/>
              <a:t>A×(B∩C) = (A×B)∩(A×C)</a:t>
            </a:r>
            <a:r>
              <a:rPr lang="zh-CN" altLang="en-US" dirty="0"/>
              <a:t>是否成立</a:t>
            </a:r>
            <a:r>
              <a:rPr lang="en-US" altLang="zh-CN" dirty="0"/>
              <a:t>, </a:t>
            </a:r>
            <a:r>
              <a:rPr lang="zh-CN" altLang="en-US" dirty="0"/>
              <a:t>如果成立给出证明</a:t>
            </a:r>
            <a:r>
              <a:rPr lang="en-US" altLang="zh-CN" dirty="0"/>
              <a:t>, </a:t>
            </a:r>
            <a:r>
              <a:rPr lang="zh-CN" altLang="en-US" dirty="0"/>
              <a:t>不成立则给出反例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zh-CN" altLang="en-US" dirty="0"/>
              <a:t>成立。</a:t>
            </a:r>
          </a:p>
          <a:p>
            <a:r>
              <a:rPr lang="zh-CN" altLang="en-US" dirty="0"/>
              <a:t>分别证明 </a:t>
            </a:r>
            <a:r>
              <a:rPr lang="en-US" altLang="zh-CN" dirty="0"/>
              <a:t>A×(B∪C) ⊆ (A×B)∪(A×C)</a:t>
            </a:r>
            <a:r>
              <a:rPr lang="zh-CN" altLang="en-US" dirty="0"/>
              <a:t>和</a:t>
            </a:r>
            <a:r>
              <a:rPr lang="en-US" altLang="zh-CN" dirty="0"/>
              <a:t>(A×B)∪(A×C) ⊆ A×(B∪C)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①任取</a:t>
            </a:r>
            <a:r>
              <a:rPr lang="en-US" altLang="zh-CN" dirty="0"/>
              <a:t>(x, y)∈A×(B∪C)</a:t>
            </a:r>
            <a:r>
              <a:rPr lang="zh-CN" altLang="en-US" dirty="0"/>
              <a:t>，</a:t>
            </a:r>
            <a:br>
              <a:rPr lang="zh-CN" altLang="en-US" dirty="0"/>
            </a:br>
            <a:r>
              <a:rPr lang="zh-CN" altLang="en-US" dirty="0"/>
              <a:t>则</a:t>
            </a:r>
            <a:r>
              <a:rPr lang="en-US" altLang="zh-CN" dirty="0"/>
              <a:t>(</a:t>
            </a:r>
            <a:r>
              <a:rPr lang="en-US" altLang="zh-CN" dirty="0" err="1"/>
              <a:t>x∈A</a:t>
            </a:r>
            <a:r>
              <a:rPr lang="en-US" altLang="zh-CN" dirty="0"/>
              <a:t>)∧(y∈(B∪C))</a:t>
            </a:r>
            <a:r>
              <a:rPr lang="zh-CN" altLang="en-US" dirty="0"/>
              <a:t>（笛卡尔积运算的定义），</a:t>
            </a:r>
            <a:br>
              <a:rPr lang="zh-CN" altLang="en-US" dirty="0"/>
            </a:br>
            <a:r>
              <a:rPr lang="zh-CN" altLang="en-US" dirty="0"/>
              <a:t>即</a:t>
            </a:r>
            <a:r>
              <a:rPr lang="en-US" altLang="zh-CN" dirty="0"/>
              <a:t>(</a:t>
            </a:r>
            <a:r>
              <a:rPr lang="en-US" altLang="zh-CN" dirty="0" err="1"/>
              <a:t>x∈A</a:t>
            </a:r>
            <a:r>
              <a:rPr lang="en-US" altLang="zh-CN" dirty="0"/>
              <a:t>)∧((</a:t>
            </a:r>
            <a:r>
              <a:rPr lang="en-US" altLang="zh-CN" dirty="0" err="1"/>
              <a:t>y∈B</a:t>
            </a:r>
            <a:r>
              <a:rPr lang="en-US" altLang="zh-CN" dirty="0"/>
              <a:t>)∨(</a:t>
            </a:r>
            <a:r>
              <a:rPr lang="en-US" altLang="zh-CN" dirty="0" err="1"/>
              <a:t>y∈C</a:t>
            </a:r>
            <a:r>
              <a:rPr lang="en-US" altLang="zh-CN" dirty="0"/>
              <a:t>))</a:t>
            </a:r>
            <a:r>
              <a:rPr lang="zh-CN" altLang="en-US" dirty="0"/>
              <a:t>（集合并运算的定义）。</a:t>
            </a:r>
            <a:br>
              <a:rPr lang="zh-CN" altLang="en-US" dirty="0"/>
            </a:br>
            <a:r>
              <a:rPr lang="zh-CN" altLang="en-US" dirty="0"/>
              <a:t>故有</a:t>
            </a:r>
            <a:r>
              <a:rPr lang="en-US" altLang="zh-CN" dirty="0"/>
              <a:t>((</a:t>
            </a:r>
            <a:r>
              <a:rPr lang="en-US" altLang="zh-CN" dirty="0" err="1"/>
              <a:t>x∈A</a:t>
            </a:r>
            <a:r>
              <a:rPr lang="en-US" altLang="zh-CN" dirty="0"/>
              <a:t>)∧(</a:t>
            </a:r>
            <a:r>
              <a:rPr lang="en-US" altLang="zh-CN" dirty="0" err="1"/>
              <a:t>y∈B</a:t>
            </a:r>
            <a:r>
              <a:rPr lang="en-US" altLang="zh-CN" dirty="0"/>
              <a:t>))∨((</a:t>
            </a:r>
            <a:r>
              <a:rPr lang="en-US" altLang="zh-CN" dirty="0" err="1"/>
              <a:t>x∈A</a:t>
            </a:r>
            <a:r>
              <a:rPr lang="en-US" altLang="zh-CN" dirty="0"/>
              <a:t>)∧(</a:t>
            </a:r>
            <a:r>
              <a:rPr lang="en-US" altLang="zh-CN" dirty="0" err="1"/>
              <a:t>y∈C</a:t>
            </a:r>
            <a:r>
              <a:rPr lang="en-US" altLang="zh-CN" dirty="0"/>
              <a:t>))</a:t>
            </a:r>
            <a:r>
              <a:rPr lang="zh-CN" altLang="en-US" dirty="0"/>
              <a:t>，</a:t>
            </a:r>
            <a:br>
              <a:rPr lang="zh-CN" altLang="en-US" dirty="0"/>
            </a:br>
            <a:r>
              <a:rPr lang="zh-CN" altLang="en-US" dirty="0"/>
              <a:t>得到</a:t>
            </a:r>
            <a:r>
              <a:rPr lang="en-US" altLang="zh-CN" dirty="0"/>
              <a:t>(x, y)∈A×B</a:t>
            </a:r>
            <a:r>
              <a:rPr lang="zh-CN" altLang="en-US" dirty="0"/>
              <a:t>或</a:t>
            </a:r>
            <a:r>
              <a:rPr lang="en-US" altLang="zh-CN" dirty="0"/>
              <a:t>(x, y)∈A×C</a:t>
            </a:r>
            <a:r>
              <a:rPr lang="zh-CN" altLang="en-US" dirty="0"/>
              <a:t>（笛卡尔积运算的定义），</a:t>
            </a:r>
            <a:br>
              <a:rPr lang="zh-CN" altLang="en-US" dirty="0"/>
            </a:br>
            <a:r>
              <a:rPr lang="zh-CN" altLang="en-US" dirty="0"/>
              <a:t>故有</a:t>
            </a:r>
            <a:r>
              <a:rPr lang="en-US" altLang="zh-CN" dirty="0"/>
              <a:t>(x, y)∈(A×B)∪(A×C)</a:t>
            </a:r>
            <a:r>
              <a:rPr lang="zh-CN" altLang="en-US" dirty="0"/>
              <a:t>（集合并运算的定义），</a:t>
            </a:r>
            <a:br>
              <a:rPr lang="zh-CN" altLang="en-US" dirty="0"/>
            </a:br>
            <a:r>
              <a:rPr lang="zh-CN" altLang="en-US" dirty="0"/>
              <a:t>所以</a:t>
            </a:r>
            <a:r>
              <a:rPr lang="en-US" altLang="zh-CN" dirty="0"/>
              <a:t>A×(B∪C)⊆(A×B)∪(A×C)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17559721"/>
      </p:ext>
    </p:extLst>
  </p:cSld>
  <p:clrMapOvr>
    <a:masterClrMapping/>
  </p:clrMapOvr>
  <p:transition spd="slow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C707B28-1382-4D5A-8A05-AF216C0A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246-6CE9-42D3-AF71-527FA937ACE2}" type="slidenum">
              <a:rPr lang="en-US" altLang="zh-CN"/>
              <a:pPr/>
              <a:t>59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79F62362-269C-41F2-B3A2-F15A646CE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练习</a:t>
            </a:r>
            <a:r>
              <a:rPr lang="en-US" altLang="zh-CN" dirty="0"/>
              <a:t>10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46FEC291-51F4-4C78-9381-661E8D025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US" altLang="zh-CN" dirty="0"/>
              <a:t>10</a:t>
            </a:r>
            <a:r>
              <a:rPr lang="zh-CN" altLang="en-US" dirty="0"/>
              <a:t>．判断</a:t>
            </a:r>
            <a:r>
              <a:rPr lang="en-US" altLang="zh-CN" dirty="0"/>
              <a:t>A×(B∩C) = (A×B)∩(A×C)</a:t>
            </a:r>
            <a:r>
              <a:rPr lang="zh-CN" altLang="en-US" dirty="0"/>
              <a:t>是否成立</a:t>
            </a:r>
            <a:r>
              <a:rPr lang="en-US" altLang="zh-CN" dirty="0"/>
              <a:t>, </a:t>
            </a:r>
            <a:r>
              <a:rPr lang="zh-CN" altLang="en-US" dirty="0"/>
              <a:t>如果成立给出证明</a:t>
            </a:r>
            <a:r>
              <a:rPr lang="en-US" altLang="zh-CN" dirty="0"/>
              <a:t>, </a:t>
            </a:r>
            <a:r>
              <a:rPr lang="zh-CN" altLang="en-US" dirty="0"/>
              <a:t>不成立则给出反例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zh-CN" altLang="en-US" dirty="0"/>
              <a:t>分别证明 </a:t>
            </a:r>
            <a:r>
              <a:rPr lang="en-US" altLang="zh-CN" dirty="0"/>
              <a:t>A×(B∪C) ⊆ (A×B)∪(A×C)</a:t>
            </a:r>
            <a:r>
              <a:rPr lang="zh-CN" altLang="en-US" dirty="0"/>
              <a:t>和</a:t>
            </a:r>
            <a:r>
              <a:rPr lang="en-US" altLang="zh-CN" dirty="0"/>
              <a:t>(A×B)∪(A×C) ⊆ A×(B∪C)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②任取</a:t>
            </a:r>
            <a:r>
              <a:rPr lang="en-US" altLang="zh-CN" dirty="0"/>
              <a:t>(x, y)∈(A×B)∪(A×C)</a:t>
            </a:r>
            <a:r>
              <a:rPr lang="zh-CN" altLang="en-US" dirty="0"/>
              <a:t>，</a:t>
            </a:r>
            <a:br>
              <a:rPr lang="zh-CN" altLang="en-US" dirty="0"/>
            </a:br>
            <a:r>
              <a:rPr lang="zh-CN" altLang="en-US" dirty="0"/>
              <a:t>则有</a:t>
            </a:r>
            <a:r>
              <a:rPr lang="en-US" altLang="zh-CN" dirty="0"/>
              <a:t>((x, y)∈A×B)∨((x, y)∈A×C)</a:t>
            </a:r>
            <a:r>
              <a:rPr lang="zh-CN" altLang="en-US" dirty="0"/>
              <a:t>（集合并运算的定义），</a:t>
            </a:r>
            <a:br>
              <a:rPr lang="zh-CN" altLang="en-US" dirty="0"/>
            </a:br>
            <a:r>
              <a:rPr lang="zh-CN" altLang="en-US" dirty="0"/>
              <a:t>即</a:t>
            </a:r>
            <a:r>
              <a:rPr lang="en-US" altLang="zh-CN" dirty="0"/>
              <a:t>(</a:t>
            </a:r>
            <a:r>
              <a:rPr lang="en-US" altLang="zh-CN" dirty="0" err="1"/>
              <a:t>x∈A</a:t>
            </a:r>
            <a:r>
              <a:rPr lang="en-US" altLang="zh-CN" dirty="0"/>
              <a:t>)∧(</a:t>
            </a:r>
            <a:r>
              <a:rPr lang="en-US" altLang="zh-CN" dirty="0" err="1"/>
              <a:t>y∈B</a:t>
            </a:r>
            <a:r>
              <a:rPr lang="en-US" altLang="zh-CN" dirty="0"/>
              <a:t>)∨(</a:t>
            </a:r>
            <a:r>
              <a:rPr lang="en-US" altLang="zh-CN" dirty="0" err="1"/>
              <a:t>x∈A</a:t>
            </a:r>
            <a:r>
              <a:rPr lang="en-US" altLang="zh-CN" dirty="0"/>
              <a:t>)∧(</a:t>
            </a:r>
            <a:r>
              <a:rPr lang="en-US" altLang="zh-CN" dirty="0" err="1"/>
              <a:t>y∈C</a:t>
            </a:r>
            <a:r>
              <a:rPr lang="en-US" altLang="zh-CN" dirty="0"/>
              <a:t>)</a:t>
            </a:r>
            <a:r>
              <a:rPr lang="zh-CN" altLang="en-US" dirty="0"/>
              <a:t>（笛卡尔积运算的定义），</a:t>
            </a:r>
            <a:br>
              <a:rPr lang="zh-CN" altLang="en-US" dirty="0"/>
            </a:br>
            <a:r>
              <a:rPr lang="zh-CN" altLang="en-US" dirty="0"/>
              <a:t>得到</a:t>
            </a:r>
            <a:r>
              <a:rPr lang="en-US" altLang="zh-CN" dirty="0"/>
              <a:t>(</a:t>
            </a:r>
            <a:r>
              <a:rPr lang="en-US" altLang="zh-CN" dirty="0" err="1"/>
              <a:t>x∈A</a:t>
            </a:r>
            <a:r>
              <a:rPr lang="en-US" altLang="zh-CN" dirty="0"/>
              <a:t>)∧((</a:t>
            </a:r>
            <a:r>
              <a:rPr lang="en-US" altLang="zh-CN" dirty="0" err="1"/>
              <a:t>y∈B</a:t>
            </a:r>
            <a:r>
              <a:rPr lang="en-US" altLang="zh-CN" dirty="0"/>
              <a:t>)∨(</a:t>
            </a:r>
            <a:r>
              <a:rPr lang="en-US" altLang="zh-CN" dirty="0" err="1"/>
              <a:t>y∈C</a:t>
            </a:r>
            <a:r>
              <a:rPr lang="en-US" altLang="zh-CN" dirty="0"/>
              <a:t>))</a:t>
            </a:r>
            <a:r>
              <a:rPr lang="zh-CN" altLang="en-US" dirty="0"/>
              <a:t>，</a:t>
            </a:r>
            <a:br>
              <a:rPr lang="zh-CN" altLang="en-US" dirty="0"/>
            </a:br>
            <a:r>
              <a:rPr lang="zh-CN" altLang="en-US" dirty="0"/>
              <a:t>从而由</a:t>
            </a:r>
            <a:r>
              <a:rPr lang="en-US" altLang="zh-CN" dirty="0"/>
              <a:t>(</a:t>
            </a:r>
            <a:r>
              <a:rPr lang="en-US" altLang="zh-CN" dirty="0" err="1"/>
              <a:t>x∈A</a:t>
            </a:r>
            <a:r>
              <a:rPr lang="en-US" altLang="zh-CN" dirty="0"/>
              <a:t>)∧(y∈(B∪C))</a:t>
            </a:r>
            <a:r>
              <a:rPr lang="zh-CN" altLang="en-US" dirty="0"/>
              <a:t>（集合并运算的定义），</a:t>
            </a:r>
            <a:br>
              <a:rPr lang="zh-CN" altLang="en-US" dirty="0"/>
            </a:br>
            <a:r>
              <a:rPr lang="zh-CN" altLang="en-US" dirty="0"/>
              <a:t>可得</a:t>
            </a:r>
            <a:r>
              <a:rPr lang="en-US" altLang="zh-CN" dirty="0"/>
              <a:t>(x, y)∈A×(B∪C)</a:t>
            </a:r>
            <a:r>
              <a:rPr lang="zh-CN" altLang="en-US" dirty="0"/>
              <a:t>（笛卡尔积运算的定义）。</a:t>
            </a:r>
            <a:br>
              <a:rPr lang="zh-CN" altLang="en-US" dirty="0"/>
            </a:br>
            <a:r>
              <a:rPr lang="zh-CN" altLang="en-US" dirty="0"/>
              <a:t>所以</a:t>
            </a:r>
            <a:r>
              <a:rPr lang="en-US" altLang="zh-CN" dirty="0"/>
              <a:t>(A×B)∪(A×C)⊆A×(B∪C)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由以上①和②得知，</a:t>
            </a:r>
            <a:r>
              <a:rPr lang="en-US" altLang="zh-CN" dirty="0"/>
              <a:t>A×(B∪C)=(A×B)∪(A×C)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21268587"/>
      </p:ext>
    </p:extLst>
  </p:cSld>
  <p:clrMapOvr>
    <a:masterClrMapping/>
  </p:clrMapOvr>
  <p:transition spd="slow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C707B28-1382-4D5A-8A05-AF216C0A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246-6CE9-42D3-AF71-527FA937ACE2}" type="slidenum">
              <a:rPr lang="en-US" altLang="zh-CN"/>
              <a:pPr/>
              <a:t>60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79F62362-269C-41F2-B3A2-F15A646CE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练习</a:t>
            </a:r>
            <a:r>
              <a:rPr lang="en-US" altLang="zh-CN" dirty="0"/>
              <a:t>11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46FEC291-51F4-4C78-9381-661E8D025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US" altLang="zh-CN" dirty="0"/>
              <a:t>11</a:t>
            </a:r>
            <a:r>
              <a:rPr lang="zh-CN" altLang="en-US" dirty="0"/>
              <a:t>．</a:t>
            </a:r>
            <a:r>
              <a:rPr lang="en-US" altLang="zh-CN" dirty="0"/>
              <a:t>{A}∈B</a:t>
            </a:r>
            <a:r>
              <a:rPr lang="zh-CN" altLang="en-US" dirty="0"/>
              <a:t>和</a:t>
            </a:r>
            <a:r>
              <a:rPr lang="en-US" altLang="zh-CN" dirty="0"/>
              <a:t>{A}⊆B</a:t>
            </a:r>
            <a:r>
              <a:rPr lang="zh-CN" altLang="en-US" dirty="0"/>
              <a:t>可能同时成立吗</a:t>
            </a:r>
            <a:r>
              <a:rPr lang="en-US" altLang="zh-CN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66226050"/>
      </p:ext>
    </p:extLst>
  </p:cSld>
  <p:clrMapOvr>
    <a:masterClrMapping/>
  </p:clrMapOvr>
  <p:transition spd="slow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C707B28-1382-4D5A-8A05-AF216C0A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246-6CE9-42D3-AF71-527FA937ACE2}" type="slidenum">
              <a:rPr lang="en-US" altLang="zh-CN"/>
              <a:pPr/>
              <a:t>61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79F62362-269C-41F2-B3A2-F15A646CE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练习</a:t>
            </a:r>
            <a:r>
              <a:rPr lang="en-US" altLang="zh-CN" dirty="0"/>
              <a:t>11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46FEC291-51F4-4C78-9381-661E8D025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US" altLang="zh-CN" dirty="0"/>
              <a:t>11</a:t>
            </a:r>
            <a:r>
              <a:rPr lang="zh-CN" altLang="en-US" dirty="0"/>
              <a:t>．</a:t>
            </a:r>
            <a:r>
              <a:rPr lang="en-US" altLang="zh-CN" dirty="0"/>
              <a:t>{A}∈B</a:t>
            </a:r>
            <a:r>
              <a:rPr lang="zh-CN" altLang="en-US" dirty="0"/>
              <a:t>和</a:t>
            </a:r>
            <a:r>
              <a:rPr lang="en-US" altLang="zh-CN" dirty="0"/>
              <a:t>{A}⊆B</a:t>
            </a:r>
            <a:r>
              <a:rPr lang="zh-CN" altLang="en-US" dirty="0"/>
              <a:t>可能同时成立吗</a:t>
            </a:r>
            <a:r>
              <a:rPr lang="en-US" altLang="zh-CN" dirty="0"/>
              <a:t>?</a:t>
            </a:r>
          </a:p>
          <a:p>
            <a:endParaRPr lang="en-US" altLang="zh-CN" dirty="0"/>
          </a:p>
          <a:p>
            <a:r>
              <a:rPr lang="en-US" altLang="zh-CN" dirty="0"/>
              <a:t>A = {a},</a:t>
            </a:r>
            <a:r>
              <a:rPr lang="zh-CN" altLang="en-US" dirty="0"/>
              <a:t> </a:t>
            </a:r>
            <a:r>
              <a:rPr lang="en-US" altLang="zh-CN" dirty="0"/>
              <a:t>B = {{a}, {{a}}}</a:t>
            </a:r>
            <a:r>
              <a:rPr lang="zh-CN" altLang="en-US" dirty="0"/>
              <a:t>时成立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7A7ABD-CFC9-41B3-8893-1F0F2DAA64AE}"/>
              </a:ext>
            </a:extLst>
          </p:cNvPr>
          <p:cNvSpPr/>
          <p:nvPr/>
        </p:nvSpPr>
        <p:spPr>
          <a:xfrm>
            <a:off x="9175560" y="1124744"/>
            <a:ext cx="302928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⋂⋃⊆⊂⊄⊇⊃⊅∈∉ℵØ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⊙⊖⊗⊕⇒⇔↔←→¬￢∧∨∀∃∄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≡=≠≈≅≥≤≮≯−±×÷−⌈⌉⌊⌋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∠∟°º⊥∥≅〜Δπ∝∞≪≫∑∏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Αα Ββ Γγ Δδ Εε  ζ Ηη Θθ Ιι Κκ Λλ Μμ  Ｎ Ξξ Οο Ππ Ρρ Σσ Ττ Υυ Φφ Χχ Ψψ Ωω</a:t>
            </a:r>
          </a:p>
        </p:txBody>
      </p:sp>
    </p:spTree>
    <p:extLst>
      <p:ext uri="{BB962C8B-B14F-4D97-AF65-F5344CB8AC3E}">
        <p14:creationId xmlns:p14="http://schemas.microsoft.com/office/powerpoint/2010/main" val="2069765837"/>
      </p:ext>
    </p:extLst>
  </p:cSld>
  <p:clrMapOvr>
    <a:masterClrMapping/>
  </p:clrMapOvr>
  <p:transition spd="slow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C707B28-1382-4D5A-8A05-AF216C0A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246-6CE9-42D3-AF71-527FA937ACE2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79F62362-269C-41F2-B3A2-F15A646CE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课外阅读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46FEC291-51F4-4C78-9381-661E8D025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zh-CN" altLang="en-US" dirty="0"/>
              <a:t>皮亚诺公理</a:t>
            </a:r>
          </a:p>
          <a:p>
            <a:r>
              <a:rPr lang="en-US" altLang="zh-CN" dirty="0" err="1"/>
              <a:t>Zermelo</a:t>
            </a:r>
            <a:r>
              <a:rPr lang="en-US" altLang="zh-CN" dirty="0"/>
              <a:t>-Fraenkel</a:t>
            </a:r>
            <a:r>
              <a:rPr lang="zh-CN" altLang="en-US" dirty="0"/>
              <a:t>集合论</a:t>
            </a:r>
          </a:p>
          <a:p>
            <a:r>
              <a:rPr lang="en-US" altLang="zh-CN" dirty="0"/>
              <a:t>Bernstein-Schroeder</a:t>
            </a:r>
            <a:r>
              <a:rPr lang="zh-CN" altLang="en-US" dirty="0"/>
              <a:t>定理</a:t>
            </a:r>
          </a:p>
          <a:p>
            <a:r>
              <a:rPr lang="zh-CN" altLang="en-US" dirty="0"/>
              <a:t>康托尔定理：幂级的基数大于集合的基数</a:t>
            </a:r>
          </a:p>
          <a:p>
            <a:r>
              <a:rPr lang="zh-CN" altLang="en-US" dirty="0"/>
              <a:t>康托尔连续统假设</a:t>
            </a:r>
          </a:p>
          <a:p>
            <a:r>
              <a:rPr lang="zh-CN" altLang="en-US" dirty="0"/>
              <a:t>康托尔悖论：</a:t>
            </a:r>
            <a:r>
              <a:rPr lang="en-US" altLang="zh-CN" dirty="0"/>
              <a:t>S</a:t>
            </a:r>
            <a:r>
              <a:rPr lang="zh-CN" altLang="en-US" dirty="0"/>
              <a:t>为所有集合的集合，康托尔定理成立？  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7A7ABD-CFC9-41B3-8893-1F0F2DAA64AE}"/>
              </a:ext>
            </a:extLst>
          </p:cNvPr>
          <p:cNvSpPr/>
          <p:nvPr/>
        </p:nvSpPr>
        <p:spPr>
          <a:xfrm>
            <a:off x="9175560" y="1124744"/>
            <a:ext cx="302928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⋂⋃⊆⊂⊄⊇⊃⊅∈∉ℵØ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⊙⊖⊗⊕⇒⇔↔←→¬￢∧∨∀∃∄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≡=≠≈≅≥≤≮≯−±×÷−⌈⌉⌊⌋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∠∟°º⊥∥≅〜Δπ∝∞≪≫∑∏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Αα Ββ Γγ Δδ Εε  ζ Ηη Θθ Ιι Κκ Λλ Μμ  Ｎ Ξξ Οο Ππ Ρρ Σσ Ττ Υυ Φφ Χχ Ψψ Ωω</a:t>
            </a:r>
          </a:p>
        </p:txBody>
      </p:sp>
    </p:spTree>
    <p:extLst>
      <p:ext uri="{BB962C8B-B14F-4D97-AF65-F5344CB8AC3E}">
        <p14:creationId xmlns:p14="http://schemas.microsoft.com/office/powerpoint/2010/main" val="14326688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 2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6248</TotalTime>
  <Words>6800</Words>
  <Application>Microsoft Office PowerPoint</Application>
  <PresentationFormat>全屏显示(4:3)</PresentationFormat>
  <Paragraphs>911</Paragraphs>
  <Slides>62</Slides>
  <Notes>62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62</vt:i4>
      </vt:variant>
    </vt:vector>
  </HeadingPairs>
  <TitlesOfParts>
    <vt:vector size="79" baseType="lpstr">
      <vt:lpstr>Arial Unicode MS</vt:lpstr>
      <vt:lpstr>MingLiU</vt:lpstr>
      <vt:lpstr>黑体</vt:lpstr>
      <vt:lpstr>华文中宋</vt:lpstr>
      <vt:lpstr>宋体</vt:lpstr>
      <vt:lpstr>微软雅黑</vt:lpstr>
      <vt:lpstr>Arial</vt:lpstr>
      <vt:lpstr>Calibri</vt:lpstr>
      <vt:lpstr>Cambria Math</vt:lpstr>
      <vt:lpstr>Lucida Sans Unicode</vt:lpstr>
      <vt:lpstr>Symbol</vt:lpstr>
      <vt:lpstr>Times New Roman</vt:lpstr>
      <vt:lpstr>Wingdings</vt:lpstr>
      <vt:lpstr>Wingdings 3</vt:lpstr>
      <vt:lpstr>默认设计模板</vt:lpstr>
      <vt:lpstr>公式</vt:lpstr>
      <vt:lpstr>Equation</vt:lpstr>
      <vt:lpstr>离散数学 （一）</vt:lpstr>
      <vt:lpstr>第二部分  集合论</vt:lpstr>
      <vt:lpstr>第二部分  集合论</vt:lpstr>
      <vt:lpstr>6.1  集合的基本概念</vt:lpstr>
      <vt:lpstr>复习/预习: 数理逻辑的基本概念</vt:lpstr>
      <vt:lpstr>复习/预习: 数理逻辑的基本概念</vt:lpstr>
      <vt:lpstr>元素与集合</vt:lpstr>
      <vt:lpstr>集合与集合</vt:lpstr>
      <vt:lpstr>空集、全集和幂集</vt:lpstr>
      <vt:lpstr>空集、全集和幂集</vt:lpstr>
      <vt:lpstr>罗素悖论</vt:lpstr>
      <vt:lpstr>罗素悖论</vt:lpstr>
      <vt:lpstr>罗素悖论</vt:lpstr>
      <vt:lpstr>6.2  集合的运算</vt:lpstr>
      <vt:lpstr>文氏图</vt:lpstr>
      <vt:lpstr>广义运算</vt:lpstr>
      <vt:lpstr>关于广义运算的说明</vt:lpstr>
      <vt:lpstr>运算的优先权规定</vt:lpstr>
      <vt:lpstr>有穷集合元素的计数</vt:lpstr>
      <vt:lpstr>有穷集合元素的计数</vt:lpstr>
      <vt:lpstr>有穷集合元素的计数</vt:lpstr>
      <vt:lpstr>有穷集合元素的计数</vt:lpstr>
      <vt:lpstr>6.3  集合恒等式</vt:lpstr>
      <vt:lpstr>集合算律</vt:lpstr>
      <vt:lpstr>集合算律</vt:lpstr>
      <vt:lpstr>集合算律</vt:lpstr>
      <vt:lpstr>集合证明题</vt:lpstr>
      <vt:lpstr>集合等式的证明</vt:lpstr>
      <vt:lpstr>等式代入法</vt:lpstr>
      <vt:lpstr>包含等价条件的证明</vt:lpstr>
      <vt:lpstr>证明</vt:lpstr>
      <vt:lpstr>PowerPoint 演示文稿</vt:lpstr>
      <vt:lpstr>第六章 习题课</vt:lpstr>
      <vt:lpstr>基本要求</vt:lpstr>
      <vt:lpstr>练习1</vt:lpstr>
      <vt:lpstr>方法分析</vt:lpstr>
      <vt:lpstr>练习2</vt:lpstr>
      <vt:lpstr>解答</vt:lpstr>
      <vt:lpstr>练习3</vt:lpstr>
      <vt:lpstr>解题思路</vt:lpstr>
      <vt:lpstr>解答</vt:lpstr>
      <vt:lpstr>练习4</vt:lpstr>
      <vt:lpstr>解答</vt:lpstr>
      <vt:lpstr>解答</vt:lpstr>
      <vt:lpstr>练习5</vt:lpstr>
      <vt:lpstr>分析</vt:lpstr>
      <vt:lpstr>解答</vt:lpstr>
      <vt:lpstr>解答</vt:lpstr>
      <vt:lpstr>练习6</vt:lpstr>
      <vt:lpstr>练习6</vt:lpstr>
      <vt:lpstr>练习7</vt:lpstr>
      <vt:lpstr>练习7</vt:lpstr>
      <vt:lpstr>练习8</vt:lpstr>
      <vt:lpstr>练习8</vt:lpstr>
      <vt:lpstr>练习9</vt:lpstr>
      <vt:lpstr>练习9</vt:lpstr>
      <vt:lpstr>练习10</vt:lpstr>
      <vt:lpstr>练习10</vt:lpstr>
      <vt:lpstr>练习10</vt:lpstr>
      <vt:lpstr>练习11</vt:lpstr>
      <vt:lpstr>练习11</vt:lpstr>
      <vt:lpstr>课外阅读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szx</cp:lastModifiedBy>
  <cp:revision>463</cp:revision>
  <dcterms:created xsi:type="dcterms:W3CDTF">2007-11-19T20:33:53Z</dcterms:created>
  <dcterms:modified xsi:type="dcterms:W3CDTF">2025-02-19T07:22:42Z</dcterms:modified>
</cp:coreProperties>
</file>